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321040" y="-731520"/>
            <a:ext cx="4663440" cy="466344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365760"/>
            <a:ext cx="2651760" cy="2651760"/>
          </a:xfrm>
          <a:prstGeom prst="ellipse">
            <a:avLst/>
          </a:prstGeom>
          <a:solidFill>
            <a:srgbClr val="4EC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69880" y="1234440"/>
            <a:ext cx="914400" cy="91440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914400"/>
            <a:ext cx="5486400" cy="36576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500" b="1">
                <a:solidFill>
                  <a:srgbClr val="4EC6BE"/>
                </a:solidFill>
                <a:latin typeface="Aptos"/>
              </a:defRPr>
            </a:pPr>
            <a:r>
              <a:t>GIZI • PANGAN LAUT • IMUNITAS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7040880" cy="1371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MANFAAT GIZI</a:t>
            </a:r>
            <a:br/>
            <a:r>
              <a:t>PANGAN HAYATI LAUT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880360"/>
            <a:ext cx="6309360" cy="5029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BEE8EB"/>
                </a:solidFill>
                <a:latin typeface="Aptos"/>
              </a:defRPr>
            </a:pPr>
            <a:r>
              <a:t>PADA PENYAKIT INFEKSI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6126480" cy="82296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 err="1"/>
              <a:t>Potensi</a:t>
            </a:r>
            <a:r>
              <a:rPr dirty="0"/>
              <a:t> ikan, </a:t>
            </a:r>
            <a:r>
              <a:rPr dirty="0" err="1"/>
              <a:t>kerang</a:t>
            </a:r>
            <a:r>
              <a:rPr dirty="0"/>
              <a:t>, </a:t>
            </a:r>
            <a:r>
              <a:rPr dirty="0" err="1"/>
              <a:t>rumput</a:t>
            </a:r>
            <a:r>
              <a:rPr dirty="0"/>
              <a:t> </a:t>
            </a:r>
            <a:r>
              <a:rPr dirty="0" err="1"/>
              <a:t>laut</a:t>
            </a:r>
            <a:r>
              <a:rPr dirty="0"/>
              <a:t>, dan </a:t>
            </a:r>
            <a:r>
              <a:rPr dirty="0" err="1"/>
              <a:t>mikroalga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mendukung</a:t>
            </a:r>
            <a:r>
              <a:rPr dirty="0"/>
              <a:t> status </a:t>
            </a:r>
            <a:r>
              <a:rPr dirty="0" err="1"/>
              <a:t>gizi</a:t>
            </a:r>
            <a:r>
              <a:rPr dirty="0"/>
              <a:t> </a:t>
            </a:r>
            <a:r>
              <a:rPr dirty="0" err="1"/>
              <a:t>serta</a:t>
            </a:r>
            <a:r>
              <a:rPr dirty="0"/>
              <a:t> </a:t>
            </a:r>
            <a:r>
              <a:rPr dirty="0" err="1"/>
              <a:t>fungsi</a:t>
            </a:r>
            <a:r>
              <a:rPr dirty="0"/>
              <a:t> </a:t>
            </a:r>
            <a:r>
              <a:rPr dirty="0" err="1"/>
              <a:t>imun</a:t>
            </a:r>
            <a:r>
              <a:rPr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892040"/>
            <a:ext cx="4389120" cy="73152"/>
          </a:xfrm>
          <a:prstGeom prst="rect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760720"/>
            <a:ext cx="384048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E5B245"/>
                </a:solidFill>
                <a:latin typeface="Aptos"/>
              </a:defRPr>
            </a:pPr>
            <a:r>
              <a:t>30 SLIDE • MATERI PEMBELAJARAN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Mengapa Gizi Penting pada Penyakit Infeksi?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201168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Komponen utama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07792"/>
            <a:ext cx="9966960" cy="73152"/>
          </a:xfrm>
          <a:prstGeom prst="rect">
            <a:avLst/>
          </a:prstGeom>
          <a:solidFill>
            <a:srgbClr val="BE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96896"/>
            <a:ext cx="658368" cy="658368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58368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572768" cy="1277273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A303C"/>
                </a:solidFill>
                <a:latin typeface="Aptos"/>
              </a:defRPr>
            </a:pPr>
            <a:r>
              <a:rPr sz="1600" dirty="0" err="1"/>
              <a:t>Infeksi</a:t>
            </a:r>
            <a:r>
              <a:rPr sz="1600" dirty="0"/>
              <a:t> </a:t>
            </a:r>
            <a:r>
              <a:rPr sz="1600" dirty="0" err="1"/>
              <a:t>meningkatkan</a:t>
            </a:r>
            <a:r>
              <a:rPr sz="1600" dirty="0"/>
              <a:t> </a:t>
            </a:r>
            <a:r>
              <a:rPr sz="1600" dirty="0" err="1"/>
              <a:t>kebutuhan</a:t>
            </a:r>
            <a:r>
              <a:rPr sz="1600" dirty="0"/>
              <a:t> </a:t>
            </a:r>
            <a:r>
              <a:rPr sz="1600" dirty="0" err="1"/>
              <a:t>energi</a:t>
            </a:r>
            <a:r>
              <a:rPr sz="1600" dirty="0"/>
              <a:t> dan </a:t>
            </a:r>
            <a:r>
              <a:rPr sz="1600" dirty="0" err="1"/>
              <a:t>zat</a:t>
            </a:r>
            <a:r>
              <a:rPr sz="1600" dirty="0"/>
              <a:t> </a:t>
            </a:r>
            <a:r>
              <a:rPr sz="1600" dirty="0" err="1"/>
              <a:t>gizi</a:t>
            </a:r>
            <a:r>
              <a:rPr sz="1600" dirty="0"/>
              <a:t> </a:t>
            </a:r>
            <a:r>
              <a:rPr sz="1600" dirty="0" err="1"/>
              <a:t>tertentu</a:t>
            </a:r>
            <a:endParaRPr sz="1600" dirty="0"/>
          </a:p>
        </p:txBody>
      </p:sp>
      <p:sp>
        <p:nvSpPr>
          <p:cNvPr id="12" name="Oval 11"/>
          <p:cNvSpPr/>
          <p:nvPr/>
        </p:nvSpPr>
        <p:spPr>
          <a:xfrm>
            <a:off x="4160520" y="2596896"/>
            <a:ext cx="658368" cy="658368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2734056"/>
            <a:ext cx="658368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56432"/>
            <a:ext cx="1572768" cy="78483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A303C"/>
                </a:solidFill>
                <a:latin typeface="Aptos"/>
              </a:defRPr>
            </a:pPr>
            <a:r>
              <a:rPr sz="1600"/>
              <a:t>Nafsu makan dapat menurun saat sakit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2596896"/>
            <a:ext cx="658368" cy="658368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2734056"/>
            <a:ext cx="658368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456432"/>
            <a:ext cx="1572768" cy="1031051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A303C"/>
                </a:solidFill>
                <a:latin typeface="Aptos"/>
              </a:defRPr>
            </a:pPr>
            <a:r>
              <a:rPr sz="1600"/>
              <a:t>Status gizi buruk dapat melemahkan respons imun</a:t>
            </a:r>
          </a:p>
        </p:txBody>
      </p:sp>
      <p:sp>
        <p:nvSpPr>
          <p:cNvPr id="18" name="Oval 17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60" y="2734056"/>
            <a:ext cx="658368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3456432"/>
            <a:ext cx="1572768" cy="1277273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A303C"/>
                </a:solidFill>
                <a:latin typeface="Aptos"/>
              </a:defRPr>
            </a:pPr>
            <a:r>
              <a:rPr sz="1600"/>
              <a:t>Pemulihan memerlukan asupan yang cukup dan seimbang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Hubungan Gizi, Imunitas, dan Infeksi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7" name="Oval 6"/>
          <p:cNvSpPr/>
          <p:nvPr/>
        </p:nvSpPr>
        <p:spPr>
          <a:xfrm>
            <a:off x="2011680" y="1920240"/>
            <a:ext cx="1325880" cy="132588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2377440"/>
            <a:ext cx="132588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GIZI</a:t>
            </a:r>
          </a:p>
        </p:txBody>
      </p:sp>
      <p:sp>
        <p:nvSpPr>
          <p:cNvPr id="9" name="Oval 8"/>
          <p:cNvSpPr/>
          <p:nvPr/>
        </p:nvSpPr>
        <p:spPr>
          <a:xfrm>
            <a:off x="8046720" y="1920240"/>
            <a:ext cx="1325880" cy="13258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2377440"/>
            <a:ext cx="132588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IMUNITAS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0" y="4663440"/>
            <a:ext cx="1325880" cy="1325880"/>
          </a:xfrm>
          <a:prstGeom prst="ellipse">
            <a:avLst/>
          </a:prstGeom>
          <a:solidFill>
            <a:srgbClr val="EA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0" y="5120640"/>
            <a:ext cx="132588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INFEKSI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57400"/>
            <a:ext cx="2194560" cy="538609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A303C"/>
                </a:solidFill>
                <a:latin typeface="Aptos"/>
              </a:defRPr>
            </a:pPr>
            <a:r>
              <a:rPr sz="1600" dirty="0" err="1"/>
              <a:t>Asupan</a:t>
            </a:r>
            <a:r>
              <a:rPr sz="1600" dirty="0"/>
              <a:t> </a:t>
            </a:r>
            <a:r>
              <a:rPr sz="1600" dirty="0" err="1"/>
              <a:t>memengaruhi</a:t>
            </a:r>
            <a:br>
              <a:rPr sz="1600" dirty="0"/>
            </a:br>
            <a:r>
              <a:rPr sz="1600" dirty="0" err="1"/>
              <a:t>fungsi</a:t>
            </a:r>
            <a:r>
              <a:rPr sz="1600" dirty="0"/>
              <a:t> </a:t>
            </a:r>
            <a:r>
              <a:rPr sz="1600" dirty="0" err="1"/>
              <a:t>imun</a:t>
            </a:r>
            <a:endParaRPr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6446520" y="3246120"/>
            <a:ext cx="1920240" cy="538609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A303C"/>
                </a:solidFill>
                <a:latin typeface="Aptos"/>
              </a:defRPr>
            </a:pPr>
            <a:r>
              <a:rPr sz="1600"/>
              <a:t>Respons imun</a:t>
            </a:r>
            <a:br>
              <a:rPr sz="1600"/>
            </a:br>
            <a:r>
              <a:rPr sz="1600"/>
              <a:t>melawan patogen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794760"/>
            <a:ext cx="2103120" cy="538609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A303C"/>
                </a:solidFill>
                <a:latin typeface="Aptos"/>
              </a:defRPr>
            </a:pPr>
            <a:r>
              <a:rPr sz="1600"/>
              <a:t>Infeksi mengubah</a:t>
            </a:r>
            <a:br>
              <a:rPr sz="1600"/>
            </a:br>
            <a:r>
              <a:rPr sz="1600"/>
              <a:t>kebutuhan gizi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669280"/>
            <a:ext cx="10515600" cy="530352"/>
          </a:xfrm>
          <a:prstGeom prst="roundRect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815584"/>
            <a:ext cx="996696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0A263A"/>
                </a:solidFill>
                <a:latin typeface="Aptos"/>
              </a:defRPr>
            </a:pPr>
            <a:r>
              <a:t>Ketiganya saling memengaruhi; intervensi gizi harus tetap disesuaikan dengan kondisi klinis.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Apa yang Dimaksud Pangan Hayati Laut?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&gt;&lt;&gt;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29238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1">
                <a:solidFill>
                  <a:srgbClr val="1A303C"/>
                </a:solidFill>
                <a:latin typeface="Aptos"/>
              </a:defRPr>
            </a:pPr>
            <a:r>
              <a:rPr sz="1600" b="1" dirty="0"/>
              <a:t>Ikan </a:t>
            </a:r>
            <a:r>
              <a:rPr sz="1600" b="1" dirty="0" err="1"/>
              <a:t>laut</a:t>
            </a:r>
            <a:endParaRPr sz="1600"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29238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1">
                <a:solidFill>
                  <a:srgbClr val="1A303C"/>
                </a:solidFill>
                <a:latin typeface="Aptos"/>
              </a:defRPr>
            </a:pPr>
            <a:r>
              <a:rPr sz="1600" b="1" dirty="0" err="1"/>
              <a:t>Kerang</a:t>
            </a:r>
            <a:r>
              <a:rPr sz="1600" b="1" dirty="0"/>
              <a:t> dan </a:t>
            </a:r>
            <a:r>
              <a:rPr sz="1600" b="1" dirty="0" err="1"/>
              <a:t>moluska</a:t>
            </a:r>
            <a:endParaRPr sz="1600" b="1" dirty="0"/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29238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600" b="1" dirty="0" err="1"/>
              <a:t>Krustasea</a:t>
            </a:r>
            <a:r>
              <a:rPr sz="1600" b="1" dirty="0"/>
              <a:t> </a:t>
            </a:r>
            <a:r>
              <a:rPr sz="1600" b="1" dirty="0" err="1"/>
              <a:t>seperti</a:t>
            </a:r>
            <a:r>
              <a:rPr sz="1600" b="1" dirty="0"/>
              <a:t> </a:t>
            </a:r>
            <a:r>
              <a:rPr sz="1600" b="1" dirty="0" err="1"/>
              <a:t>udang</a:t>
            </a:r>
            <a:r>
              <a:rPr sz="1600" b="1" dirty="0"/>
              <a:t> dan </a:t>
            </a:r>
            <a:r>
              <a:rPr sz="1600" b="1" dirty="0" err="1"/>
              <a:t>kepiting</a:t>
            </a:r>
            <a:endParaRPr sz="1600" b="1" dirty="0"/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29238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1">
                <a:solidFill>
                  <a:srgbClr val="1A303C"/>
                </a:solidFill>
                <a:latin typeface="Aptos"/>
              </a:defRPr>
            </a:pPr>
            <a:r>
              <a:rPr sz="1600" b="1"/>
              <a:t>Rumput laut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398264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557015" y="4654296"/>
            <a:ext cx="411480" cy="41148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57015" y="4736592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4599432"/>
            <a:ext cx="3703320" cy="538609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600" b="1"/>
              <a:t>Mikroalga dan sumber hayati laut lainnya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Kekuatan Gizi Pangan Laut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0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926080" cy="9144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LAUT SEBAGAI</a:t>
            </a:r>
            <a:br/>
            <a:r>
              <a:t>SUMBER GIZI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429000"/>
            <a:ext cx="2743200" cy="10972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0">
                <a:solidFill>
                  <a:srgbClr val="E1F7F2"/>
                </a:solidFill>
                <a:latin typeface="Aptos"/>
              </a:defRPr>
            </a:pPr>
            <a:r>
              <a:t>Protein • Lemak sehat</a:t>
            </a:r>
            <a:br/>
            <a:r>
              <a:t>Vitamin • Mineral</a:t>
            </a:r>
            <a:br/>
            <a:r>
              <a:t>Senyawa bioaktif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901952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847088"/>
            <a:ext cx="4892040" cy="3840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t>Protein bermutu tinggi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256032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724912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670048"/>
            <a:ext cx="4892040" cy="3840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t>Asam lemak omega-3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38328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493008"/>
            <a:ext cx="4892040" cy="3840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t>Vitamin larut lemak dan vitamin 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20624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1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315968"/>
            <a:ext cx="4892040" cy="3840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t>Mineral penting seperti seng, selenium, iodium, dan zat besi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502920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0" y="5193792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6128" y="5138928"/>
            <a:ext cx="4892040" cy="3840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t>Senyawa bioaktif tertentu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Oval 3"/>
          <p:cNvSpPr/>
          <p:nvPr/>
        </p:nvSpPr>
        <p:spPr>
          <a:xfrm>
            <a:off x="8778240" y="822960"/>
            <a:ext cx="2560320" cy="256032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38360" y="1691640"/>
            <a:ext cx="868680" cy="8686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54480"/>
            <a:ext cx="7223760" cy="11430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01 — Protein untuk Pertahanan Tubuh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6400800" cy="13388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0">
                <a:solidFill>
                  <a:srgbClr val="BEE8EB"/>
                </a:solidFill>
                <a:latin typeface="Aptos"/>
              </a:defRPr>
            </a:pPr>
            <a:r>
              <a:rPr sz="2800" dirty="0"/>
              <a:t>Protein </a:t>
            </a:r>
            <a:r>
              <a:rPr sz="2800" dirty="0" err="1"/>
              <a:t>diperlukan</a:t>
            </a:r>
            <a:r>
              <a:rPr sz="2800" dirty="0"/>
              <a:t> </a:t>
            </a:r>
            <a:r>
              <a:rPr sz="2800" dirty="0" err="1"/>
              <a:t>untuk</a:t>
            </a:r>
            <a:r>
              <a:rPr sz="2800" dirty="0"/>
              <a:t> </a:t>
            </a:r>
            <a:r>
              <a:rPr sz="2800" dirty="0" err="1"/>
              <a:t>membangun</a:t>
            </a:r>
            <a:r>
              <a:rPr sz="2800" dirty="0"/>
              <a:t> </a:t>
            </a:r>
            <a:r>
              <a:rPr sz="2800" dirty="0" err="1"/>
              <a:t>jaringan</a:t>
            </a:r>
            <a:r>
              <a:rPr sz="2800" dirty="0"/>
              <a:t>, </a:t>
            </a:r>
            <a:r>
              <a:rPr sz="2800" dirty="0" err="1"/>
              <a:t>enzim</a:t>
            </a:r>
            <a:r>
              <a:rPr sz="2800" dirty="0"/>
              <a:t>, </a:t>
            </a:r>
            <a:r>
              <a:rPr sz="2800" dirty="0" err="1"/>
              <a:t>antibodi</a:t>
            </a:r>
            <a:r>
              <a:rPr sz="2800" dirty="0"/>
              <a:t>, dan </a:t>
            </a:r>
            <a:r>
              <a:rPr sz="2800" dirty="0" err="1"/>
              <a:t>berbagai</a:t>
            </a:r>
            <a:r>
              <a:rPr sz="2800" dirty="0"/>
              <a:t> </a:t>
            </a:r>
            <a:r>
              <a:rPr sz="2800" dirty="0" err="1"/>
              <a:t>komponen</a:t>
            </a:r>
            <a:r>
              <a:rPr sz="2800" dirty="0"/>
              <a:t> </a:t>
            </a:r>
            <a:r>
              <a:rPr sz="2800" dirty="0" err="1"/>
              <a:t>sistem</a:t>
            </a:r>
            <a:r>
              <a:rPr sz="2800" dirty="0"/>
              <a:t> </a:t>
            </a:r>
            <a:r>
              <a:rPr sz="2800" dirty="0" err="1"/>
              <a:t>imun</a:t>
            </a:r>
            <a:r>
              <a:rPr sz="28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709160"/>
            <a:ext cx="4480560" cy="73152"/>
          </a:xfrm>
          <a:prstGeom prst="rect">
            <a:avLst/>
          </a:prstGeom>
          <a:solidFill>
            <a:srgbClr val="4EC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029200"/>
            <a:ext cx="384048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E1F7F2"/>
                </a:solidFill>
                <a:latin typeface="Aptos"/>
              </a:defRPr>
            </a:pPr>
            <a:r>
              <a:t>PANGAN HAYATI LAUT &amp; KESEHATAN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Protein Bermutu Tinggi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500" b="1">
                <a:solidFill>
                  <a:srgbClr val="0F8F91"/>
                </a:solidFill>
                <a:latin typeface="Aptos"/>
              </a:defRPr>
            </a:pPr>
            <a:r>
              <a:t>Manfaat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38609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600" dirty="0"/>
              <a:t>Ikan dan seafood </a:t>
            </a:r>
            <a:r>
              <a:rPr sz="1600" dirty="0" err="1"/>
              <a:t>menyediakan</a:t>
            </a:r>
            <a:r>
              <a:rPr sz="1600" dirty="0"/>
              <a:t> protein </a:t>
            </a:r>
            <a:r>
              <a:rPr sz="1600" dirty="0" err="1"/>
              <a:t>lengkap</a:t>
            </a:r>
            <a:endParaRPr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29238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600" dirty="0" err="1"/>
              <a:t>Mengandung</a:t>
            </a:r>
            <a:r>
              <a:rPr sz="1600" dirty="0"/>
              <a:t> </a:t>
            </a:r>
            <a:r>
              <a:rPr sz="1600" dirty="0" err="1"/>
              <a:t>asam</a:t>
            </a:r>
            <a:r>
              <a:rPr sz="1600" dirty="0"/>
              <a:t> amino </a:t>
            </a:r>
            <a:r>
              <a:rPr sz="1600" dirty="0" err="1"/>
              <a:t>esensial</a:t>
            </a:r>
            <a:endParaRPr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29238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600"/>
              <a:t>Mendukung pemeliharaan massa otot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08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500" b="1">
                <a:solidFill>
                  <a:srgbClr val="E5B245"/>
                </a:solidFill>
                <a:latin typeface="Aptos"/>
              </a:defRPr>
            </a:pPr>
            <a:r>
              <a:t>Dalam praktik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6617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2000" dirty="0" err="1"/>
              <a:t>Membantu</a:t>
            </a:r>
            <a:r>
              <a:rPr sz="2000" dirty="0"/>
              <a:t> </a:t>
            </a:r>
            <a:r>
              <a:rPr sz="2000" dirty="0" err="1"/>
              <a:t>perbaikan</a:t>
            </a:r>
            <a:r>
              <a:rPr sz="2000" dirty="0"/>
              <a:t> </a:t>
            </a:r>
            <a:r>
              <a:rPr sz="2000" dirty="0" err="1"/>
              <a:t>jaringan</a:t>
            </a:r>
            <a:r>
              <a:rPr sz="2000" dirty="0"/>
              <a:t> </a:t>
            </a:r>
            <a:r>
              <a:rPr sz="2000" dirty="0" err="1"/>
              <a:t>selama</a:t>
            </a:r>
            <a:r>
              <a:rPr sz="2000" dirty="0"/>
              <a:t> masa </a:t>
            </a:r>
            <a:r>
              <a:rPr sz="2000" dirty="0" err="1"/>
              <a:t>pemulihan</a:t>
            </a:r>
            <a:endParaRPr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Asam Amino dan Sistem Imun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&gt;&lt;&gt;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538609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600" dirty="0"/>
              <a:t>Asam amino </a:t>
            </a:r>
            <a:r>
              <a:rPr sz="1600" dirty="0" err="1"/>
              <a:t>menjadi</a:t>
            </a:r>
            <a:r>
              <a:rPr sz="1600" dirty="0"/>
              <a:t> </a:t>
            </a:r>
            <a:r>
              <a:rPr sz="1600" dirty="0" err="1"/>
              <a:t>bahan</a:t>
            </a:r>
            <a:r>
              <a:rPr sz="1600" dirty="0"/>
              <a:t> </a:t>
            </a:r>
            <a:r>
              <a:rPr sz="1600" dirty="0" err="1"/>
              <a:t>pembentuk</a:t>
            </a:r>
            <a:r>
              <a:rPr sz="1600" dirty="0"/>
              <a:t> protein </a:t>
            </a:r>
            <a:r>
              <a:rPr sz="1600" dirty="0" err="1"/>
              <a:t>imun</a:t>
            </a:r>
            <a:endParaRPr sz="1600" dirty="0"/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538609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600" dirty="0" err="1"/>
              <a:t>Diperlukan</a:t>
            </a:r>
            <a:r>
              <a:rPr sz="1600" dirty="0"/>
              <a:t> </a:t>
            </a:r>
            <a:r>
              <a:rPr sz="1600" dirty="0" err="1"/>
              <a:t>untuk</a:t>
            </a:r>
            <a:r>
              <a:rPr sz="1600" dirty="0"/>
              <a:t> </a:t>
            </a:r>
            <a:r>
              <a:rPr sz="1600" dirty="0" err="1"/>
              <a:t>proliferasi</a:t>
            </a:r>
            <a:r>
              <a:rPr sz="1600" dirty="0"/>
              <a:t> dan </a:t>
            </a:r>
            <a:r>
              <a:rPr sz="1600" dirty="0" err="1"/>
              <a:t>fungsi</a:t>
            </a:r>
            <a:r>
              <a:rPr sz="1600" dirty="0"/>
              <a:t> </a:t>
            </a:r>
            <a:r>
              <a:rPr sz="1600" dirty="0" err="1"/>
              <a:t>sel</a:t>
            </a:r>
            <a:endParaRPr sz="1600" dirty="0"/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29238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600" dirty="0" err="1"/>
              <a:t>Mendukung</a:t>
            </a:r>
            <a:r>
              <a:rPr sz="1600" dirty="0"/>
              <a:t> </a:t>
            </a:r>
            <a:r>
              <a:rPr sz="1600" dirty="0" err="1"/>
              <a:t>sintesis</a:t>
            </a:r>
            <a:r>
              <a:rPr sz="1600" dirty="0"/>
              <a:t> mediator </a:t>
            </a:r>
            <a:r>
              <a:rPr sz="1600" dirty="0" err="1"/>
              <a:t>biologis</a:t>
            </a:r>
            <a:endParaRPr sz="1600" dirty="0"/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538609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600" dirty="0" err="1"/>
              <a:t>Kebutuhan</a:t>
            </a:r>
            <a:r>
              <a:rPr sz="1600" dirty="0"/>
              <a:t> </a:t>
            </a:r>
            <a:r>
              <a:rPr sz="1600" dirty="0" err="1"/>
              <a:t>dapat</a:t>
            </a:r>
            <a:r>
              <a:rPr sz="1600" dirty="0"/>
              <a:t> </a:t>
            </a:r>
            <a:r>
              <a:rPr sz="1600" dirty="0" err="1"/>
              <a:t>meningkat</a:t>
            </a:r>
            <a:r>
              <a:rPr sz="1600" dirty="0"/>
              <a:t> pada </a:t>
            </a:r>
            <a:r>
              <a:rPr sz="1600" dirty="0" err="1"/>
              <a:t>kondisi</a:t>
            </a:r>
            <a:r>
              <a:rPr sz="1600" dirty="0"/>
              <a:t> </a:t>
            </a:r>
            <a:r>
              <a:rPr sz="1600" dirty="0" err="1"/>
              <a:t>stres</a:t>
            </a:r>
            <a:r>
              <a:rPr sz="1600" dirty="0"/>
              <a:t> dan </a:t>
            </a:r>
            <a:r>
              <a:rPr sz="1600" dirty="0" err="1"/>
              <a:t>penyakit</a:t>
            </a: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Contoh Sumber Protein Laut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0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926080" cy="9144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LAUT SEBAGAI</a:t>
            </a:r>
            <a:br/>
            <a:r>
              <a:t>SUMBER GIZI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429000"/>
            <a:ext cx="2743200" cy="96949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0">
                <a:solidFill>
                  <a:srgbClr val="E1F7F2"/>
                </a:solidFill>
                <a:latin typeface="Aptos"/>
              </a:defRPr>
            </a:pPr>
            <a:r>
              <a:rPr sz="2000" dirty="0"/>
              <a:t>Protein • Lemak </a:t>
            </a:r>
            <a:r>
              <a:rPr sz="2000" dirty="0" err="1"/>
              <a:t>sehat</a:t>
            </a:r>
            <a:br>
              <a:rPr sz="2000" dirty="0"/>
            </a:br>
            <a:r>
              <a:rPr sz="2000" dirty="0"/>
              <a:t>Vitamin • Mineral</a:t>
            </a:r>
            <a:br>
              <a:rPr sz="2000" dirty="0"/>
            </a:br>
            <a:r>
              <a:rPr sz="2000" dirty="0" err="1"/>
              <a:t>Senyawa</a:t>
            </a:r>
            <a:r>
              <a:rPr sz="2000" dirty="0"/>
              <a:t> </a:t>
            </a:r>
            <a:r>
              <a:rPr sz="2000" dirty="0" err="1"/>
              <a:t>bioaktif</a:t>
            </a:r>
            <a:endParaRPr sz="2000" dirty="0"/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901952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847088"/>
            <a:ext cx="4892040" cy="30777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 dirty="0"/>
              <a:t>Ikan tuna dan </a:t>
            </a:r>
            <a:r>
              <a:rPr sz="1700" dirty="0" err="1"/>
              <a:t>tongkol</a:t>
            </a:r>
            <a:endParaRPr sz="1700" dirty="0"/>
          </a:p>
        </p:txBody>
      </p:sp>
      <p:sp>
        <p:nvSpPr>
          <p:cNvPr id="13" name="Rounded Rectangle 12"/>
          <p:cNvSpPr/>
          <p:nvPr/>
        </p:nvSpPr>
        <p:spPr>
          <a:xfrm>
            <a:off x="4800600" y="256032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724912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670048"/>
            <a:ext cx="4892040" cy="30777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/>
              <a:t>Sarden dan kembung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38328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493008"/>
            <a:ext cx="4892040" cy="30777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/>
              <a:t>Ikan kakap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20624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1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315968"/>
            <a:ext cx="4892040" cy="30777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/>
              <a:t>Udang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502920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0" y="5193792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6128" y="5138928"/>
            <a:ext cx="4892040" cy="30777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/>
              <a:t>Kerang dan cumi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Oval 3"/>
          <p:cNvSpPr/>
          <p:nvPr/>
        </p:nvSpPr>
        <p:spPr>
          <a:xfrm>
            <a:off x="8778240" y="822960"/>
            <a:ext cx="2560320" cy="256032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38360" y="1691640"/>
            <a:ext cx="868680" cy="8686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54480"/>
            <a:ext cx="7223760" cy="11430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02 — Omega-3 dan Regulasi Inflamasi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6400800" cy="13388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0">
                <a:solidFill>
                  <a:srgbClr val="BEE8EB"/>
                </a:solidFill>
                <a:latin typeface="Aptos"/>
              </a:defRPr>
            </a:pPr>
            <a:r>
              <a:rPr sz="2800" dirty="0"/>
              <a:t>EPA dan DHA </a:t>
            </a:r>
            <a:r>
              <a:rPr sz="2800" dirty="0" err="1"/>
              <a:t>dari</a:t>
            </a:r>
            <a:r>
              <a:rPr sz="2800" dirty="0"/>
              <a:t> </a:t>
            </a:r>
            <a:r>
              <a:rPr sz="2800" dirty="0" err="1"/>
              <a:t>pangan</a:t>
            </a:r>
            <a:r>
              <a:rPr sz="2800" dirty="0"/>
              <a:t> </a:t>
            </a:r>
            <a:r>
              <a:rPr sz="2800" dirty="0" err="1"/>
              <a:t>laut</a:t>
            </a:r>
            <a:r>
              <a:rPr sz="2800" dirty="0"/>
              <a:t> </a:t>
            </a:r>
            <a:r>
              <a:rPr sz="2800" dirty="0" err="1"/>
              <a:t>berperan</a:t>
            </a:r>
            <a:r>
              <a:rPr sz="2800" dirty="0"/>
              <a:t> </a:t>
            </a:r>
            <a:r>
              <a:rPr sz="2800" dirty="0" err="1"/>
              <a:t>dalam</a:t>
            </a:r>
            <a:r>
              <a:rPr sz="2800" dirty="0"/>
              <a:t> </a:t>
            </a:r>
            <a:r>
              <a:rPr sz="2800" dirty="0" err="1"/>
              <a:t>membran</a:t>
            </a:r>
            <a:r>
              <a:rPr sz="2800" dirty="0"/>
              <a:t> </a:t>
            </a:r>
            <a:r>
              <a:rPr sz="2800" dirty="0" err="1"/>
              <a:t>sel</a:t>
            </a:r>
            <a:r>
              <a:rPr sz="2800" dirty="0"/>
              <a:t> dan </a:t>
            </a:r>
            <a:r>
              <a:rPr sz="2800" dirty="0" err="1"/>
              <a:t>membantu</a:t>
            </a:r>
            <a:r>
              <a:rPr sz="2800" dirty="0"/>
              <a:t> </a:t>
            </a:r>
            <a:r>
              <a:rPr sz="2800" dirty="0" err="1"/>
              <a:t>mengatur</a:t>
            </a:r>
            <a:r>
              <a:rPr sz="2800" dirty="0"/>
              <a:t> </a:t>
            </a:r>
            <a:r>
              <a:rPr sz="2800" dirty="0" err="1"/>
              <a:t>respons</a:t>
            </a:r>
            <a:r>
              <a:rPr sz="2800" dirty="0"/>
              <a:t> </a:t>
            </a:r>
            <a:r>
              <a:rPr sz="2800" dirty="0" err="1"/>
              <a:t>inflamasi</a:t>
            </a:r>
            <a:r>
              <a:rPr sz="28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709160"/>
            <a:ext cx="4480560" cy="73152"/>
          </a:xfrm>
          <a:prstGeom prst="rect">
            <a:avLst/>
          </a:prstGeom>
          <a:solidFill>
            <a:srgbClr val="4EC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029200"/>
            <a:ext cx="384048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E1F7F2"/>
                </a:solidFill>
                <a:latin typeface="Aptos"/>
              </a:defRPr>
            </a:pPr>
            <a:r>
              <a:t>PANGAN HAYATI LAUT &amp; KESEHATAN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EPA dan DHA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1128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500" b="1">
                <a:solidFill>
                  <a:srgbClr val="0F8F91"/>
                </a:solidFill>
                <a:latin typeface="Aptos"/>
              </a:defRPr>
            </a:pPr>
            <a:r>
              <a:t>Manfaat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30777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 dirty="0"/>
              <a:t>Banyak </a:t>
            </a:r>
            <a:r>
              <a:rPr sz="1700" dirty="0" err="1"/>
              <a:t>terdapat</a:t>
            </a:r>
            <a:r>
              <a:rPr sz="1700" dirty="0"/>
              <a:t> pada ikan </a:t>
            </a:r>
            <a:r>
              <a:rPr sz="1700" dirty="0" err="1"/>
              <a:t>berlemak</a:t>
            </a:r>
            <a:endParaRPr sz="1700" dirty="0"/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30777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/>
              <a:t>Menjadi komponen membran sel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6938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/>
              <a:t>Berperan dalam pembentukan mediator lipid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08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500" b="1">
                <a:solidFill>
                  <a:srgbClr val="E5B245"/>
                </a:solidFill>
                <a:latin typeface="Aptos"/>
              </a:defRPr>
            </a:pPr>
            <a:r>
              <a:t>Dalam praktik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63094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1900" dirty="0" err="1"/>
              <a:t>Mendukung</a:t>
            </a:r>
            <a:r>
              <a:rPr sz="1900" dirty="0"/>
              <a:t> </a:t>
            </a:r>
            <a:r>
              <a:rPr sz="1900" dirty="0" err="1"/>
              <a:t>fungsi</a:t>
            </a:r>
            <a:r>
              <a:rPr sz="1900" dirty="0"/>
              <a:t> </a:t>
            </a:r>
            <a:r>
              <a:rPr sz="1900" dirty="0" err="1"/>
              <a:t>fisiologis</a:t>
            </a:r>
            <a:r>
              <a:rPr sz="1900" dirty="0"/>
              <a:t> </a:t>
            </a:r>
            <a:r>
              <a:rPr sz="1900" dirty="0" err="1"/>
              <a:t>tubuh</a:t>
            </a:r>
            <a:r>
              <a:rPr sz="1900" dirty="0"/>
              <a:t> </a:t>
            </a:r>
            <a:r>
              <a:rPr sz="1900" dirty="0" err="1"/>
              <a:t>secara</a:t>
            </a:r>
            <a:r>
              <a:rPr sz="1900" dirty="0"/>
              <a:t> </a:t>
            </a:r>
            <a:r>
              <a:rPr sz="1900" dirty="0" err="1"/>
              <a:t>umum</a:t>
            </a:r>
            <a:endParaRPr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Inflamasi: Perlu tetapi Harus Terkendali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&gt;&lt;&gt;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6400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 dirty="0" err="1"/>
              <a:t>Inflamasi</a:t>
            </a:r>
            <a:r>
              <a:rPr sz="1900" dirty="0"/>
              <a:t> </a:t>
            </a:r>
            <a:r>
              <a:rPr sz="1900" dirty="0" err="1"/>
              <a:t>membantu</a:t>
            </a:r>
            <a:r>
              <a:rPr sz="1900" dirty="0"/>
              <a:t> </a:t>
            </a:r>
            <a:r>
              <a:rPr sz="1900" dirty="0" err="1"/>
              <a:t>tubuh</a:t>
            </a:r>
            <a:r>
              <a:rPr sz="1900" dirty="0"/>
              <a:t> </a:t>
            </a:r>
            <a:r>
              <a:rPr sz="1900" dirty="0" err="1"/>
              <a:t>merespons</a:t>
            </a:r>
            <a:r>
              <a:rPr sz="1900" dirty="0"/>
              <a:t> </a:t>
            </a:r>
            <a:r>
              <a:rPr sz="1900" dirty="0" err="1"/>
              <a:t>infeksi</a:t>
            </a:r>
            <a:endParaRPr sz="1900" dirty="0"/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6400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/>
              <a:t>Respons berlebihan dapat merusak jaringan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2435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92333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/>
              <a:t>Status gizi memengaruhi kemampuan tubuh mengatur respons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2435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92333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 dirty="0"/>
              <a:t>Omega-3 </a:t>
            </a:r>
            <a:r>
              <a:rPr sz="1900" dirty="0" err="1"/>
              <a:t>merupakan</a:t>
            </a:r>
            <a:r>
              <a:rPr sz="1900" dirty="0"/>
              <a:t> </a:t>
            </a:r>
            <a:r>
              <a:rPr sz="1900" dirty="0" err="1"/>
              <a:t>bagian</a:t>
            </a:r>
            <a:r>
              <a:rPr sz="1900" dirty="0"/>
              <a:t> </a:t>
            </a:r>
            <a:r>
              <a:rPr sz="1900" dirty="0" err="1"/>
              <a:t>dari</a:t>
            </a:r>
            <a:r>
              <a:rPr sz="1900" dirty="0"/>
              <a:t> </a:t>
            </a:r>
            <a:r>
              <a:rPr sz="1900" dirty="0" err="1"/>
              <a:t>pola</a:t>
            </a:r>
            <a:r>
              <a:rPr sz="1900" dirty="0"/>
              <a:t> </a:t>
            </a:r>
            <a:r>
              <a:rPr sz="1900" dirty="0" err="1"/>
              <a:t>makan</a:t>
            </a:r>
            <a:r>
              <a:rPr sz="1900" dirty="0"/>
              <a:t> yang </a:t>
            </a:r>
            <a:r>
              <a:rPr sz="1900" dirty="0" err="1"/>
              <a:t>mendukung</a:t>
            </a:r>
            <a:r>
              <a:rPr sz="1900" dirty="0"/>
              <a:t> </a:t>
            </a:r>
            <a:r>
              <a:rPr sz="1900" dirty="0" err="1"/>
              <a:t>keseimbangan</a:t>
            </a:r>
            <a:r>
              <a:rPr sz="1900" dirty="0"/>
              <a:t> </a:t>
            </a:r>
            <a:r>
              <a:rPr sz="1900" dirty="0" err="1"/>
              <a:t>inflamasi</a:t>
            </a:r>
            <a:endParaRPr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Sumber Omega-3 Laut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0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926080" cy="9144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LAUT SEBAGAI</a:t>
            </a:r>
            <a:br/>
            <a:r>
              <a:t>SUMBER GIZI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429000"/>
            <a:ext cx="2743200" cy="96949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0">
                <a:solidFill>
                  <a:srgbClr val="E1F7F2"/>
                </a:solidFill>
                <a:latin typeface="Aptos"/>
              </a:defRPr>
            </a:pPr>
            <a:r>
              <a:rPr sz="2000" dirty="0"/>
              <a:t>Protein • Lemak </a:t>
            </a:r>
            <a:r>
              <a:rPr sz="2000" dirty="0" err="1"/>
              <a:t>sehat</a:t>
            </a:r>
            <a:br>
              <a:rPr sz="2000" dirty="0"/>
            </a:br>
            <a:r>
              <a:rPr sz="2000" dirty="0"/>
              <a:t>Vitamin • Mineral</a:t>
            </a:r>
            <a:br>
              <a:rPr sz="2000" dirty="0"/>
            </a:br>
            <a:r>
              <a:rPr sz="2000" dirty="0" err="1"/>
              <a:t>Senyawa</a:t>
            </a:r>
            <a:r>
              <a:rPr sz="2000" dirty="0"/>
              <a:t> </a:t>
            </a:r>
            <a:r>
              <a:rPr sz="2000" dirty="0" err="1"/>
              <a:t>bioaktif</a:t>
            </a:r>
            <a:endParaRPr sz="2000" dirty="0"/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901952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847088"/>
            <a:ext cx="4892040" cy="338554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 dirty="0"/>
              <a:t>Sarden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256032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724912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670048"/>
            <a:ext cx="4892040" cy="338554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/>
              <a:t>Makarel atau kembung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38328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493008"/>
            <a:ext cx="4892040" cy="338554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/>
              <a:t>Salmon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20624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1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315968"/>
            <a:ext cx="4892040" cy="338554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/>
              <a:t>Tuna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502920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0" y="5193792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6128" y="5138928"/>
            <a:ext cx="4892040" cy="338554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/>
              <a:t>Beberapa jenis mikroalga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4" name="Oval 3"/>
          <p:cNvSpPr/>
          <p:nvPr/>
        </p:nvSpPr>
        <p:spPr>
          <a:xfrm>
            <a:off x="8778240" y="822960"/>
            <a:ext cx="2560320" cy="256032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38360" y="1691640"/>
            <a:ext cx="868680" cy="8686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54480"/>
            <a:ext cx="7223760" cy="11430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03 — Vitamin Pendukung Imunitas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6400800" cy="10058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0">
                <a:solidFill>
                  <a:srgbClr val="BEE8EB"/>
                </a:solidFill>
                <a:latin typeface="Aptos"/>
              </a:defRPr>
            </a:pPr>
            <a:r>
              <a:rPr sz="2000" dirty="0"/>
              <a:t>Pangan </a:t>
            </a:r>
            <a:r>
              <a:rPr sz="2000" dirty="0" err="1"/>
              <a:t>laut</a:t>
            </a:r>
            <a:r>
              <a:rPr sz="2000" dirty="0"/>
              <a:t> </a:t>
            </a:r>
            <a:r>
              <a:rPr sz="2000" dirty="0" err="1"/>
              <a:t>menyediakan</a:t>
            </a:r>
            <a:r>
              <a:rPr sz="2000" dirty="0"/>
              <a:t> </a:t>
            </a:r>
            <a:r>
              <a:rPr sz="2000" dirty="0" err="1"/>
              <a:t>sejumlah</a:t>
            </a:r>
            <a:r>
              <a:rPr sz="2000" dirty="0"/>
              <a:t> vitamin yang </a:t>
            </a:r>
            <a:r>
              <a:rPr sz="2000" dirty="0" err="1"/>
              <a:t>berperan</a:t>
            </a:r>
            <a:r>
              <a:rPr sz="2000" dirty="0"/>
              <a:t> </a:t>
            </a:r>
            <a:r>
              <a:rPr sz="2000" dirty="0" err="1"/>
              <a:t>dalam</a:t>
            </a:r>
            <a:r>
              <a:rPr sz="2000" dirty="0"/>
              <a:t> </a:t>
            </a:r>
            <a:r>
              <a:rPr sz="2000" dirty="0" err="1"/>
              <a:t>metabolisme</a:t>
            </a:r>
            <a:r>
              <a:rPr sz="2000" dirty="0"/>
              <a:t>, </a:t>
            </a:r>
            <a:r>
              <a:rPr sz="2000" dirty="0" err="1"/>
              <a:t>integritas</a:t>
            </a:r>
            <a:r>
              <a:rPr sz="2000" dirty="0"/>
              <a:t> </a:t>
            </a:r>
            <a:r>
              <a:rPr sz="2000" dirty="0" err="1"/>
              <a:t>jaringan</a:t>
            </a:r>
            <a:r>
              <a:rPr sz="2000" dirty="0"/>
              <a:t>, dan </a:t>
            </a:r>
            <a:r>
              <a:rPr sz="2000" dirty="0" err="1"/>
              <a:t>fungsi</a:t>
            </a:r>
            <a:r>
              <a:rPr sz="2000" dirty="0"/>
              <a:t> </a:t>
            </a:r>
            <a:r>
              <a:rPr sz="2000" dirty="0" err="1"/>
              <a:t>imun</a:t>
            </a:r>
            <a:r>
              <a:rPr sz="20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709160"/>
            <a:ext cx="4480560" cy="73152"/>
          </a:xfrm>
          <a:prstGeom prst="rect">
            <a:avLst/>
          </a:prstGeom>
          <a:solidFill>
            <a:srgbClr val="4EC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029200"/>
            <a:ext cx="384048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E1F7F2"/>
                </a:solidFill>
                <a:latin typeface="Aptos"/>
              </a:defRPr>
            </a:pPr>
            <a:r>
              <a:t>PANGAN HAYATI LAUT &amp; KESEHATAN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Vitamin D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500" b="1">
                <a:solidFill>
                  <a:srgbClr val="0F8F91"/>
                </a:solidFill>
                <a:latin typeface="Aptos"/>
              </a:defRPr>
            </a:pPr>
            <a:r>
              <a:t>Manfaat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32885"/>
            <a:ext cx="3794760" cy="63094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 dirty="0" err="1"/>
              <a:t>Ditemukan</a:t>
            </a:r>
            <a:r>
              <a:rPr sz="1900" dirty="0"/>
              <a:t> pada </a:t>
            </a:r>
            <a:r>
              <a:rPr sz="1900" dirty="0" err="1"/>
              <a:t>beberapa</a:t>
            </a:r>
            <a:r>
              <a:rPr sz="1900" dirty="0"/>
              <a:t> ikan </a:t>
            </a:r>
            <a:r>
              <a:rPr sz="1900" dirty="0" err="1"/>
              <a:t>berlemak</a:t>
            </a:r>
            <a:endParaRPr sz="1900" dirty="0"/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70035"/>
            <a:ext cx="3794760" cy="338554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/>
              <a:t>Berperan dalam fungsi imun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63094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/>
              <a:t>Mendukung kesehatan tulang dan metabolisme mineral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08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500" b="1">
                <a:solidFill>
                  <a:srgbClr val="E5B245"/>
                </a:solidFill>
                <a:latin typeface="Aptos"/>
              </a:defRPr>
            </a:pPr>
            <a:r>
              <a:t>Dalam praktik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92333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1900"/>
              <a:t>Kecukupan vitamin D tetap dipengaruhi pola makan dan paparan sinar matahari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Vitamin A dan Vitamin B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&gt;&lt;&gt;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6400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 dirty="0"/>
              <a:t>Vitamin A </a:t>
            </a:r>
            <a:r>
              <a:rPr sz="1900" dirty="0" err="1"/>
              <a:t>mendukung</a:t>
            </a:r>
            <a:r>
              <a:rPr sz="1900" dirty="0"/>
              <a:t> </a:t>
            </a:r>
            <a:r>
              <a:rPr sz="1900" dirty="0" err="1"/>
              <a:t>integritas</a:t>
            </a:r>
            <a:r>
              <a:rPr sz="1900" dirty="0"/>
              <a:t> </a:t>
            </a:r>
            <a:r>
              <a:rPr sz="1900" dirty="0" err="1"/>
              <a:t>epitel</a:t>
            </a:r>
            <a:r>
              <a:rPr sz="1900" dirty="0"/>
              <a:t> dan </a:t>
            </a:r>
            <a:r>
              <a:rPr sz="1900" dirty="0" err="1"/>
              <a:t>fungsi</a:t>
            </a:r>
            <a:r>
              <a:rPr sz="1900" dirty="0"/>
              <a:t> </a:t>
            </a:r>
            <a:r>
              <a:rPr sz="1900" dirty="0" err="1"/>
              <a:t>imun</a:t>
            </a:r>
            <a:endParaRPr sz="1900" dirty="0"/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6400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/>
              <a:t>Vitamin B12 banyak ditemukan pada pangan hewani laut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6400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/>
              <a:t>Vitamin B membantu metabolisme energi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6400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/>
              <a:t>Variasi kandungan bergantung pada jenis pangan laut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4" name="Oval 3"/>
          <p:cNvSpPr/>
          <p:nvPr/>
        </p:nvSpPr>
        <p:spPr>
          <a:xfrm>
            <a:off x="8778240" y="822960"/>
            <a:ext cx="2560320" cy="256032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38360" y="1691640"/>
            <a:ext cx="868680" cy="8686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54480"/>
            <a:ext cx="7223760" cy="11430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04 — Mineral Esensial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4069080" cy="1277273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0">
                <a:solidFill>
                  <a:srgbClr val="BEE8EB"/>
                </a:solidFill>
                <a:latin typeface="Aptos"/>
              </a:defRPr>
            </a:pPr>
            <a:r>
              <a:rPr sz="2000" dirty="0"/>
              <a:t>Seng, selenium, </a:t>
            </a:r>
            <a:r>
              <a:rPr sz="2000" dirty="0" err="1"/>
              <a:t>iodium</a:t>
            </a:r>
            <a:r>
              <a:rPr sz="2000" dirty="0"/>
              <a:t>, dan </a:t>
            </a:r>
            <a:r>
              <a:rPr sz="2000" dirty="0" err="1"/>
              <a:t>zat</a:t>
            </a:r>
            <a:r>
              <a:rPr sz="2000" dirty="0"/>
              <a:t> </a:t>
            </a:r>
            <a:r>
              <a:rPr sz="2000" dirty="0" err="1"/>
              <a:t>besi</a:t>
            </a:r>
            <a:r>
              <a:rPr sz="2000" dirty="0"/>
              <a:t> </a:t>
            </a:r>
            <a:r>
              <a:rPr sz="2000" dirty="0" err="1"/>
              <a:t>adalah</a:t>
            </a:r>
            <a:r>
              <a:rPr sz="2000" dirty="0"/>
              <a:t> </a:t>
            </a:r>
            <a:r>
              <a:rPr sz="2000" dirty="0" err="1"/>
              <a:t>mikronutrien</a:t>
            </a:r>
            <a:r>
              <a:rPr sz="2000" dirty="0"/>
              <a:t> </a:t>
            </a:r>
            <a:r>
              <a:rPr sz="2000" dirty="0" err="1"/>
              <a:t>penting</a:t>
            </a:r>
            <a:r>
              <a:rPr sz="2000" dirty="0"/>
              <a:t> yang </a:t>
            </a:r>
            <a:r>
              <a:rPr sz="2000" dirty="0" err="1"/>
              <a:t>dapat</a:t>
            </a:r>
            <a:r>
              <a:rPr sz="2000" dirty="0"/>
              <a:t> </a:t>
            </a:r>
            <a:r>
              <a:rPr sz="2000" dirty="0" err="1"/>
              <a:t>diperoleh</a:t>
            </a:r>
            <a:r>
              <a:rPr sz="2000" dirty="0"/>
              <a:t> </a:t>
            </a:r>
            <a:r>
              <a:rPr sz="2000" dirty="0" err="1"/>
              <a:t>dari</a:t>
            </a:r>
            <a:r>
              <a:rPr sz="2000" dirty="0"/>
              <a:t> </a:t>
            </a:r>
            <a:r>
              <a:rPr sz="2000" dirty="0" err="1"/>
              <a:t>berbagai</a:t>
            </a:r>
            <a:r>
              <a:rPr sz="2000" dirty="0"/>
              <a:t> </a:t>
            </a:r>
            <a:r>
              <a:rPr sz="2000" dirty="0" err="1"/>
              <a:t>pangan</a:t>
            </a:r>
            <a:r>
              <a:rPr sz="2000" dirty="0"/>
              <a:t> </a:t>
            </a:r>
            <a:r>
              <a:rPr sz="2000" dirty="0" err="1"/>
              <a:t>laut</a:t>
            </a:r>
            <a:r>
              <a:rPr sz="20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709160"/>
            <a:ext cx="4480560" cy="73152"/>
          </a:xfrm>
          <a:prstGeom prst="rect">
            <a:avLst/>
          </a:prstGeom>
          <a:solidFill>
            <a:srgbClr val="4EC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029200"/>
            <a:ext cx="384048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E1F7F2"/>
                </a:solidFill>
                <a:latin typeface="Aptos"/>
              </a:defRPr>
            </a:pPr>
            <a:r>
              <a:t>PANGAN HAYATI LAUT &amp; KESEHATAN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Seng untuk Fungsi Imun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201168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Komponen utama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07792"/>
            <a:ext cx="9966960" cy="73152"/>
          </a:xfrm>
          <a:prstGeom prst="rect">
            <a:avLst/>
          </a:prstGeom>
          <a:solidFill>
            <a:srgbClr val="BE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96896"/>
            <a:ext cx="658368" cy="658368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58368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" y="3474488"/>
            <a:ext cx="2240280" cy="96949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A303C"/>
                </a:solidFill>
                <a:latin typeface="Aptos"/>
              </a:defRPr>
            </a:pPr>
            <a:r>
              <a:rPr sz="2000" dirty="0" err="1"/>
              <a:t>Berperan</a:t>
            </a:r>
            <a:r>
              <a:rPr sz="2000" dirty="0"/>
              <a:t> </a:t>
            </a:r>
            <a:r>
              <a:rPr sz="2000" dirty="0" err="1"/>
              <a:t>dalam</a:t>
            </a:r>
            <a:r>
              <a:rPr sz="2000" dirty="0"/>
              <a:t> </a:t>
            </a:r>
            <a:r>
              <a:rPr sz="2000" dirty="0" err="1"/>
              <a:t>pertumbuhan</a:t>
            </a:r>
            <a:r>
              <a:rPr sz="2000" dirty="0"/>
              <a:t> dan </a:t>
            </a:r>
            <a:r>
              <a:rPr sz="2000" dirty="0" err="1"/>
              <a:t>fungsi</a:t>
            </a:r>
            <a:r>
              <a:rPr sz="2000" dirty="0"/>
              <a:t> </a:t>
            </a:r>
            <a:r>
              <a:rPr sz="2000" dirty="0" err="1"/>
              <a:t>sel</a:t>
            </a:r>
            <a:r>
              <a:rPr sz="2000" dirty="0"/>
              <a:t> </a:t>
            </a:r>
            <a:r>
              <a:rPr sz="2000" dirty="0" err="1"/>
              <a:t>imun</a:t>
            </a:r>
            <a:endParaRPr sz="2000" dirty="0"/>
          </a:p>
        </p:txBody>
      </p:sp>
      <p:sp>
        <p:nvSpPr>
          <p:cNvPr id="12" name="Oval 11"/>
          <p:cNvSpPr/>
          <p:nvPr/>
        </p:nvSpPr>
        <p:spPr>
          <a:xfrm>
            <a:off x="4160520" y="2596896"/>
            <a:ext cx="658368" cy="658368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2734056"/>
            <a:ext cx="658368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4428" y="3474488"/>
            <a:ext cx="2240280" cy="96949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A303C"/>
                </a:solidFill>
                <a:latin typeface="Aptos"/>
              </a:defRPr>
            </a:pPr>
            <a:r>
              <a:rPr sz="2000" dirty="0" err="1"/>
              <a:t>Mendukung</a:t>
            </a:r>
            <a:r>
              <a:rPr sz="2000" dirty="0"/>
              <a:t> </a:t>
            </a:r>
            <a:r>
              <a:rPr sz="2000" dirty="0" err="1"/>
              <a:t>penyembuhan</a:t>
            </a:r>
            <a:r>
              <a:rPr sz="2000" dirty="0"/>
              <a:t> </a:t>
            </a:r>
            <a:r>
              <a:rPr sz="2000" dirty="0" err="1"/>
              <a:t>luka</a:t>
            </a:r>
            <a:endParaRPr sz="2000" dirty="0"/>
          </a:p>
        </p:txBody>
      </p:sp>
      <p:sp>
        <p:nvSpPr>
          <p:cNvPr id="15" name="Oval 14"/>
          <p:cNvSpPr/>
          <p:nvPr/>
        </p:nvSpPr>
        <p:spPr>
          <a:xfrm>
            <a:off x="7406640" y="2596896"/>
            <a:ext cx="658368" cy="658368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2734056"/>
            <a:ext cx="658368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474256"/>
            <a:ext cx="2240280" cy="96949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A303C"/>
                </a:solidFill>
                <a:latin typeface="Aptos"/>
              </a:defRPr>
            </a:pPr>
            <a:r>
              <a:rPr sz="2000" dirty="0" err="1"/>
              <a:t>Diperlukan</a:t>
            </a:r>
            <a:r>
              <a:rPr sz="2000" dirty="0"/>
              <a:t> </a:t>
            </a:r>
            <a:r>
              <a:rPr sz="2000" dirty="0" err="1"/>
              <a:t>dalam</a:t>
            </a:r>
            <a:r>
              <a:rPr sz="2000" dirty="0"/>
              <a:t> </a:t>
            </a:r>
            <a:r>
              <a:rPr sz="2000" dirty="0" err="1"/>
              <a:t>berbagai</a:t>
            </a:r>
            <a:r>
              <a:rPr sz="2000" dirty="0"/>
              <a:t> </a:t>
            </a:r>
            <a:r>
              <a:rPr sz="2000" dirty="0" err="1"/>
              <a:t>reaksi</a:t>
            </a:r>
            <a:r>
              <a:rPr sz="2000" dirty="0"/>
              <a:t> </a:t>
            </a:r>
            <a:r>
              <a:rPr sz="2000" dirty="0" err="1"/>
              <a:t>enzimatik</a:t>
            </a:r>
            <a:endParaRPr sz="2000" dirty="0"/>
          </a:p>
        </p:txBody>
      </p:sp>
      <p:sp>
        <p:nvSpPr>
          <p:cNvPr id="18" name="Oval 17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60" y="2734056"/>
            <a:ext cx="658368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1220" y="3474256"/>
            <a:ext cx="2240280" cy="96949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A303C"/>
                </a:solidFill>
                <a:latin typeface="Aptos"/>
              </a:defRPr>
            </a:pPr>
            <a:r>
              <a:rPr sz="2000" dirty="0" err="1"/>
              <a:t>Kerang</a:t>
            </a:r>
            <a:r>
              <a:rPr sz="2000" dirty="0"/>
              <a:t> </a:t>
            </a:r>
            <a:r>
              <a:rPr sz="2000" dirty="0" err="1"/>
              <a:t>merupakan</a:t>
            </a:r>
            <a:r>
              <a:rPr sz="2000" dirty="0"/>
              <a:t> salah </a:t>
            </a:r>
            <a:r>
              <a:rPr sz="2000" dirty="0" err="1"/>
              <a:t>satu</a:t>
            </a:r>
            <a:r>
              <a:rPr sz="2000" dirty="0"/>
              <a:t> </a:t>
            </a:r>
            <a:r>
              <a:rPr sz="2000" dirty="0" err="1"/>
              <a:t>sumber</a:t>
            </a:r>
            <a:r>
              <a:rPr sz="2000" dirty="0"/>
              <a:t> </a:t>
            </a:r>
            <a:r>
              <a:rPr sz="2000" dirty="0" err="1"/>
              <a:t>seng</a:t>
            </a:r>
            <a:r>
              <a:rPr sz="2000" dirty="0"/>
              <a:t> yang kaya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Selenium sebagai Komponen Antioksidan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500" b="1">
                <a:solidFill>
                  <a:srgbClr val="0F8F91"/>
                </a:solidFill>
                <a:latin typeface="Aptos"/>
              </a:defRPr>
            </a:pPr>
            <a:r>
              <a:t>Manfaat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03780"/>
            <a:ext cx="3794760" cy="6617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2000" dirty="0" err="1"/>
              <a:t>Berperan</a:t>
            </a:r>
            <a:r>
              <a:rPr sz="2000" dirty="0"/>
              <a:t> </a:t>
            </a:r>
            <a:r>
              <a:rPr sz="2000" dirty="0" err="1"/>
              <a:t>dalam</a:t>
            </a:r>
            <a:r>
              <a:rPr sz="2000" dirty="0"/>
              <a:t> </a:t>
            </a:r>
            <a:r>
              <a:rPr sz="2000" dirty="0" err="1"/>
              <a:t>sistem</a:t>
            </a:r>
            <a:r>
              <a:rPr sz="2000" dirty="0"/>
              <a:t> </a:t>
            </a:r>
            <a:r>
              <a:rPr sz="2000" dirty="0" err="1"/>
              <a:t>enzim</a:t>
            </a:r>
            <a:r>
              <a:rPr sz="2000" dirty="0"/>
              <a:t> </a:t>
            </a:r>
            <a:r>
              <a:rPr sz="2000" dirty="0" err="1"/>
              <a:t>antioksidan</a:t>
            </a:r>
            <a:endParaRPr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368726"/>
            <a:ext cx="3794760" cy="6617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2000" dirty="0" err="1"/>
              <a:t>Membantu</a:t>
            </a:r>
            <a:r>
              <a:rPr sz="2000" dirty="0"/>
              <a:t> </a:t>
            </a:r>
            <a:r>
              <a:rPr sz="2000" dirty="0" err="1"/>
              <a:t>melindungi</a:t>
            </a:r>
            <a:r>
              <a:rPr sz="2000" dirty="0"/>
              <a:t> </a:t>
            </a:r>
            <a:r>
              <a:rPr sz="2000" dirty="0" err="1"/>
              <a:t>sel</a:t>
            </a:r>
            <a:r>
              <a:rPr sz="2000" dirty="0"/>
              <a:t> </a:t>
            </a:r>
            <a:r>
              <a:rPr sz="2000" dirty="0" err="1"/>
              <a:t>dari</a:t>
            </a:r>
            <a:r>
              <a:rPr sz="2000" dirty="0"/>
              <a:t> </a:t>
            </a:r>
            <a:r>
              <a:rPr sz="2000" dirty="0" err="1"/>
              <a:t>stres</a:t>
            </a:r>
            <a:r>
              <a:rPr sz="2000" dirty="0"/>
              <a:t> </a:t>
            </a:r>
            <a:r>
              <a:rPr sz="2000" dirty="0" err="1"/>
              <a:t>oksidatif</a:t>
            </a:r>
            <a:endParaRPr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932688" y="4425696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1996"/>
            <a:ext cx="3794760" cy="6617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2000" dirty="0" err="1"/>
              <a:t>Terdapat</a:t>
            </a:r>
            <a:r>
              <a:rPr sz="2000" dirty="0"/>
              <a:t> pada </a:t>
            </a:r>
            <a:r>
              <a:rPr sz="2000" dirty="0" err="1"/>
              <a:t>berbagai</a:t>
            </a:r>
            <a:r>
              <a:rPr sz="2000" dirty="0"/>
              <a:t> ikan dan seafood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08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500" b="1">
                <a:solidFill>
                  <a:srgbClr val="E5B245"/>
                </a:solidFill>
                <a:latin typeface="Aptos"/>
              </a:defRPr>
            </a:pPr>
            <a:r>
              <a:t>Dalam praktik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6617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2000" dirty="0" err="1"/>
              <a:t>Asupan</a:t>
            </a:r>
            <a:r>
              <a:rPr sz="2000" dirty="0"/>
              <a:t> </a:t>
            </a:r>
            <a:r>
              <a:rPr sz="2000" dirty="0" err="1"/>
              <a:t>berlebihan</a:t>
            </a:r>
            <a:r>
              <a:rPr sz="2000" dirty="0"/>
              <a:t> </a:t>
            </a:r>
            <a:r>
              <a:rPr sz="2000" dirty="0" err="1"/>
              <a:t>tetap</a:t>
            </a:r>
            <a:r>
              <a:rPr sz="2000" dirty="0"/>
              <a:t> </a:t>
            </a:r>
            <a:r>
              <a:rPr sz="2000" dirty="0" err="1"/>
              <a:t>perlu</a:t>
            </a:r>
            <a:r>
              <a:rPr sz="2000" dirty="0"/>
              <a:t> </a:t>
            </a:r>
            <a:r>
              <a:rPr sz="2000" dirty="0" err="1"/>
              <a:t>dihindari</a:t>
            </a:r>
            <a:endParaRPr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Zat Besi dan Iodium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&gt;&lt;&gt;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28800"/>
            <a:ext cx="3703320" cy="83099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 b="1" dirty="0" err="1"/>
              <a:t>Zat</a:t>
            </a:r>
            <a:r>
              <a:rPr sz="1700" b="1" dirty="0"/>
              <a:t> </a:t>
            </a:r>
            <a:r>
              <a:rPr sz="1700" b="1" dirty="0" err="1"/>
              <a:t>besi</a:t>
            </a:r>
            <a:r>
              <a:rPr sz="1700" b="1" dirty="0"/>
              <a:t> </a:t>
            </a:r>
            <a:r>
              <a:rPr sz="1700" b="1" dirty="0" err="1"/>
              <a:t>diperlukan</a:t>
            </a:r>
            <a:r>
              <a:rPr sz="1700" b="1" dirty="0"/>
              <a:t> </a:t>
            </a:r>
            <a:r>
              <a:rPr sz="1700" b="1" dirty="0" err="1"/>
              <a:t>untuk</a:t>
            </a:r>
            <a:r>
              <a:rPr sz="1700" b="1" dirty="0"/>
              <a:t> </a:t>
            </a:r>
            <a:r>
              <a:rPr sz="1700" b="1" dirty="0" err="1"/>
              <a:t>pembentukan</a:t>
            </a:r>
            <a:r>
              <a:rPr sz="1700" b="1" dirty="0"/>
              <a:t> hemoglobin dan </a:t>
            </a:r>
            <a:r>
              <a:rPr sz="1700" b="1" dirty="0" err="1"/>
              <a:t>fungsi</a:t>
            </a:r>
            <a:r>
              <a:rPr sz="1700" b="1" dirty="0"/>
              <a:t> </a:t>
            </a:r>
            <a:r>
              <a:rPr sz="1700" b="1" dirty="0" err="1"/>
              <a:t>sel</a:t>
            </a:r>
            <a:endParaRPr sz="1700"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30777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1">
                <a:solidFill>
                  <a:srgbClr val="1A303C"/>
                </a:solidFill>
                <a:latin typeface="Aptos"/>
              </a:defRPr>
            </a:pPr>
            <a:r>
              <a:rPr sz="1700" b="1"/>
              <a:t>Iodium penting untuk hormon tiroid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56938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 b="1"/>
              <a:t>Seafood dan rumput laut dapat menjadi sumber mineral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56938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 b="1"/>
              <a:t>Kandungan iodium rumput laut dapat sangat bervariasi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4" name="Oval 3"/>
          <p:cNvSpPr/>
          <p:nvPr/>
        </p:nvSpPr>
        <p:spPr>
          <a:xfrm>
            <a:off x="8778240" y="822960"/>
            <a:ext cx="2560320" cy="256032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38360" y="1691640"/>
            <a:ext cx="868680" cy="8686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54480"/>
            <a:ext cx="7223760" cy="11430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05 — Rumput Laut &amp; Senyawa Bioaktif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79776"/>
            <a:ext cx="3163824" cy="1585049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0">
                <a:solidFill>
                  <a:srgbClr val="BEE8EB"/>
                </a:solidFill>
                <a:latin typeface="Aptos"/>
              </a:defRPr>
            </a:pPr>
            <a:r>
              <a:rPr sz="2000" dirty="0" err="1"/>
              <a:t>Rumput</a:t>
            </a:r>
            <a:r>
              <a:rPr sz="2000" dirty="0"/>
              <a:t> </a:t>
            </a:r>
            <a:r>
              <a:rPr sz="2000" dirty="0" err="1"/>
              <a:t>laut</a:t>
            </a:r>
            <a:r>
              <a:rPr sz="2000" dirty="0"/>
              <a:t> </a:t>
            </a:r>
            <a:r>
              <a:rPr sz="2000" dirty="0" err="1"/>
              <a:t>memberikan</a:t>
            </a:r>
            <a:r>
              <a:rPr sz="2000" dirty="0"/>
              <a:t> </a:t>
            </a:r>
            <a:r>
              <a:rPr sz="2000" dirty="0" err="1"/>
              <a:t>serat</a:t>
            </a:r>
            <a:r>
              <a:rPr sz="2000" dirty="0"/>
              <a:t>, mineral, dan </a:t>
            </a:r>
            <a:r>
              <a:rPr sz="2000" dirty="0" err="1"/>
              <a:t>beragam</a:t>
            </a:r>
            <a:r>
              <a:rPr sz="2000" dirty="0"/>
              <a:t> </a:t>
            </a:r>
            <a:r>
              <a:rPr sz="2000" dirty="0" err="1"/>
              <a:t>senyawa</a:t>
            </a:r>
            <a:r>
              <a:rPr sz="2000" dirty="0"/>
              <a:t> </a:t>
            </a:r>
            <a:r>
              <a:rPr sz="2000" dirty="0" err="1"/>
              <a:t>bioaktif</a:t>
            </a:r>
            <a:r>
              <a:rPr sz="2000" dirty="0"/>
              <a:t> yang </a:t>
            </a:r>
            <a:r>
              <a:rPr sz="2000" dirty="0" err="1"/>
              <a:t>menarik</a:t>
            </a:r>
            <a:r>
              <a:rPr sz="2000" dirty="0"/>
              <a:t> </a:t>
            </a:r>
            <a:r>
              <a:rPr sz="2000" dirty="0" err="1"/>
              <a:t>untuk</a:t>
            </a:r>
            <a:r>
              <a:rPr sz="2000" dirty="0"/>
              <a:t> </a:t>
            </a:r>
            <a:r>
              <a:rPr sz="2000" dirty="0" err="1"/>
              <a:t>dikaji</a:t>
            </a:r>
            <a:r>
              <a:rPr sz="2000" dirty="0"/>
              <a:t> </a:t>
            </a:r>
            <a:r>
              <a:rPr sz="2000" dirty="0" err="1"/>
              <a:t>dalam</a:t>
            </a:r>
            <a:r>
              <a:rPr sz="2000" dirty="0"/>
              <a:t> </a:t>
            </a:r>
            <a:r>
              <a:rPr sz="2000" dirty="0" err="1"/>
              <a:t>kesehatan</a:t>
            </a:r>
            <a:r>
              <a:rPr sz="20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709160"/>
            <a:ext cx="4480560" cy="73152"/>
          </a:xfrm>
          <a:prstGeom prst="rect">
            <a:avLst/>
          </a:prstGeom>
          <a:solidFill>
            <a:srgbClr val="4EC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029200"/>
            <a:ext cx="384048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E1F7F2"/>
                </a:solidFill>
                <a:latin typeface="Aptos"/>
              </a:defRPr>
            </a:pPr>
            <a:r>
              <a:t>PANGAN HAYATI LAUT &amp; KESEHATAN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Potensi Gizi Rumput Laut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134" y="1698779"/>
            <a:ext cx="2890267" cy="353943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rPr sz="2000" dirty="0" err="1"/>
              <a:t>Komponen</a:t>
            </a:r>
            <a:r>
              <a:rPr sz="2000" dirty="0"/>
              <a:t> </a:t>
            </a:r>
            <a:r>
              <a:rPr sz="2000" dirty="0" err="1"/>
              <a:t>utama</a:t>
            </a:r>
            <a:endParaRPr sz="2000" dirty="0"/>
          </a:p>
        </p:txBody>
      </p:sp>
      <p:sp>
        <p:nvSpPr>
          <p:cNvPr id="8" name="Rectangle 7"/>
          <p:cNvSpPr/>
          <p:nvPr/>
        </p:nvSpPr>
        <p:spPr>
          <a:xfrm>
            <a:off x="914400" y="2907792"/>
            <a:ext cx="9966960" cy="73152"/>
          </a:xfrm>
          <a:prstGeom prst="rect">
            <a:avLst/>
          </a:prstGeom>
          <a:solidFill>
            <a:srgbClr val="BE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596896"/>
            <a:ext cx="658368" cy="658368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58368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" y="3490548"/>
            <a:ext cx="1801368" cy="56938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A303C"/>
                </a:solidFill>
                <a:latin typeface="Aptos"/>
              </a:defRPr>
            </a:pPr>
            <a:r>
              <a:rPr sz="1700" dirty="0" err="1"/>
              <a:t>Mengandung</a:t>
            </a:r>
            <a:r>
              <a:rPr sz="1700" dirty="0"/>
              <a:t> </a:t>
            </a:r>
            <a:r>
              <a:rPr sz="1700" dirty="0" err="1"/>
              <a:t>serat</a:t>
            </a:r>
            <a:r>
              <a:rPr sz="1700" dirty="0"/>
              <a:t> </a:t>
            </a:r>
            <a:r>
              <a:rPr sz="1700" dirty="0" err="1"/>
              <a:t>pangan</a:t>
            </a:r>
            <a:endParaRPr sz="1700" dirty="0"/>
          </a:p>
        </p:txBody>
      </p:sp>
      <p:sp>
        <p:nvSpPr>
          <p:cNvPr id="12" name="Oval 11"/>
          <p:cNvSpPr/>
          <p:nvPr/>
        </p:nvSpPr>
        <p:spPr>
          <a:xfrm>
            <a:off x="4160520" y="2596896"/>
            <a:ext cx="658368" cy="658368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2734056"/>
            <a:ext cx="658368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8635" y="3490549"/>
            <a:ext cx="1801368" cy="56938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A303C"/>
                </a:solidFill>
                <a:latin typeface="Aptos"/>
              </a:defRPr>
            </a:pPr>
            <a:r>
              <a:rPr sz="1700" dirty="0" err="1"/>
              <a:t>Menyediakan</a:t>
            </a:r>
            <a:r>
              <a:rPr sz="1700" dirty="0"/>
              <a:t> mineral </a:t>
            </a:r>
            <a:r>
              <a:rPr sz="1700" dirty="0" err="1"/>
              <a:t>tertentu</a:t>
            </a:r>
            <a:endParaRPr sz="1700" dirty="0"/>
          </a:p>
        </p:txBody>
      </p:sp>
      <p:sp>
        <p:nvSpPr>
          <p:cNvPr id="15" name="Oval 14"/>
          <p:cNvSpPr/>
          <p:nvPr/>
        </p:nvSpPr>
        <p:spPr>
          <a:xfrm>
            <a:off x="7406640" y="2596896"/>
            <a:ext cx="658368" cy="658368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2734056"/>
            <a:ext cx="658368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1998" y="3494115"/>
            <a:ext cx="1801368" cy="83099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A303C"/>
                </a:solidFill>
                <a:latin typeface="Aptos"/>
              </a:defRPr>
            </a:pPr>
            <a:r>
              <a:rPr sz="1700" dirty="0" err="1"/>
              <a:t>Mengandung</a:t>
            </a:r>
            <a:r>
              <a:rPr sz="1700" dirty="0"/>
              <a:t> pigmen dan </a:t>
            </a:r>
            <a:r>
              <a:rPr sz="1700" dirty="0" err="1"/>
              <a:t>senyawa</a:t>
            </a:r>
            <a:r>
              <a:rPr sz="1700" dirty="0"/>
              <a:t> </a:t>
            </a:r>
            <a:r>
              <a:rPr sz="1700" dirty="0" err="1"/>
              <a:t>fenolik</a:t>
            </a:r>
            <a:endParaRPr sz="1700" dirty="0"/>
          </a:p>
        </p:txBody>
      </p:sp>
      <p:sp>
        <p:nvSpPr>
          <p:cNvPr id="18" name="Oval 17"/>
          <p:cNvSpPr/>
          <p:nvPr/>
        </p:nvSpPr>
        <p:spPr>
          <a:xfrm>
            <a:off x="10652760" y="2596896"/>
            <a:ext cx="658368" cy="658368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60" y="2734056"/>
            <a:ext cx="658368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09276" y="3429000"/>
            <a:ext cx="1801368" cy="135421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A303C"/>
                </a:solidFill>
                <a:latin typeface="Aptos"/>
              </a:defRPr>
            </a:pPr>
            <a:r>
              <a:rPr sz="1700" dirty="0" err="1"/>
              <a:t>Komposisi</a:t>
            </a:r>
            <a:r>
              <a:rPr sz="1700" dirty="0"/>
              <a:t> sangat </a:t>
            </a:r>
            <a:r>
              <a:rPr sz="1700" dirty="0" err="1"/>
              <a:t>bergantung</a:t>
            </a:r>
            <a:r>
              <a:rPr sz="1700" dirty="0"/>
              <a:t> pada </a:t>
            </a:r>
            <a:r>
              <a:rPr sz="1700" dirty="0" err="1"/>
              <a:t>spesies</a:t>
            </a:r>
            <a:r>
              <a:rPr sz="1700" dirty="0"/>
              <a:t> dan </a:t>
            </a:r>
            <a:r>
              <a:rPr sz="1700" dirty="0" err="1"/>
              <a:t>lingkungan</a:t>
            </a:r>
            <a:endParaRPr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Mikrobiota Usus dan Imunitas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500" b="1">
                <a:solidFill>
                  <a:srgbClr val="0F8F91"/>
                </a:solidFill>
                <a:latin typeface="Aptos"/>
              </a:defRPr>
            </a:pPr>
            <a:r>
              <a:t>Manfaat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56938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 dirty="0"/>
              <a:t>Serat </a:t>
            </a:r>
            <a:r>
              <a:rPr sz="1700" dirty="0" err="1"/>
              <a:t>tertentu</a:t>
            </a:r>
            <a:r>
              <a:rPr sz="1700" dirty="0"/>
              <a:t> </a:t>
            </a:r>
            <a:r>
              <a:rPr sz="1700" dirty="0" err="1"/>
              <a:t>dapat</a:t>
            </a:r>
            <a:r>
              <a:rPr sz="1700" dirty="0"/>
              <a:t> </a:t>
            </a:r>
            <a:r>
              <a:rPr sz="1700" dirty="0" err="1"/>
              <a:t>difermentasi</a:t>
            </a:r>
            <a:r>
              <a:rPr sz="1700" dirty="0"/>
              <a:t> oleh </a:t>
            </a:r>
            <a:r>
              <a:rPr sz="1700" dirty="0" err="1"/>
              <a:t>mikrobiota</a:t>
            </a:r>
            <a:endParaRPr sz="1700" dirty="0"/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56938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/>
              <a:t>Mikrobiota berinteraksi dengan sistem imun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56938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/>
              <a:t>Pola makan beragam mendukung ekosistem usus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08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500" b="1">
                <a:solidFill>
                  <a:srgbClr val="E5B245"/>
                </a:solidFill>
                <a:latin typeface="Aptos"/>
              </a:defRPr>
            </a:pPr>
            <a:r>
              <a:t>Dalam praktik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92333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1900" dirty="0" err="1"/>
              <a:t>Efek</a:t>
            </a:r>
            <a:r>
              <a:rPr sz="1900" dirty="0"/>
              <a:t> </a:t>
            </a:r>
            <a:r>
              <a:rPr sz="1900" dirty="0" err="1"/>
              <a:t>spesifik</a:t>
            </a:r>
            <a:r>
              <a:rPr sz="1900" dirty="0"/>
              <a:t> </a:t>
            </a:r>
            <a:r>
              <a:rPr sz="1900" dirty="0" err="1"/>
              <a:t>pangan</a:t>
            </a:r>
            <a:r>
              <a:rPr sz="1900" dirty="0"/>
              <a:t> </a:t>
            </a:r>
            <a:r>
              <a:rPr sz="1900" dirty="0" err="1"/>
              <a:t>laut</a:t>
            </a:r>
            <a:r>
              <a:rPr sz="1900" dirty="0"/>
              <a:t> </a:t>
            </a:r>
            <a:r>
              <a:rPr sz="1900" dirty="0" err="1"/>
              <a:t>tetap</a:t>
            </a:r>
            <a:r>
              <a:rPr sz="1900" dirty="0"/>
              <a:t> </a:t>
            </a:r>
            <a:r>
              <a:rPr sz="1900" dirty="0" err="1"/>
              <a:t>bergantung</a:t>
            </a:r>
            <a:r>
              <a:rPr sz="1900" dirty="0"/>
              <a:t> pada </a:t>
            </a:r>
            <a:r>
              <a:rPr sz="1900" dirty="0" err="1"/>
              <a:t>jenis</a:t>
            </a:r>
            <a:r>
              <a:rPr sz="1900" dirty="0"/>
              <a:t> dan </a:t>
            </a:r>
            <a:r>
              <a:rPr sz="1900" dirty="0" err="1"/>
              <a:t>jumlah</a:t>
            </a:r>
            <a:r>
              <a:rPr sz="1900" dirty="0"/>
              <a:t> </a:t>
            </a:r>
            <a:r>
              <a:rPr sz="1900" dirty="0" err="1"/>
              <a:t>konsumsi</a:t>
            </a:r>
            <a:endParaRPr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Mikroalga sebagai Sumber Nutrien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&gt;&lt;&gt;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92808"/>
            <a:ext cx="3703320" cy="56938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 dirty="0" err="1"/>
              <a:t>Beberapa</a:t>
            </a:r>
            <a:r>
              <a:rPr sz="1700" dirty="0"/>
              <a:t> </a:t>
            </a:r>
            <a:r>
              <a:rPr sz="1700" dirty="0" err="1"/>
              <a:t>mikroalga</a:t>
            </a:r>
            <a:r>
              <a:rPr sz="1700" dirty="0"/>
              <a:t> </a:t>
            </a:r>
            <a:r>
              <a:rPr sz="1700" dirty="0" err="1"/>
              <a:t>menghasilkan</a:t>
            </a:r>
            <a:r>
              <a:rPr sz="1700" dirty="0"/>
              <a:t> EPA </a:t>
            </a:r>
            <a:r>
              <a:rPr sz="1700" dirty="0" err="1"/>
              <a:t>atau</a:t>
            </a:r>
            <a:r>
              <a:rPr sz="1700" dirty="0"/>
              <a:t> DHA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892808"/>
            <a:ext cx="3703320" cy="56938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/>
              <a:t>Dapat mengandung protein, pigmen, dan mikronutrien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56938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/>
              <a:t>Berpotensi menjadi sumber pangan fungsional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56938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700"/>
              <a:t>Keamanan dan mutu produk tetap harus diperhatikan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Pangan Laut dalam Masa Infeksi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657600" cy="4251960"/>
          </a:xfrm>
          <a:prstGeom prst="roundRect">
            <a:avLst/>
          </a:prstGeom>
          <a:solidFill>
            <a:srgbClr val="0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2926080" cy="36576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800" b="1">
                <a:solidFill>
                  <a:srgbClr val="4EC6BE"/>
                </a:solidFill>
                <a:latin typeface="Aptos"/>
              </a:defRPr>
            </a:pPr>
            <a:r>
              <a:t>SAAT INFEKSI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88920"/>
            <a:ext cx="2788920" cy="1371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Fokus pada makanan yang</a:t>
            </a:r>
            <a:br/>
            <a:r>
              <a:t>bergizi, aman, mudah</a:t>
            </a:r>
            <a:br/>
            <a:r>
              <a:t>dikonsumsi, dan sesuai</a:t>
            </a:r>
            <a:br/>
            <a:r>
              <a:t>toleransi pasien.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755648"/>
            <a:ext cx="6172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10912" y="1929384"/>
            <a:ext cx="365760" cy="36576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10912" y="2011680"/>
            <a:ext cx="36576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9552" y="1815075"/>
            <a:ext cx="5029200" cy="63094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 dirty="0" err="1"/>
              <a:t>Utamakan</a:t>
            </a:r>
            <a:r>
              <a:rPr sz="1900" dirty="0"/>
              <a:t> </a:t>
            </a:r>
            <a:r>
              <a:rPr sz="1900" dirty="0" err="1"/>
              <a:t>makanan</a:t>
            </a:r>
            <a:r>
              <a:rPr sz="1900" dirty="0"/>
              <a:t> </a:t>
            </a:r>
            <a:r>
              <a:rPr sz="1900" dirty="0" err="1"/>
              <a:t>bergizi</a:t>
            </a:r>
            <a:r>
              <a:rPr sz="1900" dirty="0"/>
              <a:t> yang </a:t>
            </a:r>
            <a:r>
              <a:rPr sz="1900" dirty="0" err="1"/>
              <a:t>mudah</a:t>
            </a:r>
            <a:r>
              <a:rPr sz="1900" dirty="0"/>
              <a:t> </a:t>
            </a:r>
            <a:r>
              <a:rPr sz="1900" dirty="0" err="1"/>
              <a:t>dikonsumsi</a:t>
            </a:r>
            <a:endParaRPr sz="1900" dirty="0"/>
          </a:p>
        </p:txBody>
      </p:sp>
      <p:sp>
        <p:nvSpPr>
          <p:cNvPr id="14" name="Rounded Rectangle 13"/>
          <p:cNvSpPr/>
          <p:nvPr/>
        </p:nvSpPr>
        <p:spPr>
          <a:xfrm>
            <a:off x="4754880" y="2697480"/>
            <a:ext cx="6172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010912" y="2871216"/>
            <a:ext cx="365760" cy="36576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10912" y="2953512"/>
            <a:ext cx="36576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9552" y="2825496"/>
            <a:ext cx="5029200" cy="338554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 dirty="0" err="1"/>
              <a:t>Sesuaikan</a:t>
            </a:r>
            <a:r>
              <a:rPr sz="1900" dirty="0"/>
              <a:t> </a:t>
            </a:r>
            <a:r>
              <a:rPr sz="1900" dirty="0" err="1"/>
              <a:t>tekstur</a:t>
            </a:r>
            <a:r>
              <a:rPr sz="1900" dirty="0"/>
              <a:t> </a:t>
            </a:r>
            <a:r>
              <a:rPr sz="1900" dirty="0" err="1"/>
              <a:t>dengan</a:t>
            </a:r>
            <a:r>
              <a:rPr sz="1900" dirty="0"/>
              <a:t> </a:t>
            </a:r>
            <a:r>
              <a:rPr sz="1900" dirty="0" err="1"/>
              <a:t>kondisi</a:t>
            </a:r>
            <a:r>
              <a:rPr sz="1900" dirty="0"/>
              <a:t> </a:t>
            </a:r>
            <a:r>
              <a:rPr sz="1900" dirty="0" err="1"/>
              <a:t>pasien</a:t>
            </a:r>
            <a:endParaRPr sz="1900" dirty="0"/>
          </a:p>
        </p:txBody>
      </p:sp>
      <p:sp>
        <p:nvSpPr>
          <p:cNvPr id="18" name="Rounded Rectangle 17"/>
          <p:cNvSpPr/>
          <p:nvPr/>
        </p:nvSpPr>
        <p:spPr>
          <a:xfrm>
            <a:off x="4754880" y="3639312"/>
            <a:ext cx="6172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010912" y="3813048"/>
            <a:ext cx="365760" cy="36576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10912" y="3895344"/>
            <a:ext cx="36576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9552" y="3689601"/>
            <a:ext cx="5029200" cy="63094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 dirty="0" err="1"/>
              <a:t>Penuhi</a:t>
            </a:r>
            <a:r>
              <a:rPr sz="1900" dirty="0"/>
              <a:t> </a:t>
            </a:r>
            <a:r>
              <a:rPr sz="1900" dirty="0" err="1"/>
              <a:t>energi</a:t>
            </a:r>
            <a:r>
              <a:rPr sz="1900" dirty="0"/>
              <a:t>, protein, </a:t>
            </a:r>
            <a:r>
              <a:rPr sz="1900" dirty="0" err="1"/>
              <a:t>cairan</a:t>
            </a:r>
            <a:r>
              <a:rPr sz="1900" dirty="0"/>
              <a:t>, vitamin, dan mineral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4581144"/>
            <a:ext cx="61722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010912" y="4754880"/>
            <a:ext cx="365760" cy="36576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10912" y="4837176"/>
            <a:ext cx="36576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7548" y="4622289"/>
            <a:ext cx="5029200" cy="63094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 dirty="0"/>
              <a:t>Pangan </a:t>
            </a:r>
            <a:r>
              <a:rPr sz="1900" dirty="0" err="1"/>
              <a:t>laut</a:t>
            </a:r>
            <a:r>
              <a:rPr sz="1900" dirty="0"/>
              <a:t> </a:t>
            </a:r>
            <a:r>
              <a:rPr sz="1900" dirty="0" err="1"/>
              <a:t>menjadi</a:t>
            </a:r>
            <a:r>
              <a:rPr sz="1900" dirty="0"/>
              <a:t> </a:t>
            </a:r>
            <a:r>
              <a:rPr sz="1900" dirty="0" err="1"/>
              <a:t>bagian</a:t>
            </a:r>
            <a:r>
              <a:rPr sz="1900" dirty="0"/>
              <a:t> </a:t>
            </a:r>
            <a:r>
              <a:rPr sz="1900" dirty="0" err="1"/>
              <a:t>dari</a:t>
            </a:r>
            <a:r>
              <a:rPr sz="1900" dirty="0"/>
              <a:t> diet </a:t>
            </a:r>
            <a:r>
              <a:rPr sz="1900" dirty="0" err="1"/>
              <a:t>seimbang</a:t>
            </a:r>
            <a:r>
              <a:rPr sz="1900" dirty="0"/>
              <a:t>, </a:t>
            </a:r>
            <a:r>
              <a:rPr sz="1900" dirty="0" err="1"/>
              <a:t>bukan</a:t>
            </a:r>
            <a:r>
              <a:rPr sz="1900" dirty="0"/>
              <a:t> </a:t>
            </a:r>
            <a:r>
              <a:rPr sz="1900" dirty="0" err="1"/>
              <a:t>pengganti</a:t>
            </a:r>
            <a:r>
              <a:rPr sz="1900" dirty="0"/>
              <a:t> </a:t>
            </a:r>
            <a:r>
              <a:rPr sz="1900" dirty="0" err="1"/>
              <a:t>terapi</a:t>
            </a:r>
            <a:r>
              <a:rPr sz="1900" dirty="0"/>
              <a:t> </a:t>
            </a:r>
            <a:r>
              <a:rPr sz="1900" dirty="0" err="1"/>
              <a:t>medis</a:t>
            </a:r>
            <a:endParaRPr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Contoh Menu Sederhana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4892040" cy="1481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109728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PAGI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31720"/>
            <a:ext cx="4343400" cy="30777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500" b="1">
                <a:solidFill>
                  <a:srgbClr val="1A303C"/>
                </a:solidFill>
                <a:latin typeface="Aptos"/>
              </a:defRPr>
            </a:pPr>
            <a:r>
              <a:rPr sz="1700" dirty="0"/>
              <a:t>Pagi: bubur ikan + </a:t>
            </a:r>
            <a:r>
              <a:rPr sz="1700" dirty="0" err="1"/>
              <a:t>sayur</a:t>
            </a:r>
            <a:endParaRPr sz="1700" dirty="0"/>
          </a:p>
        </p:txBody>
      </p:sp>
      <p:sp>
        <p:nvSpPr>
          <p:cNvPr id="10" name="Rounded Rectangle 9"/>
          <p:cNvSpPr/>
          <p:nvPr/>
        </p:nvSpPr>
        <p:spPr>
          <a:xfrm>
            <a:off x="6007607" y="1737360"/>
            <a:ext cx="4892040" cy="1481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6207" y="1938528"/>
            <a:ext cx="109728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SIANG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2331720"/>
            <a:ext cx="4343400" cy="5669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500" b="1">
                <a:solidFill>
                  <a:srgbClr val="1A303C"/>
                </a:solidFill>
                <a:latin typeface="Aptos"/>
              </a:defRPr>
            </a:pPr>
            <a:r>
              <a:rPr sz="1700"/>
              <a:t>Siang: nasi + ikan kembung + sayur bening + buah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66160"/>
            <a:ext cx="4892040" cy="1481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767328"/>
            <a:ext cx="109728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SELINGAN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60520"/>
            <a:ext cx="4343400" cy="5669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500" b="1">
                <a:solidFill>
                  <a:srgbClr val="1A303C"/>
                </a:solidFill>
                <a:latin typeface="Aptos"/>
              </a:defRPr>
            </a:pPr>
            <a:r>
              <a:rPr sz="1700" dirty="0" err="1"/>
              <a:t>Selingan</a:t>
            </a:r>
            <a:r>
              <a:rPr sz="1700" dirty="0"/>
              <a:t>: </a:t>
            </a:r>
            <a:r>
              <a:rPr sz="1700" dirty="0" err="1"/>
              <a:t>makanan</a:t>
            </a:r>
            <a:r>
              <a:rPr sz="1700" dirty="0"/>
              <a:t> </a:t>
            </a:r>
            <a:r>
              <a:rPr sz="1700" dirty="0" err="1"/>
              <a:t>sumber</a:t>
            </a:r>
            <a:r>
              <a:rPr sz="1700" dirty="0"/>
              <a:t> protein </a:t>
            </a:r>
            <a:r>
              <a:rPr sz="1700" dirty="0" err="1"/>
              <a:t>sesuai</a:t>
            </a:r>
            <a:r>
              <a:rPr sz="1700" dirty="0"/>
              <a:t> </a:t>
            </a:r>
            <a:r>
              <a:rPr sz="1700" dirty="0" err="1"/>
              <a:t>toleransi</a:t>
            </a:r>
            <a:endParaRPr sz="1700" dirty="0"/>
          </a:p>
        </p:txBody>
      </p:sp>
      <p:sp>
        <p:nvSpPr>
          <p:cNvPr id="16" name="Rounded Rectangle 15"/>
          <p:cNvSpPr/>
          <p:nvPr/>
        </p:nvSpPr>
        <p:spPr>
          <a:xfrm>
            <a:off x="6007607" y="3566160"/>
            <a:ext cx="4892040" cy="1481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36207" y="3767328"/>
            <a:ext cx="109728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MALAM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7" y="4160520"/>
            <a:ext cx="4343400" cy="5669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500" b="1">
                <a:solidFill>
                  <a:srgbClr val="1A303C"/>
                </a:solidFill>
                <a:latin typeface="Aptos"/>
              </a:defRPr>
            </a:pPr>
            <a:r>
              <a:rPr sz="1700"/>
              <a:t>Malam: sup ikan/udang + sumber karbohidrat + sayuran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Keamanan Pangan Laut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74320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500" b="1">
                <a:solidFill>
                  <a:srgbClr val="0F8F91"/>
                </a:solidFill>
                <a:latin typeface="Aptos"/>
              </a:defRPr>
            </a:pPr>
            <a:r>
              <a:t>Manfaat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24328"/>
            <a:ext cx="3794760" cy="6617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2000" dirty="0"/>
              <a:t>Masak seafood </a:t>
            </a:r>
            <a:r>
              <a:rPr sz="2000" dirty="0" err="1"/>
              <a:t>hingga</a:t>
            </a:r>
            <a:r>
              <a:rPr sz="2000" dirty="0"/>
              <a:t> </a:t>
            </a:r>
            <a:r>
              <a:rPr sz="2000" dirty="0" err="1"/>
              <a:t>matang</a:t>
            </a:r>
            <a:r>
              <a:rPr sz="2000" dirty="0"/>
              <a:t> </a:t>
            </a:r>
            <a:r>
              <a:rPr sz="2000" dirty="0" err="1"/>
              <a:t>dengan</a:t>
            </a:r>
            <a:r>
              <a:rPr sz="2000" dirty="0"/>
              <a:t> </a:t>
            </a:r>
            <a:r>
              <a:rPr sz="2000" dirty="0" err="1"/>
              <a:t>baik</a:t>
            </a:r>
            <a:endParaRPr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932688" y="3502152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3794760" cy="353943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2000"/>
              <a:t>Jaga rantai dingin dan kebersihan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306824"/>
            <a:ext cx="2743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1">
                <a:solidFill>
                  <a:srgbClr val="0F8F91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33672"/>
            <a:ext cx="3794760" cy="353943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2000"/>
              <a:t>Hindari kontaminasi silang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08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46888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500" b="1">
                <a:solidFill>
                  <a:srgbClr val="E5B245"/>
                </a:solidFill>
                <a:latin typeface="Aptos"/>
              </a:defRPr>
            </a:pPr>
            <a:r>
              <a:t>Dalam praktik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46888" cy="246888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353943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2000" dirty="0" err="1"/>
              <a:t>Perhatikan</a:t>
            </a:r>
            <a:r>
              <a:rPr sz="2000" dirty="0"/>
              <a:t> </a:t>
            </a:r>
            <a:r>
              <a:rPr sz="2000" dirty="0" err="1"/>
              <a:t>alergi</a:t>
            </a:r>
            <a:r>
              <a:rPr sz="2000" dirty="0"/>
              <a:t> seafood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3529584"/>
            <a:ext cx="246888" cy="246888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3419856"/>
            <a:ext cx="3657600" cy="6617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2000"/>
              <a:t>Pilih sumber pangan yang aman dan terpercaya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Hal yang Perlu Diwaspadai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&gt;&lt;&gt;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947672"/>
            <a:ext cx="411480" cy="41148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29968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760104"/>
            <a:ext cx="3703320" cy="96949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2000" dirty="0"/>
              <a:t>Tidak </a:t>
            </a:r>
            <a:r>
              <a:rPr sz="2000" dirty="0" err="1"/>
              <a:t>semua</a:t>
            </a:r>
            <a:r>
              <a:rPr sz="2000" dirty="0"/>
              <a:t> </a:t>
            </a:r>
            <a:r>
              <a:rPr sz="2000" dirty="0" err="1"/>
              <a:t>produk</a:t>
            </a:r>
            <a:r>
              <a:rPr sz="2000" dirty="0"/>
              <a:t> </a:t>
            </a:r>
            <a:r>
              <a:rPr sz="2000" dirty="0" err="1"/>
              <a:t>laut</a:t>
            </a:r>
            <a:r>
              <a:rPr sz="2000" dirty="0"/>
              <a:t> </a:t>
            </a:r>
            <a:r>
              <a:rPr sz="2000" dirty="0" err="1"/>
              <a:t>memiliki</a:t>
            </a:r>
            <a:r>
              <a:rPr sz="2000" dirty="0"/>
              <a:t> </a:t>
            </a:r>
            <a:r>
              <a:rPr sz="2000" dirty="0" err="1"/>
              <a:t>kandungan</a:t>
            </a:r>
            <a:r>
              <a:rPr sz="2000" dirty="0"/>
              <a:t> </a:t>
            </a:r>
            <a:r>
              <a:rPr sz="2000" dirty="0" err="1"/>
              <a:t>gizi</a:t>
            </a:r>
            <a:r>
              <a:rPr sz="2000" dirty="0"/>
              <a:t> yang </a:t>
            </a:r>
            <a:r>
              <a:rPr sz="2000" dirty="0" err="1"/>
              <a:t>sama</a:t>
            </a:r>
            <a:endParaRPr sz="2000" dirty="0"/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27064" y="1947672"/>
            <a:ext cx="411480" cy="4114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7064" y="2029968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737244"/>
            <a:ext cx="3703320" cy="96949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2000" dirty="0" err="1"/>
              <a:t>Konsumsi</a:t>
            </a:r>
            <a:r>
              <a:rPr sz="2000" dirty="0"/>
              <a:t> </a:t>
            </a:r>
            <a:r>
              <a:rPr sz="2000" dirty="0" err="1"/>
              <a:t>berlebihan</a:t>
            </a:r>
            <a:r>
              <a:rPr sz="2000" dirty="0"/>
              <a:t> </a:t>
            </a:r>
            <a:r>
              <a:rPr sz="2000" dirty="0" err="1"/>
              <a:t>dapat</a:t>
            </a:r>
            <a:r>
              <a:rPr sz="2000" dirty="0"/>
              <a:t> </a:t>
            </a:r>
            <a:r>
              <a:rPr sz="2000" dirty="0" err="1"/>
              <a:t>meningkatkan</a:t>
            </a:r>
            <a:r>
              <a:rPr sz="2000" dirty="0"/>
              <a:t> </a:t>
            </a:r>
            <a:r>
              <a:rPr sz="2000" dirty="0" err="1"/>
              <a:t>paparan</a:t>
            </a:r>
            <a:r>
              <a:rPr sz="2000" dirty="0"/>
              <a:t> natrium </a:t>
            </a:r>
            <a:r>
              <a:rPr sz="2000" dirty="0" err="1"/>
              <a:t>atau</a:t>
            </a:r>
            <a:r>
              <a:rPr sz="2000" dirty="0"/>
              <a:t> </a:t>
            </a:r>
            <a:r>
              <a:rPr sz="2000" dirty="0" err="1"/>
              <a:t>kontaminan</a:t>
            </a:r>
            <a:r>
              <a:rPr sz="2000" dirty="0"/>
              <a:t> </a:t>
            </a:r>
            <a:r>
              <a:rPr sz="2000" dirty="0" err="1"/>
              <a:t>tertentu</a:t>
            </a:r>
            <a:endParaRPr sz="2000" dirty="0"/>
          </a:p>
        </p:txBody>
      </p:sp>
      <p:sp>
        <p:nvSpPr>
          <p:cNvPr id="15" name="Rounded Rectangle 14"/>
          <p:cNvSpPr/>
          <p:nvPr/>
        </p:nvSpPr>
        <p:spPr>
          <a:xfrm>
            <a:off x="658368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7824" y="3300984"/>
            <a:ext cx="411480" cy="41148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383280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246120"/>
            <a:ext cx="3703320" cy="6617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2000"/>
              <a:t>Rumput laut tertentu sangat tinggi iodium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044952"/>
            <a:ext cx="4892040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27064" y="3300984"/>
            <a:ext cx="411480" cy="41148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3383280"/>
            <a:ext cx="411480" cy="1554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46120"/>
            <a:ext cx="3703320" cy="6617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2000"/>
              <a:t>Pasien dengan kondisi khusus memerlukan penyesuaian diet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Pesan Praktis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0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2926080" cy="9144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LAUT SEBAGAI</a:t>
            </a:r>
            <a:br/>
            <a:r>
              <a:t>SUMBER GIZI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429000"/>
            <a:ext cx="2743200" cy="10972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600" b="0">
                <a:solidFill>
                  <a:srgbClr val="E1F7F2"/>
                </a:solidFill>
                <a:latin typeface="Aptos"/>
              </a:defRPr>
            </a:pPr>
            <a:r>
              <a:t>Protein • Lemak sehat</a:t>
            </a:r>
            <a:br/>
            <a:r>
              <a:t>Vitamin • Mineral</a:t>
            </a:r>
            <a:br/>
            <a:r>
              <a:t>Senyawa bioaktif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901952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856006"/>
            <a:ext cx="4892040" cy="338554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 dirty="0" err="1"/>
              <a:t>Variasikan</a:t>
            </a:r>
            <a:r>
              <a:rPr sz="1900" dirty="0"/>
              <a:t> </a:t>
            </a:r>
            <a:r>
              <a:rPr sz="1900" dirty="0" err="1"/>
              <a:t>jenis</a:t>
            </a:r>
            <a:r>
              <a:rPr sz="1900" dirty="0"/>
              <a:t> ikan dan </a:t>
            </a:r>
            <a:r>
              <a:rPr sz="1900" dirty="0" err="1"/>
              <a:t>pangan</a:t>
            </a:r>
            <a:r>
              <a:rPr sz="1900" dirty="0"/>
              <a:t> </a:t>
            </a:r>
            <a:r>
              <a:rPr sz="1900" dirty="0" err="1"/>
              <a:t>laut</a:t>
            </a:r>
            <a:endParaRPr sz="1900" dirty="0"/>
          </a:p>
        </p:txBody>
      </p:sp>
      <p:sp>
        <p:nvSpPr>
          <p:cNvPr id="13" name="Rounded Rectangle 12"/>
          <p:cNvSpPr/>
          <p:nvPr/>
        </p:nvSpPr>
        <p:spPr>
          <a:xfrm>
            <a:off x="4800600" y="256032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724912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551182"/>
            <a:ext cx="4892040" cy="63094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 dirty="0" err="1"/>
              <a:t>Utamakan</a:t>
            </a:r>
            <a:r>
              <a:rPr sz="1900" dirty="0"/>
              <a:t> </a:t>
            </a:r>
            <a:r>
              <a:rPr sz="1900" dirty="0" err="1"/>
              <a:t>metode</a:t>
            </a:r>
            <a:r>
              <a:rPr sz="1900" dirty="0"/>
              <a:t> </a:t>
            </a:r>
            <a:r>
              <a:rPr sz="1900" dirty="0" err="1"/>
              <a:t>masak</a:t>
            </a:r>
            <a:r>
              <a:rPr sz="1900" dirty="0"/>
              <a:t> rebus, </a:t>
            </a:r>
            <a:r>
              <a:rPr sz="1900" dirty="0" err="1"/>
              <a:t>kukus</a:t>
            </a:r>
            <a:r>
              <a:rPr sz="1900" dirty="0"/>
              <a:t>, </a:t>
            </a:r>
            <a:r>
              <a:rPr sz="1900" dirty="0" err="1"/>
              <a:t>panggang</a:t>
            </a:r>
            <a:r>
              <a:rPr sz="1900" dirty="0"/>
              <a:t>, </a:t>
            </a:r>
            <a:r>
              <a:rPr sz="1900" dirty="0" err="1"/>
              <a:t>atau</a:t>
            </a:r>
            <a:r>
              <a:rPr sz="1900" dirty="0"/>
              <a:t> </a:t>
            </a:r>
            <a:r>
              <a:rPr sz="1900" dirty="0" err="1"/>
              <a:t>tumis</a:t>
            </a:r>
            <a:r>
              <a:rPr sz="1900" dirty="0"/>
              <a:t> </a:t>
            </a:r>
            <a:r>
              <a:rPr sz="1900" dirty="0" err="1"/>
              <a:t>ringan</a:t>
            </a:r>
            <a:endParaRPr sz="1900" dirty="0"/>
          </a:p>
        </p:txBody>
      </p:sp>
      <p:sp>
        <p:nvSpPr>
          <p:cNvPr id="16" name="Rounded Rectangle 15"/>
          <p:cNvSpPr/>
          <p:nvPr/>
        </p:nvSpPr>
        <p:spPr>
          <a:xfrm>
            <a:off x="4800600" y="338328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3547872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383280"/>
            <a:ext cx="4892040" cy="63094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/>
              <a:t>Padukan dengan sayur, buah, dan sumber karbohidrat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206240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370831"/>
            <a:ext cx="457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206240"/>
            <a:ext cx="4892040" cy="63094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0">
                <a:solidFill>
                  <a:srgbClr val="1A303C"/>
                </a:solidFill>
                <a:latin typeface="Aptos"/>
              </a:defRPr>
            </a:pPr>
            <a:r>
              <a:rPr sz="1900"/>
              <a:t>Sesuaikan porsi dengan kebutuhan dan kondisi klinis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200" b="1">
                <a:solidFill>
                  <a:srgbClr val="0F8F91"/>
                </a:solidFill>
                <a:latin typeface="Aptos"/>
              </a:defRPr>
            </a:pPr>
            <a:r>
              <a:t>MARINE NUTRITION • INFECTION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1200" b="1">
                <a:solidFill>
                  <a:srgbClr val="5B6F79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412480" cy="7132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2300" b="1">
                <a:solidFill>
                  <a:srgbClr val="0A263A"/>
                </a:solidFill>
                <a:latin typeface="Aptos"/>
              </a:defRPr>
            </a:pPr>
            <a:r>
              <a:t>Kesimpulan</a:t>
            </a:r>
          </a:p>
        </p:txBody>
      </p:sp>
      <p:sp>
        <p:nvSpPr>
          <p:cNvPr id="5" name="Oval 4"/>
          <p:cNvSpPr/>
          <p:nvPr/>
        </p:nvSpPr>
        <p:spPr>
          <a:xfrm>
            <a:off x="9966960" y="640080"/>
            <a:ext cx="1188720" cy="1188720"/>
          </a:xfrm>
          <a:prstGeom prst="ellipse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76688" y="896112"/>
            <a:ext cx="960120" cy="502920"/>
          </a:xfrm>
          <a:prstGeom prst="rect">
            <a:avLst/>
          </a:prstGeom>
          <a:noFill/>
        </p:spPr>
        <p:txBody>
          <a:bodyPr wrap="square" lIns="36576" tIns="22860" rIns="36576" bIns="22860" anchor="ctr">
            <a:spAutoFit/>
          </a:bodyPr>
          <a:lstStyle/>
          <a:p>
            <a:pPr algn="ctr">
              <a:defRPr sz="2200" b="1">
                <a:solidFill>
                  <a:srgbClr val="0F8F91"/>
                </a:solidFill>
                <a:latin typeface="Aptos"/>
              </a:defRPr>
            </a:pPr>
            <a:r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89204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0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5720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947672"/>
            <a:ext cx="3611880" cy="56938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1">
                <a:solidFill>
                  <a:srgbClr val="1A303C"/>
                </a:solidFill>
                <a:latin typeface="Aptos"/>
              </a:defRPr>
            </a:pPr>
            <a:r>
              <a:rPr sz="1700" dirty="0"/>
              <a:t>Pangan </a:t>
            </a:r>
            <a:r>
              <a:rPr sz="1700" dirty="0" err="1"/>
              <a:t>hayati</a:t>
            </a:r>
            <a:r>
              <a:rPr sz="1700" dirty="0"/>
              <a:t> </a:t>
            </a:r>
            <a:r>
              <a:rPr sz="1700" dirty="0" err="1"/>
              <a:t>laut</a:t>
            </a:r>
            <a:r>
              <a:rPr sz="1700" dirty="0"/>
              <a:t> kaya protein dan </a:t>
            </a:r>
            <a:r>
              <a:rPr sz="1700" dirty="0" err="1"/>
              <a:t>beragam</a:t>
            </a:r>
            <a:r>
              <a:rPr sz="1700" dirty="0"/>
              <a:t> </a:t>
            </a:r>
            <a:r>
              <a:rPr sz="1700" dirty="0" err="1"/>
              <a:t>mikronutrien</a:t>
            </a:r>
            <a:endParaRPr sz="1700" dirty="0"/>
          </a:p>
        </p:txBody>
      </p:sp>
      <p:sp>
        <p:nvSpPr>
          <p:cNvPr id="11" name="Rounded Rectangle 10"/>
          <p:cNvSpPr/>
          <p:nvPr/>
        </p:nvSpPr>
        <p:spPr>
          <a:xfrm>
            <a:off x="6007607" y="1691640"/>
            <a:ext cx="489204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63640" y="1965960"/>
            <a:ext cx="457200" cy="457200"/>
          </a:xfrm>
          <a:prstGeom prst="ellipse">
            <a:avLst/>
          </a:prstGeom>
          <a:solidFill>
            <a:srgbClr val="E5B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057400"/>
            <a:ext cx="45720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7" y="1947672"/>
            <a:ext cx="3611880" cy="83099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1">
                <a:solidFill>
                  <a:srgbClr val="1A303C"/>
                </a:solidFill>
                <a:latin typeface="Aptos"/>
              </a:defRPr>
            </a:pPr>
            <a:r>
              <a:rPr sz="1700"/>
              <a:t>Omega-3 dan zat gizi lain mendukung fungsi fisiologis dan imun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66160"/>
            <a:ext cx="489204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840480"/>
            <a:ext cx="457200" cy="457200"/>
          </a:xfrm>
          <a:prstGeom prst="ellipse">
            <a:avLst/>
          </a:prstGeom>
          <a:solidFill>
            <a:srgbClr val="EA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45720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822191"/>
            <a:ext cx="3611880" cy="83099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1">
                <a:solidFill>
                  <a:srgbClr val="1A303C"/>
                </a:solidFill>
                <a:latin typeface="Aptos"/>
              </a:defRPr>
            </a:pPr>
            <a:r>
              <a:rPr sz="1700"/>
              <a:t>Rumput laut serta mikroalga menawarkan komponen gizi dan bioaktif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566160"/>
            <a:ext cx="489204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63640" y="3840480"/>
            <a:ext cx="457200" cy="457200"/>
          </a:xfrm>
          <a:prstGeom prst="ellipse">
            <a:avLst/>
          </a:prstGeom>
          <a:solidFill>
            <a:srgbClr val="4EC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3931920"/>
            <a:ext cx="45720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7" y="3822191"/>
            <a:ext cx="3611880" cy="83099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defRPr sz="1400" b="1">
                <a:solidFill>
                  <a:srgbClr val="1A303C"/>
                </a:solidFill>
                <a:latin typeface="Aptos"/>
              </a:defRPr>
            </a:pPr>
            <a:r>
              <a:rPr sz="1700"/>
              <a:t>Manfaat terbaik diperoleh sebagai bagian dari pola makan seimbang dan aman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650992"/>
            <a:ext cx="10424160" cy="713232"/>
          </a:xfrm>
          <a:prstGeom prst="roundRect">
            <a:avLst/>
          </a:prstGeom>
          <a:solidFill>
            <a:srgbClr val="E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" y="5678424"/>
            <a:ext cx="9966960" cy="6617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0A263A"/>
                </a:solidFill>
                <a:latin typeface="Aptos"/>
              </a:defRPr>
            </a:pPr>
            <a:r>
              <a:rPr sz="2000" dirty="0"/>
              <a:t>Pangan </a:t>
            </a:r>
            <a:r>
              <a:rPr sz="2000" dirty="0" err="1"/>
              <a:t>laut</a:t>
            </a:r>
            <a:r>
              <a:rPr sz="2000" dirty="0"/>
              <a:t> </a:t>
            </a:r>
            <a:r>
              <a:rPr sz="2000" dirty="0" err="1"/>
              <a:t>mendukung</a:t>
            </a:r>
            <a:r>
              <a:rPr sz="2000" dirty="0"/>
              <a:t> status </a:t>
            </a:r>
            <a:r>
              <a:rPr sz="2000" dirty="0" err="1"/>
              <a:t>gizi</a:t>
            </a:r>
            <a:r>
              <a:rPr sz="2000" dirty="0"/>
              <a:t>—</a:t>
            </a:r>
            <a:r>
              <a:rPr sz="2000" dirty="0" err="1"/>
              <a:t>namun</a:t>
            </a:r>
            <a:r>
              <a:rPr sz="2000" dirty="0"/>
              <a:t> </a:t>
            </a:r>
            <a:r>
              <a:rPr sz="2000" dirty="0" err="1"/>
              <a:t>bukan</a:t>
            </a:r>
            <a:r>
              <a:rPr sz="2000" dirty="0"/>
              <a:t> </a:t>
            </a:r>
            <a:r>
              <a:rPr sz="2000" dirty="0" err="1"/>
              <a:t>pengganti</a:t>
            </a:r>
            <a:r>
              <a:rPr sz="2000" dirty="0"/>
              <a:t> diagnosis, </a:t>
            </a:r>
            <a:r>
              <a:rPr sz="2000" dirty="0" err="1"/>
              <a:t>obat</a:t>
            </a:r>
            <a:r>
              <a:rPr sz="2000" dirty="0"/>
              <a:t>, </a:t>
            </a:r>
            <a:r>
              <a:rPr sz="2000" dirty="0" err="1"/>
              <a:t>atau</a:t>
            </a:r>
            <a:r>
              <a:rPr sz="2000" dirty="0"/>
              <a:t> </a:t>
            </a:r>
            <a:r>
              <a:rPr sz="2000" dirty="0" err="1"/>
              <a:t>terapi</a:t>
            </a:r>
            <a:r>
              <a:rPr sz="2000" dirty="0"/>
              <a:t> </a:t>
            </a:r>
            <a:r>
              <a:rPr sz="2000" dirty="0" err="1"/>
              <a:t>infeksi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1281</Words>
  <Application>Microsoft Office PowerPoint</Application>
  <PresentationFormat>Widescreen</PresentationFormat>
  <Paragraphs>346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.</cp:lastModifiedBy>
  <cp:revision>6</cp:revision>
  <dcterms:created xsi:type="dcterms:W3CDTF">2013-01-27T09:14:16Z</dcterms:created>
  <dcterms:modified xsi:type="dcterms:W3CDTF">2026-10-07T06:50:36Z</dcterms:modified>
  <cp:category/>
</cp:coreProperties>
</file>