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MA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news-room/questions-and-answers/item/dengue-and-severe-dengue" TargetMode="External"/><Relationship Id="rId2" Type="http://schemas.openxmlformats.org/officeDocument/2006/relationships/hyperlink" Target="https://www.who.int/publications/i/item/9789240111110" TargetMode="External"/><Relationship Id="rId3" Type="http://schemas.openxmlformats.org/officeDocument/2006/relationships/hyperlink" Target="https://www.who.int/publications/i/item/9789290221272" TargetMode="External"/><Relationship Id="rId4" Type="http://schemas.openxmlformats.org/officeDocument/2006/relationships/hyperlink" Target="https://www.cdc.gov/dengue/hcp/clinical-care/index.html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07808" y="0"/>
            <a:ext cx="4562856" cy="5193792"/>
          </a:xfrm>
          <a:prstGeom prst="ellipse">
            <a:avLst/>
          </a:prstGeom>
          <a:solidFill>
            <a:srgbClr val="1D344F"/>
          </a:solidFill>
          <a:ln w="12700">
            <a:solidFill>
              <a:srgbClr val="1D34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02752" y="338328"/>
            <a:ext cx="3767328" cy="4297680"/>
          </a:xfrm>
          <a:prstGeom prst="ellipse">
            <a:avLst/>
          </a:prstGeom>
          <a:solidFill>
            <a:srgbClr val="234961"/>
          </a:solidFill>
          <a:ln w="12700">
            <a:solidFill>
              <a:srgbClr val="23496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7696" y="950976"/>
            <a:ext cx="3127248" cy="3127248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pic>
        <p:nvPicPr>
          <p:cNvPr id="5" name="Image 0" descr="/mnt/data/dengue_assets/ic_faMosquito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344168"/>
            <a:ext cx="233172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914400"/>
            <a:ext cx="1097280" cy="82296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572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CE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KEPERAWATAN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8368" y="1188720"/>
            <a:ext cx="7863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ASUHAN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KEPERAWATAN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FE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BERDARAH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7FE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DENGUE (DBD)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5148072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Pengkajian • Diagnosis • Intervensi • Evaluasi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685800" y="6080760"/>
            <a:ext cx="10881360" cy="16459"/>
          </a:xfrm>
          <a:prstGeom prst="rect">
            <a:avLst/>
          </a:prstGeom>
          <a:solidFill>
            <a:srgbClr val="557286"/>
          </a:solidFill>
          <a:ln w="12700">
            <a:solidFill>
              <a:srgbClr val="55728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625449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2DD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SLIDE  |  PEMBELAJARAN KLINIS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 Pembelajaran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67512" y="1764792"/>
            <a:ext cx="5294376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6596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Virus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" y="209671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81912" y="194767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14400" y="261518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Konsep, penularan, dan fase penyakit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08776" y="1764792"/>
            <a:ext cx="5294376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96596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TriangleExclamation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09671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23176" y="194767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Mengenali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455664" y="261518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bahaya serta risiko syok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67512" y="3867912"/>
            <a:ext cx="5294376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9536" y="406908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ClipboardList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" y="419983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81912" y="405079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Merencanakan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14400" y="47183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Asuhan keperawatan berbasis prioritas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08776" y="3867912"/>
            <a:ext cx="5294376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0" y="406908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CircleCheck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199839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23176" y="405079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Mengevaluasi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455664" y="47183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Luaran klinis dan edukasi keluarga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DASAR KLINIS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DBD dalam Satu Menit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6656" y="1837944"/>
            <a:ext cx="3483864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093976"/>
            <a:ext cx="1024128" cy="1024128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Virus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548" y="2319284"/>
            <a:ext cx="573512" cy="5735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3291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PENYEBAB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9264" y="388620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Virus dengue (DENV-1 s.d. DENV-4)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370832" y="1837944"/>
            <a:ext cx="3483864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416" y="2093976"/>
            <a:ext cx="1024128" cy="1024128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MosquitoE651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724" y="2319284"/>
            <a:ext cx="573512" cy="5735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53712" y="3291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VEKTOR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63440" y="388620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Gigitan Aedes terinfeksi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8065008" y="1837944"/>
            <a:ext cx="3483864" cy="307238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08592" y="2093976"/>
            <a:ext cx="1024128" cy="1024128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DropletE7B2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900" y="2319284"/>
            <a:ext cx="573512" cy="5735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47888" y="32918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B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BAHAYA UTAMA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57616" y="388620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Kebocoran plasma → syok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658368" y="5257800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0" y="532180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Klasifikasi klinis: tanpa tanda bahaya • tanda bahaya • dengue berat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ETIOLOGI &amp; PENULARAN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Dengue Menular?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47088"/>
            <a:ext cx="2542032" cy="3346704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35608" y="2121408"/>
            <a:ext cx="1051560" cy="1051560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Mosquito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951" y="2352751"/>
            <a:ext cx="588874" cy="5888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419856"/>
            <a:ext cx="2304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Nyamuk Aedes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77824" y="4233672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Menggigit pasien dengue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236976" y="3136392"/>
            <a:ext cx="228600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47288" y="1847088"/>
            <a:ext cx="2542032" cy="3346704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97096" y="2121408"/>
            <a:ext cx="1051560" cy="10515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7" name="Image 1" descr="/mnt/data/dengue_assets/ic_faVirus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39" y="2352751"/>
            <a:ext cx="588874" cy="5888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3419856"/>
            <a:ext cx="2304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Virus tumbuh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639312" y="4233672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Berkembang dalam nyamuk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5998464" y="3136392"/>
            <a:ext cx="228600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208776" y="1847088"/>
            <a:ext cx="2542032" cy="3346704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58584" y="2121408"/>
            <a:ext cx="1051560" cy="10515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3" name="Image 2" descr="/mnt/data/dengue_assets/ic_faDroplet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27" y="2352751"/>
            <a:ext cx="588874" cy="58887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27648" y="3419856"/>
            <a:ext cx="2304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Gigitan ulang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400800" y="4233672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Virus masuk ke tubuh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8759952" y="3136392"/>
            <a:ext cx="228600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970264" y="1847088"/>
            <a:ext cx="2542032" cy="3346704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720072" y="2121408"/>
            <a:ext cx="1051560" cy="10515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9" name="Image 3" descr="/mnt/data/dengue_assets/ic_faThermometerHalf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15" y="2352751"/>
            <a:ext cx="588874" cy="5888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89136" y="3419856"/>
            <a:ext cx="2304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Infeksi dengue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9162288" y="4233672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dan gejala muncul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658368" y="5367528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14400" y="543153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Penularan utama melalui gigitan nyamuk Aedes.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PATOFISIOLOGI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Kondisi Dapat Memburuk?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2606040" cy="3364992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3624" y="2093976"/>
            <a:ext cx="969264" cy="969264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Virus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862" y="2307214"/>
            <a:ext cx="542788" cy="5427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3264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INFEKSI VIRUS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4251960"/>
            <a:ext cx="2258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 imun &amp; inflamasi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19272" y="3127248"/>
            <a:ext cx="237744" cy="0"/>
          </a:xfrm>
          <a:prstGeom prst="line">
            <a:avLst/>
          </a:prstGeom>
          <a:noFill/>
          <a:ln w="38100">
            <a:solidFill>
              <a:srgbClr val="087F8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566160" y="1828800"/>
            <a:ext cx="2606040" cy="3364992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9976" y="2093976"/>
            <a:ext cx="969264" cy="969264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7" name="Image 1" descr="/mnt/data/dengue_assets/ic_faDroplet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214" y="2307214"/>
            <a:ext cx="542788" cy="5427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75888" y="3264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DINDING PEMBULUH BOCOR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730752" y="4251960"/>
            <a:ext cx="2258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Plasma keluar pembuluh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135624" y="3127248"/>
            <a:ext cx="237744" cy="0"/>
          </a:xfrm>
          <a:prstGeom prst="line">
            <a:avLst/>
          </a:prstGeom>
          <a:noFill/>
          <a:ln w="38100">
            <a:solidFill>
              <a:srgbClr val="087F83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382512" y="1828800"/>
            <a:ext cx="2606040" cy="3364992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96328" y="2093976"/>
            <a:ext cx="969264" cy="969264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3" name="Image 2" descr="/mnt/data/dengue_assets/ic_faHeartPulse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566" y="2307214"/>
            <a:ext cx="542788" cy="5427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92240" y="3264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TURUN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547104" y="4251960"/>
            <a:ext cx="2258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Perfusi organ menurun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8951976" y="3127248"/>
            <a:ext cx="237744" cy="0"/>
          </a:xfrm>
          <a:prstGeom prst="line">
            <a:avLst/>
          </a:prstGeom>
          <a:noFill/>
          <a:ln w="38100">
            <a:solidFill>
              <a:srgbClr val="087F83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198864" y="1828800"/>
            <a:ext cx="2606040" cy="3364992"/>
          </a:xfrm>
          <a:prstGeom prst="roundRect">
            <a:avLst>
              <a:gd name="adj" fmla="val 5614"/>
            </a:avLst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12680" y="2093976"/>
            <a:ext cx="969264" cy="969264"/>
          </a:xfrm>
          <a:prstGeom prst="ellipse">
            <a:avLst/>
          </a:prstGeom>
          <a:solidFill>
            <a:srgbClr val="FBC8D0"/>
          </a:solidFill>
          <a:ln w="12700">
            <a:solidFill>
              <a:srgbClr val="FBC8D0">
                <a:alpha val="0"/>
              </a:srgbClr>
            </a:solidFill>
            <a:prstDash val="solid"/>
          </a:ln>
        </p:spPr>
      </p:sp>
      <p:pic>
        <p:nvPicPr>
          <p:cNvPr id="29" name="Image 3" descr="/mnt/data/dengue_assets/ic_faTriangleExclamationE651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918" y="2307214"/>
            <a:ext cx="542788" cy="5427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08592" y="32644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SYOK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9363456" y="4251960"/>
            <a:ext cx="2258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Perfusi organ terancam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658368" y="5404104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14400" y="5468112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Utamakan perfusi dan tanda bahaya, bukan trombosit saja.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PERJALANAN PENYAKIT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Tiga Fase Klinis Dengue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67512" y="1938528"/>
            <a:ext cx="3465576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938528"/>
            <a:ext cx="3465576" cy="14630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24028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000" dirty="0"/>
          </a:p>
        </p:txBody>
      </p:sp>
      <p:pic>
        <p:nvPicPr>
          <p:cNvPr id="12" name="Image 0" descr="/mnt/data/dengue_assets/ic_faThermometerHalf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112" y="2267712"/>
            <a:ext cx="585216" cy="585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86968" y="3200400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DEMAM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" y="406908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tinggi, nyeri, lemas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4370832" y="1938528"/>
            <a:ext cx="3465576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1938528"/>
            <a:ext cx="3465576" cy="146304"/>
          </a:xfrm>
          <a:prstGeom prst="rect">
            <a:avLst/>
          </a:prstGeom>
          <a:solidFill>
            <a:srgbClr val="E7B24A"/>
          </a:solidFill>
          <a:ln w="12700">
            <a:solidFill>
              <a:srgbClr val="E7B24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9432" y="224028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7B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000" dirty="0"/>
          </a:p>
        </p:txBody>
      </p:sp>
      <p:pic>
        <p:nvPicPr>
          <p:cNvPr id="18" name="Image 1" descr="/mnt/data/dengue_assets/ic_faTriangleExclamationE7B2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267712"/>
            <a:ext cx="585216" cy="5852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90288" y="3200400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KRITIS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590288" y="406908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turun; waspadai kebocoran plasma</a:t>
            </a:r>
            <a:endParaRPr lang="en-US" sz="2300" dirty="0"/>
          </a:p>
        </p:txBody>
      </p:sp>
      <p:sp>
        <p:nvSpPr>
          <p:cNvPr id="21" name="Shape 17"/>
          <p:cNvSpPr/>
          <p:nvPr/>
        </p:nvSpPr>
        <p:spPr>
          <a:xfrm>
            <a:off x="8074152" y="1938528"/>
            <a:ext cx="3465576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74152" y="1938528"/>
            <a:ext cx="3465576" cy="14630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302752" y="2240280"/>
            <a:ext cx="1097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000" dirty="0"/>
          </a:p>
        </p:txBody>
      </p:sp>
      <p:pic>
        <p:nvPicPr>
          <p:cNvPr id="24" name="Image 2" descr="/mnt/data/dengue_assets/ic_faCircleCheck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2267712"/>
            <a:ext cx="585216" cy="5852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93608" y="3200400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PEMULIHAN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8293608" y="406908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Nafsu makan dan diuresis membaik</a:t>
            </a:r>
            <a:endParaRPr lang="en-US" sz="2300" dirty="0"/>
          </a:p>
        </p:txBody>
      </p:sp>
      <p:sp>
        <p:nvSpPr>
          <p:cNvPr id="27" name="Text 22"/>
          <p:cNvSpPr/>
          <p:nvPr/>
        </p:nvSpPr>
        <p:spPr>
          <a:xfrm>
            <a:off x="868680" y="56327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kritis sering muncul saat suhu mulai turun, umumnya sekitar hari ke-3–7.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PERJALANAN PENYAKIT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Demam: Apa yang Dinilai?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47088"/>
            <a:ext cx="3767328" cy="4206240"/>
          </a:xfrm>
          <a:prstGeom prst="roundRect">
            <a:avLst>
              <a:gd name="adj" fmla="val 3883"/>
            </a:avLst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10" name="Image 0" descr="/mnt/data/dengue_assets/ic_faThermometerHalf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423160"/>
            <a:ext cx="1664208" cy="1664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470001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TINGGI</a:t>
            </a:r>
            <a:endParaRPr lang="en-US" sz="2900" dirty="0"/>
          </a:p>
        </p:txBody>
      </p:sp>
      <p:sp>
        <p:nvSpPr>
          <p:cNvPr id="12" name="Shape 9"/>
          <p:cNvSpPr/>
          <p:nvPr/>
        </p:nvSpPr>
        <p:spPr>
          <a:xfrm>
            <a:off x="4764024" y="1975104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20025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22392" y="194767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Kenali keluhan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422392" y="2423160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kepala, otot, sendi; mual atau ruam.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764024" y="3282696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8888" y="331012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422392" y="325526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hidrasi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422392" y="3730752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Asupan minum, muntah, dan jumlah urine.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4764024" y="4590288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8888" y="461772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22392" y="456285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tren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5422392" y="5038344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Suhu, nadi, tekanan darah, hasil darah.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PERJALANAN PENYAKIT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Kritis: Perlu Waspada!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65376"/>
            <a:ext cx="3712464" cy="4233672"/>
          </a:xfrm>
          <a:prstGeom prst="roundRect">
            <a:avLst>
              <a:gd name="adj" fmla="val 3941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10" name="Image 0" descr="/mnt/data/dengue_assets/ic_faTriangleExclamationF2B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414016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4187952"/>
            <a:ext cx="32369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24–48 JAM</a:t>
            </a:r>
            <a:endParaRPr lang="en-US" sz="3700" dirty="0"/>
          </a:p>
        </p:txBody>
      </p:sp>
      <p:sp>
        <p:nvSpPr>
          <p:cNvPr id="12" name="Text 9"/>
          <p:cNvSpPr/>
          <p:nvPr/>
        </p:nvSpPr>
        <p:spPr>
          <a:xfrm>
            <a:off x="886968" y="5010912"/>
            <a:ext cx="3337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EE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 kritis dapat berlangsung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727448" y="1975104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2312" y="20025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85816" y="194767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dapat turun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5385816" y="2423160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langsung diartikan sebagai sembuh.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727448" y="3291840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82312" y="331927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385816" y="32644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Plasma dapat bocor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5385816" y="3739896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Perhatikan nadi cepat, CRT, diuresis.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727448" y="4599432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2312" y="4626864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385816" y="45720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Eskalasi cepat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5385816" y="5047488"/>
            <a:ext cx="6035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syok membutuhkan respons segera.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PERJALANAN PENYAKIT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Pemulihan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6656" y="1828800"/>
            <a:ext cx="3776472" cy="4224528"/>
          </a:xfrm>
          <a:prstGeom prst="roundRect">
            <a:avLst>
              <a:gd name="adj" fmla="val 3874"/>
            </a:avLst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0" name="Image 0" descr="/mnt/data/dengue_assets/ic_faShieldHeart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2316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4453128"/>
            <a:ext cx="3474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KONDISI MEMBAIK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764024" y="2011680"/>
            <a:ext cx="466344" cy="46634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203911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22392" y="198424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Perfusi stabil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422392" y="2459736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Nadi, tekanan darah dan kesadaran baik.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764024" y="3319272"/>
            <a:ext cx="466344" cy="46634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8888" y="3346704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422392" y="32918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Diuresis meningkat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422392" y="3767328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Asupan oral dan nafsu makan pulih.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4764024" y="4626864"/>
            <a:ext cx="466344" cy="46634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8888" y="465429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22392" y="45994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Cairan dievaluasi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5422392" y="5074920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Hindari kelebihan cairan saat reabsorpsi.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MANIFESTASI KLINIS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Gejala yang Sering Ditemukan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65376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68296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ThermometerHalf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603" y="2527219"/>
            <a:ext cx="404531" cy="40453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46504" y="2249424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mendadak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389120" y="1865376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368296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5" name="Image 1" descr="/mnt/data/dengue_assets/ic_faBrain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23" y="2527219"/>
            <a:ext cx="404531" cy="40453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9824" y="2249424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Sakit kepala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8092440" y="1865376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75320" y="2368296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9" name="Image 2" descr="/mnt/data/dengue_assets/ic_faHeart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243" y="2527219"/>
            <a:ext cx="404531" cy="40453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2249424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otot/sendi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685800" y="3886200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68680" y="4389120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3" name="Image 3" descr="/mnt/data/dengue_assets/ic_faGlassWater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03" y="4548043"/>
            <a:ext cx="404531" cy="40453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46504" y="4270248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Mual atau muntah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4389120" y="3886200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389120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7" name="Image 4" descr="/mnt/data/dengue_assets/ic_faEye087F8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923" y="4548043"/>
            <a:ext cx="404531" cy="40453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4270248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Ruam kulit</a:t>
            </a:r>
            <a:endParaRPr lang="en-US" sz="2400" dirty="0"/>
          </a:p>
        </p:txBody>
      </p:sp>
      <p:sp>
        <p:nvSpPr>
          <p:cNvPr id="29" name="Shape 22"/>
          <p:cNvSpPr/>
          <p:nvPr/>
        </p:nvSpPr>
        <p:spPr>
          <a:xfrm>
            <a:off x="8092440" y="3886200"/>
            <a:ext cx="3465576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389120"/>
            <a:ext cx="722376" cy="722376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31" name="Image 5" descr="/mnt/data/dengue_assets/ic_faBedPulse087F8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243" y="4548043"/>
            <a:ext cx="404531" cy="40453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4270248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Lemas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BAHAYA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Abaikan Tanda Bahaya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1810512"/>
            <a:ext cx="107167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975104"/>
            <a:ext cx="329184" cy="32918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979676"/>
            <a:ext cx="146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1929384"/>
            <a:ext cx="9473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perut hebat / nyeri tekan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49808" y="2587752"/>
            <a:ext cx="10716768" cy="667512"/>
          </a:xfrm>
          <a:prstGeom prst="roundRect">
            <a:avLst>
              <a:gd name="adj" fmla="val 21918"/>
            </a:avLst>
          </a:prstGeom>
          <a:solidFill>
            <a:srgbClr val="FFF1F2"/>
          </a:solidFill>
          <a:ln w="12700">
            <a:solidFill>
              <a:srgbClr val="FFF1F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2752344"/>
            <a:ext cx="329184" cy="32918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56916"/>
            <a:ext cx="146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706624"/>
            <a:ext cx="9473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Muntah terus-menerus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49808" y="3364992"/>
            <a:ext cx="107167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529584"/>
            <a:ext cx="329184" cy="32918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534156"/>
            <a:ext cx="146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3483864"/>
            <a:ext cx="9473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Perdarahan mukosa: gusi / hidung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49808" y="4142232"/>
            <a:ext cx="10716768" cy="667512"/>
          </a:xfrm>
          <a:prstGeom prst="roundRect">
            <a:avLst>
              <a:gd name="adj" fmla="val 21918"/>
            </a:avLst>
          </a:prstGeom>
          <a:solidFill>
            <a:srgbClr val="FFF1F2"/>
          </a:solidFill>
          <a:ln w="12700">
            <a:solidFill>
              <a:srgbClr val="FFF1F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4306824"/>
            <a:ext cx="329184" cy="32918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311396"/>
            <a:ext cx="146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261104"/>
            <a:ext cx="9473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lemah, gelisah, atau mengantuk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749808" y="4919472"/>
            <a:ext cx="10716768" cy="667512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5084064"/>
            <a:ext cx="329184" cy="32918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5088636"/>
            <a:ext cx="146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5038344"/>
            <a:ext cx="9473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Penumpukan cairan atau Ht meningkat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658368" y="5687568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75157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bahaya muncul? Segera laporkan dan eskalasi.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BAHAYA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Kriteria Dengue Berat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911096"/>
            <a:ext cx="3465576" cy="3602736"/>
          </a:xfrm>
          <a:prstGeom prst="roundRect">
            <a:avLst>
              <a:gd name="adj" fmla="val 4222"/>
            </a:avLst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231136"/>
            <a:ext cx="1188720" cy="1188720"/>
          </a:xfrm>
          <a:prstGeom prst="ellipse">
            <a:avLst/>
          </a:prstGeom>
          <a:solidFill>
            <a:srgbClr val="FBC6CE"/>
          </a:solidFill>
          <a:ln w="12700">
            <a:solidFill>
              <a:srgbClr val="FBC6CE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HeartPulse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318" y="2492654"/>
            <a:ext cx="665683" cy="66568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675888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SYOK / GANGGUAN NAPAS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41832" y="4535424"/>
            <a:ext cx="30083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Kebocoran plasma berat dan gangguan perfusi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89120" y="1911096"/>
            <a:ext cx="3465576" cy="3602736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3832" y="2231136"/>
            <a:ext cx="1188720" cy="118872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Droplet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350" y="2492654"/>
            <a:ext cx="665683" cy="6656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3675888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PERDARAHAN BERAT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626864" y="4535424"/>
            <a:ext cx="30083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Perdarahan bermakna secara klinis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074152" y="1911096"/>
            <a:ext cx="3465576" cy="3602736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98864" y="2231136"/>
            <a:ext cx="1188720" cy="118872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Hospital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382" y="2492654"/>
            <a:ext cx="665683" cy="66568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3675888"/>
            <a:ext cx="3044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KERUSAKAN ORGAN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8311896" y="4535424"/>
            <a:ext cx="30083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Misalnya hati, otak, atau jantung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41248" y="57241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Dengue berat adalah kondisi gawat darurat yang memerlukan eskalasi segera.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KLASIFIKASI KLINIS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Penentuan Tingkat Keparahan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6656" y="1792224"/>
            <a:ext cx="108813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975104"/>
            <a:ext cx="740664" cy="74066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75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020824" y="1975104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Tanpa tanda bahaya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5815584" y="2002536"/>
            <a:ext cx="52669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Dapat rawat jalan bila stabil dan mampu minum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" y="3063240"/>
            <a:ext cx="108813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246120"/>
            <a:ext cx="740664" cy="740664"/>
          </a:xfrm>
          <a:prstGeom prst="ellipse">
            <a:avLst/>
          </a:prstGeom>
          <a:solidFill>
            <a:srgbClr val="E7B24A"/>
          </a:solidFill>
          <a:ln w="12700">
            <a:solidFill>
              <a:srgbClr val="E7B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3467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020824" y="3246120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Dengan tanda bahaya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815584" y="3273552"/>
            <a:ext cx="52669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Observasi ketat / rawat inap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6656" y="4334256"/>
            <a:ext cx="108813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17136"/>
            <a:ext cx="740664" cy="74066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4617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2020824" y="4517136"/>
            <a:ext cx="4078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Dengue berat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815584" y="4544568"/>
            <a:ext cx="52669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Stabilisasi darurat / perawatan intensif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8368" y="5687568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5157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Kondisi klinis menentukan prioritas, bukan trombosit saja.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PEMERIKSAAN PENDUKUNG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Laboratorium &amp; Diagnostik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865376"/>
            <a:ext cx="3465576" cy="3054096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06654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Flask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2197303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8488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DARAH LENGKAP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50976" y="2715768"/>
            <a:ext cx="2971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Trombosit, leukosit, hematokrit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4379976" y="1865376"/>
            <a:ext cx="3465576" cy="3054096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06654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Virus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197303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94376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DENGUE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626864" y="2715768"/>
            <a:ext cx="2971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NS1 / NAAT terutama pada fase awal</a:t>
            </a:r>
            <a:endParaRPr lang="en-US" sz="2300" dirty="0"/>
          </a:p>
        </p:txBody>
      </p:sp>
      <p:sp>
        <p:nvSpPr>
          <p:cNvPr id="19" name="Shape 15"/>
          <p:cNvSpPr/>
          <p:nvPr/>
        </p:nvSpPr>
        <p:spPr>
          <a:xfrm>
            <a:off x="8055864" y="1865376"/>
            <a:ext cx="3465576" cy="3054096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47888" y="206654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ChartLine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647" y="2197303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70264" y="2048256"/>
            <a:ext cx="2322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PEMERIKSAAN LANJUT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8302752" y="2715768"/>
            <a:ext cx="2971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Serologi sesuai hari sakit dan indikasi</a:t>
            </a:r>
            <a:endParaRPr lang="en-US" sz="2300" dirty="0"/>
          </a:p>
        </p:txBody>
      </p:sp>
      <p:sp>
        <p:nvSpPr>
          <p:cNvPr id="24" name="Shape 19"/>
          <p:cNvSpPr/>
          <p:nvPr/>
        </p:nvSpPr>
        <p:spPr>
          <a:xfrm>
            <a:off x="704088" y="5230368"/>
            <a:ext cx="10844784" cy="868680"/>
          </a:xfrm>
          <a:prstGeom prst="roundRect">
            <a:avLst>
              <a:gd name="adj" fmla="val 16842"/>
            </a:avLst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5" name="Image 3" descr="/mnt/data/dengue_assets/ic_faArrowTrendUp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2239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27632" y="5385816"/>
            <a:ext cx="9436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hasil serial bersama tanda vital, hidrasi, dan pemeriksaan fisik.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PRIORITAS KLINIS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Kapan Perlu Rawat Inap / Rujuk?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3456432" cy="3776472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874520"/>
            <a:ext cx="3456432" cy="14630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2267712"/>
            <a:ext cx="1069848" cy="1069848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2" name="Image 0" descr="/mnt/data/dengue_assets/ic_faCircleCheck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319" y="2503079"/>
            <a:ext cx="599115" cy="59911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353872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 UNTUK PEMANTAUAN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78408" y="4462272"/>
            <a:ext cx="28895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Stabil, minum cukup, tanpa tanda bahaya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398264" y="1874520"/>
            <a:ext cx="3456432" cy="3776472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98264" y="1874520"/>
            <a:ext cx="3456432" cy="146304"/>
          </a:xfrm>
          <a:prstGeom prst="rect">
            <a:avLst/>
          </a:prstGeom>
          <a:solidFill>
            <a:srgbClr val="E7B24A"/>
          </a:solidFill>
          <a:ln w="12700">
            <a:solidFill>
              <a:srgbClr val="E7B24A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05272" y="2267712"/>
            <a:ext cx="1069848" cy="1069848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8" name="Image 1" descr="/mnt/data/dengue_assets/ic_faEyeE7B2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639" y="2503079"/>
            <a:ext cx="599115" cy="59911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6008" y="353872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BUTUH OBSERVASI KETAT</a:t>
            </a:r>
            <a:endParaRPr lang="en-US" sz="2300" dirty="0"/>
          </a:p>
        </p:txBody>
      </p:sp>
      <p:sp>
        <p:nvSpPr>
          <p:cNvPr id="20" name="Text 16"/>
          <p:cNvSpPr/>
          <p:nvPr/>
        </p:nvSpPr>
        <p:spPr>
          <a:xfrm>
            <a:off x="4681728" y="4462272"/>
            <a:ext cx="28895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tanda bahaya, tidak mampu minum, atau komorbid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8101584" y="1874520"/>
            <a:ext cx="3456432" cy="3776472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01584" y="1874520"/>
            <a:ext cx="3456432" cy="14630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308592" y="2267712"/>
            <a:ext cx="1069848" cy="1069848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24" name="Image 2" descr="/mnt/data/dengue_assets/ic_faTriangleExclamationE651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959" y="2503079"/>
            <a:ext cx="599115" cy="59911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39328" y="353872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BUTUH TINDAKAN DARURAT</a:t>
            </a:r>
            <a:endParaRPr lang="en-US" sz="2300" dirty="0"/>
          </a:p>
        </p:txBody>
      </p:sp>
      <p:sp>
        <p:nvSpPr>
          <p:cNvPr id="26" name="Text 21"/>
          <p:cNvSpPr/>
          <p:nvPr/>
        </p:nvSpPr>
        <p:spPr>
          <a:xfrm>
            <a:off x="8385048" y="4462272"/>
            <a:ext cx="288950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Syok, perdarahan berat, gangguan organ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 KEPERAWATAN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Asuhan Keperawatan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984248" cy="317296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9304" y="2386584"/>
            <a:ext cx="804672" cy="804672"/>
          </a:xfrm>
          <a:prstGeom prst="ellipse">
            <a:avLst/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ClipboardList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569464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24128" y="3383280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95528" y="412394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KAJI DATA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13816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Kumpulkan data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651760" y="2916936"/>
            <a:ext cx="246888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16936" y="2148840"/>
            <a:ext cx="1984248" cy="3172968"/>
          </a:xfrm>
          <a:prstGeom prst="roundRect">
            <a:avLst>
              <a:gd name="adj" fmla="val 7373"/>
            </a:avLst>
          </a:prstGeom>
          <a:solidFill>
            <a:srgbClr val="ECF2F7"/>
          </a:solidFill>
          <a:ln w="12700">
            <a:solidFill>
              <a:srgbClr val="ECF2F7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0440" y="2386584"/>
            <a:ext cx="804672" cy="804672"/>
          </a:xfrm>
          <a:prstGeom prst="ellipse">
            <a:avLst/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18" name="Image 1" descr="/mnt/data/dengue_assets/ic_faStethoscope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69464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55264" y="3383280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3026664" y="412394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044952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Tentukan masalah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882896" y="2916936"/>
            <a:ext cx="246888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148072" y="2148840"/>
            <a:ext cx="1984248" cy="317296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751576" y="2386584"/>
            <a:ext cx="804672" cy="804672"/>
          </a:xfrm>
          <a:prstGeom prst="ellipse">
            <a:avLst/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25" name="Image 2" descr="/mnt/data/dengue_assets/ic_faChartLine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69464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0" y="3383280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600" dirty="0"/>
          </a:p>
        </p:txBody>
      </p:sp>
      <p:sp>
        <p:nvSpPr>
          <p:cNvPr id="27" name="Text 22"/>
          <p:cNvSpPr/>
          <p:nvPr/>
        </p:nvSpPr>
        <p:spPr>
          <a:xfrm>
            <a:off x="5257800" y="412394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LUARAN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5276088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Tetapkan tujuan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7114032" y="2916936"/>
            <a:ext cx="246888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7379208" y="2148840"/>
            <a:ext cx="1984248" cy="3172968"/>
          </a:xfrm>
          <a:prstGeom prst="roundRect">
            <a:avLst>
              <a:gd name="adj" fmla="val 7373"/>
            </a:avLst>
          </a:prstGeom>
          <a:solidFill>
            <a:srgbClr val="ECF2F7"/>
          </a:solidFill>
          <a:ln w="12700">
            <a:solidFill>
              <a:srgbClr val="ECF2F7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982712" y="2386584"/>
            <a:ext cx="804672" cy="804672"/>
          </a:xfrm>
          <a:prstGeom prst="ellipse">
            <a:avLst/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32" name="Image 3" descr="/mnt/data/dengue_assets/ic_faUserNurse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569464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17536" y="3383280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600" dirty="0"/>
          </a:p>
        </p:txBody>
      </p:sp>
      <p:sp>
        <p:nvSpPr>
          <p:cNvPr id="34" name="Text 28"/>
          <p:cNvSpPr/>
          <p:nvPr/>
        </p:nvSpPr>
        <p:spPr>
          <a:xfrm>
            <a:off x="7488936" y="412394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INTERVENSI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7507224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Lakukan tindakan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9345168" y="2916936"/>
            <a:ext cx="246888" cy="0"/>
          </a:xfrm>
          <a:prstGeom prst="line">
            <a:avLst/>
          </a:prstGeom>
          <a:noFill/>
          <a:ln w="38100">
            <a:solidFill>
              <a:srgbClr val="E65161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610344" y="2148840"/>
            <a:ext cx="1984248" cy="317296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13848" y="2386584"/>
            <a:ext cx="804672" cy="804672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pic>
        <p:nvPicPr>
          <p:cNvPr id="39" name="Image 4" descr="/mnt/data/dengue_assets/ic_faCircleCheck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569464"/>
            <a:ext cx="411480" cy="4114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948672" y="3383280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3600" dirty="0"/>
          </a:p>
        </p:txBody>
      </p:sp>
      <p:sp>
        <p:nvSpPr>
          <p:cNvPr id="41" name="Text 34"/>
          <p:cNvSpPr/>
          <p:nvPr/>
        </p:nvSpPr>
        <p:spPr>
          <a:xfrm>
            <a:off x="9720072" y="412394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</a:t>
            </a:r>
            <a:endParaRPr lang="en-US" sz="2200" dirty="0"/>
          </a:p>
        </p:txBody>
      </p:sp>
      <p:sp>
        <p:nvSpPr>
          <p:cNvPr id="42" name="Text 35"/>
          <p:cNvSpPr/>
          <p:nvPr/>
        </p:nvSpPr>
        <p:spPr>
          <a:xfrm>
            <a:off x="9738360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respons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868680" y="5733288"/>
            <a:ext cx="10515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SDKI–SLKI–SIKI; sesuaikan dengan kondisi pasien.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PENGKAJIAN KEPERAWATAN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Subjektif: Wawancara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819656"/>
            <a:ext cx="5294376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2082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ThermometerHalf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" y="2151583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9344" y="200253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Riwayat demam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41832" y="267004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Hari keberapa sakit? Kapan demam mulai turun?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45352" y="1819656"/>
            <a:ext cx="5294376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202082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NotesMedical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151583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200253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Keluhan utama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492240" y="267004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perut, mual, muntah, pusing, lemah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94944" y="3959352"/>
            <a:ext cx="5294376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6968" y="416052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GlassWater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" y="429127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9344" y="414223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Asupan &amp; eliminasi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41832" y="4809744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minum, muntah, dan berkemih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45352" y="3959352"/>
            <a:ext cx="5294376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37376" y="416052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ClipboardList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35" y="4291279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59752" y="414223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Riwayat khusus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492240" y="4809744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Perdarahan, obat yang diminum, penyakit lain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PENGKAJIAN KEPERAWATAN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Objektif: Pendekatan ABCDE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1719072"/>
            <a:ext cx="10716768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819656"/>
            <a:ext cx="539496" cy="53949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883664"/>
            <a:ext cx="329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1883664"/>
            <a:ext cx="2761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AIRWAY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35424" y="185623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Jalan napas paten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49808" y="2596896"/>
            <a:ext cx="10716768" cy="749808"/>
          </a:xfrm>
          <a:prstGeom prst="roundRect">
            <a:avLst>
              <a:gd name="adj" fmla="val 19512"/>
            </a:avLst>
          </a:prstGeom>
          <a:solidFill>
            <a:srgbClr val="ECF2F7"/>
          </a:solidFill>
          <a:ln w="12700">
            <a:solidFill>
              <a:srgbClr val="ECF2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2697480"/>
            <a:ext cx="539496" cy="53949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761488"/>
            <a:ext cx="329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2761488"/>
            <a:ext cx="2761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35424" y="27340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Frekuensi napas; tanda sesak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49808" y="3474720"/>
            <a:ext cx="10716768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3575304"/>
            <a:ext cx="539496" cy="539496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639312"/>
            <a:ext cx="329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91640" y="3639312"/>
            <a:ext cx="2761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35424" y="36118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Nadi, TD, CRT, akral, perdarahan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749808" y="4352544"/>
            <a:ext cx="10716768" cy="749808"/>
          </a:xfrm>
          <a:prstGeom prst="roundRect">
            <a:avLst>
              <a:gd name="adj" fmla="val 19512"/>
            </a:avLst>
          </a:prstGeom>
          <a:solidFill>
            <a:srgbClr val="ECF2F7"/>
          </a:solidFill>
          <a:ln w="12700">
            <a:solidFill>
              <a:srgbClr val="ECF2F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453128"/>
            <a:ext cx="539496" cy="53949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517136"/>
            <a:ext cx="329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91640" y="4517136"/>
            <a:ext cx="2761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DISABILITY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35424" y="448970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Kesadaran dan perubahan perilaku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749808" y="5230368"/>
            <a:ext cx="10716768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" y="5330952"/>
            <a:ext cx="539496" cy="53949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394960"/>
            <a:ext cx="3291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91640" y="5394960"/>
            <a:ext cx="2761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35424" y="536752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Suhu, ruam, edema, temuan lain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PEMANTAUAN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Pemantauan Klinis yang Terstruktur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819656"/>
            <a:ext cx="5303520" cy="186537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2082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HeartPulse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" y="2151583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9344" y="20025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VITAL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41832" y="267004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TD, nadi, RR, suhu, SpO₂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45352" y="1819656"/>
            <a:ext cx="5303520" cy="186537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202082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ArrowTrendUp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151583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20025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PERFUSI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492240" y="2670048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CRT, akral, kesadaran, tekanan nadi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94944" y="3849624"/>
            <a:ext cx="5303520" cy="186537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6968" y="4050792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Droplet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" y="4181551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9344" y="40325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CAIRAN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41832" y="4700016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Intake, output urine, muntah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45352" y="3849624"/>
            <a:ext cx="5303520" cy="186537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37376" y="4050792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ChartLine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35" y="4181551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59752" y="40325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SERIAL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492240" y="4700016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Hematokrit, trombosit, data klinis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704088" y="5989320"/>
            <a:ext cx="10789920" cy="374904"/>
          </a:xfrm>
          <a:prstGeom prst="roundRect">
            <a:avLst>
              <a:gd name="adj" fmla="val 39024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86968" y="60350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lebih sering saat fase kritis atau kondisi memburuk.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KEPERAWATAN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Keperawatan Prioritas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79222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231136"/>
            <a:ext cx="384048" cy="384048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2905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90472" y="200253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HIPERTERMIA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99616" y="256032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 meningkat; fase febril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27064" y="179222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231136"/>
            <a:ext cx="384048" cy="384048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2905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31736" y="200253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HIPOVOLEMIA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040880" y="256032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kekurangan volume cairan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5800" y="330098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739896"/>
            <a:ext cx="384048" cy="384048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7993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90472" y="351129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SYOK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499616" y="406908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Ancaman perfusi tidak adekuat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27064" y="330098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3739896"/>
            <a:ext cx="384048" cy="384048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7993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31736" y="351129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PERDARAHAN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040880" y="406908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Kerentanan perdarahan pada dengue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85800" y="480974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5248656"/>
            <a:ext cx="384048" cy="384048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53080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90472" y="50200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AKUT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1499616" y="557784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Sakit kepala atau nyeri tubuh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227064" y="4809744"/>
            <a:ext cx="5294376" cy="1362456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7376" y="5248656"/>
            <a:ext cx="384048" cy="384048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53080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31736" y="5020056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DEFISIT PENGETAHUAN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7040880" y="5577840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memahami tanda bahaya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PERENCANAAN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Luaran Keperawatan yang Dituju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856232"/>
            <a:ext cx="529437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05740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ThermometerHalf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" y="218815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9344" y="203911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 TERKONTROL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41832" y="27066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 menurun dan pasien nyaman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27064" y="1856232"/>
            <a:ext cx="529437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9088" y="205740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GlassWater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47" y="218815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41464" y="203911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CAIRAN ADEKUAT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473952" y="27066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Diuresis dan hidrasi membaik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94944" y="3895344"/>
            <a:ext cx="529437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6968" y="4096512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HeartPulse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" y="4227271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9344" y="4078224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PERFUSI STABIL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41832" y="474573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Nadi, tekanan darah, CRT baik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27064" y="3895344"/>
            <a:ext cx="529437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19088" y="4096512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HandsHoldingChild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847" y="4227271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41464" y="4078224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KELUARGA SIAGA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473952" y="474573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 tanda bahaya dan tindak lanjut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Intervensi: Hipertermia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947672"/>
            <a:ext cx="3456432" cy="3355848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214884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ThermometerHalf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" y="227959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9344" y="213055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OBSERVASI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41832" y="2798064"/>
            <a:ext cx="296265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suhu, nadi, respons tubuh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4398264" y="1947672"/>
            <a:ext cx="3456432" cy="3355848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0288" y="214884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BedPulse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047" y="22795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2664" y="213055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TERAPEUTIK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4645152" y="2798064"/>
            <a:ext cx="296265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Anjurkan istirahat; pakaian nyaman; kompres suam-suam kuku</a:t>
            </a:r>
            <a:endParaRPr lang="en-US" sz="2300" dirty="0"/>
          </a:p>
        </p:txBody>
      </p:sp>
      <p:sp>
        <p:nvSpPr>
          <p:cNvPr id="19" name="Shape 15"/>
          <p:cNvSpPr/>
          <p:nvPr/>
        </p:nvSpPr>
        <p:spPr>
          <a:xfrm>
            <a:off x="8101584" y="1947672"/>
            <a:ext cx="3456432" cy="3355848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93608" y="2148840"/>
            <a:ext cx="594360" cy="594360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CapsulesE651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367" y="227959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15984" y="213055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KOLABORASI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8348472" y="2798064"/>
            <a:ext cx="296265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Parasetamol sesuai instruksi klinis; hindari NSAID</a:t>
            </a:r>
            <a:endParaRPr lang="en-US" sz="2300" dirty="0"/>
          </a:p>
        </p:txBody>
      </p:sp>
      <p:sp>
        <p:nvSpPr>
          <p:cNvPr id="24" name="Shape 19"/>
          <p:cNvSpPr/>
          <p:nvPr/>
        </p:nvSpPr>
        <p:spPr>
          <a:xfrm>
            <a:off x="658368" y="5586984"/>
            <a:ext cx="10881360" cy="749808"/>
          </a:xfrm>
          <a:prstGeom prst="roundRect">
            <a:avLst>
              <a:gd name="adj" fmla="val 19512"/>
            </a:avLst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0" y="5650992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gunakan aspirin atau ibuprofen pada pasien dengue.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Intervensi: Keseimbangan Cairan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47088"/>
            <a:ext cx="530352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Eye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" y="2179015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20299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KAJI STATUS HIDRASI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32688" y="2697480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Mukosa, turgor, rasa haus, diuresis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36208" y="1847088"/>
            <a:ext cx="530352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8232" y="2048256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ClipboardList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2179015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0608" y="20299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 MASUK–KELUAR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483096" y="2697480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Minum, cairan IV, muntah dan urine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85800" y="3922776"/>
            <a:ext cx="530352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77824" y="412394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GlassWater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" y="4254703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41056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DUKUNG ASUPAN ORAL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32688" y="47731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pasien sadar dan mampu minum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36208" y="3922776"/>
            <a:ext cx="530352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28232" y="4123944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Droplet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4254703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50608" y="41056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KOLABORASI CAIRAN IV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483096" y="477316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Kristaloid isotonik menurut instruksi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859536" y="6080760"/>
            <a:ext cx="10588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berulang untuk mencegah kekurangan maupun kelebihan cairan.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Syok: Deteksi &amp; Respons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828800"/>
            <a:ext cx="5193792" cy="4187952"/>
          </a:xfrm>
          <a:prstGeom prst="roundRect">
            <a:avLst>
              <a:gd name="adj" fmla="val 3493"/>
            </a:avLst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176272"/>
            <a:ext cx="768096" cy="768096"/>
          </a:xfrm>
          <a:prstGeom prst="ellipse">
            <a:avLst/>
          </a:prstGeom>
          <a:solidFill>
            <a:srgbClr val="F8C9CF"/>
          </a:solidFill>
          <a:ln w="12700">
            <a:solidFill>
              <a:srgbClr val="F8C9CF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TriangleExclamation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389" y="2345253"/>
            <a:ext cx="430134" cy="4301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11096" y="22219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TANDA HIPOPERFUSI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69264" y="3072384"/>
            <a:ext cx="4672584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3346704"/>
            <a:ext cx="164592" cy="164592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63624" y="3209544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 cepat; nadi sempit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969264" y="3950208"/>
            <a:ext cx="4672584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8720" y="4224528"/>
            <a:ext cx="164592" cy="164592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63624" y="4087368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Akral dingin; CRT lambat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969264" y="4828032"/>
            <a:ext cx="4672584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88720" y="5102352"/>
            <a:ext cx="164592" cy="164592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63624" y="4965192"/>
            <a:ext cx="3886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 turun / bingung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6126480" y="1828800"/>
            <a:ext cx="5358384" cy="4187952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91656" y="2194560"/>
            <a:ext cx="758952" cy="758952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4" name="Image 1" descr="/mnt/data/dengue_assets/ic_faHospital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625" y="2361529"/>
            <a:ext cx="425013" cy="42501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24344" y="22128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TINDAKAN PRIORITAS</a:t>
            </a:r>
            <a:endParaRPr lang="en-US" sz="2600" dirty="0"/>
          </a:p>
        </p:txBody>
      </p:sp>
      <p:sp>
        <p:nvSpPr>
          <p:cNvPr id="26" name="Shape 22"/>
          <p:cNvSpPr/>
          <p:nvPr/>
        </p:nvSpPr>
        <p:spPr>
          <a:xfrm>
            <a:off x="6428232" y="3108960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83096" y="313639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7086600" y="30815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Segera laporkan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7086600" y="3557016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Aktifkan prosedur darurat.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428232" y="4389120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83096" y="44165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7086600" y="43616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ketat</a:t>
            </a:r>
            <a:endParaRPr lang="en-US" sz="2500" dirty="0"/>
          </a:p>
        </p:txBody>
      </p:sp>
      <p:sp>
        <p:nvSpPr>
          <p:cNvPr id="33" name="Text 29"/>
          <p:cNvSpPr/>
          <p:nvPr/>
        </p:nvSpPr>
        <p:spPr>
          <a:xfrm>
            <a:off x="7086600" y="4837176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akses dan terapi kolaboratif.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Perdarahan, Nyeri, dan Mual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901952"/>
            <a:ext cx="3474720" cy="400507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2267712"/>
            <a:ext cx="1078992" cy="1078992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DropletE6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474" y="2505090"/>
            <a:ext cx="604236" cy="6042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675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PERDARAHAN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0976" y="4517136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Amati mimisan, gusi, melena; hindari tindakan invasif tak perlu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89120" y="1901952"/>
            <a:ext cx="3474720" cy="400507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6128" y="2267712"/>
            <a:ext cx="1078992" cy="1078992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Bandage087F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506" y="2505090"/>
            <a:ext cx="604236" cy="6042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3675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AKUT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636008" y="4517136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skala nyeri, bantu posisi nyaman dan istirahat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074152" y="1901952"/>
            <a:ext cx="3474720" cy="400507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81160" y="2267712"/>
            <a:ext cx="1078992" cy="1078992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GlassWaterE7B2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538" y="2505090"/>
            <a:ext cx="604236" cy="6042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3675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MUAL / ASUPAN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321040" y="4517136"/>
            <a:ext cx="29718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muntah; berikan makan sedikit tetapi sering bila mampu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EDUKASI PASIEN &amp; KELUARGA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Pesan Kunci Sebelum Pulang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856232"/>
            <a:ext cx="5294376" cy="1856232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057400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GlassWater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218815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8488" y="203911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 CAIRAN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50976" y="2706624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Minum sesuai kondisi dan arahan klinis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63640" y="1856232"/>
            <a:ext cx="5294376" cy="1856232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55664" y="2057400"/>
            <a:ext cx="594360" cy="594360"/>
          </a:xfrm>
          <a:prstGeom prst="ellipse">
            <a:avLst/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pic>
        <p:nvPicPr>
          <p:cNvPr id="16" name="Image 1" descr="/mnt/data/dengue_assets/ic_faTriangleExclamationE651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423" y="218815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03911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KENALI BAHAYA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6510528" y="2706624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Nyeri perut, muntah berulang, perdarahan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704088" y="3931920"/>
            <a:ext cx="5294376" cy="1856232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96112" y="4133088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1" name="Image 2" descr="/mnt/data/dengue_assets/ic_faMosquito087F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" y="4263847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18488" y="4114800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CEGAH GIGITAN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950976" y="4782312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Kelambu / repelan; lakukan 3M Plus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263640" y="3931920"/>
            <a:ext cx="5294376" cy="1856232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55664" y="4133088"/>
            <a:ext cx="594360" cy="594360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26" name="Image 3" descr="/mnt/data/dengue_assets/ic_faHospital087F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423" y="4263847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4114800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 ULANG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6510528" y="4782312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Ikuti jadwal dan kembali bila memburuk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KESELAMATAN PASIEN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Kolaborasi dan Hal yang Dihindari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5303520" cy="4142232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76272"/>
            <a:ext cx="704088" cy="704088"/>
          </a:xfrm>
          <a:prstGeom prst="ellipse">
            <a:avLst/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pic>
        <p:nvPicPr>
          <p:cNvPr id="11" name="Image 0" descr="/mnt/data/dengue_assets/ic_faPeopleGroup087F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587" y="2331171"/>
            <a:ext cx="394289" cy="39428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2267712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KOLABORASI AKTIF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23544" y="3191256"/>
            <a:ext cx="466344" cy="46634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8408" y="32186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81912" y="3163824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 klinis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1581912" y="3639312"/>
            <a:ext cx="3950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respons terapi cairan.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23544" y="4453128"/>
            <a:ext cx="466344" cy="466344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44805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81912" y="4425696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Laboratorium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1581912" y="4901184"/>
            <a:ext cx="39502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Ikuti pemeriksaan serial.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217920" y="1874520"/>
            <a:ext cx="5266944" cy="4142232"/>
          </a:xfrm>
          <a:prstGeom prst="roundRect">
            <a:avLst>
              <a:gd name="adj" fmla="val 3532"/>
            </a:avLst>
          </a:prstGeom>
          <a:solidFill>
            <a:srgbClr val="FDE9EC"/>
          </a:solidFill>
          <a:ln w="12700">
            <a:solidFill>
              <a:srgbClr val="FDE9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73952" y="2176272"/>
            <a:ext cx="704088" cy="704088"/>
          </a:xfrm>
          <a:prstGeom prst="ellipse">
            <a:avLst/>
          </a:prstGeom>
          <a:solidFill>
            <a:srgbClr val="F9C6CD"/>
          </a:solidFill>
          <a:ln w="12700">
            <a:solidFill>
              <a:srgbClr val="F9C6CD">
                <a:alpha val="0"/>
              </a:srgbClr>
            </a:solidFill>
            <a:prstDash val="solid"/>
          </a:ln>
        </p:spPr>
      </p:sp>
      <p:pic>
        <p:nvPicPr>
          <p:cNvPr id="23" name="Image 1" descr="/mnt/data/dengue_assets/ic_faBanE651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851" y="2331171"/>
            <a:ext cx="394289" cy="39428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60920" y="2258568"/>
            <a:ext cx="3648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HINDARI</a:t>
            </a:r>
            <a:endParaRPr lang="en-US" sz="2600" dirty="0"/>
          </a:p>
        </p:txBody>
      </p:sp>
      <p:sp>
        <p:nvSpPr>
          <p:cNvPr id="25" name="Shape 21"/>
          <p:cNvSpPr/>
          <p:nvPr/>
        </p:nvSpPr>
        <p:spPr>
          <a:xfrm>
            <a:off x="6437376" y="3191256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92240" y="32186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7095744" y="3163824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NSAID</a:t>
            </a:r>
            <a:endParaRPr lang="en-US" sz="2500" dirty="0"/>
          </a:p>
        </p:txBody>
      </p:sp>
      <p:sp>
        <p:nvSpPr>
          <p:cNvPr id="28" name="Text 24"/>
          <p:cNvSpPr/>
          <p:nvPr/>
        </p:nvSpPr>
        <p:spPr>
          <a:xfrm>
            <a:off x="7095744" y="3639312"/>
            <a:ext cx="39136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Aspirin / ibuprofen meningkatkan risiko.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6437376" y="4453128"/>
            <a:ext cx="466344" cy="46634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92240" y="44805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7095744" y="442569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Tindakan rutin</a:t>
            </a:r>
            <a:endParaRPr lang="en-US" sz="2500" dirty="0"/>
          </a:p>
        </p:txBody>
      </p:sp>
      <p:sp>
        <p:nvSpPr>
          <p:cNvPr id="32" name="Text 28"/>
          <p:cNvSpPr/>
          <p:nvPr/>
        </p:nvSpPr>
        <p:spPr>
          <a:xfrm>
            <a:off x="7095744" y="4901184"/>
            <a:ext cx="39136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Transfusi trombosit profilaksis tanpa indikasi.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Kasus Singkat: Tentukan Prioritas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5577840" cy="4288536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093976"/>
            <a:ext cx="3236976" cy="438912"/>
          </a:xfrm>
          <a:prstGeom prst="roundRect">
            <a:avLst>
              <a:gd name="adj" fmla="val 33333"/>
            </a:avLst>
          </a:prstGeom>
          <a:solidFill>
            <a:srgbClr val="D9F4F0"/>
          </a:solidFill>
          <a:ln w="12700">
            <a:solidFill>
              <a:srgbClr val="D9F4F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35124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ILUSTRASI KASUS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23544" y="285292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Pasien 18 tahun, hari ke-4 demam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41832" y="3685032"/>
            <a:ext cx="146304" cy="14630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62102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Demam mulai turun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41832" y="4206240"/>
            <a:ext cx="146304" cy="14630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14223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Muntah terus; nyeri perut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1832" y="4727448"/>
            <a:ext cx="146304" cy="14630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66344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 122/menit; akral dingin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1832" y="5248656"/>
            <a:ext cx="146304" cy="146304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518464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CRT 4 detik; urine berkurang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83096" y="1828800"/>
            <a:ext cx="5010912" cy="4288536"/>
          </a:xfrm>
          <a:prstGeom prst="roundRect">
            <a:avLst>
              <a:gd name="adj" fmla="val 3412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pic>
        <p:nvPicPr>
          <p:cNvPr id="22" name="Image 0" descr="/mnt/data/dengue_assets/ic_faTriangleExclamationF5BD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2286000"/>
            <a:ext cx="1170432" cy="11704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76288" y="3730752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PRIORITASNYA?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976872" y="4654296"/>
            <a:ext cx="40507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7F0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Kenali hipoperfusi, segera eskalasi, dan siapkan tata laksana kolaboratif.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&amp; Dokumentasi SOAP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04088" y="1847088"/>
            <a:ext cx="53035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231136"/>
            <a:ext cx="813816" cy="81381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41401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029968" y="2130552"/>
            <a:ext cx="3648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SUBJEKTIF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029968" y="2816352"/>
            <a:ext cx="3648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Keluhan demam, nyeri, mual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54496" y="1847088"/>
            <a:ext cx="53035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231136"/>
            <a:ext cx="813816" cy="813816"/>
          </a:xfrm>
          <a:prstGeom prst="ellipse">
            <a:avLst/>
          </a:prstGeom>
          <a:solidFill>
            <a:srgbClr val="E7B24A"/>
          </a:solidFill>
          <a:ln w="12700">
            <a:solidFill>
              <a:srgbClr val="E7B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41401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7580376" y="2130552"/>
            <a:ext cx="3648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OBJEKTIF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580376" y="2816352"/>
            <a:ext cx="3648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TD, nadi, CRT, I/O, suhu, Ht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4088" y="3931920"/>
            <a:ext cx="53035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315968"/>
            <a:ext cx="813816" cy="813816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449884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2029968" y="4215384"/>
            <a:ext cx="3648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2029968" y="4901184"/>
            <a:ext cx="3648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teratasi / belum teratasi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54496" y="3931920"/>
            <a:ext cx="53035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315968"/>
            <a:ext cx="813816" cy="813816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449884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7580376" y="4215384"/>
            <a:ext cx="3648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RENCANA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580376" y="4901184"/>
            <a:ext cx="3648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Lanjutkan, ubah, atau eskalasi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8208" y="27432"/>
            <a:ext cx="1325880" cy="132588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65992" y="91440"/>
            <a:ext cx="749808" cy="749808"/>
          </a:xfrm>
          <a:prstGeom prst="ellipse">
            <a:avLst/>
          </a:prstGeom>
          <a:solidFill>
            <a:srgbClr val="E2F0F2"/>
          </a:solidFill>
          <a:ln w="12700">
            <a:solidFill>
              <a:srgbClr val="E2F0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 Pesan &amp; Rujukan Utama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05840" cy="54864"/>
          </a:xfrm>
          <a:prstGeom prst="rect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13970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52881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F6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94944" y="1773936"/>
            <a:ext cx="10826496" cy="1097280"/>
          </a:xfrm>
          <a:prstGeom prst="roundRect">
            <a:avLst>
              <a:gd name="adj" fmla="val 13333"/>
            </a:avLst>
          </a:prstGeom>
          <a:solidFill>
            <a:srgbClr val="111D35"/>
          </a:solidFill>
          <a:ln w="12700">
            <a:solidFill>
              <a:srgbClr val="111D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84248"/>
            <a:ext cx="10250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Kenali tanda bahaya dini • Pantau perfusi • Kelola cairan secara aman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22376" y="3182112"/>
            <a:ext cx="10588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F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REFERENSI UTAMA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58952" y="3849624"/>
            <a:ext cx="137160" cy="137160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1042416" y="3721608"/>
            <a:ext cx="10305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u="sng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· Dengue and severe dengue (Q&amp;A)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8952" y="4453128"/>
            <a:ext cx="137160" cy="137160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5" name="Text 13">
            <a:hlinkClick r:id="rId2" tooltip=""/>
          </p:cNvPr>
          <p:cNvSpPr/>
          <p:nvPr/>
        </p:nvSpPr>
        <p:spPr>
          <a:xfrm>
            <a:off x="1042416" y="4325112"/>
            <a:ext cx="10305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u="sng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· Arboviral clinical management guidelines (2025)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8952" y="5056632"/>
            <a:ext cx="137160" cy="137160"/>
          </a:xfrm>
          <a:prstGeom prst="ellipse">
            <a:avLst/>
          </a:prstGeom>
          <a:solidFill>
            <a:srgbClr val="087F83"/>
          </a:solidFill>
          <a:ln w="12700">
            <a:solidFill>
              <a:srgbClr val="087F83">
                <a:alpha val="0"/>
              </a:srgbClr>
            </a:solidFill>
            <a:prstDash val="solid"/>
          </a:ln>
        </p:spPr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1042416" y="4928616"/>
            <a:ext cx="10305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u="sng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SEARO · Dengue case management booklet (2025)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8952" y="5660136"/>
            <a:ext cx="137160" cy="137160"/>
          </a:xfrm>
          <a:prstGeom prst="ellipse">
            <a:avLst/>
          </a:prstGeom>
          <a:solidFill>
            <a:srgbClr val="E65161"/>
          </a:solidFill>
          <a:ln w="12700">
            <a:solidFill>
              <a:srgbClr val="E65161">
                <a:alpha val="0"/>
              </a:srgbClr>
            </a:solidFill>
            <a:prstDash val="solid"/>
          </a:ln>
        </p:spPr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1042416" y="5532120"/>
            <a:ext cx="10305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u="sng" dirty="0">
                <a:solidFill>
                  <a:srgbClr val="111D3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CDC · Clinical Care of Dengue (2026)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Materi Pembelajaran Keperawatan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Asuhan Keperawatan Demam Berdarah Dengue</dc:title>
  <dc:subject>Asuhan Keperawatan Demam Berdarah Dengue</dc:subject>
  <dc:creator>OpenAI</dc:creator>
  <cp:lastModifiedBy>OpenAI</cp:lastModifiedBy>
  <cp:revision>1</cp:revision>
  <dcterms:created xsi:type="dcterms:W3CDTF">2026-10-19T01:11:50Z</dcterms:created>
  <dcterms:modified xsi:type="dcterms:W3CDTF">2026-10-19T01:11:50Z</dcterms:modified>
</cp:coreProperties>
</file>