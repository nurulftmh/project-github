
<file path=[Content_Types].xml><?xml version="1.0" encoding="utf-8"?>
<Types xmlns="http://schemas.openxmlformats.org/package/2006/content-types">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1" d="100"/>
          <a:sy n="111" d="100"/>
        </p:scale>
        <p:origin x="55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022279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6F8FB"/>
        </a:solidFill>
        <a:effectLst/>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0E7490"/>
          </a:solidFill>
          <a:ln w="12700">
            <a:solidFill>
              <a:srgbClr val="0E7490"/>
            </a:solidFill>
            <a:prstDash val="solid"/>
          </a:ln>
        </p:spPr>
      </p:sp>
      <p:sp>
        <p:nvSpPr>
          <p:cNvPr id="3" name="Text 1"/>
          <p:cNvSpPr/>
          <p:nvPr/>
        </p:nvSpPr>
        <p:spPr>
          <a:xfrm>
            <a:off x="502920" y="6556248"/>
            <a:ext cx="3657600" cy="146304"/>
          </a:xfrm>
          <a:prstGeom prst="rect">
            <a:avLst/>
          </a:prstGeom>
          <a:noFill/>
          <a:ln/>
        </p:spPr>
        <p:txBody>
          <a:bodyPr wrap="square" lIns="0" tIns="0" rIns="0" bIns="0" rtlCol="0" anchor="ctr"/>
          <a:lstStyle/>
          <a:p>
            <a:pPr marL="0" indent="0">
              <a:buNone/>
            </a:pPr>
            <a:r>
              <a:rPr lang="en-US" sz="800" dirty="0">
                <a:solidFill>
                  <a:srgbClr val="64748B"/>
                </a:solidFill>
                <a:latin typeface="Arial" pitchFamily="34" charset="0"/>
                <a:ea typeface="Arial" pitchFamily="34" charset="-122"/>
                <a:cs typeface="Arial" pitchFamily="34" charset="-120"/>
              </a:rPr>
              <a:t>K3 DALAM KEPERAWATAN</a:t>
            </a:r>
            <a:endParaRPr lang="en-US" sz="800" dirty="0"/>
          </a:p>
        </p:txBody>
      </p:sp>
      <p:sp>
        <p:nvSpPr>
          <p:cNvPr id="25" name="Slide Number Placeholder 0"/>
          <p:cNvSpPr>
            <a:spLocks noGrp="1"/>
          </p:cNvSpPr>
          <p:nvPr>
            <p:ph type="sldNum" sz="quarter" idx="4294967295"/>
          </p:nvPr>
        </p:nvSpPr>
        <p:spPr>
          <a:xfrm>
            <a:off x="11475720" y="6492240"/>
            <a:ext cx="320040"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64748B"/>
                </a:solidFill>
                <a:latin typeface="Arial"/>
                <a:ea typeface="Arial"/>
                <a:cs typeface="Aria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475720" y="6492240"/>
            <a:ext cx="320040"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64748B"/>
                </a:solidFill>
                <a:latin typeface="Arial"/>
                <a:ea typeface="Arial"/>
                <a:cs typeface="Aria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5.svg"/><Relationship Id="rId5" Type="http://schemas.openxmlformats.org/officeDocument/2006/relationships/image" Target="../media/image4.svg"/><Relationship Id="rId4" Type="http://schemas.openxmlformats.org/officeDocument/2006/relationships/image" Target="../media/image3.svg"/></Relationships>
</file>

<file path=ppt/slides/_rels/slide4.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8.svg"/></Relationships>
</file>

<file path=ppt/slides/_rels/slide5.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image" Target="../media/image1.svg"/><Relationship Id="rId7" Type="http://schemas.openxmlformats.org/officeDocument/2006/relationships/image" Target="../media/image5.sv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4.svg"/><Relationship Id="rId11" Type="http://schemas.openxmlformats.org/officeDocument/2006/relationships/image" Target="../media/image15.svg"/><Relationship Id="rId5" Type="http://schemas.openxmlformats.org/officeDocument/2006/relationships/image" Target="../media/image11.svg"/><Relationship Id="rId10" Type="http://schemas.openxmlformats.org/officeDocument/2006/relationships/image" Target="../media/image14.svg"/><Relationship Id="rId4" Type="http://schemas.openxmlformats.org/officeDocument/2006/relationships/image" Target="../media/image10.svg"/><Relationship Id="rId9" Type="http://schemas.openxmlformats.org/officeDocument/2006/relationships/image" Target="../media/image13.sv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18.svg"/><Relationship Id="rId4" Type="http://schemas.openxmlformats.org/officeDocument/2006/relationships/image" Target="../media/image17.svg"/></Relationships>
</file>

<file path=ppt/slides/_rels/slide9.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6.svg"/><Relationship Id="rId4" Type="http://schemas.openxmlformats.org/officeDocument/2006/relationships/image" Target="../media/image21.svg"/></Relationships>
</file>

<file path=ppt/slides/_rels/slide11.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24.svg"/><Relationship Id="rId5" Type="http://schemas.openxmlformats.org/officeDocument/2006/relationships/image" Target="../media/image23.svg"/><Relationship Id="rId4" Type="http://schemas.openxmlformats.org/officeDocument/2006/relationships/image" Target="../media/image22.svg"/></Relationships>
</file>

<file path=ppt/slides/_rels/slide1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26.svg"/><Relationship Id="rId5" Type="http://schemas.openxmlformats.org/officeDocument/2006/relationships/image" Target="../media/image25.svg"/><Relationship Id="rId4" Type="http://schemas.openxmlformats.org/officeDocument/2006/relationships/image" Target="../media/image9.svg"/></Relationships>
</file>

<file path=ppt/slides/_rels/slide1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7.sv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6.svg"/><Relationship Id="rId4" Type="http://schemas.openxmlformats.org/officeDocument/2006/relationships/image" Target="../media/image28.svg"/></Relationships>
</file>

<file path=ppt/slides/_rels/slide15.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24.svg"/><Relationship Id="rId5" Type="http://schemas.openxmlformats.org/officeDocument/2006/relationships/image" Target="../media/image31.svg"/><Relationship Id="rId4" Type="http://schemas.openxmlformats.org/officeDocument/2006/relationships/image" Target="../media/image30.svg"/></Relationships>
</file>

<file path=ppt/slides/_rels/slide16.xml.rels><?xml version="1.0" encoding="UTF-8" standalone="yes"?>
<Relationships xmlns="http://schemas.openxmlformats.org/package/2006/relationships"><Relationship Id="rId8" Type="http://schemas.openxmlformats.org/officeDocument/2006/relationships/image" Target="../media/image35.svg"/><Relationship Id="rId3" Type="http://schemas.openxmlformats.org/officeDocument/2006/relationships/image" Target="../media/image32.svg"/><Relationship Id="rId7" Type="http://schemas.openxmlformats.org/officeDocument/2006/relationships/image" Target="../media/image34.sv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19.svg"/><Relationship Id="rId5" Type="http://schemas.openxmlformats.org/officeDocument/2006/relationships/image" Target="../media/image17.svg"/><Relationship Id="rId10" Type="http://schemas.openxmlformats.org/officeDocument/2006/relationships/image" Target="../media/image37.svg"/><Relationship Id="rId4" Type="http://schemas.openxmlformats.org/officeDocument/2006/relationships/image" Target="../media/image33.svg"/><Relationship Id="rId9" Type="http://schemas.openxmlformats.org/officeDocument/2006/relationships/image" Target="../media/image36.svg"/></Relationships>
</file>

<file path=ppt/slides/_rels/slide17.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4.svg"/><Relationship Id="rId7" Type="http://schemas.openxmlformats.org/officeDocument/2006/relationships/image" Target="../media/image40.sv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21.svg"/><Relationship Id="rId5" Type="http://schemas.openxmlformats.org/officeDocument/2006/relationships/image" Target="../media/image39.svg"/><Relationship Id="rId4" Type="http://schemas.openxmlformats.org/officeDocument/2006/relationships/image" Target="../media/image38.svg"/></Relationships>
</file>

<file path=ppt/slides/_rels/slide20.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40.svg"/><Relationship Id="rId5" Type="http://schemas.openxmlformats.org/officeDocument/2006/relationships/image" Target="../media/image42.svg"/><Relationship Id="rId4" Type="http://schemas.openxmlformats.org/officeDocument/2006/relationships/image" Target="../media/image41.sv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1.svg"/><Relationship Id="rId7" Type="http://schemas.openxmlformats.org/officeDocument/2006/relationships/image" Target="../media/image45.sv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44.svg"/><Relationship Id="rId5" Type="http://schemas.openxmlformats.org/officeDocument/2006/relationships/image" Target="../media/image7.svg"/><Relationship Id="rId4" Type="http://schemas.openxmlformats.org/officeDocument/2006/relationships/image" Target="../media/image43.sv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1.svg"/><Relationship Id="rId7" Type="http://schemas.openxmlformats.org/officeDocument/2006/relationships/image" Target="../media/image45.svg"/><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image" Target="../media/image47.svg"/><Relationship Id="rId5" Type="http://schemas.openxmlformats.org/officeDocument/2006/relationships/image" Target="../media/image44.svg"/><Relationship Id="rId4" Type="http://schemas.openxmlformats.org/officeDocument/2006/relationships/image" Target="../media/image46.svg"/></Relationships>
</file>

<file path=ppt/slides/_rels/slide25.xml.rels><?xml version="1.0" encoding="UTF-8" standalone="yes"?>
<Relationships xmlns="http://schemas.openxmlformats.org/package/2006/relationships"><Relationship Id="rId3" Type="http://schemas.openxmlformats.org/officeDocument/2006/relationships/image" Target="../media/image30.svg"/><Relationship Id="rId7" Type="http://schemas.openxmlformats.org/officeDocument/2006/relationships/image" Target="../media/image24.svg"/><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image" Target="../media/image48.svg"/><Relationship Id="rId5" Type="http://schemas.openxmlformats.org/officeDocument/2006/relationships/image" Target="../media/image31.svg"/><Relationship Id="rId4" Type="http://schemas.openxmlformats.org/officeDocument/2006/relationships/image" Target="../media/image20.svg"/></Relationships>
</file>

<file path=ppt/slides/_rels/slide26.xml.rels><?xml version="1.0" encoding="UTF-8" standalone="yes"?>
<Relationships xmlns="http://schemas.openxmlformats.org/package/2006/relationships"><Relationship Id="rId8" Type="http://schemas.openxmlformats.org/officeDocument/2006/relationships/image" Target="../media/image52.svg"/><Relationship Id="rId3" Type="http://schemas.openxmlformats.org/officeDocument/2006/relationships/image" Target="../media/image49.svg"/><Relationship Id="rId7" Type="http://schemas.openxmlformats.org/officeDocument/2006/relationships/image" Target="../media/image51.svg"/><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image" Target="../media/image5.svg"/><Relationship Id="rId5" Type="http://schemas.openxmlformats.org/officeDocument/2006/relationships/image" Target="../media/image6.svg"/><Relationship Id="rId4" Type="http://schemas.openxmlformats.org/officeDocument/2006/relationships/image" Target="../media/image50.svg"/></Relationships>
</file>

<file path=ppt/slides/_rels/slide27.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45.sv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53.sv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54.sv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4160520" cy="6858000"/>
          </a:xfrm>
          <a:prstGeom prst="rect">
            <a:avLst/>
          </a:prstGeom>
          <a:solidFill>
            <a:srgbClr val="0B3B4A">
              <a:alpha val="92000"/>
            </a:srgbClr>
          </a:solidFill>
          <a:ln w="12700">
            <a:solidFill>
              <a:srgbClr val="0B3B4A"/>
            </a:solidFill>
            <a:prstDash val="solid"/>
          </a:ln>
        </p:spPr>
      </p:sp>
      <p:sp>
        <p:nvSpPr>
          <p:cNvPr id="3" name="Shape 1"/>
          <p:cNvSpPr/>
          <p:nvPr/>
        </p:nvSpPr>
        <p:spPr>
          <a:xfrm rot="900000">
            <a:off x="8183880" y="-594360"/>
            <a:ext cx="4480560" cy="4480560"/>
          </a:xfrm>
          <a:prstGeom prst="arc">
            <a:avLst/>
          </a:prstGeom>
          <a:solidFill>
            <a:srgbClr val="164E63">
              <a:alpha val="75000"/>
            </a:srgbClr>
          </a:solidFill>
          <a:ln w="12700">
            <a:solidFill>
              <a:srgbClr val="164E63">
                <a:alpha val="0"/>
              </a:srgbClr>
            </a:solidFill>
            <a:prstDash val="solid"/>
          </a:ln>
        </p:spPr>
      </p:sp>
      <p:sp>
        <p:nvSpPr>
          <p:cNvPr id="4" name="Shape 2"/>
          <p:cNvSpPr/>
          <p:nvPr/>
        </p:nvSpPr>
        <p:spPr>
          <a:xfrm>
            <a:off x="8759952" y="4526280"/>
            <a:ext cx="2377440" cy="2377440"/>
          </a:xfrm>
          <a:prstGeom prst="ellipse">
            <a:avLst/>
          </a:prstGeom>
          <a:solidFill>
            <a:srgbClr val="0E7490">
              <a:alpha val="45000"/>
            </a:srgbClr>
          </a:solidFill>
          <a:ln w="12700">
            <a:solidFill>
              <a:srgbClr val="0E7490">
                <a:alpha val="0"/>
              </a:srgbClr>
            </a:solidFill>
            <a:prstDash val="solid"/>
          </a:ln>
        </p:spPr>
      </p:sp>
      <p:sp>
        <p:nvSpPr>
          <p:cNvPr id="5" name="Shape 3"/>
          <p:cNvSpPr/>
          <p:nvPr/>
        </p:nvSpPr>
        <p:spPr>
          <a:xfrm>
            <a:off x="9281160" y="5047488"/>
            <a:ext cx="1325880" cy="1325880"/>
          </a:xfrm>
          <a:prstGeom prst="ellipse">
            <a:avLst/>
          </a:prstGeom>
          <a:solidFill>
            <a:srgbClr val="06B6D4">
              <a:alpha val="80000"/>
            </a:srgbClr>
          </a:solidFill>
          <a:ln w="12700">
            <a:solidFill>
              <a:srgbClr val="06B6D4">
                <a:alpha val="0"/>
              </a:srgbClr>
            </a:solidFill>
            <a:prstDash val="solid"/>
          </a:ln>
        </p:spPr>
      </p:sp>
      <p:pic>
        <p:nvPicPr>
          <p:cNvPr id="6"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77240" y="1298448"/>
            <a:ext cx="2651760" cy="2651760"/>
          </a:xfrm>
          <a:prstGeom prst="rect">
            <a:avLst/>
          </a:prstGeom>
        </p:spPr>
      </p:pic>
      <p:sp>
        <p:nvSpPr>
          <p:cNvPr id="7" name="Shape 4"/>
          <p:cNvSpPr/>
          <p:nvPr/>
        </p:nvSpPr>
        <p:spPr>
          <a:xfrm>
            <a:off x="621792" y="1143000"/>
            <a:ext cx="2971800" cy="2971800"/>
          </a:xfrm>
          <a:prstGeom prst="ellipse">
            <a:avLst/>
          </a:prstGeom>
          <a:solidFill>
            <a:srgbClr val="0E7490">
              <a:alpha val="22000"/>
            </a:srgbClr>
          </a:solidFill>
          <a:ln w="12700">
            <a:solidFill>
              <a:srgbClr val="0E7490">
                <a:alpha val="0"/>
              </a:srgbClr>
            </a:solidFill>
            <a:prstDash val="solid"/>
          </a:ln>
        </p:spPr>
      </p:sp>
      <p:sp>
        <p:nvSpPr>
          <p:cNvPr id="8" name="Text 5"/>
          <p:cNvSpPr/>
          <p:nvPr/>
        </p:nvSpPr>
        <p:spPr>
          <a:xfrm>
            <a:off x="4526280" y="1170432"/>
            <a:ext cx="6583680" cy="1600200"/>
          </a:xfrm>
          <a:prstGeom prst="rect">
            <a:avLst/>
          </a:prstGeom>
          <a:noFill/>
          <a:ln/>
        </p:spPr>
        <p:txBody>
          <a:bodyPr wrap="square" lIns="0" tIns="0" rIns="0" bIns="0" rtlCol="0" anchor="ctr">
            <a:normAutofit/>
          </a:bodyPr>
          <a:lstStyle/>
          <a:p>
            <a:pPr marL="0" indent="0">
              <a:buNone/>
            </a:pPr>
            <a:r>
              <a:rPr lang="en-US" sz="3000" b="1" dirty="0">
                <a:solidFill>
                  <a:srgbClr val="FFFFFF"/>
                </a:solidFill>
                <a:latin typeface="Arial" pitchFamily="34" charset="0"/>
                <a:ea typeface="Arial" pitchFamily="34" charset="-122"/>
                <a:cs typeface="Arial" pitchFamily="34" charset="-120"/>
              </a:rPr>
              <a:t>K3 DALAM</a:t>
            </a:r>
            <a:endParaRPr lang="en-US" sz="3000" dirty="0"/>
          </a:p>
          <a:p>
            <a:pPr marL="0" indent="0">
              <a:buNone/>
            </a:pPr>
            <a:r>
              <a:rPr lang="en-US" sz="3000" b="1" dirty="0">
                <a:solidFill>
                  <a:srgbClr val="FFFFFF"/>
                </a:solidFill>
                <a:latin typeface="Arial" pitchFamily="34" charset="0"/>
                <a:ea typeface="Arial" pitchFamily="34" charset="-122"/>
                <a:cs typeface="Arial" pitchFamily="34" charset="-120"/>
              </a:rPr>
              <a:t>KEPERAWATAN</a:t>
            </a:r>
            <a:endParaRPr lang="en-US" sz="3000" dirty="0"/>
          </a:p>
        </p:txBody>
      </p:sp>
      <p:sp>
        <p:nvSpPr>
          <p:cNvPr id="9" name="Text 6"/>
          <p:cNvSpPr/>
          <p:nvPr/>
        </p:nvSpPr>
        <p:spPr>
          <a:xfrm>
            <a:off x="4553712" y="3017520"/>
            <a:ext cx="6263640" cy="411480"/>
          </a:xfrm>
          <a:prstGeom prst="rect">
            <a:avLst/>
          </a:prstGeom>
          <a:noFill/>
          <a:ln/>
        </p:spPr>
        <p:txBody>
          <a:bodyPr wrap="square" lIns="0" tIns="0" rIns="0" bIns="0" rtlCol="0" anchor="ctr">
            <a:normAutofit/>
          </a:bodyPr>
          <a:lstStyle/>
          <a:p>
            <a:pPr marL="0" indent="0">
              <a:buNone/>
            </a:pPr>
            <a:r>
              <a:rPr lang="en-US" sz="1600" dirty="0">
                <a:solidFill>
                  <a:srgbClr val="CFFAFE"/>
                </a:solidFill>
                <a:latin typeface="Arial" pitchFamily="34" charset="0"/>
                <a:ea typeface="Arial" pitchFamily="34" charset="-122"/>
                <a:cs typeface="Arial" pitchFamily="34" charset="-120"/>
              </a:rPr>
              <a:t>Ruang Lingkup • Pentingnya • Tujuan • Manfaat • Etika</a:t>
            </a:r>
            <a:endParaRPr lang="en-US" sz="1600" dirty="0"/>
          </a:p>
        </p:txBody>
      </p:sp>
      <p:sp>
        <p:nvSpPr>
          <p:cNvPr id="10" name="Shape 7"/>
          <p:cNvSpPr/>
          <p:nvPr/>
        </p:nvSpPr>
        <p:spPr>
          <a:xfrm>
            <a:off x="4553712" y="3675888"/>
            <a:ext cx="5349240" cy="0"/>
          </a:xfrm>
          <a:prstGeom prst="line">
            <a:avLst/>
          </a:prstGeom>
          <a:noFill/>
          <a:ln w="27940">
            <a:solidFill>
              <a:srgbClr val="67E8F9"/>
            </a:solidFill>
            <a:prstDash val="solid"/>
          </a:ln>
        </p:spPr>
      </p:sp>
      <p:sp>
        <p:nvSpPr>
          <p:cNvPr id="11" name="Text 8"/>
          <p:cNvSpPr/>
          <p:nvPr/>
        </p:nvSpPr>
        <p:spPr>
          <a:xfrm>
            <a:off x="4553712" y="3950208"/>
            <a:ext cx="6309360" cy="868680"/>
          </a:xfrm>
          <a:prstGeom prst="rect">
            <a:avLst/>
          </a:prstGeom>
          <a:noFill/>
          <a:ln/>
        </p:spPr>
        <p:txBody>
          <a:bodyPr wrap="square" lIns="0" tIns="0" rIns="0" bIns="0" rtlCol="0" anchor="ctr">
            <a:normAutofit/>
          </a:bodyPr>
          <a:lstStyle/>
          <a:p>
            <a:pPr marL="0" indent="0">
              <a:buNone/>
            </a:pPr>
            <a:r>
              <a:rPr lang="en-US" sz="1800" dirty="0">
                <a:solidFill>
                  <a:srgbClr val="E2E8F0"/>
                </a:solidFill>
                <a:latin typeface="Arial" pitchFamily="34" charset="0"/>
                <a:ea typeface="Arial" pitchFamily="34" charset="-122"/>
                <a:cs typeface="Arial" pitchFamily="34" charset="-120"/>
              </a:rPr>
              <a:t>Keselamatan perawat adalah fondasi untuk pelayanan yang aman, bermutu, dan beretika.</a:t>
            </a:r>
            <a:endParaRPr lang="en-US" sz="1800" dirty="0"/>
          </a:p>
        </p:txBody>
      </p:sp>
      <p:sp>
        <p:nvSpPr>
          <p:cNvPr id="12" name="Text 9"/>
          <p:cNvSpPr/>
          <p:nvPr/>
        </p:nvSpPr>
        <p:spPr>
          <a:xfrm>
            <a:off x="4553712" y="5925312"/>
            <a:ext cx="3657600" cy="274320"/>
          </a:xfrm>
          <a:prstGeom prst="rect">
            <a:avLst/>
          </a:prstGeom>
          <a:noFill/>
          <a:ln/>
        </p:spPr>
        <p:txBody>
          <a:bodyPr wrap="square" lIns="0" tIns="0" rIns="0" bIns="0" rtlCol="0" anchor="ctr"/>
          <a:lstStyle/>
          <a:p>
            <a:pPr marL="0" indent="0">
              <a:buNone/>
            </a:pPr>
            <a:r>
              <a:rPr lang="en-US" sz="1050" dirty="0">
                <a:solidFill>
                  <a:srgbClr val="94A3B8"/>
                </a:solidFill>
                <a:latin typeface="Arial" pitchFamily="34" charset="0"/>
                <a:ea typeface="Arial" pitchFamily="34" charset="-122"/>
                <a:cs typeface="Arial" pitchFamily="34" charset="-120"/>
              </a:rPr>
              <a:t>Materi pembelajaran — 30 slide</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566928" y="347472"/>
            <a:ext cx="1417320" cy="310896"/>
          </a:xfrm>
          <a:prstGeom prst="roundRect">
            <a:avLst>
              <a:gd name="adj" fmla="val 23529"/>
            </a:avLst>
          </a:prstGeom>
          <a:solidFill>
            <a:srgbClr val="ECFEFF"/>
          </a:solidFill>
          <a:ln w="12700">
            <a:solidFill>
              <a:srgbClr val="ECFEFF"/>
            </a:solidFill>
            <a:prstDash val="solid"/>
          </a:ln>
        </p:spPr>
      </p:sp>
      <p:sp>
        <p:nvSpPr>
          <p:cNvPr id="3" name="Text 1"/>
          <p:cNvSpPr/>
          <p:nvPr/>
        </p:nvSpPr>
        <p:spPr>
          <a:xfrm>
            <a:off x="694944" y="429768"/>
            <a:ext cx="1170432" cy="128016"/>
          </a:xfrm>
          <a:prstGeom prst="rect">
            <a:avLst/>
          </a:prstGeom>
          <a:noFill/>
          <a:ln/>
        </p:spPr>
        <p:txBody>
          <a:bodyPr wrap="square" lIns="0" tIns="0" rIns="0" bIns="0" rtlCol="0" anchor="ctr"/>
          <a:lstStyle/>
          <a:p>
            <a:pPr marL="0" indent="0" algn="ctr">
              <a:buNone/>
            </a:pPr>
            <a:r>
              <a:rPr lang="en-US" sz="900" b="1" dirty="0">
                <a:solidFill>
                  <a:srgbClr val="0E7490"/>
                </a:solidFill>
                <a:latin typeface="Arial" pitchFamily="34" charset="0"/>
                <a:ea typeface="Arial" pitchFamily="34" charset="-122"/>
                <a:cs typeface="Arial" pitchFamily="34" charset="-120"/>
              </a:rPr>
              <a:t>ORIENTASI</a:t>
            </a:r>
            <a:endParaRPr lang="en-US" sz="900" dirty="0"/>
          </a:p>
        </p:txBody>
      </p:sp>
      <p:sp>
        <p:nvSpPr>
          <p:cNvPr id="4" name="Text 2"/>
          <p:cNvSpPr/>
          <p:nvPr/>
        </p:nvSpPr>
        <p:spPr>
          <a:xfrm>
            <a:off x="566928" y="777240"/>
            <a:ext cx="10972800" cy="566928"/>
          </a:xfrm>
          <a:prstGeom prst="rect">
            <a:avLst/>
          </a:prstGeom>
          <a:noFill/>
          <a:ln/>
        </p:spPr>
        <p:txBody>
          <a:bodyPr wrap="square" lIns="0" tIns="0" rIns="0" bIns="0" rtlCol="0" anchor="ctr">
            <a:normAutofit/>
          </a:bodyPr>
          <a:lstStyle/>
          <a:p>
            <a:pPr marL="0" indent="0">
              <a:buNone/>
            </a:pPr>
            <a:r>
              <a:rPr lang="en-US" sz="2700" b="1" dirty="0">
                <a:solidFill>
                  <a:srgbClr val="0F172A"/>
                </a:solidFill>
                <a:latin typeface="Arial" pitchFamily="34" charset="0"/>
                <a:ea typeface="Arial" pitchFamily="34" charset="-122"/>
                <a:cs typeface="Arial" pitchFamily="34" charset="-120"/>
              </a:rPr>
              <a:t>Capaian Pembelajaran</a:t>
            </a:r>
            <a:endParaRPr lang="en-US" sz="2700" dirty="0"/>
          </a:p>
        </p:txBody>
      </p:sp>
      <p:sp>
        <p:nvSpPr>
          <p:cNvPr id="5" name="Text 3"/>
          <p:cNvSpPr/>
          <p:nvPr/>
        </p:nvSpPr>
        <p:spPr>
          <a:xfrm>
            <a:off x="566928" y="1371600"/>
            <a:ext cx="10881360" cy="384048"/>
          </a:xfrm>
          <a:prstGeom prst="rect">
            <a:avLst/>
          </a:prstGeom>
          <a:noFill/>
          <a:ln/>
        </p:spPr>
        <p:txBody>
          <a:bodyPr wrap="square" lIns="0" tIns="0" rIns="0" bIns="0" rtlCol="0" anchor="ctr">
            <a:normAutofit/>
          </a:bodyPr>
          <a:lstStyle/>
          <a:p>
            <a:pPr marL="0" indent="0">
              <a:buNone/>
            </a:pPr>
            <a:r>
              <a:rPr lang="en-US" sz="1250" dirty="0">
                <a:solidFill>
                  <a:srgbClr val="64748B"/>
                </a:solidFill>
                <a:latin typeface="Arial" pitchFamily="34" charset="0"/>
                <a:ea typeface="Arial" pitchFamily="34" charset="-122"/>
                <a:cs typeface="Arial" pitchFamily="34" charset="-120"/>
              </a:rPr>
              <a:t>Setelah sesi ini, peserta diharapkan mampu menjelaskan dan menerapkan prinsip dasar K3 pada praktik keperawatan.</a:t>
            </a:r>
            <a:endParaRPr lang="en-US" sz="1250" dirty="0"/>
          </a:p>
        </p:txBody>
      </p:sp>
      <p:sp>
        <p:nvSpPr>
          <p:cNvPr id="6" name="Shape 4"/>
          <p:cNvSpPr/>
          <p:nvPr/>
        </p:nvSpPr>
        <p:spPr>
          <a:xfrm>
            <a:off x="868680" y="1892808"/>
            <a:ext cx="475488" cy="475488"/>
          </a:xfrm>
          <a:prstGeom prst="ellipse">
            <a:avLst/>
          </a:prstGeom>
          <a:solidFill>
            <a:srgbClr val="0E7490"/>
          </a:solidFill>
          <a:ln w="12700">
            <a:solidFill>
              <a:srgbClr val="0E7490"/>
            </a:solidFill>
            <a:prstDash val="solid"/>
          </a:ln>
        </p:spPr>
      </p:sp>
      <p:sp>
        <p:nvSpPr>
          <p:cNvPr id="7" name="Text 5"/>
          <p:cNvSpPr/>
          <p:nvPr/>
        </p:nvSpPr>
        <p:spPr>
          <a:xfrm>
            <a:off x="868680" y="2002536"/>
            <a:ext cx="475488" cy="164592"/>
          </a:xfrm>
          <a:prstGeom prst="rect">
            <a:avLst/>
          </a:prstGeom>
          <a:noFill/>
          <a:ln/>
        </p:spPr>
        <p:txBody>
          <a:bodyPr wrap="square" lIns="0" tIns="0" rIns="0" bIns="0" rtlCol="0" anchor="ctr"/>
          <a:lstStyle/>
          <a:p>
            <a:pPr marL="0" indent="0" algn="ctr">
              <a:buNone/>
            </a:pPr>
            <a:r>
              <a:rPr lang="en-US" sz="1200" b="1" dirty="0">
                <a:solidFill>
                  <a:srgbClr val="FFFFFF"/>
                </a:solidFill>
              </a:rPr>
              <a:t>1</a:t>
            </a:r>
            <a:endParaRPr lang="en-US" sz="1200" dirty="0"/>
          </a:p>
        </p:txBody>
      </p:sp>
      <p:sp>
        <p:nvSpPr>
          <p:cNvPr id="8" name="Text 6"/>
          <p:cNvSpPr/>
          <p:nvPr/>
        </p:nvSpPr>
        <p:spPr>
          <a:xfrm>
            <a:off x="1572768" y="1874520"/>
            <a:ext cx="9601200" cy="502920"/>
          </a:xfrm>
          <a:prstGeom prst="rect">
            <a:avLst/>
          </a:prstGeom>
          <a:noFill/>
          <a:ln/>
        </p:spPr>
        <p:txBody>
          <a:bodyPr wrap="square" lIns="0" tIns="0" rIns="0" bIns="0" rtlCol="0" anchor="ctr">
            <a:normAutofit/>
          </a:bodyPr>
          <a:lstStyle/>
          <a:p>
            <a:pPr marL="0" indent="0">
              <a:buNone/>
            </a:pPr>
            <a:r>
              <a:rPr lang="en-US" sz="1630" dirty="0">
                <a:solidFill>
                  <a:srgbClr val="334155"/>
                </a:solidFill>
                <a:latin typeface="Arial" pitchFamily="34" charset="0"/>
                <a:ea typeface="Arial" pitchFamily="34" charset="-122"/>
                <a:cs typeface="Arial" pitchFamily="34" charset="-120"/>
              </a:rPr>
              <a:t>Menjelaskan konsep K3 dan kaitannya dengan praktik keperawatan.</a:t>
            </a:r>
            <a:endParaRPr lang="en-US" sz="1630" dirty="0"/>
          </a:p>
        </p:txBody>
      </p:sp>
      <p:sp>
        <p:nvSpPr>
          <p:cNvPr id="9" name="Shape 7"/>
          <p:cNvSpPr/>
          <p:nvPr/>
        </p:nvSpPr>
        <p:spPr>
          <a:xfrm>
            <a:off x="868680" y="2715768"/>
            <a:ext cx="475488" cy="475488"/>
          </a:xfrm>
          <a:prstGeom prst="ellipse">
            <a:avLst/>
          </a:prstGeom>
          <a:solidFill>
            <a:srgbClr val="0E7490"/>
          </a:solidFill>
          <a:ln w="12700">
            <a:solidFill>
              <a:srgbClr val="0E7490"/>
            </a:solidFill>
            <a:prstDash val="solid"/>
          </a:ln>
        </p:spPr>
      </p:sp>
      <p:sp>
        <p:nvSpPr>
          <p:cNvPr id="10" name="Text 8"/>
          <p:cNvSpPr/>
          <p:nvPr/>
        </p:nvSpPr>
        <p:spPr>
          <a:xfrm>
            <a:off x="868680" y="2825496"/>
            <a:ext cx="475488" cy="164592"/>
          </a:xfrm>
          <a:prstGeom prst="rect">
            <a:avLst/>
          </a:prstGeom>
          <a:noFill/>
          <a:ln/>
        </p:spPr>
        <p:txBody>
          <a:bodyPr wrap="square" lIns="0" tIns="0" rIns="0" bIns="0" rtlCol="0" anchor="ctr"/>
          <a:lstStyle/>
          <a:p>
            <a:pPr marL="0" indent="0" algn="ctr">
              <a:buNone/>
            </a:pPr>
            <a:r>
              <a:rPr lang="en-US" sz="1200" b="1" dirty="0">
                <a:solidFill>
                  <a:srgbClr val="FFFFFF"/>
                </a:solidFill>
              </a:rPr>
              <a:t>2</a:t>
            </a:r>
            <a:endParaRPr lang="en-US" sz="1200" dirty="0"/>
          </a:p>
        </p:txBody>
      </p:sp>
      <p:sp>
        <p:nvSpPr>
          <p:cNvPr id="11" name="Text 9"/>
          <p:cNvSpPr/>
          <p:nvPr/>
        </p:nvSpPr>
        <p:spPr>
          <a:xfrm>
            <a:off x="1572768" y="2697480"/>
            <a:ext cx="9601200" cy="502920"/>
          </a:xfrm>
          <a:prstGeom prst="rect">
            <a:avLst/>
          </a:prstGeom>
          <a:noFill/>
          <a:ln/>
        </p:spPr>
        <p:txBody>
          <a:bodyPr wrap="square" lIns="0" tIns="0" rIns="0" bIns="0" rtlCol="0" anchor="ctr">
            <a:normAutofit/>
          </a:bodyPr>
          <a:lstStyle/>
          <a:p>
            <a:pPr marL="0" indent="0">
              <a:buNone/>
            </a:pPr>
            <a:r>
              <a:rPr lang="en-US" sz="1630" dirty="0">
                <a:solidFill>
                  <a:srgbClr val="334155"/>
                </a:solidFill>
                <a:latin typeface="Arial" pitchFamily="34" charset="0"/>
                <a:ea typeface="Arial" pitchFamily="34" charset="-122"/>
                <a:cs typeface="Arial" pitchFamily="34" charset="-120"/>
              </a:rPr>
              <a:t>Mengidentifikasi ruang lingkup serta bahaya kerja utama pada perawat.</a:t>
            </a:r>
            <a:endParaRPr lang="en-US" sz="1630" dirty="0"/>
          </a:p>
        </p:txBody>
      </p:sp>
      <p:sp>
        <p:nvSpPr>
          <p:cNvPr id="12" name="Shape 10"/>
          <p:cNvSpPr/>
          <p:nvPr/>
        </p:nvSpPr>
        <p:spPr>
          <a:xfrm>
            <a:off x="868680" y="3538728"/>
            <a:ext cx="475488" cy="475488"/>
          </a:xfrm>
          <a:prstGeom prst="ellipse">
            <a:avLst/>
          </a:prstGeom>
          <a:solidFill>
            <a:srgbClr val="0E7490"/>
          </a:solidFill>
          <a:ln w="12700">
            <a:solidFill>
              <a:srgbClr val="0E7490"/>
            </a:solidFill>
            <a:prstDash val="solid"/>
          </a:ln>
        </p:spPr>
      </p:sp>
      <p:sp>
        <p:nvSpPr>
          <p:cNvPr id="13" name="Text 11"/>
          <p:cNvSpPr/>
          <p:nvPr/>
        </p:nvSpPr>
        <p:spPr>
          <a:xfrm>
            <a:off x="868680" y="3648456"/>
            <a:ext cx="475488" cy="164592"/>
          </a:xfrm>
          <a:prstGeom prst="rect">
            <a:avLst/>
          </a:prstGeom>
          <a:noFill/>
          <a:ln/>
        </p:spPr>
        <p:txBody>
          <a:bodyPr wrap="square" lIns="0" tIns="0" rIns="0" bIns="0" rtlCol="0" anchor="ctr"/>
          <a:lstStyle/>
          <a:p>
            <a:pPr marL="0" indent="0" algn="ctr">
              <a:buNone/>
            </a:pPr>
            <a:r>
              <a:rPr lang="en-US" sz="1200" b="1" dirty="0">
                <a:solidFill>
                  <a:srgbClr val="FFFFFF"/>
                </a:solidFill>
              </a:rPr>
              <a:t>3</a:t>
            </a:r>
            <a:endParaRPr lang="en-US" sz="1200" dirty="0"/>
          </a:p>
        </p:txBody>
      </p:sp>
      <p:sp>
        <p:nvSpPr>
          <p:cNvPr id="14" name="Text 12"/>
          <p:cNvSpPr/>
          <p:nvPr/>
        </p:nvSpPr>
        <p:spPr>
          <a:xfrm>
            <a:off x="1572768" y="3520440"/>
            <a:ext cx="9601200" cy="502920"/>
          </a:xfrm>
          <a:prstGeom prst="rect">
            <a:avLst/>
          </a:prstGeom>
          <a:noFill/>
          <a:ln/>
        </p:spPr>
        <p:txBody>
          <a:bodyPr wrap="square" lIns="0" tIns="0" rIns="0" bIns="0" rtlCol="0" anchor="ctr">
            <a:normAutofit/>
          </a:bodyPr>
          <a:lstStyle/>
          <a:p>
            <a:pPr marL="0" indent="0">
              <a:buNone/>
            </a:pPr>
            <a:r>
              <a:rPr lang="en-US" sz="1630" dirty="0">
                <a:solidFill>
                  <a:srgbClr val="334155"/>
                </a:solidFill>
                <a:latin typeface="Arial" pitchFamily="34" charset="0"/>
                <a:ea typeface="Arial" pitchFamily="34" charset="-122"/>
                <a:cs typeface="Arial" pitchFamily="34" charset="-120"/>
              </a:rPr>
              <a:t>Menerapkan prinsip pengendalian risiko, APD, dan pelaporan insiden.</a:t>
            </a:r>
            <a:endParaRPr lang="en-US" sz="1630" dirty="0"/>
          </a:p>
        </p:txBody>
      </p:sp>
      <p:sp>
        <p:nvSpPr>
          <p:cNvPr id="15" name="Shape 13"/>
          <p:cNvSpPr/>
          <p:nvPr/>
        </p:nvSpPr>
        <p:spPr>
          <a:xfrm>
            <a:off x="868680" y="4361688"/>
            <a:ext cx="475488" cy="475488"/>
          </a:xfrm>
          <a:prstGeom prst="ellipse">
            <a:avLst/>
          </a:prstGeom>
          <a:solidFill>
            <a:srgbClr val="2563EB"/>
          </a:solidFill>
          <a:ln w="12700">
            <a:solidFill>
              <a:srgbClr val="2563EB"/>
            </a:solidFill>
            <a:prstDash val="solid"/>
          </a:ln>
        </p:spPr>
      </p:sp>
      <p:sp>
        <p:nvSpPr>
          <p:cNvPr id="16" name="Text 14"/>
          <p:cNvSpPr/>
          <p:nvPr/>
        </p:nvSpPr>
        <p:spPr>
          <a:xfrm>
            <a:off x="868680" y="4471416"/>
            <a:ext cx="475488" cy="164592"/>
          </a:xfrm>
          <a:prstGeom prst="rect">
            <a:avLst/>
          </a:prstGeom>
          <a:noFill/>
          <a:ln/>
        </p:spPr>
        <p:txBody>
          <a:bodyPr wrap="square" lIns="0" tIns="0" rIns="0" bIns="0" rtlCol="0" anchor="ctr"/>
          <a:lstStyle/>
          <a:p>
            <a:pPr marL="0" indent="0" algn="ctr">
              <a:buNone/>
            </a:pPr>
            <a:r>
              <a:rPr lang="en-US" sz="1200" b="1" dirty="0">
                <a:solidFill>
                  <a:srgbClr val="FFFFFF"/>
                </a:solidFill>
              </a:rPr>
              <a:t>4</a:t>
            </a:r>
            <a:endParaRPr lang="en-US" sz="1200" dirty="0"/>
          </a:p>
        </p:txBody>
      </p:sp>
      <p:sp>
        <p:nvSpPr>
          <p:cNvPr id="17" name="Text 15"/>
          <p:cNvSpPr/>
          <p:nvPr/>
        </p:nvSpPr>
        <p:spPr>
          <a:xfrm>
            <a:off x="1572768" y="4343400"/>
            <a:ext cx="9601200" cy="502920"/>
          </a:xfrm>
          <a:prstGeom prst="rect">
            <a:avLst/>
          </a:prstGeom>
          <a:noFill/>
          <a:ln/>
        </p:spPr>
        <p:txBody>
          <a:bodyPr wrap="square" lIns="0" tIns="0" rIns="0" bIns="0" rtlCol="0" anchor="ctr">
            <a:normAutofit/>
          </a:bodyPr>
          <a:lstStyle/>
          <a:p>
            <a:pPr marL="0" indent="0">
              <a:buNone/>
            </a:pPr>
            <a:r>
              <a:rPr lang="en-US" sz="1630" dirty="0">
                <a:solidFill>
                  <a:srgbClr val="334155"/>
                </a:solidFill>
                <a:latin typeface="Arial" pitchFamily="34" charset="0"/>
                <a:ea typeface="Arial" pitchFamily="34" charset="-122"/>
                <a:cs typeface="Arial" pitchFamily="34" charset="-120"/>
              </a:rPr>
              <a:t>Menjelaskan tujuan dan manfaat K3 bagi perawat, pasien, dan organisasi.</a:t>
            </a:r>
            <a:endParaRPr lang="en-US" sz="1630" dirty="0"/>
          </a:p>
        </p:txBody>
      </p:sp>
      <p:sp>
        <p:nvSpPr>
          <p:cNvPr id="18" name="Shape 16"/>
          <p:cNvSpPr/>
          <p:nvPr/>
        </p:nvSpPr>
        <p:spPr>
          <a:xfrm>
            <a:off x="868680" y="5184648"/>
            <a:ext cx="475488" cy="475488"/>
          </a:xfrm>
          <a:prstGeom prst="ellipse">
            <a:avLst/>
          </a:prstGeom>
          <a:solidFill>
            <a:srgbClr val="2563EB"/>
          </a:solidFill>
          <a:ln w="12700">
            <a:solidFill>
              <a:srgbClr val="2563EB"/>
            </a:solidFill>
            <a:prstDash val="solid"/>
          </a:ln>
        </p:spPr>
      </p:sp>
      <p:sp>
        <p:nvSpPr>
          <p:cNvPr id="19" name="Text 17"/>
          <p:cNvSpPr/>
          <p:nvPr/>
        </p:nvSpPr>
        <p:spPr>
          <a:xfrm>
            <a:off x="868680" y="5294376"/>
            <a:ext cx="475488" cy="164592"/>
          </a:xfrm>
          <a:prstGeom prst="rect">
            <a:avLst/>
          </a:prstGeom>
          <a:noFill/>
          <a:ln/>
        </p:spPr>
        <p:txBody>
          <a:bodyPr wrap="square" lIns="0" tIns="0" rIns="0" bIns="0" rtlCol="0" anchor="ctr"/>
          <a:lstStyle/>
          <a:p>
            <a:pPr marL="0" indent="0" algn="ctr">
              <a:buNone/>
            </a:pPr>
            <a:r>
              <a:rPr lang="en-US" sz="1200" b="1" dirty="0">
                <a:solidFill>
                  <a:srgbClr val="FFFFFF"/>
                </a:solidFill>
              </a:rPr>
              <a:t>5</a:t>
            </a:r>
            <a:endParaRPr lang="en-US" sz="1200" dirty="0"/>
          </a:p>
        </p:txBody>
      </p:sp>
      <p:sp>
        <p:nvSpPr>
          <p:cNvPr id="20" name="Text 18"/>
          <p:cNvSpPr/>
          <p:nvPr/>
        </p:nvSpPr>
        <p:spPr>
          <a:xfrm>
            <a:off x="1572768" y="5166360"/>
            <a:ext cx="9601200" cy="502920"/>
          </a:xfrm>
          <a:prstGeom prst="rect">
            <a:avLst/>
          </a:prstGeom>
          <a:noFill/>
          <a:ln/>
        </p:spPr>
        <p:txBody>
          <a:bodyPr wrap="square" lIns="0" tIns="0" rIns="0" bIns="0" rtlCol="0" anchor="ctr">
            <a:normAutofit/>
          </a:bodyPr>
          <a:lstStyle/>
          <a:p>
            <a:pPr marL="0" indent="0">
              <a:buNone/>
            </a:pPr>
            <a:r>
              <a:rPr lang="en-US" sz="1630" dirty="0">
                <a:solidFill>
                  <a:srgbClr val="334155"/>
                </a:solidFill>
                <a:latin typeface="Arial" pitchFamily="34" charset="0"/>
                <a:ea typeface="Arial" pitchFamily="34" charset="-122"/>
                <a:cs typeface="Arial" pitchFamily="34" charset="-120"/>
              </a:rPr>
              <a:t>Menerapkan pertimbangan etika ketika menghadapi situasi kerja tidak aman.</a:t>
            </a:r>
            <a:endParaRPr lang="en-US" sz="1630" dirty="0"/>
          </a:p>
        </p:txBody>
      </p:sp>
      <p:sp>
        <p:nvSpPr>
          <p:cNvPr id="25" name="Slide Number Placeholder 0"/>
          <p:cNvSpPr>
            <a:spLocks noGrp="1"/>
          </p:cNvSpPr>
          <p:nvPr>
            <p:ph type="sldNum" sz="quarter" idx="4294967295"/>
          </p:nvPr>
        </p:nvSpPr>
        <p:spPr>
          <a:xfrm>
            <a:off x="11475720" y="6492240"/>
            <a:ext cx="320040"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64748B"/>
                </a:solidFill>
                <a:latin typeface="Arial"/>
                <a:ea typeface="Arial"/>
                <a:cs typeface="Aria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566928" y="347472"/>
            <a:ext cx="1417320" cy="310896"/>
          </a:xfrm>
          <a:prstGeom prst="roundRect">
            <a:avLst>
              <a:gd name="adj" fmla="val 23529"/>
            </a:avLst>
          </a:prstGeom>
          <a:solidFill>
            <a:srgbClr val="ECFEFF"/>
          </a:solidFill>
          <a:ln w="12700">
            <a:solidFill>
              <a:srgbClr val="ECFEFF"/>
            </a:solidFill>
            <a:prstDash val="solid"/>
          </a:ln>
        </p:spPr>
      </p:sp>
      <p:sp>
        <p:nvSpPr>
          <p:cNvPr id="3" name="Text 1"/>
          <p:cNvSpPr/>
          <p:nvPr/>
        </p:nvSpPr>
        <p:spPr>
          <a:xfrm>
            <a:off x="694944" y="429768"/>
            <a:ext cx="1170432" cy="128016"/>
          </a:xfrm>
          <a:prstGeom prst="rect">
            <a:avLst/>
          </a:prstGeom>
          <a:noFill/>
          <a:ln/>
        </p:spPr>
        <p:txBody>
          <a:bodyPr wrap="square" lIns="0" tIns="0" rIns="0" bIns="0" rtlCol="0" anchor="ctr"/>
          <a:lstStyle/>
          <a:p>
            <a:pPr marL="0" indent="0" algn="ctr">
              <a:buNone/>
            </a:pPr>
            <a:r>
              <a:rPr lang="en-US" sz="900" b="1" dirty="0">
                <a:solidFill>
                  <a:srgbClr val="0E7490"/>
                </a:solidFill>
                <a:latin typeface="Arial" pitchFamily="34" charset="0"/>
                <a:ea typeface="Arial" pitchFamily="34" charset="-122"/>
                <a:cs typeface="Arial" pitchFamily="34" charset="-120"/>
              </a:rPr>
              <a:t>ORIENTASI</a:t>
            </a:r>
            <a:endParaRPr lang="en-US" sz="900" dirty="0"/>
          </a:p>
        </p:txBody>
      </p:sp>
      <p:sp>
        <p:nvSpPr>
          <p:cNvPr id="4" name="Text 2"/>
          <p:cNvSpPr/>
          <p:nvPr/>
        </p:nvSpPr>
        <p:spPr>
          <a:xfrm>
            <a:off x="566928" y="777240"/>
            <a:ext cx="10972800" cy="566928"/>
          </a:xfrm>
          <a:prstGeom prst="rect">
            <a:avLst/>
          </a:prstGeom>
          <a:noFill/>
          <a:ln/>
        </p:spPr>
        <p:txBody>
          <a:bodyPr wrap="square" lIns="0" tIns="0" rIns="0" bIns="0" rtlCol="0" anchor="ctr">
            <a:normAutofit/>
          </a:bodyPr>
          <a:lstStyle/>
          <a:p>
            <a:pPr marL="0" indent="0">
              <a:buNone/>
            </a:pPr>
            <a:r>
              <a:rPr lang="en-US" sz="2700" b="1" dirty="0">
                <a:solidFill>
                  <a:srgbClr val="0F172A"/>
                </a:solidFill>
                <a:latin typeface="Arial" pitchFamily="34" charset="0"/>
                <a:ea typeface="Arial" pitchFamily="34" charset="-122"/>
                <a:cs typeface="Arial" pitchFamily="34" charset="-120"/>
              </a:rPr>
              <a:t>Mengapa K3 Penting bagi Perawat?</a:t>
            </a:r>
            <a:endParaRPr lang="en-US" sz="2700" dirty="0"/>
          </a:p>
        </p:txBody>
      </p:sp>
      <p:sp>
        <p:nvSpPr>
          <p:cNvPr id="5" name="Text 3"/>
          <p:cNvSpPr/>
          <p:nvPr/>
        </p:nvSpPr>
        <p:spPr>
          <a:xfrm>
            <a:off x="566928" y="1371600"/>
            <a:ext cx="10881360" cy="384048"/>
          </a:xfrm>
          <a:prstGeom prst="rect">
            <a:avLst/>
          </a:prstGeom>
          <a:noFill/>
          <a:ln/>
        </p:spPr>
        <p:txBody>
          <a:bodyPr wrap="square" lIns="0" tIns="0" rIns="0" bIns="0" rtlCol="0" anchor="ctr">
            <a:normAutofit/>
          </a:bodyPr>
          <a:lstStyle/>
          <a:p>
            <a:pPr marL="0" indent="0">
              <a:buNone/>
            </a:pPr>
            <a:r>
              <a:rPr lang="en-US" sz="1250" dirty="0">
                <a:solidFill>
                  <a:srgbClr val="64748B"/>
                </a:solidFill>
                <a:latin typeface="Arial" pitchFamily="34" charset="0"/>
                <a:ea typeface="Arial" pitchFamily="34" charset="-122"/>
                <a:cs typeface="Arial" pitchFamily="34" charset="-120"/>
              </a:rPr>
              <a:t>Perawat berada dekat dengan pasien, alat, obat, limbah, bahan kimia, dan tekanan kerja — sering kali secara simultan.</a:t>
            </a:r>
            <a:endParaRPr lang="en-US" sz="1250" dirty="0"/>
          </a:p>
        </p:txBody>
      </p:sp>
      <p:sp>
        <p:nvSpPr>
          <p:cNvPr id="6" name="Shape 4"/>
          <p:cNvSpPr/>
          <p:nvPr/>
        </p:nvSpPr>
        <p:spPr>
          <a:xfrm>
            <a:off x="640080" y="1874520"/>
            <a:ext cx="3429000" cy="1572768"/>
          </a:xfrm>
          <a:prstGeom prst="roundRect">
            <a:avLst>
              <a:gd name="adj" fmla="val 4651"/>
            </a:avLst>
          </a:prstGeom>
          <a:solidFill>
            <a:srgbClr val="FFFFFF"/>
          </a:solidFill>
          <a:ln w="10160">
            <a:solidFill>
              <a:srgbClr val="E5E7EB"/>
            </a:solidFill>
            <a:prstDash val="solid"/>
          </a:ln>
        </p:spPr>
      </p:sp>
      <p:sp>
        <p:nvSpPr>
          <p:cNvPr id="7" name="Shape 5"/>
          <p:cNvSpPr/>
          <p:nvPr/>
        </p:nvSpPr>
        <p:spPr>
          <a:xfrm>
            <a:off x="640080" y="1874520"/>
            <a:ext cx="73152" cy="1572768"/>
          </a:xfrm>
          <a:prstGeom prst="rect">
            <a:avLst/>
          </a:prstGeom>
          <a:solidFill>
            <a:srgbClr val="DC2626"/>
          </a:solidFill>
          <a:ln w="12700">
            <a:solidFill>
              <a:srgbClr val="DC2626"/>
            </a:solidFill>
            <a:prstDash val="solid"/>
          </a:ln>
        </p:spPr>
      </p:sp>
      <p:sp>
        <p:nvSpPr>
          <p:cNvPr id="8" name="Shape 6"/>
          <p:cNvSpPr/>
          <p:nvPr/>
        </p:nvSpPr>
        <p:spPr>
          <a:xfrm>
            <a:off x="841248" y="2075688"/>
            <a:ext cx="658368" cy="658368"/>
          </a:xfrm>
          <a:prstGeom prst="ellipse">
            <a:avLst/>
          </a:prstGeom>
          <a:solidFill>
            <a:srgbClr val="F8FAFC"/>
          </a:solidFill>
          <a:ln w="12700">
            <a:solidFill>
              <a:srgbClr val="F8FAFC"/>
            </a:solidFill>
            <a:prstDash val="solid"/>
          </a:ln>
        </p:spPr>
      </p:sp>
      <p:pic>
        <p:nvPicPr>
          <p:cNvPr id="9"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78408" y="2212848"/>
            <a:ext cx="329184" cy="329184"/>
          </a:xfrm>
          <a:prstGeom prst="rect">
            <a:avLst/>
          </a:prstGeom>
        </p:spPr>
      </p:pic>
      <p:sp>
        <p:nvSpPr>
          <p:cNvPr id="10" name="Text 7"/>
          <p:cNvSpPr/>
          <p:nvPr/>
        </p:nvSpPr>
        <p:spPr>
          <a:xfrm>
            <a:off x="1627632" y="2103120"/>
            <a:ext cx="2221992" cy="292608"/>
          </a:xfrm>
          <a:prstGeom prst="rect">
            <a:avLst/>
          </a:prstGeom>
          <a:noFill/>
          <a:ln/>
        </p:spPr>
        <p:txBody>
          <a:bodyPr wrap="square" lIns="0" tIns="0" rIns="0" bIns="0" rtlCol="0" anchor="ctr">
            <a:normAutofit/>
          </a:bodyPr>
          <a:lstStyle/>
          <a:p>
            <a:pPr marL="0" indent="0">
              <a:buNone/>
            </a:pPr>
            <a:r>
              <a:rPr lang="en-US" sz="1400" b="1" dirty="0">
                <a:solidFill>
                  <a:srgbClr val="0F172A"/>
                </a:solidFill>
                <a:latin typeface="Arial" pitchFamily="34" charset="0"/>
                <a:ea typeface="Arial" pitchFamily="34" charset="-122"/>
                <a:cs typeface="Arial" pitchFamily="34" charset="-120"/>
              </a:rPr>
              <a:t>Paparan biologis</a:t>
            </a:r>
            <a:endParaRPr lang="en-US" sz="1400" dirty="0"/>
          </a:p>
        </p:txBody>
      </p:sp>
      <p:sp>
        <p:nvSpPr>
          <p:cNvPr id="11" name="Text 8"/>
          <p:cNvSpPr/>
          <p:nvPr/>
        </p:nvSpPr>
        <p:spPr>
          <a:xfrm>
            <a:off x="896112" y="2624328"/>
            <a:ext cx="2916936" cy="640080"/>
          </a:xfrm>
          <a:prstGeom prst="rect">
            <a:avLst/>
          </a:prstGeom>
          <a:noFill/>
          <a:ln/>
        </p:spPr>
        <p:txBody>
          <a:bodyPr wrap="square" lIns="0" tIns="0" rIns="0" bIns="0" rtlCol="0" anchor="t">
            <a:normAutofit/>
          </a:bodyPr>
          <a:lstStyle/>
          <a:p>
            <a:pPr marL="0" indent="0">
              <a:buNone/>
            </a:pPr>
            <a:r>
              <a:rPr lang="en-US" sz="1050" dirty="0">
                <a:solidFill>
                  <a:srgbClr val="334155"/>
                </a:solidFill>
                <a:latin typeface="Arial" pitchFamily="34" charset="0"/>
                <a:ea typeface="Arial" pitchFamily="34" charset="-122"/>
                <a:cs typeface="Arial" pitchFamily="34" charset="-120"/>
              </a:rPr>
              <a:t>Darah/cairan tubuh, penyakit infeksi, aerosol.</a:t>
            </a:r>
            <a:endParaRPr lang="en-US" sz="1050" dirty="0"/>
          </a:p>
        </p:txBody>
      </p:sp>
      <p:sp>
        <p:nvSpPr>
          <p:cNvPr id="12" name="Shape 9"/>
          <p:cNvSpPr/>
          <p:nvPr/>
        </p:nvSpPr>
        <p:spPr>
          <a:xfrm>
            <a:off x="4434840" y="1874520"/>
            <a:ext cx="3429000" cy="1572768"/>
          </a:xfrm>
          <a:prstGeom prst="roundRect">
            <a:avLst>
              <a:gd name="adj" fmla="val 4651"/>
            </a:avLst>
          </a:prstGeom>
          <a:solidFill>
            <a:srgbClr val="FFFFFF"/>
          </a:solidFill>
          <a:ln w="10160">
            <a:solidFill>
              <a:srgbClr val="E5E7EB"/>
            </a:solidFill>
            <a:prstDash val="solid"/>
          </a:ln>
        </p:spPr>
      </p:sp>
      <p:sp>
        <p:nvSpPr>
          <p:cNvPr id="13" name="Shape 10"/>
          <p:cNvSpPr/>
          <p:nvPr/>
        </p:nvSpPr>
        <p:spPr>
          <a:xfrm>
            <a:off x="4434840" y="1874520"/>
            <a:ext cx="73152" cy="1572768"/>
          </a:xfrm>
          <a:prstGeom prst="rect">
            <a:avLst/>
          </a:prstGeom>
          <a:solidFill>
            <a:srgbClr val="D97706"/>
          </a:solidFill>
          <a:ln w="12700">
            <a:solidFill>
              <a:srgbClr val="D97706"/>
            </a:solidFill>
            <a:prstDash val="solid"/>
          </a:ln>
        </p:spPr>
      </p:sp>
      <p:sp>
        <p:nvSpPr>
          <p:cNvPr id="14" name="Shape 11"/>
          <p:cNvSpPr/>
          <p:nvPr/>
        </p:nvSpPr>
        <p:spPr>
          <a:xfrm>
            <a:off x="4636008" y="2075688"/>
            <a:ext cx="658368" cy="658368"/>
          </a:xfrm>
          <a:prstGeom prst="ellipse">
            <a:avLst/>
          </a:prstGeom>
          <a:solidFill>
            <a:srgbClr val="F8FAFC"/>
          </a:solidFill>
          <a:ln w="12700">
            <a:solidFill>
              <a:srgbClr val="F8FAFC"/>
            </a:solidFill>
            <a:prstDash val="solid"/>
          </a:ln>
        </p:spPr>
      </p:sp>
      <p:pic>
        <p:nvPicPr>
          <p:cNvPr id="15"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773168" y="2212848"/>
            <a:ext cx="329184" cy="329184"/>
          </a:xfrm>
          <a:prstGeom prst="rect">
            <a:avLst/>
          </a:prstGeom>
        </p:spPr>
      </p:pic>
      <p:sp>
        <p:nvSpPr>
          <p:cNvPr id="16" name="Text 12"/>
          <p:cNvSpPr/>
          <p:nvPr/>
        </p:nvSpPr>
        <p:spPr>
          <a:xfrm>
            <a:off x="5422392" y="2103120"/>
            <a:ext cx="2221992" cy="292608"/>
          </a:xfrm>
          <a:prstGeom prst="rect">
            <a:avLst/>
          </a:prstGeom>
          <a:noFill/>
          <a:ln/>
        </p:spPr>
        <p:txBody>
          <a:bodyPr wrap="square" lIns="0" tIns="0" rIns="0" bIns="0" rtlCol="0" anchor="ctr">
            <a:normAutofit/>
          </a:bodyPr>
          <a:lstStyle/>
          <a:p>
            <a:pPr marL="0" indent="0">
              <a:buNone/>
            </a:pPr>
            <a:r>
              <a:rPr lang="en-US" sz="1400" b="1" dirty="0">
                <a:solidFill>
                  <a:srgbClr val="0F172A"/>
                </a:solidFill>
                <a:latin typeface="Arial" pitchFamily="34" charset="0"/>
                <a:ea typeface="Arial" pitchFamily="34" charset="-122"/>
                <a:cs typeface="Arial" pitchFamily="34" charset="-120"/>
              </a:rPr>
              <a:t>Cedera kerja</a:t>
            </a:r>
            <a:endParaRPr lang="en-US" sz="1400" dirty="0"/>
          </a:p>
        </p:txBody>
      </p:sp>
      <p:sp>
        <p:nvSpPr>
          <p:cNvPr id="17" name="Text 13"/>
          <p:cNvSpPr/>
          <p:nvPr/>
        </p:nvSpPr>
        <p:spPr>
          <a:xfrm>
            <a:off x="4690872" y="2624328"/>
            <a:ext cx="2916936" cy="640080"/>
          </a:xfrm>
          <a:prstGeom prst="rect">
            <a:avLst/>
          </a:prstGeom>
          <a:noFill/>
          <a:ln/>
        </p:spPr>
        <p:txBody>
          <a:bodyPr wrap="square" lIns="0" tIns="0" rIns="0" bIns="0" rtlCol="0" anchor="t">
            <a:normAutofit/>
          </a:bodyPr>
          <a:lstStyle/>
          <a:p>
            <a:pPr marL="0" indent="0">
              <a:buNone/>
            </a:pPr>
            <a:r>
              <a:rPr lang="en-US" sz="1050" dirty="0">
                <a:solidFill>
                  <a:srgbClr val="334155"/>
                </a:solidFill>
                <a:latin typeface="Arial" pitchFamily="34" charset="0"/>
                <a:ea typeface="Arial" pitchFamily="34" charset="-122"/>
                <a:cs typeface="Arial" pitchFamily="34" charset="-120"/>
              </a:rPr>
              <a:t>Tusukan jarum, terpeleset, luka, sengatan listrik.</a:t>
            </a:r>
            <a:endParaRPr lang="en-US" sz="1050" dirty="0"/>
          </a:p>
        </p:txBody>
      </p:sp>
      <p:sp>
        <p:nvSpPr>
          <p:cNvPr id="18" name="Shape 14"/>
          <p:cNvSpPr/>
          <p:nvPr/>
        </p:nvSpPr>
        <p:spPr>
          <a:xfrm>
            <a:off x="8229600" y="1874520"/>
            <a:ext cx="3429000" cy="1572768"/>
          </a:xfrm>
          <a:prstGeom prst="roundRect">
            <a:avLst>
              <a:gd name="adj" fmla="val 4651"/>
            </a:avLst>
          </a:prstGeom>
          <a:solidFill>
            <a:srgbClr val="FFFFFF"/>
          </a:solidFill>
          <a:ln w="10160">
            <a:solidFill>
              <a:srgbClr val="E5E7EB"/>
            </a:solidFill>
            <a:prstDash val="solid"/>
          </a:ln>
        </p:spPr>
      </p:sp>
      <p:sp>
        <p:nvSpPr>
          <p:cNvPr id="19" name="Shape 15"/>
          <p:cNvSpPr/>
          <p:nvPr/>
        </p:nvSpPr>
        <p:spPr>
          <a:xfrm>
            <a:off x="8229600" y="1874520"/>
            <a:ext cx="73152" cy="1572768"/>
          </a:xfrm>
          <a:prstGeom prst="rect">
            <a:avLst/>
          </a:prstGeom>
          <a:solidFill>
            <a:srgbClr val="2563EB"/>
          </a:solidFill>
          <a:ln w="12700">
            <a:solidFill>
              <a:srgbClr val="2563EB"/>
            </a:solidFill>
            <a:prstDash val="solid"/>
          </a:ln>
        </p:spPr>
      </p:sp>
      <p:sp>
        <p:nvSpPr>
          <p:cNvPr id="20" name="Shape 16"/>
          <p:cNvSpPr/>
          <p:nvPr/>
        </p:nvSpPr>
        <p:spPr>
          <a:xfrm>
            <a:off x="8430768" y="2075688"/>
            <a:ext cx="658368" cy="658368"/>
          </a:xfrm>
          <a:prstGeom prst="ellipse">
            <a:avLst/>
          </a:prstGeom>
          <a:solidFill>
            <a:srgbClr val="F8FAFC"/>
          </a:solidFill>
          <a:ln w="12700">
            <a:solidFill>
              <a:srgbClr val="F8FAFC"/>
            </a:solidFill>
            <a:prstDash val="solid"/>
          </a:ln>
        </p:spPr>
      </p:sp>
      <p:pic>
        <p:nvPicPr>
          <p:cNvPr id="21"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567928" y="2212848"/>
            <a:ext cx="329184" cy="329184"/>
          </a:xfrm>
          <a:prstGeom prst="rect">
            <a:avLst/>
          </a:prstGeom>
        </p:spPr>
      </p:pic>
      <p:sp>
        <p:nvSpPr>
          <p:cNvPr id="22" name="Text 17"/>
          <p:cNvSpPr/>
          <p:nvPr/>
        </p:nvSpPr>
        <p:spPr>
          <a:xfrm>
            <a:off x="9217152" y="2103120"/>
            <a:ext cx="2221992" cy="292608"/>
          </a:xfrm>
          <a:prstGeom prst="rect">
            <a:avLst/>
          </a:prstGeom>
          <a:noFill/>
          <a:ln/>
        </p:spPr>
        <p:txBody>
          <a:bodyPr wrap="square" lIns="0" tIns="0" rIns="0" bIns="0" rtlCol="0" anchor="ctr">
            <a:normAutofit/>
          </a:bodyPr>
          <a:lstStyle/>
          <a:p>
            <a:pPr marL="0" indent="0">
              <a:buNone/>
            </a:pPr>
            <a:r>
              <a:rPr lang="en-US" sz="1400" b="1" dirty="0">
                <a:solidFill>
                  <a:srgbClr val="0F172A"/>
                </a:solidFill>
                <a:latin typeface="Arial" pitchFamily="34" charset="0"/>
                <a:ea typeface="Arial" pitchFamily="34" charset="-122"/>
                <a:cs typeface="Arial" pitchFamily="34" charset="-120"/>
              </a:rPr>
              <a:t>Beban ergonomi</a:t>
            </a:r>
            <a:endParaRPr lang="en-US" sz="1400" dirty="0"/>
          </a:p>
        </p:txBody>
      </p:sp>
      <p:sp>
        <p:nvSpPr>
          <p:cNvPr id="23" name="Text 18"/>
          <p:cNvSpPr/>
          <p:nvPr/>
        </p:nvSpPr>
        <p:spPr>
          <a:xfrm>
            <a:off x="8485632" y="2624328"/>
            <a:ext cx="2916936" cy="640080"/>
          </a:xfrm>
          <a:prstGeom prst="rect">
            <a:avLst/>
          </a:prstGeom>
          <a:noFill/>
          <a:ln/>
        </p:spPr>
        <p:txBody>
          <a:bodyPr wrap="square" lIns="0" tIns="0" rIns="0" bIns="0" rtlCol="0" anchor="t">
            <a:normAutofit/>
          </a:bodyPr>
          <a:lstStyle/>
          <a:p>
            <a:pPr marL="0" indent="0">
              <a:buNone/>
            </a:pPr>
            <a:r>
              <a:rPr lang="en-US" sz="1050" dirty="0">
                <a:solidFill>
                  <a:srgbClr val="334155"/>
                </a:solidFill>
                <a:latin typeface="Arial" pitchFamily="34" charset="0"/>
                <a:ea typeface="Arial" pitchFamily="34" charset="-122"/>
                <a:cs typeface="Arial" pitchFamily="34" charset="-120"/>
              </a:rPr>
              <a:t>Mengangkat, memindahkan, posisi statis dan postur janggal.</a:t>
            </a:r>
            <a:endParaRPr lang="en-US" sz="1050" dirty="0"/>
          </a:p>
        </p:txBody>
      </p:sp>
      <p:sp>
        <p:nvSpPr>
          <p:cNvPr id="24" name="Shape 19"/>
          <p:cNvSpPr/>
          <p:nvPr/>
        </p:nvSpPr>
        <p:spPr>
          <a:xfrm>
            <a:off x="2542032" y="3794760"/>
            <a:ext cx="3429000" cy="1572768"/>
          </a:xfrm>
          <a:prstGeom prst="roundRect">
            <a:avLst>
              <a:gd name="adj" fmla="val 4651"/>
            </a:avLst>
          </a:prstGeom>
          <a:solidFill>
            <a:srgbClr val="FFFFFF"/>
          </a:solidFill>
          <a:ln w="10160">
            <a:solidFill>
              <a:srgbClr val="E5E7EB"/>
            </a:solidFill>
            <a:prstDash val="solid"/>
          </a:ln>
        </p:spPr>
      </p:sp>
      <p:sp>
        <p:nvSpPr>
          <p:cNvPr id="25" name="Shape 20"/>
          <p:cNvSpPr/>
          <p:nvPr/>
        </p:nvSpPr>
        <p:spPr>
          <a:xfrm>
            <a:off x="2542032" y="3794760"/>
            <a:ext cx="73152" cy="1572768"/>
          </a:xfrm>
          <a:prstGeom prst="rect">
            <a:avLst/>
          </a:prstGeom>
          <a:solidFill>
            <a:srgbClr val="7C3AED"/>
          </a:solidFill>
          <a:ln w="12700">
            <a:solidFill>
              <a:srgbClr val="7C3AED"/>
            </a:solidFill>
            <a:prstDash val="solid"/>
          </a:ln>
        </p:spPr>
      </p:sp>
      <p:sp>
        <p:nvSpPr>
          <p:cNvPr id="26" name="Shape 21"/>
          <p:cNvSpPr/>
          <p:nvPr/>
        </p:nvSpPr>
        <p:spPr>
          <a:xfrm>
            <a:off x="2743200" y="3995928"/>
            <a:ext cx="658368" cy="658368"/>
          </a:xfrm>
          <a:prstGeom prst="ellipse">
            <a:avLst/>
          </a:prstGeom>
          <a:solidFill>
            <a:srgbClr val="F8FAFC"/>
          </a:solidFill>
          <a:ln w="12700">
            <a:solidFill>
              <a:srgbClr val="F8FAFC"/>
            </a:solidFill>
            <a:prstDash val="solid"/>
          </a:ln>
        </p:spPr>
      </p:sp>
      <p:pic>
        <p:nvPicPr>
          <p:cNvPr id="27"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2880360" y="4133088"/>
            <a:ext cx="329184" cy="329184"/>
          </a:xfrm>
          <a:prstGeom prst="rect">
            <a:avLst/>
          </a:prstGeom>
        </p:spPr>
      </p:pic>
      <p:sp>
        <p:nvSpPr>
          <p:cNvPr id="28" name="Text 22"/>
          <p:cNvSpPr/>
          <p:nvPr/>
        </p:nvSpPr>
        <p:spPr>
          <a:xfrm>
            <a:off x="3529584" y="4023360"/>
            <a:ext cx="2221992" cy="292608"/>
          </a:xfrm>
          <a:prstGeom prst="rect">
            <a:avLst/>
          </a:prstGeom>
          <a:noFill/>
          <a:ln/>
        </p:spPr>
        <p:txBody>
          <a:bodyPr wrap="square" lIns="0" tIns="0" rIns="0" bIns="0" rtlCol="0" anchor="ctr">
            <a:normAutofit/>
          </a:bodyPr>
          <a:lstStyle/>
          <a:p>
            <a:pPr marL="0" indent="0">
              <a:buNone/>
            </a:pPr>
            <a:r>
              <a:rPr lang="en-US" sz="1400" b="1" dirty="0">
                <a:solidFill>
                  <a:srgbClr val="0F172A"/>
                </a:solidFill>
                <a:latin typeface="Arial" pitchFamily="34" charset="0"/>
                <a:ea typeface="Arial" pitchFamily="34" charset="-122"/>
                <a:cs typeface="Arial" pitchFamily="34" charset="-120"/>
              </a:rPr>
              <a:t>Risiko psikososial</a:t>
            </a:r>
            <a:endParaRPr lang="en-US" sz="1400" dirty="0"/>
          </a:p>
        </p:txBody>
      </p:sp>
      <p:sp>
        <p:nvSpPr>
          <p:cNvPr id="29" name="Text 23"/>
          <p:cNvSpPr/>
          <p:nvPr/>
        </p:nvSpPr>
        <p:spPr>
          <a:xfrm>
            <a:off x="2798064" y="4544568"/>
            <a:ext cx="2916936" cy="640080"/>
          </a:xfrm>
          <a:prstGeom prst="rect">
            <a:avLst/>
          </a:prstGeom>
          <a:noFill/>
          <a:ln/>
        </p:spPr>
        <p:txBody>
          <a:bodyPr wrap="square" lIns="0" tIns="0" rIns="0" bIns="0" rtlCol="0" anchor="t">
            <a:normAutofit/>
          </a:bodyPr>
          <a:lstStyle/>
          <a:p>
            <a:pPr marL="0" indent="0">
              <a:buNone/>
            </a:pPr>
            <a:r>
              <a:rPr lang="en-US" sz="1050" dirty="0">
                <a:solidFill>
                  <a:srgbClr val="334155"/>
                </a:solidFill>
                <a:latin typeface="Arial" pitchFamily="34" charset="0"/>
                <a:ea typeface="Arial" pitchFamily="34" charset="-122"/>
                <a:cs typeface="Arial" pitchFamily="34" charset="-120"/>
              </a:rPr>
              <a:t>Shift, kelelahan, beban emosional, konflik, burnout.</a:t>
            </a:r>
            <a:endParaRPr lang="en-US" sz="1050" dirty="0"/>
          </a:p>
        </p:txBody>
      </p:sp>
      <p:sp>
        <p:nvSpPr>
          <p:cNvPr id="30" name="Shape 24"/>
          <p:cNvSpPr/>
          <p:nvPr/>
        </p:nvSpPr>
        <p:spPr>
          <a:xfrm>
            <a:off x="6336792" y="3794760"/>
            <a:ext cx="3429000" cy="1572768"/>
          </a:xfrm>
          <a:prstGeom prst="roundRect">
            <a:avLst>
              <a:gd name="adj" fmla="val 4651"/>
            </a:avLst>
          </a:prstGeom>
          <a:solidFill>
            <a:srgbClr val="FFFFFF"/>
          </a:solidFill>
          <a:ln w="10160">
            <a:solidFill>
              <a:srgbClr val="E5E7EB"/>
            </a:solidFill>
            <a:prstDash val="solid"/>
          </a:ln>
        </p:spPr>
      </p:sp>
      <p:sp>
        <p:nvSpPr>
          <p:cNvPr id="31" name="Shape 25"/>
          <p:cNvSpPr/>
          <p:nvPr/>
        </p:nvSpPr>
        <p:spPr>
          <a:xfrm>
            <a:off x="6336792" y="3794760"/>
            <a:ext cx="73152" cy="1572768"/>
          </a:xfrm>
          <a:prstGeom prst="rect">
            <a:avLst/>
          </a:prstGeom>
          <a:solidFill>
            <a:srgbClr val="059669"/>
          </a:solidFill>
          <a:ln w="12700">
            <a:solidFill>
              <a:srgbClr val="059669"/>
            </a:solidFill>
            <a:prstDash val="solid"/>
          </a:ln>
        </p:spPr>
      </p:sp>
      <p:sp>
        <p:nvSpPr>
          <p:cNvPr id="32" name="Shape 26"/>
          <p:cNvSpPr/>
          <p:nvPr/>
        </p:nvSpPr>
        <p:spPr>
          <a:xfrm>
            <a:off x="6537960" y="3995928"/>
            <a:ext cx="658368" cy="658368"/>
          </a:xfrm>
          <a:prstGeom prst="ellipse">
            <a:avLst/>
          </a:prstGeom>
          <a:solidFill>
            <a:srgbClr val="F8FAFC"/>
          </a:solidFill>
          <a:ln w="12700">
            <a:solidFill>
              <a:srgbClr val="F8FAFC"/>
            </a:solidFill>
            <a:prstDash val="solid"/>
          </a:ln>
        </p:spPr>
      </p:sp>
      <p:pic>
        <p:nvPicPr>
          <p:cNvPr id="33"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675120" y="4133088"/>
            <a:ext cx="329184" cy="329184"/>
          </a:xfrm>
          <a:prstGeom prst="rect">
            <a:avLst/>
          </a:prstGeom>
        </p:spPr>
      </p:pic>
      <p:sp>
        <p:nvSpPr>
          <p:cNvPr id="34" name="Text 27"/>
          <p:cNvSpPr/>
          <p:nvPr/>
        </p:nvSpPr>
        <p:spPr>
          <a:xfrm>
            <a:off x="7324344" y="4023360"/>
            <a:ext cx="2221992" cy="292608"/>
          </a:xfrm>
          <a:prstGeom prst="rect">
            <a:avLst/>
          </a:prstGeom>
          <a:noFill/>
          <a:ln/>
        </p:spPr>
        <p:txBody>
          <a:bodyPr wrap="square" lIns="0" tIns="0" rIns="0" bIns="0" rtlCol="0" anchor="ctr">
            <a:normAutofit/>
          </a:bodyPr>
          <a:lstStyle/>
          <a:p>
            <a:pPr marL="0" indent="0">
              <a:buNone/>
            </a:pPr>
            <a:r>
              <a:rPr lang="en-US" sz="1400" b="1" dirty="0">
                <a:solidFill>
                  <a:srgbClr val="0F172A"/>
                </a:solidFill>
                <a:latin typeface="Arial" pitchFamily="34" charset="0"/>
                <a:ea typeface="Arial" pitchFamily="34" charset="-122"/>
                <a:cs typeface="Arial" pitchFamily="34" charset="-120"/>
              </a:rPr>
              <a:t>Keselamatan pasien</a:t>
            </a:r>
            <a:endParaRPr lang="en-US" sz="1400" dirty="0"/>
          </a:p>
        </p:txBody>
      </p:sp>
      <p:sp>
        <p:nvSpPr>
          <p:cNvPr id="35" name="Text 28"/>
          <p:cNvSpPr/>
          <p:nvPr/>
        </p:nvSpPr>
        <p:spPr>
          <a:xfrm>
            <a:off x="6592824" y="4544568"/>
            <a:ext cx="2916936" cy="640080"/>
          </a:xfrm>
          <a:prstGeom prst="rect">
            <a:avLst/>
          </a:prstGeom>
          <a:noFill/>
          <a:ln/>
        </p:spPr>
        <p:txBody>
          <a:bodyPr wrap="square" lIns="0" tIns="0" rIns="0" bIns="0" rtlCol="0" anchor="t">
            <a:normAutofit/>
          </a:bodyPr>
          <a:lstStyle/>
          <a:p>
            <a:pPr marL="0" indent="0">
              <a:buNone/>
            </a:pPr>
            <a:r>
              <a:rPr lang="en-US" sz="1050" dirty="0">
                <a:solidFill>
                  <a:srgbClr val="334155"/>
                </a:solidFill>
                <a:latin typeface="Arial" pitchFamily="34" charset="0"/>
                <a:ea typeface="Arial" pitchFamily="34" charset="-122"/>
                <a:cs typeface="Arial" pitchFamily="34" charset="-120"/>
              </a:rPr>
              <a:t>Kondisi kerja yang aman membantu menurunkan peluang kesalahan dan meningkatkan mutu layanan.</a:t>
            </a:r>
            <a:endParaRPr lang="en-US" sz="1050" dirty="0"/>
          </a:p>
        </p:txBody>
      </p:sp>
      <p:sp>
        <p:nvSpPr>
          <p:cNvPr id="36" name="Text 29"/>
          <p:cNvSpPr/>
          <p:nvPr/>
        </p:nvSpPr>
        <p:spPr>
          <a:xfrm>
            <a:off x="566928" y="6291072"/>
            <a:ext cx="10698480" cy="164592"/>
          </a:xfrm>
          <a:prstGeom prst="rect">
            <a:avLst/>
          </a:prstGeom>
          <a:noFill/>
          <a:ln/>
        </p:spPr>
        <p:txBody>
          <a:bodyPr wrap="square" lIns="0" tIns="0" rIns="0" bIns="0" rtlCol="0" anchor="ctr">
            <a:normAutofit/>
          </a:bodyPr>
          <a:lstStyle/>
          <a:p>
            <a:pPr marL="0" indent="0">
              <a:buNone/>
            </a:pPr>
            <a:r>
              <a:rPr lang="en-US" sz="730" i="1" dirty="0">
                <a:solidFill>
                  <a:srgbClr val="94A3B8"/>
                </a:solidFill>
                <a:latin typeface="Arial" pitchFamily="34" charset="0"/>
                <a:ea typeface="Arial" pitchFamily="34" charset="-122"/>
                <a:cs typeface="Arial" pitchFamily="34" charset="-120"/>
              </a:rPr>
              <a:t>Sumber konsep bahaya: WHO, Occupational hazards in the health sector (2025).</a:t>
            </a:r>
            <a:endParaRPr lang="en-US" sz="730" dirty="0"/>
          </a:p>
        </p:txBody>
      </p:sp>
      <p:sp>
        <p:nvSpPr>
          <p:cNvPr id="37" name="Slide Number Placeholder 0"/>
          <p:cNvSpPr>
            <a:spLocks noGrp="1"/>
          </p:cNvSpPr>
          <p:nvPr>
            <p:ph type="sldNum" sz="quarter" idx="4294967295"/>
          </p:nvPr>
        </p:nvSpPr>
        <p:spPr>
          <a:xfrm>
            <a:off x="11475720" y="6492240"/>
            <a:ext cx="320040"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64748B"/>
                </a:solidFill>
                <a:latin typeface="Arial"/>
                <a:ea typeface="Arial"/>
                <a:cs typeface="Aria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566928" y="347472"/>
            <a:ext cx="1417320" cy="310896"/>
          </a:xfrm>
          <a:prstGeom prst="roundRect">
            <a:avLst>
              <a:gd name="adj" fmla="val 23529"/>
            </a:avLst>
          </a:prstGeom>
          <a:solidFill>
            <a:srgbClr val="ECFEFF"/>
          </a:solidFill>
          <a:ln w="12700">
            <a:solidFill>
              <a:srgbClr val="ECFEFF"/>
            </a:solidFill>
            <a:prstDash val="solid"/>
          </a:ln>
        </p:spPr>
      </p:sp>
      <p:sp>
        <p:nvSpPr>
          <p:cNvPr id="3" name="Text 1"/>
          <p:cNvSpPr/>
          <p:nvPr/>
        </p:nvSpPr>
        <p:spPr>
          <a:xfrm>
            <a:off x="694944" y="429768"/>
            <a:ext cx="1170432" cy="128016"/>
          </a:xfrm>
          <a:prstGeom prst="rect">
            <a:avLst/>
          </a:prstGeom>
          <a:noFill/>
          <a:ln/>
        </p:spPr>
        <p:txBody>
          <a:bodyPr wrap="square" lIns="0" tIns="0" rIns="0" bIns="0" rtlCol="0" anchor="ctr"/>
          <a:lstStyle/>
          <a:p>
            <a:pPr marL="0" indent="0" algn="ctr">
              <a:buNone/>
            </a:pPr>
            <a:r>
              <a:rPr lang="en-US" sz="900" b="1" dirty="0">
                <a:solidFill>
                  <a:srgbClr val="0E7490"/>
                </a:solidFill>
                <a:latin typeface="Arial" pitchFamily="34" charset="0"/>
                <a:ea typeface="Arial" pitchFamily="34" charset="-122"/>
                <a:cs typeface="Arial" pitchFamily="34" charset="-120"/>
              </a:rPr>
              <a:t>KONSEP</a:t>
            </a:r>
            <a:endParaRPr lang="en-US" sz="900" dirty="0"/>
          </a:p>
        </p:txBody>
      </p:sp>
      <p:sp>
        <p:nvSpPr>
          <p:cNvPr id="4" name="Text 2"/>
          <p:cNvSpPr/>
          <p:nvPr/>
        </p:nvSpPr>
        <p:spPr>
          <a:xfrm>
            <a:off x="566928" y="777240"/>
            <a:ext cx="10972800" cy="566928"/>
          </a:xfrm>
          <a:prstGeom prst="rect">
            <a:avLst/>
          </a:prstGeom>
          <a:noFill/>
          <a:ln/>
        </p:spPr>
        <p:txBody>
          <a:bodyPr wrap="square" lIns="0" tIns="0" rIns="0" bIns="0" rtlCol="0" anchor="ctr">
            <a:normAutofit/>
          </a:bodyPr>
          <a:lstStyle/>
          <a:p>
            <a:pPr marL="0" indent="0">
              <a:buNone/>
            </a:pPr>
            <a:r>
              <a:rPr lang="en-US" sz="2700" b="1" dirty="0">
                <a:solidFill>
                  <a:srgbClr val="0F172A"/>
                </a:solidFill>
                <a:latin typeface="Arial" pitchFamily="34" charset="0"/>
                <a:ea typeface="Arial" pitchFamily="34" charset="-122"/>
                <a:cs typeface="Arial" pitchFamily="34" charset="-120"/>
              </a:rPr>
              <a:t>Konsep Dasar K3 dalam Keperawatan</a:t>
            </a:r>
            <a:endParaRPr lang="en-US" sz="2700" dirty="0"/>
          </a:p>
        </p:txBody>
      </p:sp>
      <p:sp>
        <p:nvSpPr>
          <p:cNvPr id="5" name="Text 3"/>
          <p:cNvSpPr/>
          <p:nvPr/>
        </p:nvSpPr>
        <p:spPr>
          <a:xfrm>
            <a:off x="566928" y="1371600"/>
            <a:ext cx="10881360" cy="384048"/>
          </a:xfrm>
          <a:prstGeom prst="rect">
            <a:avLst/>
          </a:prstGeom>
          <a:noFill/>
          <a:ln/>
        </p:spPr>
        <p:txBody>
          <a:bodyPr wrap="square" lIns="0" tIns="0" rIns="0" bIns="0" rtlCol="0" anchor="ctr">
            <a:normAutofit/>
          </a:bodyPr>
          <a:lstStyle/>
          <a:p>
            <a:pPr marL="0" indent="0">
              <a:buNone/>
            </a:pPr>
            <a:r>
              <a:rPr lang="en-US" sz="1250" dirty="0">
                <a:solidFill>
                  <a:srgbClr val="64748B"/>
                </a:solidFill>
                <a:latin typeface="Arial" pitchFamily="34" charset="0"/>
                <a:ea typeface="Arial" pitchFamily="34" charset="-122"/>
                <a:cs typeface="Arial" pitchFamily="34" charset="-120"/>
              </a:rPr>
              <a:t>K3 adalah pendekatan sistematis untuk mencegah cedera, penyakit akibat kerja, dan kondisi kerja yang membahayakan.</a:t>
            </a:r>
            <a:endParaRPr lang="en-US" sz="1250" dirty="0"/>
          </a:p>
        </p:txBody>
      </p:sp>
      <p:sp>
        <p:nvSpPr>
          <p:cNvPr id="6" name="Shape 4"/>
          <p:cNvSpPr/>
          <p:nvPr/>
        </p:nvSpPr>
        <p:spPr>
          <a:xfrm>
            <a:off x="685800" y="1828800"/>
            <a:ext cx="5349240" cy="3611880"/>
          </a:xfrm>
          <a:prstGeom prst="roundRect">
            <a:avLst>
              <a:gd name="adj" fmla="val 2025"/>
            </a:avLst>
          </a:prstGeom>
          <a:solidFill>
            <a:srgbClr val="FFFFFF"/>
          </a:solidFill>
          <a:ln w="12700">
            <a:solidFill>
              <a:srgbClr val="E2E8F0"/>
            </a:solidFill>
            <a:prstDash val="solid"/>
          </a:ln>
        </p:spPr>
      </p:sp>
      <p:sp>
        <p:nvSpPr>
          <p:cNvPr id="7" name="Shape 5"/>
          <p:cNvSpPr/>
          <p:nvPr/>
        </p:nvSpPr>
        <p:spPr>
          <a:xfrm>
            <a:off x="960120" y="2121408"/>
            <a:ext cx="658368" cy="658368"/>
          </a:xfrm>
          <a:prstGeom prst="ellipse">
            <a:avLst/>
          </a:prstGeom>
          <a:solidFill>
            <a:srgbClr val="ECFEFF"/>
          </a:solidFill>
          <a:ln w="12700">
            <a:solidFill>
              <a:srgbClr val="ECFEFF"/>
            </a:solidFill>
            <a:prstDash val="solid"/>
          </a:ln>
        </p:spPr>
      </p:sp>
      <p:pic>
        <p:nvPicPr>
          <p:cNvPr id="8"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97280" y="2258568"/>
            <a:ext cx="347472" cy="347472"/>
          </a:xfrm>
          <a:prstGeom prst="rect">
            <a:avLst/>
          </a:prstGeom>
        </p:spPr>
      </p:pic>
      <p:sp>
        <p:nvSpPr>
          <p:cNvPr id="9" name="Text 6"/>
          <p:cNvSpPr/>
          <p:nvPr/>
        </p:nvSpPr>
        <p:spPr>
          <a:xfrm>
            <a:off x="1783080" y="2167128"/>
            <a:ext cx="1097280" cy="329184"/>
          </a:xfrm>
          <a:prstGeom prst="rect">
            <a:avLst/>
          </a:prstGeom>
          <a:noFill/>
          <a:ln/>
        </p:spPr>
        <p:txBody>
          <a:bodyPr wrap="square" lIns="0" tIns="0" rIns="0" bIns="0" rtlCol="0" anchor="ctr"/>
          <a:lstStyle/>
          <a:p>
            <a:pPr marL="0" indent="0">
              <a:buNone/>
            </a:pPr>
            <a:r>
              <a:rPr lang="en-US" sz="2000" b="1" dirty="0">
                <a:solidFill>
                  <a:srgbClr val="0F172A"/>
                </a:solidFill>
              </a:rPr>
              <a:t>K3</a:t>
            </a:r>
            <a:endParaRPr lang="en-US" sz="2000" dirty="0"/>
          </a:p>
        </p:txBody>
      </p:sp>
      <p:sp>
        <p:nvSpPr>
          <p:cNvPr id="10" name="Text 7"/>
          <p:cNvSpPr/>
          <p:nvPr/>
        </p:nvSpPr>
        <p:spPr>
          <a:xfrm>
            <a:off x="960120" y="2852928"/>
            <a:ext cx="4709160" cy="1234440"/>
          </a:xfrm>
          <a:prstGeom prst="rect">
            <a:avLst/>
          </a:prstGeom>
          <a:noFill/>
          <a:ln/>
        </p:spPr>
        <p:txBody>
          <a:bodyPr wrap="square" lIns="0" tIns="0" rIns="0" bIns="0" rtlCol="0" anchor="ctr">
            <a:normAutofit/>
          </a:bodyPr>
          <a:lstStyle/>
          <a:p>
            <a:pPr marL="0" indent="0">
              <a:buNone/>
            </a:pPr>
            <a:r>
              <a:rPr lang="en-US" sz="1600" dirty="0">
                <a:solidFill>
                  <a:srgbClr val="334155"/>
                </a:solidFill>
              </a:rPr>
              <a:t>Keselamatan dan Kesehatan Kerja mencakup kebijakan, prosedur, lingkungan, perilaku, dan sistem pengendalian untuk melindungi pekerja dari bahaya kerja.</a:t>
            </a:r>
            <a:endParaRPr lang="en-US" sz="1600" dirty="0"/>
          </a:p>
        </p:txBody>
      </p:sp>
      <p:sp>
        <p:nvSpPr>
          <p:cNvPr id="11" name="Shape 8"/>
          <p:cNvSpPr/>
          <p:nvPr/>
        </p:nvSpPr>
        <p:spPr>
          <a:xfrm>
            <a:off x="960120" y="4462272"/>
            <a:ext cx="1371600" cy="310896"/>
          </a:xfrm>
          <a:prstGeom prst="roundRect">
            <a:avLst>
              <a:gd name="adj" fmla="val 23529"/>
            </a:avLst>
          </a:prstGeom>
          <a:solidFill>
            <a:srgbClr val="ECFEFF"/>
          </a:solidFill>
          <a:ln w="12700">
            <a:solidFill>
              <a:srgbClr val="ECFEFF"/>
            </a:solidFill>
            <a:prstDash val="solid"/>
          </a:ln>
        </p:spPr>
      </p:sp>
      <p:sp>
        <p:nvSpPr>
          <p:cNvPr id="12" name="Text 9"/>
          <p:cNvSpPr/>
          <p:nvPr/>
        </p:nvSpPr>
        <p:spPr>
          <a:xfrm>
            <a:off x="1033272" y="4526280"/>
            <a:ext cx="1225296" cy="164592"/>
          </a:xfrm>
          <a:prstGeom prst="rect">
            <a:avLst/>
          </a:prstGeom>
          <a:noFill/>
          <a:ln/>
        </p:spPr>
        <p:txBody>
          <a:bodyPr wrap="square" lIns="0" tIns="0" rIns="0" bIns="0" rtlCol="0" anchor="ctr">
            <a:normAutofit/>
          </a:bodyPr>
          <a:lstStyle/>
          <a:p>
            <a:pPr marL="0" indent="0" algn="ctr">
              <a:buNone/>
            </a:pPr>
            <a:r>
              <a:rPr lang="en-US" sz="950" b="1" dirty="0">
                <a:solidFill>
                  <a:srgbClr val="0E7490"/>
                </a:solidFill>
                <a:latin typeface="Arial" pitchFamily="34" charset="0"/>
                <a:ea typeface="Arial" pitchFamily="34" charset="-122"/>
                <a:cs typeface="Arial" pitchFamily="34" charset="-120"/>
              </a:rPr>
              <a:t>Pencegahan</a:t>
            </a:r>
            <a:endParaRPr lang="en-US" sz="950" dirty="0"/>
          </a:p>
        </p:txBody>
      </p:sp>
      <p:sp>
        <p:nvSpPr>
          <p:cNvPr id="13" name="Shape 10"/>
          <p:cNvSpPr/>
          <p:nvPr/>
        </p:nvSpPr>
        <p:spPr>
          <a:xfrm>
            <a:off x="2496312" y="4462272"/>
            <a:ext cx="1417320" cy="310896"/>
          </a:xfrm>
          <a:prstGeom prst="roundRect">
            <a:avLst>
              <a:gd name="adj" fmla="val 23529"/>
            </a:avLst>
          </a:prstGeom>
          <a:solidFill>
            <a:srgbClr val="DBEAFE"/>
          </a:solidFill>
          <a:ln w="12700">
            <a:solidFill>
              <a:srgbClr val="DBEAFE"/>
            </a:solidFill>
            <a:prstDash val="solid"/>
          </a:ln>
        </p:spPr>
      </p:sp>
      <p:sp>
        <p:nvSpPr>
          <p:cNvPr id="14" name="Text 11"/>
          <p:cNvSpPr/>
          <p:nvPr/>
        </p:nvSpPr>
        <p:spPr>
          <a:xfrm>
            <a:off x="2569464" y="4526280"/>
            <a:ext cx="1271016" cy="164592"/>
          </a:xfrm>
          <a:prstGeom prst="rect">
            <a:avLst/>
          </a:prstGeom>
          <a:noFill/>
          <a:ln/>
        </p:spPr>
        <p:txBody>
          <a:bodyPr wrap="square" lIns="0" tIns="0" rIns="0" bIns="0" rtlCol="0" anchor="ctr">
            <a:normAutofit/>
          </a:bodyPr>
          <a:lstStyle/>
          <a:p>
            <a:pPr marL="0" indent="0" algn="ctr">
              <a:buNone/>
            </a:pPr>
            <a:r>
              <a:rPr lang="en-US" sz="950" b="1" dirty="0">
                <a:solidFill>
                  <a:srgbClr val="2563EB"/>
                </a:solidFill>
                <a:latin typeface="Arial" pitchFamily="34" charset="0"/>
                <a:ea typeface="Arial" pitchFamily="34" charset="-122"/>
                <a:cs typeface="Arial" pitchFamily="34" charset="-120"/>
              </a:rPr>
              <a:t>Perlindungan</a:t>
            </a:r>
            <a:endParaRPr lang="en-US" sz="950" dirty="0"/>
          </a:p>
        </p:txBody>
      </p:sp>
      <p:sp>
        <p:nvSpPr>
          <p:cNvPr id="15" name="Shape 12"/>
          <p:cNvSpPr/>
          <p:nvPr/>
        </p:nvSpPr>
        <p:spPr>
          <a:xfrm>
            <a:off x="4087368" y="4462272"/>
            <a:ext cx="1234440" cy="310896"/>
          </a:xfrm>
          <a:prstGeom prst="roundRect">
            <a:avLst>
              <a:gd name="adj" fmla="val 23529"/>
            </a:avLst>
          </a:prstGeom>
          <a:solidFill>
            <a:srgbClr val="D1FAE5"/>
          </a:solidFill>
          <a:ln w="12700">
            <a:solidFill>
              <a:srgbClr val="D1FAE5"/>
            </a:solidFill>
            <a:prstDash val="solid"/>
          </a:ln>
        </p:spPr>
      </p:sp>
      <p:sp>
        <p:nvSpPr>
          <p:cNvPr id="16" name="Text 13"/>
          <p:cNvSpPr/>
          <p:nvPr/>
        </p:nvSpPr>
        <p:spPr>
          <a:xfrm>
            <a:off x="4160520" y="4526280"/>
            <a:ext cx="1088136" cy="164592"/>
          </a:xfrm>
          <a:prstGeom prst="rect">
            <a:avLst/>
          </a:prstGeom>
          <a:noFill/>
          <a:ln/>
        </p:spPr>
        <p:txBody>
          <a:bodyPr wrap="square" lIns="0" tIns="0" rIns="0" bIns="0" rtlCol="0" anchor="ctr">
            <a:normAutofit/>
          </a:bodyPr>
          <a:lstStyle/>
          <a:p>
            <a:pPr marL="0" indent="0" algn="ctr">
              <a:buNone/>
            </a:pPr>
            <a:r>
              <a:rPr lang="en-US" sz="950" b="1" dirty="0">
                <a:solidFill>
                  <a:srgbClr val="059669"/>
                </a:solidFill>
                <a:latin typeface="Arial" pitchFamily="34" charset="0"/>
                <a:ea typeface="Arial" pitchFamily="34" charset="-122"/>
                <a:cs typeface="Arial" pitchFamily="34" charset="-120"/>
              </a:rPr>
              <a:t>Perbaikan</a:t>
            </a:r>
            <a:endParaRPr lang="en-US" sz="950" dirty="0"/>
          </a:p>
        </p:txBody>
      </p:sp>
      <p:sp>
        <p:nvSpPr>
          <p:cNvPr id="17" name="Shape 14"/>
          <p:cNvSpPr/>
          <p:nvPr/>
        </p:nvSpPr>
        <p:spPr>
          <a:xfrm>
            <a:off x="6336792" y="1828800"/>
            <a:ext cx="5166360" cy="3611880"/>
          </a:xfrm>
          <a:prstGeom prst="roundRect">
            <a:avLst>
              <a:gd name="adj" fmla="val 2025"/>
            </a:avLst>
          </a:prstGeom>
          <a:solidFill>
            <a:srgbClr val="F8FAFC"/>
          </a:solidFill>
          <a:ln w="12700">
            <a:solidFill>
              <a:srgbClr val="E2E8F0"/>
            </a:solidFill>
            <a:prstDash val="solid"/>
          </a:ln>
        </p:spPr>
      </p:sp>
      <p:sp>
        <p:nvSpPr>
          <p:cNvPr id="18" name="Shape 15"/>
          <p:cNvSpPr/>
          <p:nvPr/>
        </p:nvSpPr>
        <p:spPr>
          <a:xfrm>
            <a:off x="6601968" y="2121408"/>
            <a:ext cx="658368" cy="658368"/>
          </a:xfrm>
          <a:prstGeom prst="ellipse">
            <a:avLst/>
          </a:prstGeom>
          <a:solidFill>
            <a:srgbClr val="DBEAFE"/>
          </a:solidFill>
          <a:ln w="12700">
            <a:solidFill>
              <a:srgbClr val="DBEAFE"/>
            </a:solidFill>
            <a:prstDash val="solid"/>
          </a:ln>
        </p:spPr>
      </p:sp>
      <p:pic>
        <p:nvPicPr>
          <p:cNvPr id="19"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739128" y="2258568"/>
            <a:ext cx="347472" cy="347472"/>
          </a:xfrm>
          <a:prstGeom prst="rect">
            <a:avLst/>
          </a:prstGeom>
        </p:spPr>
      </p:pic>
      <p:sp>
        <p:nvSpPr>
          <p:cNvPr id="20" name="Text 16"/>
          <p:cNvSpPr/>
          <p:nvPr/>
        </p:nvSpPr>
        <p:spPr>
          <a:xfrm>
            <a:off x="7415784" y="2167128"/>
            <a:ext cx="3291840" cy="329184"/>
          </a:xfrm>
          <a:prstGeom prst="rect">
            <a:avLst/>
          </a:prstGeom>
          <a:noFill/>
          <a:ln/>
        </p:spPr>
        <p:txBody>
          <a:bodyPr wrap="square" lIns="0" tIns="0" rIns="0" bIns="0" rtlCol="0" anchor="ctr"/>
          <a:lstStyle/>
          <a:p>
            <a:pPr marL="0" indent="0">
              <a:buNone/>
            </a:pPr>
            <a:r>
              <a:rPr lang="en-US" sz="2000" b="1" dirty="0">
                <a:solidFill>
                  <a:srgbClr val="0F172A"/>
                </a:solidFill>
              </a:rPr>
              <a:t>K3 dalam Keperawatan</a:t>
            </a:r>
            <a:endParaRPr lang="en-US" sz="2000" dirty="0"/>
          </a:p>
        </p:txBody>
      </p:sp>
      <p:sp>
        <p:nvSpPr>
          <p:cNvPr id="21" name="Text 17"/>
          <p:cNvSpPr/>
          <p:nvPr/>
        </p:nvSpPr>
        <p:spPr>
          <a:xfrm>
            <a:off x="6629400" y="2798064"/>
            <a:ext cx="4434840" cy="2148840"/>
          </a:xfrm>
          <a:prstGeom prst="rect">
            <a:avLst/>
          </a:prstGeom>
          <a:noFill/>
          <a:ln/>
        </p:spPr>
        <p:txBody>
          <a:bodyPr wrap="square" lIns="381" tIns="381" rIns="381" bIns="381" rtlCol="0" anchor="ctr">
            <a:normAutofit/>
          </a:bodyPr>
          <a:lstStyle/>
          <a:p>
            <a:pPr marL="203200" indent="-203200">
              <a:buSzPct val="100000"/>
              <a:buChar char="•"/>
            </a:pPr>
            <a:r>
              <a:rPr lang="en-US" sz="1320" dirty="0">
                <a:solidFill>
                  <a:srgbClr val="334155"/>
                </a:solidFill>
                <a:latin typeface="Arial" pitchFamily="34" charset="0"/>
                <a:ea typeface="Arial" pitchFamily="34" charset="-122"/>
                <a:cs typeface="Arial" pitchFamily="34" charset="-120"/>
              </a:rPr>
              <a:t>Melindungi perawat dari bahaya selama pemberian asuhan.</a:t>
            </a:r>
            <a:endParaRPr lang="en-US" sz="1320" dirty="0"/>
          </a:p>
          <a:p>
            <a:pPr marL="203200" indent="-203200">
              <a:buSzPct val="100000"/>
              <a:buChar char="•"/>
            </a:pPr>
            <a:r>
              <a:rPr lang="en-US" sz="1320" dirty="0">
                <a:solidFill>
                  <a:srgbClr val="334155"/>
                </a:solidFill>
                <a:latin typeface="Arial" pitchFamily="34" charset="0"/>
                <a:ea typeface="Arial" pitchFamily="34" charset="-122"/>
                <a:cs typeface="Arial" pitchFamily="34" charset="-120"/>
              </a:rPr>
              <a:t>Mencegah paparan yang dapat berdampak pada keluarga, pasien, dan rekan kerja.</a:t>
            </a:r>
            <a:endParaRPr lang="en-US" sz="1320" dirty="0"/>
          </a:p>
          <a:p>
            <a:pPr marL="203200" indent="-203200">
              <a:buSzPct val="100000"/>
              <a:buChar char="•"/>
            </a:pPr>
            <a:r>
              <a:rPr lang="en-US" sz="1320" dirty="0">
                <a:solidFill>
                  <a:srgbClr val="334155"/>
                </a:solidFill>
                <a:latin typeface="Arial" pitchFamily="34" charset="0"/>
                <a:ea typeface="Arial" pitchFamily="34" charset="-122"/>
                <a:cs typeface="Arial" pitchFamily="34" charset="-120"/>
              </a:rPr>
              <a:t>Membangun budaya aman: lapor, belajar, perbaiki.</a:t>
            </a:r>
            <a:endParaRPr lang="en-US" sz="1320" dirty="0"/>
          </a:p>
          <a:p>
            <a:pPr marL="203200" indent="-203200">
              <a:buSzPct val="100000"/>
              <a:buChar char="•"/>
            </a:pPr>
            <a:r>
              <a:rPr lang="en-US" sz="1320" dirty="0">
                <a:solidFill>
                  <a:srgbClr val="334155"/>
                </a:solidFill>
                <a:latin typeface="Arial" pitchFamily="34" charset="0"/>
                <a:ea typeface="Arial" pitchFamily="34" charset="-122"/>
                <a:cs typeface="Arial" pitchFamily="34" charset="-120"/>
              </a:rPr>
              <a:t>Beririsan dengan keselamatan pasien, tetapi fokus utamanya adalah risiko kerja.</a:t>
            </a:r>
            <a:endParaRPr lang="en-US" sz="1320" dirty="0"/>
          </a:p>
        </p:txBody>
      </p:sp>
      <p:sp>
        <p:nvSpPr>
          <p:cNvPr id="22" name="Text 18"/>
          <p:cNvSpPr/>
          <p:nvPr/>
        </p:nvSpPr>
        <p:spPr>
          <a:xfrm>
            <a:off x="566928" y="6291072"/>
            <a:ext cx="10698480" cy="164592"/>
          </a:xfrm>
          <a:prstGeom prst="rect">
            <a:avLst/>
          </a:prstGeom>
          <a:noFill/>
          <a:ln/>
        </p:spPr>
        <p:txBody>
          <a:bodyPr wrap="square" lIns="0" tIns="0" rIns="0" bIns="0" rtlCol="0" anchor="ctr">
            <a:normAutofit/>
          </a:bodyPr>
          <a:lstStyle/>
          <a:p>
            <a:pPr marL="0" indent="0">
              <a:buNone/>
            </a:pPr>
            <a:r>
              <a:rPr lang="en-US" sz="730" i="1" dirty="0">
                <a:solidFill>
                  <a:srgbClr val="94A3B8"/>
                </a:solidFill>
                <a:latin typeface="Arial" pitchFamily="34" charset="0"/>
                <a:ea typeface="Arial" pitchFamily="34" charset="-122"/>
                <a:cs typeface="Arial" pitchFamily="34" charset="-120"/>
              </a:rPr>
              <a:t>Rujukan: WHO/ILO (2022–2025); Permenkes No. 66 Tahun 2016 tentang K3 Rumah Sakit.</a:t>
            </a:r>
            <a:endParaRPr lang="en-US" sz="730" dirty="0"/>
          </a:p>
        </p:txBody>
      </p:sp>
      <p:sp>
        <p:nvSpPr>
          <p:cNvPr id="25" name="Slide Number Placeholder 0"/>
          <p:cNvSpPr>
            <a:spLocks noGrp="1"/>
          </p:cNvSpPr>
          <p:nvPr>
            <p:ph type="sldNum" sz="quarter" idx="4294967295"/>
          </p:nvPr>
        </p:nvSpPr>
        <p:spPr>
          <a:xfrm>
            <a:off x="11475720" y="6492240"/>
            <a:ext cx="320040"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64748B"/>
                </a:solidFill>
                <a:latin typeface="Arial"/>
                <a:ea typeface="Arial"/>
                <a:cs typeface="Aria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566928" y="347472"/>
            <a:ext cx="1417320" cy="310896"/>
          </a:xfrm>
          <a:prstGeom prst="roundRect">
            <a:avLst>
              <a:gd name="adj" fmla="val 23529"/>
            </a:avLst>
          </a:prstGeom>
          <a:solidFill>
            <a:srgbClr val="ECFEFF"/>
          </a:solidFill>
          <a:ln w="12700">
            <a:solidFill>
              <a:srgbClr val="ECFEFF"/>
            </a:solidFill>
            <a:prstDash val="solid"/>
          </a:ln>
        </p:spPr>
      </p:sp>
      <p:sp>
        <p:nvSpPr>
          <p:cNvPr id="3" name="Text 1"/>
          <p:cNvSpPr/>
          <p:nvPr/>
        </p:nvSpPr>
        <p:spPr>
          <a:xfrm>
            <a:off x="694944" y="429768"/>
            <a:ext cx="1170432" cy="128016"/>
          </a:xfrm>
          <a:prstGeom prst="rect">
            <a:avLst/>
          </a:prstGeom>
          <a:noFill/>
          <a:ln/>
        </p:spPr>
        <p:txBody>
          <a:bodyPr wrap="square" lIns="0" tIns="0" rIns="0" bIns="0" rtlCol="0" anchor="ctr"/>
          <a:lstStyle/>
          <a:p>
            <a:pPr marL="0" indent="0" algn="ctr">
              <a:buNone/>
            </a:pPr>
            <a:r>
              <a:rPr lang="en-US" sz="900" b="1" dirty="0">
                <a:solidFill>
                  <a:srgbClr val="0E7490"/>
                </a:solidFill>
                <a:latin typeface="Arial" pitchFamily="34" charset="0"/>
                <a:ea typeface="Arial" pitchFamily="34" charset="-122"/>
                <a:cs typeface="Arial" pitchFamily="34" charset="-120"/>
              </a:rPr>
              <a:t>KONSEP</a:t>
            </a:r>
            <a:endParaRPr lang="en-US" sz="900" dirty="0"/>
          </a:p>
        </p:txBody>
      </p:sp>
      <p:sp>
        <p:nvSpPr>
          <p:cNvPr id="4" name="Text 2"/>
          <p:cNvSpPr/>
          <p:nvPr/>
        </p:nvSpPr>
        <p:spPr>
          <a:xfrm>
            <a:off x="566928" y="777240"/>
            <a:ext cx="10972800" cy="566928"/>
          </a:xfrm>
          <a:prstGeom prst="rect">
            <a:avLst/>
          </a:prstGeom>
          <a:noFill/>
          <a:ln/>
        </p:spPr>
        <p:txBody>
          <a:bodyPr wrap="square" lIns="0" tIns="0" rIns="0" bIns="0" rtlCol="0" anchor="ctr">
            <a:normAutofit/>
          </a:bodyPr>
          <a:lstStyle/>
          <a:p>
            <a:pPr marL="0" indent="0">
              <a:buNone/>
            </a:pPr>
            <a:r>
              <a:rPr lang="en-US" sz="2700" b="1" dirty="0">
                <a:solidFill>
                  <a:srgbClr val="0F172A"/>
                </a:solidFill>
                <a:latin typeface="Arial" pitchFamily="34" charset="0"/>
                <a:ea typeface="Arial" pitchFamily="34" charset="-122"/>
                <a:cs typeface="Arial" pitchFamily="34" charset="-120"/>
              </a:rPr>
              <a:t>Landasan K3 di Fasilitas Pelayanan Kesehatan</a:t>
            </a:r>
            <a:endParaRPr lang="en-US" sz="2700" dirty="0"/>
          </a:p>
        </p:txBody>
      </p:sp>
      <p:sp>
        <p:nvSpPr>
          <p:cNvPr id="5" name="Text 3"/>
          <p:cNvSpPr/>
          <p:nvPr/>
        </p:nvSpPr>
        <p:spPr>
          <a:xfrm>
            <a:off x="566928" y="1371600"/>
            <a:ext cx="10881360" cy="384048"/>
          </a:xfrm>
          <a:prstGeom prst="rect">
            <a:avLst/>
          </a:prstGeom>
          <a:noFill/>
          <a:ln/>
        </p:spPr>
        <p:txBody>
          <a:bodyPr wrap="square" lIns="0" tIns="0" rIns="0" bIns="0" rtlCol="0" anchor="ctr">
            <a:normAutofit/>
          </a:bodyPr>
          <a:lstStyle/>
          <a:p>
            <a:pPr marL="0" indent="0">
              <a:buNone/>
            </a:pPr>
            <a:r>
              <a:rPr lang="en-US" sz="1250" dirty="0">
                <a:solidFill>
                  <a:srgbClr val="64748B"/>
                </a:solidFill>
                <a:latin typeface="Arial" pitchFamily="34" charset="0"/>
                <a:ea typeface="Arial" pitchFamily="34" charset="-122"/>
                <a:cs typeface="Arial" pitchFamily="34" charset="-120"/>
              </a:rPr>
              <a:t>K3 keperawatan berjalan dalam kerangka keselamatan kerja nasional, kesehatan, dan tata kelola rumah sakit.</a:t>
            </a:r>
            <a:endParaRPr lang="en-US" sz="1250" dirty="0"/>
          </a:p>
        </p:txBody>
      </p:sp>
      <p:sp>
        <p:nvSpPr>
          <p:cNvPr id="6" name="Shape 4"/>
          <p:cNvSpPr/>
          <p:nvPr/>
        </p:nvSpPr>
        <p:spPr>
          <a:xfrm>
            <a:off x="1417320" y="2011680"/>
            <a:ext cx="0" cy="3246120"/>
          </a:xfrm>
          <a:prstGeom prst="line">
            <a:avLst/>
          </a:prstGeom>
          <a:noFill/>
          <a:ln w="38100">
            <a:solidFill>
              <a:srgbClr val="CBD5E1"/>
            </a:solidFill>
            <a:prstDash val="solid"/>
          </a:ln>
        </p:spPr>
      </p:sp>
      <p:sp>
        <p:nvSpPr>
          <p:cNvPr id="7" name="Shape 5"/>
          <p:cNvSpPr/>
          <p:nvPr/>
        </p:nvSpPr>
        <p:spPr>
          <a:xfrm>
            <a:off x="1225296" y="1938528"/>
            <a:ext cx="384048" cy="384048"/>
          </a:xfrm>
          <a:prstGeom prst="ellipse">
            <a:avLst/>
          </a:prstGeom>
          <a:solidFill>
            <a:srgbClr val="0F172A"/>
          </a:solidFill>
          <a:ln w="12700">
            <a:solidFill>
              <a:srgbClr val="0F172A"/>
            </a:solidFill>
            <a:prstDash val="solid"/>
          </a:ln>
        </p:spPr>
      </p:sp>
      <p:sp>
        <p:nvSpPr>
          <p:cNvPr id="8" name="Text 6"/>
          <p:cNvSpPr/>
          <p:nvPr/>
        </p:nvSpPr>
        <p:spPr>
          <a:xfrm>
            <a:off x="658368" y="1901952"/>
            <a:ext cx="457200" cy="219456"/>
          </a:xfrm>
          <a:prstGeom prst="rect">
            <a:avLst/>
          </a:prstGeom>
          <a:noFill/>
          <a:ln/>
        </p:spPr>
        <p:txBody>
          <a:bodyPr wrap="square" lIns="0" tIns="0" rIns="0" bIns="0" rtlCol="0" anchor="ctr"/>
          <a:lstStyle/>
          <a:p>
            <a:pPr marL="0" indent="0" algn="r">
              <a:buNone/>
            </a:pPr>
            <a:r>
              <a:rPr lang="en-US" sz="1150" b="1" dirty="0">
                <a:solidFill>
                  <a:srgbClr val="0F172A"/>
                </a:solidFill>
              </a:rPr>
              <a:t>1970</a:t>
            </a:r>
            <a:endParaRPr lang="en-US" sz="1150" dirty="0"/>
          </a:p>
        </p:txBody>
      </p:sp>
      <p:sp>
        <p:nvSpPr>
          <p:cNvPr id="9" name="Text 7"/>
          <p:cNvSpPr/>
          <p:nvPr/>
        </p:nvSpPr>
        <p:spPr>
          <a:xfrm>
            <a:off x="1874520" y="1828800"/>
            <a:ext cx="3840480" cy="274320"/>
          </a:xfrm>
          <a:prstGeom prst="rect">
            <a:avLst/>
          </a:prstGeom>
          <a:noFill/>
          <a:ln/>
        </p:spPr>
        <p:txBody>
          <a:bodyPr wrap="square" lIns="0" tIns="0" rIns="0" bIns="0" rtlCol="0" anchor="ctr"/>
          <a:lstStyle/>
          <a:p>
            <a:pPr marL="0" indent="0">
              <a:buNone/>
            </a:pPr>
            <a:r>
              <a:rPr lang="en-US" sz="1520" b="1" dirty="0">
                <a:solidFill>
                  <a:srgbClr val="0F172A"/>
                </a:solidFill>
              </a:rPr>
              <a:t>UU No. 1 Tahun 1970</a:t>
            </a:r>
            <a:endParaRPr lang="en-US" sz="1520" dirty="0"/>
          </a:p>
        </p:txBody>
      </p:sp>
      <p:sp>
        <p:nvSpPr>
          <p:cNvPr id="10" name="Text 8"/>
          <p:cNvSpPr/>
          <p:nvPr/>
        </p:nvSpPr>
        <p:spPr>
          <a:xfrm>
            <a:off x="1874520" y="2176272"/>
            <a:ext cx="4251960" cy="301752"/>
          </a:xfrm>
          <a:prstGeom prst="rect">
            <a:avLst/>
          </a:prstGeom>
          <a:noFill/>
          <a:ln/>
        </p:spPr>
        <p:txBody>
          <a:bodyPr wrap="square" lIns="0" tIns="0" rIns="0" bIns="0" rtlCol="0" anchor="ctr">
            <a:normAutofit/>
          </a:bodyPr>
          <a:lstStyle/>
          <a:p>
            <a:pPr marL="0" indent="0">
              <a:buNone/>
            </a:pPr>
            <a:r>
              <a:rPr lang="en-US" sz="1170" dirty="0">
                <a:solidFill>
                  <a:srgbClr val="334155"/>
                </a:solidFill>
              </a:rPr>
              <a:t>Keselamatan Kerja</a:t>
            </a:r>
            <a:endParaRPr lang="en-US" sz="1170" dirty="0"/>
          </a:p>
        </p:txBody>
      </p:sp>
      <p:sp>
        <p:nvSpPr>
          <p:cNvPr id="11" name="Shape 9"/>
          <p:cNvSpPr/>
          <p:nvPr/>
        </p:nvSpPr>
        <p:spPr>
          <a:xfrm>
            <a:off x="1225296" y="2898648"/>
            <a:ext cx="384048" cy="384048"/>
          </a:xfrm>
          <a:prstGeom prst="ellipse">
            <a:avLst/>
          </a:prstGeom>
          <a:solidFill>
            <a:srgbClr val="0E7490"/>
          </a:solidFill>
          <a:ln w="12700">
            <a:solidFill>
              <a:srgbClr val="0E7490"/>
            </a:solidFill>
            <a:prstDash val="solid"/>
          </a:ln>
        </p:spPr>
      </p:sp>
      <p:sp>
        <p:nvSpPr>
          <p:cNvPr id="12" name="Text 10"/>
          <p:cNvSpPr/>
          <p:nvPr/>
        </p:nvSpPr>
        <p:spPr>
          <a:xfrm>
            <a:off x="658368" y="2862072"/>
            <a:ext cx="457200" cy="219456"/>
          </a:xfrm>
          <a:prstGeom prst="rect">
            <a:avLst/>
          </a:prstGeom>
          <a:noFill/>
          <a:ln/>
        </p:spPr>
        <p:txBody>
          <a:bodyPr wrap="square" lIns="0" tIns="0" rIns="0" bIns="0" rtlCol="0" anchor="ctr"/>
          <a:lstStyle/>
          <a:p>
            <a:pPr marL="0" indent="0" algn="r">
              <a:buNone/>
            </a:pPr>
            <a:r>
              <a:rPr lang="en-US" sz="1150" b="1" dirty="0">
                <a:solidFill>
                  <a:srgbClr val="0E7490"/>
                </a:solidFill>
              </a:rPr>
              <a:t>2016</a:t>
            </a:r>
            <a:endParaRPr lang="en-US" sz="1150" dirty="0"/>
          </a:p>
        </p:txBody>
      </p:sp>
      <p:sp>
        <p:nvSpPr>
          <p:cNvPr id="13" name="Text 11"/>
          <p:cNvSpPr/>
          <p:nvPr/>
        </p:nvSpPr>
        <p:spPr>
          <a:xfrm>
            <a:off x="1874520" y="2788920"/>
            <a:ext cx="3840480" cy="274320"/>
          </a:xfrm>
          <a:prstGeom prst="rect">
            <a:avLst/>
          </a:prstGeom>
          <a:noFill/>
          <a:ln/>
        </p:spPr>
        <p:txBody>
          <a:bodyPr wrap="square" lIns="0" tIns="0" rIns="0" bIns="0" rtlCol="0" anchor="ctr"/>
          <a:lstStyle/>
          <a:p>
            <a:pPr marL="0" indent="0">
              <a:buNone/>
            </a:pPr>
            <a:r>
              <a:rPr lang="en-US" sz="1520" b="1" dirty="0">
                <a:solidFill>
                  <a:srgbClr val="0F172A"/>
                </a:solidFill>
              </a:rPr>
              <a:t>Permenkes No. 66 Tahun 2016</a:t>
            </a:r>
            <a:endParaRPr lang="en-US" sz="1520" dirty="0"/>
          </a:p>
        </p:txBody>
      </p:sp>
      <p:sp>
        <p:nvSpPr>
          <p:cNvPr id="14" name="Text 12"/>
          <p:cNvSpPr/>
          <p:nvPr/>
        </p:nvSpPr>
        <p:spPr>
          <a:xfrm>
            <a:off x="1874520" y="3136392"/>
            <a:ext cx="4251960" cy="301752"/>
          </a:xfrm>
          <a:prstGeom prst="rect">
            <a:avLst/>
          </a:prstGeom>
          <a:noFill/>
          <a:ln/>
        </p:spPr>
        <p:txBody>
          <a:bodyPr wrap="square" lIns="0" tIns="0" rIns="0" bIns="0" rtlCol="0" anchor="ctr">
            <a:normAutofit/>
          </a:bodyPr>
          <a:lstStyle/>
          <a:p>
            <a:pPr marL="0" indent="0">
              <a:buNone/>
            </a:pPr>
            <a:r>
              <a:rPr lang="en-US" sz="1170" dirty="0">
                <a:solidFill>
                  <a:srgbClr val="334155"/>
                </a:solidFill>
              </a:rPr>
              <a:t>Keselamatan dan Kesehatan Kerja Rumah Sakit — status berlaku.</a:t>
            </a:r>
            <a:endParaRPr lang="en-US" sz="1170" dirty="0"/>
          </a:p>
        </p:txBody>
      </p:sp>
      <p:sp>
        <p:nvSpPr>
          <p:cNvPr id="15" name="Shape 13"/>
          <p:cNvSpPr/>
          <p:nvPr/>
        </p:nvSpPr>
        <p:spPr>
          <a:xfrm>
            <a:off x="1225296" y="3858768"/>
            <a:ext cx="384048" cy="384048"/>
          </a:xfrm>
          <a:prstGeom prst="ellipse">
            <a:avLst/>
          </a:prstGeom>
          <a:solidFill>
            <a:srgbClr val="2563EB"/>
          </a:solidFill>
          <a:ln w="12700">
            <a:solidFill>
              <a:srgbClr val="2563EB"/>
            </a:solidFill>
            <a:prstDash val="solid"/>
          </a:ln>
        </p:spPr>
      </p:sp>
      <p:sp>
        <p:nvSpPr>
          <p:cNvPr id="16" name="Text 14"/>
          <p:cNvSpPr/>
          <p:nvPr/>
        </p:nvSpPr>
        <p:spPr>
          <a:xfrm>
            <a:off x="658368" y="3822192"/>
            <a:ext cx="457200" cy="219456"/>
          </a:xfrm>
          <a:prstGeom prst="rect">
            <a:avLst/>
          </a:prstGeom>
          <a:noFill/>
          <a:ln/>
        </p:spPr>
        <p:txBody>
          <a:bodyPr wrap="square" lIns="0" tIns="0" rIns="0" bIns="0" rtlCol="0" anchor="ctr"/>
          <a:lstStyle/>
          <a:p>
            <a:pPr marL="0" indent="0" algn="r">
              <a:buNone/>
            </a:pPr>
            <a:r>
              <a:rPr lang="en-US" sz="1150" b="1" dirty="0">
                <a:solidFill>
                  <a:srgbClr val="2563EB"/>
                </a:solidFill>
              </a:rPr>
              <a:t>2023</a:t>
            </a:r>
            <a:endParaRPr lang="en-US" sz="1150" dirty="0"/>
          </a:p>
        </p:txBody>
      </p:sp>
      <p:sp>
        <p:nvSpPr>
          <p:cNvPr id="17" name="Text 15"/>
          <p:cNvSpPr/>
          <p:nvPr/>
        </p:nvSpPr>
        <p:spPr>
          <a:xfrm>
            <a:off x="1874520" y="3749040"/>
            <a:ext cx="3840480" cy="274320"/>
          </a:xfrm>
          <a:prstGeom prst="rect">
            <a:avLst/>
          </a:prstGeom>
          <a:noFill/>
          <a:ln/>
        </p:spPr>
        <p:txBody>
          <a:bodyPr wrap="square" lIns="0" tIns="0" rIns="0" bIns="0" rtlCol="0" anchor="ctr"/>
          <a:lstStyle/>
          <a:p>
            <a:pPr marL="0" indent="0">
              <a:buNone/>
            </a:pPr>
            <a:r>
              <a:rPr lang="en-US" sz="1520" b="1" dirty="0">
                <a:solidFill>
                  <a:srgbClr val="0F172A"/>
                </a:solidFill>
              </a:rPr>
              <a:t>UU No. 17 Tahun 2023</a:t>
            </a:r>
            <a:endParaRPr lang="en-US" sz="1520" dirty="0"/>
          </a:p>
        </p:txBody>
      </p:sp>
      <p:sp>
        <p:nvSpPr>
          <p:cNvPr id="18" name="Text 16"/>
          <p:cNvSpPr/>
          <p:nvPr/>
        </p:nvSpPr>
        <p:spPr>
          <a:xfrm>
            <a:off x="1874520" y="4096512"/>
            <a:ext cx="4251960" cy="301752"/>
          </a:xfrm>
          <a:prstGeom prst="rect">
            <a:avLst/>
          </a:prstGeom>
          <a:noFill/>
          <a:ln/>
        </p:spPr>
        <p:txBody>
          <a:bodyPr wrap="square" lIns="0" tIns="0" rIns="0" bIns="0" rtlCol="0" anchor="ctr">
            <a:normAutofit/>
          </a:bodyPr>
          <a:lstStyle/>
          <a:p>
            <a:pPr marL="0" indent="0">
              <a:buNone/>
            </a:pPr>
            <a:r>
              <a:rPr lang="en-US" sz="1170" dirty="0">
                <a:solidFill>
                  <a:srgbClr val="334155"/>
                </a:solidFill>
              </a:rPr>
              <a:t>Kesehatan</a:t>
            </a:r>
            <a:endParaRPr lang="en-US" sz="1170" dirty="0"/>
          </a:p>
        </p:txBody>
      </p:sp>
      <p:sp>
        <p:nvSpPr>
          <p:cNvPr id="19" name="Shape 17"/>
          <p:cNvSpPr/>
          <p:nvPr/>
        </p:nvSpPr>
        <p:spPr>
          <a:xfrm>
            <a:off x="1225296" y="4818888"/>
            <a:ext cx="384048" cy="384048"/>
          </a:xfrm>
          <a:prstGeom prst="ellipse">
            <a:avLst/>
          </a:prstGeom>
          <a:solidFill>
            <a:srgbClr val="059669"/>
          </a:solidFill>
          <a:ln w="12700">
            <a:solidFill>
              <a:srgbClr val="059669"/>
            </a:solidFill>
            <a:prstDash val="solid"/>
          </a:ln>
        </p:spPr>
      </p:sp>
      <p:sp>
        <p:nvSpPr>
          <p:cNvPr id="20" name="Text 18"/>
          <p:cNvSpPr/>
          <p:nvPr/>
        </p:nvSpPr>
        <p:spPr>
          <a:xfrm>
            <a:off x="658368" y="4782312"/>
            <a:ext cx="457200" cy="219456"/>
          </a:xfrm>
          <a:prstGeom prst="rect">
            <a:avLst/>
          </a:prstGeom>
          <a:noFill/>
          <a:ln/>
        </p:spPr>
        <p:txBody>
          <a:bodyPr wrap="square" lIns="0" tIns="0" rIns="0" bIns="0" rtlCol="0" anchor="ctr"/>
          <a:lstStyle/>
          <a:p>
            <a:pPr marL="0" indent="0" algn="r">
              <a:buNone/>
            </a:pPr>
            <a:r>
              <a:rPr lang="en-US" sz="1150" b="1" dirty="0">
                <a:solidFill>
                  <a:srgbClr val="059669"/>
                </a:solidFill>
              </a:rPr>
              <a:t>2024</a:t>
            </a:r>
            <a:endParaRPr lang="en-US" sz="1150" dirty="0"/>
          </a:p>
        </p:txBody>
      </p:sp>
      <p:sp>
        <p:nvSpPr>
          <p:cNvPr id="21" name="Text 19"/>
          <p:cNvSpPr/>
          <p:nvPr/>
        </p:nvSpPr>
        <p:spPr>
          <a:xfrm>
            <a:off x="1874520" y="4709160"/>
            <a:ext cx="3840480" cy="274320"/>
          </a:xfrm>
          <a:prstGeom prst="rect">
            <a:avLst/>
          </a:prstGeom>
          <a:noFill/>
          <a:ln/>
        </p:spPr>
        <p:txBody>
          <a:bodyPr wrap="square" lIns="0" tIns="0" rIns="0" bIns="0" rtlCol="0" anchor="ctr"/>
          <a:lstStyle/>
          <a:p>
            <a:pPr marL="0" indent="0">
              <a:buNone/>
            </a:pPr>
            <a:r>
              <a:rPr lang="en-US" sz="1520" b="1" dirty="0">
                <a:solidFill>
                  <a:srgbClr val="0F172A"/>
                </a:solidFill>
              </a:rPr>
              <a:t>PP No. 28 Tahun 2024</a:t>
            </a:r>
            <a:endParaRPr lang="en-US" sz="1520" dirty="0"/>
          </a:p>
        </p:txBody>
      </p:sp>
      <p:sp>
        <p:nvSpPr>
          <p:cNvPr id="22" name="Text 20"/>
          <p:cNvSpPr/>
          <p:nvPr/>
        </p:nvSpPr>
        <p:spPr>
          <a:xfrm>
            <a:off x="1874520" y="5056632"/>
            <a:ext cx="4251960" cy="301752"/>
          </a:xfrm>
          <a:prstGeom prst="rect">
            <a:avLst/>
          </a:prstGeom>
          <a:noFill/>
          <a:ln/>
        </p:spPr>
        <p:txBody>
          <a:bodyPr wrap="square" lIns="0" tIns="0" rIns="0" bIns="0" rtlCol="0" anchor="ctr">
            <a:normAutofit/>
          </a:bodyPr>
          <a:lstStyle/>
          <a:p>
            <a:pPr marL="0" indent="0">
              <a:buNone/>
            </a:pPr>
            <a:r>
              <a:rPr lang="en-US" sz="1170" dirty="0">
                <a:solidFill>
                  <a:srgbClr val="334155"/>
                </a:solidFill>
              </a:rPr>
              <a:t>Peraturan pelaksanaan UU Kesehatan, termasuk aspek kesehatan kerja.</a:t>
            </a:r>
            <a:endParaRPr lang="en-US" sz="1170" dirty="0"/>
          </a:p>
        </p:txBody>
      </p:sp>
      <p:sp>
        <p:nvSpPr>
          <p:cNvPr id="23" name="Shape 21"/>
          <p:cNvSpPr/>
          <p:nvPr/>
        </p:nvSpPr>
        <p:spPr>
          <a:xfrm>
            <a:off x="6629400" y="1901952"/>
            <a:ext cx="4663440" cy="3273552"/>
          </a:xfrm>
          <a:prstGeom prst="roundRect">
            <a:avLst>
              <a:gd name="adj" fmla="val 2235"/>
            </a:avLst>
          </a:prstGeom>
          <a:solidFill>
            <a:srgbClr val="ECFEFF"/>
          </a:solidFill>
          <a:ln w="12700">
            <a:solidFill>
              <a:srgbClr val="A5F3FC"/>
            </a:solidFill>
            <a:prstDash val="solid"/>
          </a:ln>
        </p:spPr>
      </p:sp>
      <p:sp>
        <p:nvSpPr>
          <p:cNvPr id="24" name="Shape 22"/>
          <p:cNvSpPr/>
          <p:nvPr/>
        </p:nvSpPr>
        <p:spPr>
          <a:xfrm>
            <a:off x="6976872" y="2240280"/>
            <a:ext cx="658368" cy="658368"/>
          </a:xfrm>
          <a:prstGeom prst="ellipse">
            <a:avLst/>
          </a:prstGeom>
          <a:solidFill>
            <a:srgbClr val="FFFFFF"/>
          </a:solidFill>
          <a:ln w="12700">
            <a:solidFill>
              <a:srgbClr val="FFFFFF"/>
            </a:solidFill>
            <a:prstDash val="solid"/>
          </a:ln>
        </p:spPr>
      </p:sp>
      <p:pic>
        <p:nvPicPr>
          <p:cNvPr id="25"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114032" y="2377440"/>
            <a:ext cx="347472" cy="347472"/>
          </a:xfrm>
          <a:prstGeom prst="rect">
            <a:avLst/>
          </a:prstGeom>
        </p:spPr>
      </p:pic>
      <p:sp>
        <p:nvSpPr>
          <p:cNvPr id="26" name="Text 23"/>
          <p:cNvSpPr/>
          <p:nvPr/>
        </p:nvSpPr>
        <p:spPr>
          <a:xfrm>
            <a:off x="7799832" y="2267712"/>
            <a:ext cx="2697480" cy="320040"/>
          </a:xfrm>
          <a:prstGeom prst="rect">
            <a:avLst/>
          </a:prstGeom>
          <a:noFill/>
          <a:ln/>
        </p:spPr>
        <p:txBody>
          <a:bodyPr wrap="square" lIns="0" tIns="0" rIns="0" bIns="0" rtlCol="0" anchor="ctr"/>
          <a:lstStyle/>
          <a:p>
            <a:pPr marL="0" indent="0">
              <a:buNone/>
            </a:pPr>
            <a:r>
              <a:rPr lang="en-US" sz="1800" b="1" dirty="0">
                <a:solidFill>
                  <a:srgbClr val="0F172A"/>
                </a:solidFill>
              </a:rPr>
              <a:t>Implikasi bagi perawat</a:t>
            </a:r>
            <a:endParaRPr lang="en-US" sz="1800" dirty="0"/>
          </a:p>
        </p:txBody>
      </p:sp>
      <p:sp>
        <p:nvSpPr>
          <p:cNvPr id="27" name="Text 24"/>
          <p:cNvSpPr/>
          <p:nvPr/>
        </p:nvSpPr>
        <p:spPr>
          <a:xfrm>
            <a:off x="6967728" y="2962656"/>
            <a:ext cx="3794760" cy="1737360"/>
          </a:xfrm>
          <a:prstGeom prst="rect">
            <a:avLst/>
          </a:prstGeom>
          <a:noFill/>
          <a:ln/>
        </p:spPr>
        <p:txBody>
          <a:bodyPr wrap="square" lIns="381" tIns="381" rIns="381" bIns="381" rtlCol="0" anchor="ctr">
            <a:normAutofit/>
          </a:bodyPr>
          <a:lstStyle/>
          <a:p>
            <a:pPr marL="203200" indent="-203200">
              <a:buSzPct val="100000"/>
              <a:buChar char="•"/>
            </a:pPr>
            <a:r>
              <a:rPr lang="en-US" sz="1340" dirty="0">
                <a:solidFill>
                  <a:srgbClr val="334155"/>
                </a:solidFill>
                <a:latin typeface="Arial" pitchFamily="34" charset="0"/>
                <a:ea typeface="Arial" pitchFamily="34" charset="-122"/>
                <a:cs typeface="Arial" pitchFamily="34" charset="-120"/>
              </a:rPr>
              <a:t>Ikuti SOP K3, PPI, APD, pengelolaan limbah, dan prosedur darurat fasilitas.</a:t>
            </a:r>
            <a:endParaRPr lang="en-US" sz="1340" dirty="0"/>
          </a:p>
          <a:p>
            <a:pPr marL="203200" indent="-203200">
              <a:buSzPct val="100000"/>
              <a:buChar char="•"/>
            </a:pPr>
            <a:r>
              <a:rPr lang="en-US" sz="1340" dirty="0">
                <a:solidFill>
                  <a:srgbClr val="334155"/>
                </a:solidFill>
                <a:latin typeface="Arial" pitchFamily="34" charset="0"/>
                <a:ea typeface="Arial" pitchFamily="34" charset="-122"/>
                <a:cs typeface="Arial" pitchFamily="34" charset="-120"/>
              </a:rPr>
              <a:t>Pahami hak, kewajiban, jalur pelaporan, serta tindak lanjut pajanan kerja.</a:t>
            </a:r>
            <a:endParaRPr lang="en-US" sz="1340" dirty="0"/>
          </a:p>
          <a:p>
            <a:pPr marL="203200" indent="-203200">
              <a:buSzPct val="100000"/>
              <a:buChar char="•"/>
            </a:pPr>
            <a:r>
              <a:rPr lang="en-US" sz="1340" dirty="0">
                <a:solidFill>
                  <a:srgbClr val="334155"/>
                </a:solidFill>
                <a:latin typeface="Arial" pitchFamily="34" charset="0"/>
                <a:ea typeface="Arial" pitchFamily="34" charset="-122"/>
                <a:cs typeface="Arial" pitchFamily="34" charset="-120"/>
              </a:rPr>
              <a:t>K3 merupakan tanggung jawab organisasi dan seluruh pekerja — bukan tugas satu unit saja.</a:t>
            </a:r>
            <a:endParaRPr lang="en-US" sz="1340" dirty="0"/>
          </a:p>
        </p:txBody>
      </p:sp>
      <p:sp>
        <p:nvSpPr>
          <p:cNvPr id="28" name="Text 25"/>
          <p:cNvSpPr/>
          <p:nvPr/>
        </p:nvSpPr>
        <p:spPr>
          <a:xfrm>
            <a:off x="566928" y="6291072"/>
            <a:ext cx="10698480" cy="164592"/>
          </a:xfrm>
          <a:prstGeom prst="rect">
            <a:avLst/>
          </a:prstGeom>
          <a:noFill/>
          <a:ln/>
        </p:spPr>
        <p:txBody>
          <a:bodyPr wrap="square" lIns="0" tIns="0" rIns="0" bIns="0" rtlCol="0" anchor="ctr">
            <a:normAutofit/>
          </a:bodyPr>
          <a:lstStyle/>
          <a:p>
            <a:pPr marL="0" indent="0">
              <a:buNone/>
            </a:pPr>
            <a:r>
              <a:rPr lang="en-US" sz="730" i="1" dirty="0">
                <a:solidFill>
                  <a:srgbClr val="94A3B8"/>
                </a:solidFill>
                <a:latin typeface="Arial" pitchFamily="34" charset="0"/>
                <a:ea typeface="Arial" pitchFamily="34" charset="-122"/>
                <a:cs typeface="Arial" pitchFamily="34" charset="-120"/>
              </a:rPr>
              <a:t>Status Permenkes 66/2016: JDIH BPK, “Berlaku” (diakses 23 September 2026).</a:t>
            </a:r>
            <a:endParaRPr lang="en-US" sz="730" dirty="0"/>
          </a:p>
        </p:txBody>
      </p:sp>
      <p:sp>
        <p:nvSpPr>
          <p:cNvPr id="29" name="Slide Number Placeholder 0"/>
          <p:cNvSpPr>
            <a:spLocks noGrp="1"/>
          </p:cNvSpPr>
          <p:nvPr>
            <p:ph type="sldNum" sz="quarter" idx="4294967295"/>
          </p:nvPr>
        </p:nvSpPr>
        <p:spPr>
          <a:xfrm>
            <a:off x="11475720" y="6492240"/>
            <a:ext cx="320040"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64748B"/>
                </a:solidFill>
                <a:latin typeface="Arial"/>
                <a:ea typeface="Arial"/>
                <a:cs typeface="Aria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566928" y="347472"/>
            <a:ext cx="1417320" cy="310896"/>
          </a:xfrm>
          <a:prstGeom prst="roundRect">
            <a:avLst>
              <a:gd name="adj" fmla="val 23529"/>
            </a:avLst>
          </a:prstGeom>
          <a:solidFill>
            <a:srgbClr val="ECFEFF"/>
          </a:solidFill>
          <a:ln w="12700">
            <a:solidFill>
              <a:srgbClr val="ECFEFF"/>
            </a:solidFill>
            <a:prstDash val="solid"/>
          </a:ln>
        </p:spPr>
      </p:sp>
      <p:sp>
        <p:nvSpPr>
          <p:cNvPr id="3" name="Text 1"/>
          <p:cNvSpPr/>
          <p:nvPr/>
        </p:nvSpPr>
        <p:spPr>
          <a:xfrm>
            <a:off x="694944" y="429768"/>
            <a:ext cx="1170432" cy="128016"/>
          </a:xfrm>
          <a:prstGeom prst="rect">
            <a:avLst/>
          </a:prstGeom>
          <a:noFill/>
          <a:ln/>
        </p:spPr>
        <p:txBody>
          <a:bodyPr wrap="square" lIns="0" tIns="0" rIns="0" bIns="0" rtlCol="0" anchor="ctr"/>
          <a:lstStyle/>
          <a:p>
            <a:pPr marL="0" indent="0" algn="ctr">
              <a:buNone/>
            </a:pPr>
            <a:r>
              <a:rPr lang="en-US" sz="900" b="1" dirty="0">
                <a:solidFill>
                  <a:srgbClr val="0E7490"/>
                </a:solidFill>
                <a:latin typeface="Arial" pitchFamily="34" charset="0"/>
                <a:ea typeface="Arial" pitchFamily="34" charset="-122"/>
                <a:cs typeface="Arial" pitchFamily="34" charset="-120"/>
              </a:rPr>
              <a:t>RUANG LINGKUP</a:t>
            </a:r>
            <a:endParaRPr lang="en-US" sz="900" dirty="0"/>
          </a:p>
        </p:txBody>
      </p:sp>
      <p:sp>
        <p:nvSpPr>
          <p:cNvPr id="4" name="Text 2"/>
          <p:cNvSpPr/>
          <p:nvPr/>
        </p:nvSpPr>
        <p:spPr>
          <a:xfrm>
            <a:off x="566928" y="566928"/>
            <a:ext cx="10972800" cy="566928"/>
          </a:xfrm>
          <a:prstGeom prst="rect">
            <a:avLst/>
          </a:prstGeom>
          <a:noFill/>
          <a:ln/>
        </p:spPr>
        <p:txBody>
          <a:bodyPr wrap="square" lIns="0" tIns="0" rIns="0" bIns="0" rtlCol="0" anchor="ctr">
            <a:normAutofit/>
          </a:bodyPr>
          <a:lstStyle/>
          <a:p>
            <a:pPr marL="0" indent="0">
              <a:buNone/>
            </a:pPr>
            <a:r>
              <a:rPr lang="en-US" sz="2700" b="1" dirty="0">
                <a:solidFill>
                  <a:srgbClr val="0F172A"/>
                </a:solidFill>
                <a:latin typeface="Arial" pitchFamily="34" charset="0"/>
                <a:ea typeface="Arial" pitchFamily="34" charset="-122"/>
                <a:cs typeface="Arial" pitchFamily="34" charset="-120"/>
              </a:rPr>
              <a:t>Ruang Lingkup K3 dalam Keperawatan</a:t>
            </a:r>
            <a:endParaRPr lang="en-US" sz="2700" dirty="0"/>
          </a:p>
        </p:txBody>
      </p:sp>
      <p:sp>
        <p:nvSpPr>
          <p:cNvPr id="5" name="Text 3"/>
          <p:cNvSpPr/>
          <p:nvPr/>
        </p:nvSpPr>
        <p:spPr>
          <a:xfrm>
            <a:off x="566928" y="1042416"/>
            <a:ext cx="10881360" cy="384048"/>
          </a:xfrm>
          <a:prstGeom prst="rect">
            <a:avLst/>
          </a:prstGeom>
          <a:noFill/>
          <a:ln/>
        </p:spPr>
        <p:txBody>
          <a:bodyPr wrap="square" lIns="0" tIns="0" rIns="0" bIns="0" rtlCol="0" anchor="ctr">
            <a:normAutofit/>
          </a:bodyPr>
          <a:lstStyle/>
          <a:p>
            <a:pPr marL="0" indent="0">
              <a:buNone/>
            </a:pPr>
            <a:r>
              <a:rPr lang="en-US" sz="1250" dirty="0">
                <a:solidFill>
                  <a:srgbClr val="64748B"/>
                </a:solidFill>
                <a:latin typeface="Arial" pitchFamily="34" charset="0"/>
                <a:ea typeface="Arial" pitchFamily="34" charset="-122"/>
                <a:cs typeface="Arial" pitchFamily="34" charset="-120"/>
              </a:rPr>
              <a:t>Ruang lingkup K3 mencakup faktor manusia, proses kerja, peralatan, lingkungan, dan organisasi.</a:t>
            </a:r>
            <a:endParaRPr lang="en-US" sz="1250" dirty="0"/>
          </a:p>
        </p:txBody>
      </p:sp>
      <p:sp>
        <p:nvSpPr>
          <p:cNvPr id="6" name="Shape 4"/>
          <p:cNvSpPr/>
          <p:nvPr/>
        </p:nvSpPr>
        <p:spPr>
          <a:xfrm>
            <a:off x="4892040" y="2578608"/>
            <a:ext cx="2395728" cy="2395728"/>
          </a:xfrm>
          <a:prstGeom prst="ellipse">
            <a:avLst/>
          </a:prstGeom>
          <a:solidFill>
            <a:srgbClr val="0E7490"/>
          </a:solidFill>
          <a:ln w="12700">
            <a:solidFill>
              <a:srgbClr val="0E7490"/>
            </a:solidFill>
            <a:prstDash val="solid"/>
          </a:ln>
        </p:spPr>
      </p:sp>
      <p:pic>
        <p:nvPicPr>
          <p:cNvPr id="7"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577840" y="3017520"/>
            <a:ext cx="1005840" cy="1005840"/>
          </a:xfrm>
          <a:prstGeom prst="rect">
            <a:avLst/>
          </a:prstGeom>
        </p:spPr>
      </p:pic>
      <p:sp>
        <p:nvSpPr>
          <p:cNvPr id="8" name="Text 5"/>
          <p:cNvSpPr/>
          <p:nvPr/>
        </p:nvSpPr>
        <p:spPr>
          <a:xfrm>
            <a:off x="5175504" y="4069080"/>
            <a:ext cx="1828800" cy="530352"/>
          </a:xfrm>
          <a:prstGeom prst="rect">
            <a:avLst/>
          </a:prstGeom>
          <a:noFill/>
          <a:ln/>
        </p:spPr>
        <p:txBody>
          <a:bodyPr wrap="square" lIns="0" tIns="0" rIns="0" bIns="0" rtlCol="0" anchor="ctr"/>
          <a:lstStyle/>
          <a:p>
            <a:pPr marL="0" indent="0" algn="ctr">
              <a:buNone/>
            </a:pPr>
            <a:r>
              <a:rPr lang="en-US" sz="1400" b="1" dirty="0">
                <a:solidFill>
                  <a:srgbClr val="FFFFFF"/>
                </a:solidFill>
              </a:rPr>
              <a:t>PERAWAT</a:t>
            </a:r>
            <a:endParaRPr lang="en-US" sz="1400" dirty="0"/>
          </a:p>
          <a:p>
            <a:pPr marL="0" indent="0" algn="ctr">
              <a:buNone/>
            </a:pPr>
            <a:r>
              <a:rPr lang="en-US" sz="1400" b="1" dirty="0">
                <a:solidFill>
                  <a:srgbClr val="FFFFFF"/>
                </a:solidFill>
              </a:rPr>
              <a:t>AMAN</a:t>
            </a:r>
            <a:endParaRPr lang="en-US" sz="1400" dirty="0"/>
          </a:p>
        </p:txBody>
      </p:sp>
      <p:sp>
        <p:nvSpPr>
          <p:cNvPr id="9" name="Shape 6"/>
          <p:cNvSpPr/>
          <p:nvPr/>
        </p:nvSpPr>
        <p:spPr>
          <a:xfrm>
            <a:off x="1005840" y="1965960"/>
            <a:ext cx="1874520" cy="868680"/>
          </a:xfrm>
          <a:prstGeom prst="roundRect">
            <a:avLst>
              <a:gd name="adj" fmla="val 8421"/>
            </a:avLst>
          </a:prstGeom>
          <a:solidFill>
            <a:srgbClr val="FFFFFF"/>
          </a:solidFill>
          <a:ln w="12700">
            <a:solidFill>
              <a:srgbClr val="E2E8F0"/>
            </a:solidFill>
            <a:prstDash val="solid"/>
          </a:ln>
        </p:spPr>
      </p:sp>
      <p:sp>
        <p:nvSpPr>
          <p:cNvPr id="10" name="Shape 7"/>
          <p:cNvSpPr/>
          <p:nvPr/>
        </p:nvSpPr>
        <p:spPr>
          <a:xfrm>
            <a:off x="1143000" y="2075688"/>
            <a:ext cx="658368" cy="658368"/>
          </a:xfrm>
          <a:prstGeom prst="ellipse">
            <a:avLst/>
          </a:prstGeom>
          <a:solidFill>
            <a:srgbClr val="F8FAFC"/>
          </a:solidFill>
          <a:ln w="12700">
            <a:solidFill>
              <a:srgbClr val="F8FAFC"/>
            </a:solidFill>
            <a:prstDash val="solid"/>
          </a:ln>
        </p:spPr>
      </p:sp>
      <p:pic>
        <p:nvPicPr>
          <p:cNvPr id="11"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280160" y="2212848"/>
            <a:ext cx="274320" cy="274320"/>
          </a:xfrm>
          <a:prstGeom prst="rect">
            <a:avLst/>
          </a:prstGeom>
        </p:spPr>
      </p:pic>
      <p:sp>
        <p:nvSpPr>
          <p:cNvPr id="12" name="Text 8"/>
          <p:cNvSpPr/>
          <p:nvPr/>
        </p:nvSpPr>
        <p:spPr>
          <a:xfrm>
            <a:off x="1810512" y="2167128"/>
            <a:ext cx="932688" cy="438912"/>
          </a:xfrm>
          <a:prstGeom prst="rect">
            <a:avLst/>
          </a:prstGeom>
          <a:noFill/>
          <a:ln/>
        </p:spPr>
        <p:txBody>
          <a:bodyPr wrap="square" lIns="0" tIns="0" rIns="0" bIns="0" rtlCol="0" anchor="ctr">
            <a:normAutofit/>
          </a:bodyPr>
          <a:lstStyle/>
          <a:p>
            <a:pPr marL="0" indent="0">
              <a:buNone/>
            </a:pPr>
            <a:r>
              <a:rPr lang="en-US" sz="1020" b="1" dirty="0">
                <a:solidFill>
                  <a:srgbClr val="334155"/>
                </a:solidFill>
              </a:rPr>
              <a:t>Bahaya biologis</a:t>
            </a:r>
            <a:endParaRPr lang="en-US" sz="1020" dirty="0"/>
          </a:p>
        </p:txBody>
      </p:sp>
      <p:sp>
        <p:nvSpPr>
          <p:cNvPr id="13" name="Shape 9"/>
          <p:cNvSpPr/>
          <p:nvPr/>
        </p:nvSpPr>
        <p:spPr>
          <a:xfrm>
            <a:off x="914400" y="4251960"/>
            <a:ext cx="1874520" cy="868680"/>
          </a:xfrm>
          <a:prstGeom prst="roundRect">
            <a:avLst>
              <a:gd name="adj" fmla="val 8421"/>
            </a:avLst>
          </a:prstGeom>
          <a:solidFill>
            <a:srgbClr val="FFFFFF"/>
          </a:solidFill>
          <a:ln w="12700">
            <a:solidFill>
              <a:srgbClr val="E2E8F0"/>
            </a:solidFill>
            <a:prstDash val="solid"/>
          </a:ln>
        </p:spPr>
      </p:sp>
      <p:sp>
        <p:nvSpPr>
          <p:cNvPr id="14" name="Shape 10"/>
          <p:cNvSpPr/>
          <p:nvPr/>
        </p:nvSpPr>
        <p:spPr>
          <a:xfrm>
            <a:off x="1051560" y="4361688"/>
            <a:ext cx="658368" cy="658368"/>
          </a:xfrm>
          <a:prstGeom prst="ellipse">
            <a:avLst/>
          </a:prstGeom>
          <a:solidFill>
            <a:srgbClr val="F8FAFC"/>
          </a:solidFill>
          <a:ln w="12700">
            <a:solidFill>
              <a:srgbClr val="F8FAFC"/>
            </a:solidFill>
            <a:prstDash val="solid"/>
          </a:ln>
        </p:spPr>
      </p:sp>
      <p:pic>
        <p:nvPicPr>
          <p:cNvPr id="15"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188720" y="4498848"/>
            <a:ext cx="274320" cy="274320"/>
          </a:xfrm>
          <a:prstGeom prst="rect">
            <a:avLst/>
          </a:prstGeom>
        </p:spPr>
      </p:pic>
      <p:sp>
        <p:nvSpPr>
          <p:cNvPr id="16" name="Text 11"/>
          <p:cNvSpPr/>
          <p:nvPr/>
        </p:nvSpPr>
        <p:spPr>
          <a:xfrm>
            <a:off x="1719072" y="4453128"/>
            <a:ext cx="932688" cy="438912"/>
          </a:xfrm>
          <a:prstGeom prst="rect">
            <a:avLst/>
          </a:prstGeom>
          <a:noFill/>
          <a:ln/>
        </p:spPr>
        <p:txBody>
          <a:bodyPr wrap="square" lIns="0" tIns="0" rIns="0" bIns="0" rtlCol="0" anchor="ctr">
            <a:normAutofit/>
          </a:bodyPr>
          <a:lstStyle/>
          <a:p>
            <a:pPr marL="0" indent="0">
              <a:buNone/>
            </a:pPr>
            <a:r>
              <a:rPr lang="en-US" sz="1020" b="1" dirty="0">
                <a:solidFill>
                  <a:srgbClr val="334155"/>
                </a:solidFill>
              </a:rPr>
              <a:t>Bahaya kimia</a:t>
            </a:r>
            <a:endParaRPr lang="en-US" sz="1020" dirty="0"/>
          </a:p>
        </p:txBody>
      </p:sp>
      <p:sp>
        <p:nvSpPr>
          <p:cNvPr id="17" name="Shape 12"/>
          <p:cNvSpPr/>
          <p:nvPr/>
        </p:nvSpPr>
        <p:spPr>
          <a:xfrm>
            <a:off x="3675888" y="5212080"/>
            <a:ext cx="1874520" cy="868680"/>
          </a:xfrm>
          <a:prstGeom prst="roundRect">
            <a:avLst>
              <a:gd name="adj" fmla="val 8421"/>
            </a:avLst>
          </a:prstGeom>
          <a:solidFill>
            <a:srgbClr val="FFFFFF"/>
          </a:solidFill>
          <a:ln w="12700">
            <a:solidFill>
              <a:srgbClr val="E2E8F0"/>
            </a:solidFill>
            <a:prstDash val="solid"/>
          </a:ln>
        </p:spPr>
      </p:sp>
      <p:sp>
        <p:nvSpPr>
          <p:cNvPr id="18" name="Shape 13"/>
          <p:cNvSpPr/>
          <p:nvPr/>
        </p:nvSpPr>
        <p:spPr>
          <a:xfrm>
            <a:off x="3813048" y="5321808"/>
            <a:ext cx="658368" cy="658368"/>
          </a:xfrm>
          <a:prstGeom prst="ellipse">
            <a:avLst/>
          </a:prstGeom>
          <a:solidFill>
            <a:srgbClr val="F8FAFC"/>
          </a:solidFill>
          <a:ln w="12700">
            <a:solidFill>
              <a:srgbClr val="F8FAFC"/>
            </a:solidFill>
            <a:prstDash val="solid"/>
          </a:ln>
        </p:spPr>
      </p:sp>
      <p:pic>
        <p:nvPicPr>
          <p:cNvPr id="19"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950208" y="5458968"/>
            <a:ext cx="274320" cy="274320"/>
          </a:xfrm>
          <a:prstGeom prst="rect">
            <a:avLst/>
          </a:prstGeom>
        </p:spPr>
      </p:pic>
      <p:sp>
        <p:nvSpPr>
          <p:cNvPr id="20" name="Text 14"/>
          <p:cNvSpPr/>
          <p:nvPr/>
        </p:nvSpPr>
        <p:spPr>
          <a:xfrm>
            <a:off x="4480560" y="5413248"/>
            <a:ext cx="932688" cy="438912"/>
          </a:xfrm>
          <a:prstGeom prst="rect">
            <a:avLst/>
          </a:prstGeom>
          <a:noFill/>
          <a:ln/>
        </p:spPr>
        <p:txBody>
          <a:bodyPr wrap="square" lIns="0" tIns="0" rIns="0" bIns="0" rtlCol="0" anchor="ctr">
            <a:normAutofit/>
          </a:bodyPr>
          <a:lstStyle/>
          <a:p>
            <a:pPr marL="0" indent="0">
              <a:buNone/>
            </a:pPr>
            <a:r>
              <a:rPr lang="en-US" sz="1020" b="1" dirty="0">
                <a:solidFill>
                  <a:srgbClr val="334155"/>
                </a:solidFill>
              </a:rPr>
              <a:t>Ergonomi</a:t>
            </a:r>
            <a:endParaRPr lang="en-US" sz="1020" dirty="0"/>
          </a:p>
        </p:txBody>
      </p:sp>
      <p:sp>
        <p:nvSpPr>
          <p:cNvPr id="21" name="Shape 15"/>
          <p:cNvSpPr/>
          <p:nvPr/>
        </p:nvSpPr>
        <p:spPr>
          <a:xfrm>
            <a:off x="7616952" y="5212080"/>
            <a:ext cx="1874520" cy="868680"/>
          </a:xfrm>
          <a:prstGeom prst="roundRect">
            <a:avLst>
              <a:gd name="adj" fmla="val 8421"/>
            </a:avLst>
          </a:prstGeom>
          <a:solidFill>
            <a:srgbClr val="FFFFFF"/>
          </a:solidFill>
          <a:ln w="12700">
            <a:solidFill>
              <a:srgbClr val="E2E8F0"/>
            </a:solidFill>
            <a:prstDash val="solid"/>
          </a:ln>
        </p:spPr>
      </p:sp>
      <p:sp>
        <p:nvSpPr>
          <p:cNvPr id="22" name="Shape 16"/>
          <p:cNvSpPr/>
          <p:nvPr/>
        </p:nvSpPr>
        <p:spPr>
          <a:xfrm>
            <a:off x="7754112" y="5321808"/>
            <a:ext cx="658368" cy="658368"/>
          </a:xfrm>
          <a:prstGeom prst="ellipse">
            <a:avLst/>
          </a:prstGeom>
          <a:solidFill>
            <a:srgbClr val="F8FAFC"/>
          </a:solidFill>
          <a:ln w="12700">
            <a:solidFill>
              <a:srgbClr val="F8FAFC"/>
            </a:solidFill>
            <a:prstDash val="solid"/>
          </a:ln>
        </p:spPr>
      </p:sp>
      <p:pic>
        <p:nvPicPr>
          <p:cNvPr id="23"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891272" y="5458968"/>
            <a:ext cx="274320" cy="274320"/>
          </a:xfrm>
          <a:prstGeom prst="rect">
            <a:avLst/>
          </a:prstGeom>
        </p:spPr>
      </p:pic>
      <p:sp>
        <p:nvSpPr>
          <p:cNvPr id="24" name="Text 17"/>
          <p:cNvSpPr/>
          <p:nvPr/>
        </p:nvSpPr>
        <p:spPr>
          <a:xfrm>
            <a:off x="8421624" y="5413248"/>
            <a:ext cx="932688" cy="438912"/>
          </a:xfrm>
          <a:prstGeom prst="rect">
            <a:avLst/>
          </a:prstGeom>
          <a:noFill/>
          <a:ln/>
        </p:spPr>
        <p:txBody>
          <a:bodyPr wrap="square" lIns="0" tIns="0" rIns="0" bIns="0" rtlCol="0" anchor="ctr">
            <a:normAutofit/>
          </a:bodyPr>
          <a:lstStyle/>
          <a:p>
            <a:pPr marL="0" indent="0">
              <a:buNone/>
            </a:pPr>
            <a:r>
              <a:rPr lang="en-US" sz="1020" b="1" dirty="0">
                <a:solidFill>
                  <a:srgbClr val="334155"/>
                </a:solidFill>
              </a:rPr>
              <a:t>Psikososial</a:t>
            </a:r>
            <a:endParaRPr lang="en-US" sz="1020" dirty="0"/>
          </a:p>
        </p:txBody>
      </p:sp>
      <p:sp>
        <p:nvSpPr>
          <p:cNvPr id="25" name="Shape 18"/>
          <p:cNvSpPr/>
          <p:nvPr/>
        </p:nvSpPr>
        <p:spPr>
          <a:xfrm>
            <a:off x="9390888" y="3918204"/>
            <a:ext cx="1874520" cy="868680"/>
          </a:xfrm>
          <a:prstGeom prst="roundRect">
            <a:avLst>
              <a:gd name="adj" fmla="val 8421"/>
            </a:avLst>
          </a:prstGeom>
          <a:solidFill>
            <a:srgbClr val="FFFFFF"/>
          </a:solidFill>
          <a:ln w="12700">
            <a:solidFill>
              <a:srgbClr val="E2E8F0"/>
            </a:solidFill>
            <a:prstDash val="solid"/>
          </a:ln>
        </p:spPr>
      </p:sp>
      <p:sp>
        <p:nvSpPr>
          <p:cNvPr id="26" name="Shape 19"/>
          <p:cNvSpPr/>
          <p:nvPr/>
        </p:nvSpPr>
        <p:spPr>
          <a:xfrm>
            <a:off x="9528048" y="4027932"/>
            <a:ext cx="658368" cy="658368"/>
          </a:xfrm>
          <a:prstGeom prst="ellipse">
            <a:avLst/>
          </a:prstGeom>
          <a:solidFill>
            <a:srgbClr val="F8FAFC"/>
          </a:solidFill>
          <a:ln w="12700">
            <a:solidFill>
              <a:srgbClr val="F8FAFC"/>
            </a:solidFill>
            <a:prstDash val="solid"/>
          </a:ln>
        </p:spPr>
        <p:txBody>
          <a:bodyPr/>
          <a:lstStyle/>
          <a:p>
            <a:endParaRPr lang="en-ID" dirty="0"/>
          </a:p>
        </p:txBody>
      </p:sp>
      <p:pic>
        <p:nvPicPr>
          <p:cNvPr id="27"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9720072" y="4223752"/>
            <a:ext cx="274320" cy="274320"/>
          </a:xfrm>
          <a:prstGeom prst="rect">
            <a:avLst/>
          </a:prstGeom>
        </p:spPr>
      </p:pic>
      <p:sp>
        <p:nvSpPr>
          <p:cNvPr id="28" name="Text 20"/>
          <p:cNvSpPr/>
          <p:nvPr/>
        </p:nvSpPr>
        <p:spPr>
          <a:xfrm>
            <a:off x="10195560" y="4119372"/>
            <a:ext cx="932688" cy="438912"/>
          </a:xfrm>
          <a:prstGeom prst="rect">
            <a:avLst/>
          </a:prstGeom>
          <a:noFill/>
          <a:ln/>
        </p:spPr>
        <p:txBody>
          <a:bodyPr wrap="square" lIns="0" tIns="0" rIns="0" bIns="0" rtlCol="0" anchor="ctr">
            <a:normAutofit/>
          </a:bodyPr>
          <a:lstStyle/>
          <a:p>
            <a:pPr marL="0" indent="0">
              <a:buNone/>
            </a:pPr>
            <a:r>
              <a:rPr lang="en-US" sz="1020" b="1" dirty="0">
                <a:solidFill>
                  <a:srgbClr val="334155"/>
                </a:solidFill>
              </a:rPr>
              <a:t>Fisik &amp; fasilitas</a:t>
            </a:r>
            <a:endParaRPr lang="en-US" sz="1020" dirty="0"/>
          </a:p>
        </p:txBody>
      </p:sp>
      <p:sp>
        <p:nvSpPr>
          <p:cNvPr id="29" name="Shape 21"/>
          <p:cNvSpPr/>
          <p:nvPr/>
        </p:nvSpPr>
        <p:spPr>
          <a:xfrm>
            <a:off x="9308592" y="1965960"/>
            <a:ext cx="1874520" cy="868680"/>
          </a:xfrm>
          <a:prstGeom prst="roundRect">
            <a:avLst>
              <a:gd name="adj" fmla="val 8421"/>
            </a:avLst>
          </a:prstGeom>
          <a:solidFill>
            <a:srgbClr val="FFFFFF"/>
          </a:solidFill>
          <a:ln w="12700">
            <a:solidFill>
              <a:srgbClr val="E2E8F0"/>
            </a:solidFill>
            <a:prstDash val="solid"/>
          </a:ln>
        </p:spPr>
      </p:sp>
      <p:sp>
        <p:nvSpPr>
          <p:cNvPr id="30" name="Shape 22"/>
          <p:cNvSpPr/>
          <p:nvPr/>
        </p:nvSpPr>
        <p:spPr>
          <a:xfrm>
            <a:off x="9445752" y="2075688"/>
            <a:ext cx="658368" cy="658368"/>
          </a:xfrm>
          <a:prstGeom prst="ellipse">
            <a:avLst/>
          </a:prstGeom>
          <a:solidFill>
            <a:srgbClr val="F8FAFC"/>
          </a:solidFill>
          <a:ln w="12700">
            <a:solidFill>
              <a:srgbClr val="F8FAFC"/>
            </a:solidFill>
            <a:prstDash val="solid"/>
          </a:ln>
        </p:spPr>
      </p:sp>
      <p:pic>
        <p:nvPicPr>
          <p:cNvPr id="31" name="Image 6" descr="preencoded.png"/>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9582912" y="2212848"/>
            <a:ext cx="274320" cy="274320"/>
          </a:xfrm>
          <a:prstGeom prst="rect">
            <a:avLst/>
          </a:prstGeom>
        </p:spPr>
      </p:pic>
      <p:sp>
        <p:nvSpPr>
          <p:cNvPr id="32" name="Text 23"/>
          <p:cNvSpPr/>
          <p:nvPr/>
        </p:nvSpPr>
        <p:spPr>
          <a:xfrm>
            <a:off x="10113264" y="2167128"/>
            <a:ext cx="932688" cy="438912"/>
          </a:xfrm>
          <a:prstGeom prst="rect">
            <a:avLst/>
          </a:prstGeom>
          <a:noFill/>
          <a:ln/>
        </p:spPr>
        <p:txBody>
          <a:bodyPr wrap="square" lIns="0" tIns="0" rIns="0" bIns="0" rtlCol="0" anchor="ctr">
            <a:normAutofit/>
          </a:bodyPr>
          <a:lstStyle/>
          <a:p>
            <a:pPr marL="0" indent="0">
              <a:buNone/>
            </a:pPr>
            <a:r>
              <a:rPr lang="en-US" sz="1020" b="1" dirty="0">
                <a:solidFill>
                  <a:srgbClr val="334155"/>
                </a:solidFill>
              </a:rPr>
              <a:t>Insiden &amp; darurat</a:t>
            </a:r>
            <a:endParaRPr lang="en-US" sz="1020" dirty="0"/>
          </a:p>
        </p:txBody>
      </p:sp>
      <p:sp>
        <p:nvSpPr>
          <p:cNvPr id="33" name="Shape 24"/>
          <p:cNvSpPr/>
          <p:nvPr/>
        </p:nvSpPr>
        <p:spPr>
          <a:xfrm>
            <a:off x="3685032" y="1481328"/>
            <a:ext cx="1874520" cy="868680"/>
          </a:xfrm>
          <a:prstGeom prst="roundRect">
            <a:avLst>
              <a:gd name="adj" fmla="val 8421"/>
            </a:avLst>
          </a:prstGeom>
          <a:solidFill>
            <a:srgbClr val="FFFFFF"/>
          </a:solidFill>
          <a:ln w="12700">
            <a:solidFill>
              <a:srgbClr val="E2E8F0"/>
            </a:solidFill>
            <a:prstDash val="solid"/>
          </a:ln>
        </p:spPr>
      </p:sp>
      <p:sp>
        <p:nvSpPr>
          <p:cNvPr id="34" name="Shape 25"/>
          <p:cNvSpPr/>
          <p:nvPr/>
        </p:nvSpPr>
        <p:spPr>
          <a:xfrm>
            <a:off x="3822192" y="1591056"/>
            <a:ext cx="658368" cy="658368"/>
          </a:xfrm>
          <a:prstGeom prst="ellipse">
            <a:avLst/>
          </a:prstGeom>
          <a:solidFill>
            <a:srgbClr val="F8FAFC"/>
          </a:solidFill>
          <a:ln w="12700">
            <a:solidFill>
              <a:srgbClr val="F8FAFC"/>
            </a:solidFill>
            <a:prstDash val="solid"/>
          </a:ln>
        </p:spPr>
      </p:sp>
      <p:pic>
        <p:nvPicPr>
          <p:cNvPr id="35" name="Image 7" descr="preencoded.png"/>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3959352" y="1728216"/>
            <a:ext cx="274320" cy="274320"/>
          </a:xfrm>
          <a:prstGeom prst="rect">
            <a:avLst/>
          </a:prstGeom>
        </p:spPr>
      </p:pic>
      <p:sp>
        <p:nvSpPr>
          <p:cNvPr id="36" name="Text 26"/>
          <p:cNvSpPr/>
          <p:nvPr/>
        </p:nvSpPr>
        <p:spPr>
          <a:xfrm>
            <a:off x="4489704" y="1682496"/>
            <a:ext cx="932688" cy="438912"/>
          </a:xfrm>
          <a:prstGeom prst="rect">
            <a:avLst/>
          </a:prstGeom>
          <a:noFill/>
          <a:ln/>
        </p:spPr>
        <p:txBody>
          <a:bodyPr wrap="square" lIns="0" tIns="0" rIns="0" bIns="0" rtlCol="0" anchor="ctr">
            <a:normAutofit/>
          </a:bodyPr>
          <a:lstStyle/>
          <a:p>
            <a:pPr marL="0" indent="0">
              <a:buNone/>
            </a:pPr>
            <a:r>
              <a:rPr lang="en-US" sz="1020" b="1" dirty="0">
                <a:solidFill>
                  <a:srgbClr val="334155"/>
                </a:solidFill>
              </a:rPr>
              <a:t>APD &amp; PPI</a:t>
            </a:r>
            <a:endParaRPr lang="en-US" sz="1020" dirty="0"/>
          </a:p>
        </p:txBody>
      </p:sp>
      <p:sp>
        <p:nvSpPr>
          <p:cNvPr id="37" name="Shape 27"/>
          <p:cNvSpPr/>
          <p:nvPr/>
        </p:nvSpPr>
        <p:spPr>
          <a:xfrm>
            <a:off x="6719632" y="1436816"/>
            <a:ext cx="1874520" cy="868680"/>
          </a:xfrm>
          <a:prstGeom prst="roundRect">
            <a:avLst>
              <a:gd name="adj" fmla="val 8421"/>
            </a:avLst>
          </a:prstGeom>
          <a:solidFill>
            <a:srgbClr val="FFFFFF"/>
          </a:solidFill>
          <a:ln w="12700">
            <a:solidFill>
              <a:srgbClr val="E2E8F0"/>
            </a:solidFill>
            <a:prstDash val="solid"/>
          </a:ln>
        </p:spPr>
      </p:sp>
      <p:sp>
        <p:nvSpPr>
          <p:cNvPr id="38" name="Shape 28"/>
          <p:cNvSpPr/>
          <p:nvPr/>
        </p:nvSpPr>
        <p:spPr>
          <a:xfrm>
            <a:off x="6728603" y="1504188"/>
            <a:ext cx="658368" cy="658368"/>
          </a:xfrm>
          <a:prstGeom prst="ellipse">
            <a:avLst/>
          </a:prstGeom>
          <a:solidFill>
            <a:srgbClr val="F8FAFC"/>
          </a:solidFill>
          <a:ln w="12700">
            <a:solidFill>
              <a:srgbClr val="F8FAFC"/>
            </a:solidFill>
            <a:prstDash val="solid"/>
          </a:ln>
        </p:spPr>
      </p:sp>
      <p:pic>
        <p:nvPicPr>
          <p:cNvPr id="39" name="Image 8" descr="preencoded.png"/>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6939692" y="1655064"/>
            <a:ext cx="274320" cy="274320"/>
          </a:xfrm>
          <a:prstGeom prst="rect">
            <a:avLst/>
          </a:prstGeom>
        </p:spPr>
      </p:pic>
      <p:sp>
        <p:nvSpPr>
          <p:cNvPr id="40" name="Text 29"/>
          <p:cNvSpPr/>
          <p:nvPr/>
        </p:nvSpPr>
        <p:spPr>
          <a:xfrm>
            <a:off x="7462108" y="1591056"/>
            <a:ext cx="932688" cy="438912"/>
          </a:xfrm>
          <a:prstGeom prst="rect">
            <a:avLst/>
          </a:prstGeom>
          <a:noFill/>
          <a:ln/>
        </p:spPr>
        <p:txBody>
          <a:bodyPr wrap="square" lIns="0" tIns="0" rIns="0" bIns="0" rtlCol="0" anchor="ctr">
            <a:normAutofit/>
          </a:bodyPr>
          <a:lstStyle/>
          <a:p>
            <a:pPr marL="0" indent="0">
              <a:buNone/>
            </a:pPr>
            <a:r>
              <a:rPr lang="en-US" sz="1020" b="1" dirty="0">
                <a:solidFill>
                  <a:srgbClr val="334155"/>
                </a:solidFill>
              </a:rPr>
              <a:t>Etika &amp; budaya</a:t>
            </a:r>
            <a:endParaRPr lang="en-US" sz="1020" dirty="0"/>
          </a:p>
        </p:txBody>
      </p:sp>
      <p:sp>
        <p:nvSpPr>
          <p:cNvPr id="41" name="Text 30"/>
          <p:cNvSpPr/>
          <p:nvPr/>
        </p:nvSpPr>
        <p:spPr>
          <a:xfrm>
            <a:off x="566928" y="6291072"/>
            <a:ext cx="10698480" cy="164592"/>
          </a:xfrm>
          <a:prstGeom prst="rect">
            <a:avLst/>
          </a:prstGeom>
          <a:noFill/>
          <a:ln/>
        </p:spPr>
        <p:txBody>
          <a:bodyPr wrap="square" lIns="0" tIns="0" rIns="0" bIns="0" rtlCol="0" anchor="ctr">
            <a:normAutofit/>
          </a:bodyPr>
          <a:lstStyle/>
          <a:p>
            <a:pPr marL="0" indent="0">
              <a:buNone/>
            </a:pPr>
            <a:r>
              <a:rPr lang="en-US" sz="730" i="1" dirty="0">
                <a:solidFill>
                  <a:srgbClr val="94A3B8"/>
                </a:solidFill>
                <a:latin typeface="Arial" pitchFamily="34" charset="0"/>
                <a:ea typeface="Arial" pitchFamily="34" charset="-122"/>
                <a:cs typeface="Arial" pitchFamily="34" charset="-120"/>
              </a:rPr>
              <a:t>Konsep bahaya mengikuti pengelompokan WHO untuk sektor kesehatan dan konteks K3RS.</a:t>
            </a:r>
            <a:endParaRPr lang="en-US" sz="730" dirty="0"/>
          </a:p>
        </p:txBody>
      </p:sp>
      <p:sp>
        <p:nvSpPr>
          <p:cNvPr id="42" name="Slide Number Placeholder 0"/>
          <p:cNvSpPr>
            <a:spLocks noGrp="1"/>
          </p:cNvSpPr>
          <p:nvPr>
            <p:ph type="sldNum" sz="quarter" idx="4294967295"/>
          </p:nvPr>
        </p:nvSpPr>
        <p:spPr>
          <a:xfrm>
            <a:off x="11475720" y="6492240"/>
            <a:ext cx="320040"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64748B"/>
                </a:solidFill>
                <a:latin typeface="Arial"/>
                <a:ea typeface="Arial"/>
                <a:cs typeface="Aria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566928" y="347472"/>
            <a:ext cx="1417320" cy="310896"/>
          </a:xfrm>
          <a:prstGeom prst="roundRect">
            <a:avLst>
              <a:gd name="adj" fmla="val 23529"/>
            </a:avLst>
          </a:prstGeom>
          <a:solidFill>
            <a:srgbClr val="ECFEFF"/>
          </a:solidFill>
          <a:ln w="12700">
            <a:solidFill>
              <a:srgbClr val="ECFEFF"/>
            </a:solidFill>
            <a:prstDash val="solid"/>
          </a:ln>
        </p:spPr>
      </p:sp>
      <p:sp>
        <p:nvSpPr>
          <p:cNvPr id="3" name="Text 1"/>
          <p:cNvSpPr/>
          <p:nvPr/>
        </p:nvSpPr>
        <p:spPr>
          <a:xfrm>
            <a:off x="694944" y="429768"/>
            <a:ext cx="1170432" cy="128016"/>
          </a:xfrm>
          <a:prstGeom prst="rect">
            <a:avLst/>
          </a:prstGeom>
          <a:noFill/>
          <a:ln/>
        </p:spPr>
        <p:txBody>
          <a:bodyPr wrap="square" lIns="0" tIns="0" rIns="0" bIns="0" rtlCol="0" anchor="ctr"/>
          <a:lstStyle/>
          <a:p>
            <a:pPr marL="0" indent="0" algn="ctr">
              <a:buNone/>
            </a:pPr>
            <a:r>
              <a:rPr lang="en-US" sz="900" b="1" dirty="0">
                <a:solidFill>
                  <a:srgbClr val="0E7490"/>
                </a:solidFill>
                <a:latin typeface="Arial" pitchFamily="34" charset="0"/>
                <a:ea typeface="Arial" pitchFamily="34" charset="-122"/>
                <a:cs typeface="Arial" pitchFamily="34" charset="-120"/>
              </a:rPr>
              <a:t>RUANG LINGKUP</a:t>
            </a:r>
            <a:endParaRPr lang="en-US" sz="900" dirty="0"/>
          </a:p>
        </p:txBody>
      </p:sp>
      <p:sp>
        <p:nvSpPr>
          <p:cNvPr id="4" name="Text 2"/>
          <p:cNvSpPr/>
          <p:nvPr/>
        </p:nvSpPr>
        <p:spPr>
          <a:xfrm>
            <a:off x="566928" y="777240"/>
            <a:ext cx="10972800" cy="566928"/>
          </a:xfrm>
          <a:prstGeom prst="rect">
            <a:avLst/>
          </a:prstGeom>
          <a:noFill/>
          <a:ln/>
        </p:spPr>
        <p:txBody>
          <a:bodyPr wrap="square" lIns="0" tIns="0" rIns="0" bIns="0" rtlCol="0" anchor="ctr">
            <a:normAutofit/>
          </a:bodyPr>
          <a:lstStyle/>
          <a:p>
            <a:pPr marL="0" indent="0">
              <a:buNone/>
            </a:pPr>
            <a:r>
              <a:rPr lang="en-US" sz="2700" b="1" dirty="0">
                <a:solidFill>
                  <a:srgbClr val="0F172A"/>
                </a:solidFill>
                <a:latin typeface="Arial" pitchFamily="34" charset="0"/>
                <a:ea typeface="Arial" pitchFamily="34" charset="-122"/>
                <a:cs typeface="Arial" pitchFamily="34" charset="-120"/>
              </a:rPr>
              <a:t>Peta Bahaya pada Aktivitas Keperawatan</a:t>
            </a:r>
            <a:endParaRPr lang="en-US" sz="2700" dirty="0"/>
          </a:p>
        </p:txBody>
      </p:sp>
      <p:sp>
        <p:nvSpPr>
          <p:cNvPr id="5" name="Text 3"/>
          <p:cNvSpPr/>
          <p:nvPr/>
        </p:nvSpPr>
        <p:spPr>
          <a:xfrm>
            <a:off x="566928" y="1371600"/>
            <a:ext cx="10881360" cy="384048"/>
          </a:xfrm>
          <a:prstGeom prst="rect">
            <a:avLst/>
          </a:prstGeom>
          <a:noFill/>
          <a:ln/>
        </p:spPr>
        <p:txBody>
          <a:bodyPr wrap="square" lIns="0" tIns="0" rIns="0" bIns="0" rtlCol="0" anchor="ctr">
            <a:normAutofit/>
          </a:bodyPr>
          <a:lstStyle/>
          <a:p>
            <a:pPr marL="0" indent="0">
              <a:buNone/>
            </a:pPr>
            <a:r>
              <a:rPr lang="en-US" sz="1250" dirty="0">
                <a:solidFill>
                  <a:srgbClr val="64748B"/>
                </a:solidFill>
                <a:latin typeface="Arial" pitchFamily="34" charset="0"/>
                <a:ea typeface="Arial" pitchFamily="34" charset="-122"/>
                <a:cs typeface="Arial" pitchFamily="34" charset="-120"/>
              </a:rPr>
              <a:t>Bahaya sering muncul pada titik kerja yang tampak rutin. Identifikasi harus dilakukan berdasarkan aktivitas nyata.</a:t>
            </a:r>
            <a:endParaRPr lang="en-US" sz="1250" dirty="0"/>
          </a:p>
        </p:txBody>
      </p:sp>
      <p:sp>
        <p:nvSpPr>
          <p:cNvPr id="6" name="Shape 4"/>
          <p:cNvSpPr/>
          <p:nvPr/>
        </p:nvSpPr>
        <p:spPr>
          <a:xfrm>
            <a:off x="685800" y="1874520"/>
            <a:ext cx="3246120" cy="502920"/>
          </a:xfrm>
          <a:prstGeom prst="rect">
            <a:avLst/>
          </a:prstGeom>
          <a:solidFill>
            <a:srgbClr val="0F172A"/>
          </a:solidFill>
          <a:ln w="12700">
            <a:solidFill>
              <a:srgbClr val="0F172A"/>
            </a:solidFill>
            <a:prstDash val="solid"/>
          </a:ln>
        </p:spPr>
      </p:sp>
      <p:sp>
        <p:nvSpPr>
          <p:cNvPr id="7" name="Text 5"/>
          <p:cNvSpPr/>
          <p:nvPr/>
        </p:nvSpPr>
        <p:spPr>
          <a:xfrm>
            <a:off x="795528" y="2020824"/>
            <a:ext cx="3026664" cy="164592"/>
          </a:xfrm>
          <a:prstGeom prst="rect">
            <a:avLst/>
          </a:prstGeom>
          <a:noFill/>
          <a:ln/>
        </p:spPr>
        <p:txBody>
          <a:bodyPr wrap="square" lIns="0" tIns="0" rIns="0" bIns="0" rtlCol="0" anchor="ctr"/>
          <a:lstStyle/>
          <a:p>
            <a:pPr marL="0" indent="0">
              <a:buNone/>
            </a:pPr>
            <a:r>
              <a:rPr lang="en-US" sz="1000" b="1" dirty="0">
                <a:solidFill>
                  <a:srgbClr val="FFFFFF"/>
                </a:solidFill>
              </a:rPr>
              <a:t>AKTIVITAS</a:t>
            </a:r>
            <a:endParaRPr lang="en-US" sz="1000" dirty="0"/>
          </a:p>
        </p:txBody>
      </p:sp>
      <p:sp>
        <p:nvSpPr>
          <p:cNvPr id="8" name="Shape 6"/>
          <p:cNvSpPr/>
          <p:nvPr/>
        </p:nvSpPr>
        <p:spPr>
          <a:xfrm>
            <a:off x="3931920" y="1874520"/>
            <a:ext cx="5029200" cy="502920"/>
          </a:xfrm>
          <a:prstGeom prst="rect">
            <a:avLst/>
          </a:prstGeom>
          <a:solidFill>
            <a:srgbClr val="0F172A"/>
          </a:solidFill>
          <a:ln w="12700">
            <a:solidFill>
              <a:srgbClr val="0F172A"/>
            </a:solidFill>
            <a:prstDash val="solid"/>
          </a:ln>
        </p:spPr>
      </p:sp>
      <p:sp>
        <p:nvSpPr>
          <p:cNvPr id="9" name="Text 7"/>
          <p:cNvSpPr/>
          <p:nvPr/>
        </p:nvSpPr>
        <p:spPr>
          <a:xfrm>
            <a:off x="4041648" y="2020824"/>
            <a:ext cx="4809744" cy="164592"/>
          </a:xfrm>
          <a:prstGeom prst="rect">
            <a:avLst/>
          </a:prstGeom>
          <a:noFill/>
          <a:ln/>
        </p:spPr>
        <p:txBody>
          <a:bodyPr wrap="square" lIns="0" tIns="0" rIns="0" bIns="0" rtlCol="0" anchor="ctr"/>
          <a:lstStyle/>
          <a:p>
            <a:pPr marL="0" indent="0">
              <a:buNone/>
            </a:pPr>
            <a:r>
              <a:rPr lang="en-US" sz="1000" b="1" dirty="0">
                <a:solidFill>
                  <a:srgbClr val="FFFFFF"/>
                </a:solidFill>
              </a:rPr>
              <a:t>POTENSI BAHAYA</a:t>
            </a:r>
            <a:endParaRPr lang="en-US" sz="1000" dirty="0"/>
          </a:p>
        </p:txBody>
      </p:sp>
      <p:sp>
        <p:nvSpPr>
          <p:cNvPr id="10" name="Shape 8"/>
          <p:cNvSpPr/>
          <p:nvPr/>
        </p:nvSpPr>
        <p:spPr>
          <a:xfrm>
            <a:off x="8961120" y="1874520"/>
            <a:ext cx="2194560" cy="502920"/>
          </a:xfrm>
          <a:prstGeom prst="rect">
            <a:avLst/>
          </a:prstGeom>
          <a:solidFill>
            <a:srgbClr val="0F172A"/>
          </a:solidFill>
          <a:ln w="12700">
            <a:solidFill>
              <a:srgbClr val="0F172A"/>
            </a:solidFill>
            <a:prstDash val="solid"/>
          </a:ln>
        </p:spPr>
      </p:sp>
      <p:sp>
        <p:nvSpPr>
          <p:cNvPr id="11" name="Text 9"/>
          <p:cNvSpPr/>
          <p:nvPr/>
        </p:nvSpPr>
        <p:spPr>
          <a:xfrm>
            <a:off x="9070848" y="2020824"/>
            <a:ext cx="1975104" cy="164592"/>
          </a:xfrm>
          <a:prstGeom prst="rect">
            <a:avLst/>
          </a:prstGeom>
          <a:noFill/>
          <a:ln/>
        </p:spPr>
        <p:txBody>
          <a:bodyPr wrap="square" lIns="0" tIns="0" rIns="0" bIns="0" rtlCol="0" anchor="ctr"/>
          <a:lstStyle/>
          <a:p>
            <a:pPr marL="0" indent="0">
              <a:buNone/>
            </a:pPr>
            <a:r>
              <a:rPr lang="en-US" sz="1000" b="1" dirty="0">
                <a:solidFill>
                  <a:srgbClr val="FFFFFF"/>
                </a:solidFill>
              </a:rPr>
              <a:t>KATEGORI</a:t>
            </a:r>
            <a:endParaRPr lang="en-US" sz="1000" dirty="0"/>
          </a:p>
        </p:txBody>
      </p:sp>
      <p:sp>
        <p:nvSpPr>
          <p:cNvPr id="12" name="Shape 10"/>
          <p:cNvSpPr/>
          <p:nvPr/>
        </p:nvSpPr>
        <p:spPr>
          <a:xfrm>
            <a:off x="685800" y="2377440"/>
            <a:ext cx="3246120" cy="585216"/>
          </a:xfrm>
          <a:prstGeom prst="rect">
            <a:avLst/>
          </a:prstGeom>
          <a:solidFill>
            <a:srgbClr val="FFFFFF"/>
          </a:solidFill>
          <a:ln w="7620">
            <a:solidFill>
              <a:srgbClr val="E2E8F0"/>
            </a:solidFill>
            <a:prstDash val="solid"/>
          </a:ln>
        </p:spPr>
      </p:sp>
      <p:sp>
        <p:nvSpPr>
          <p:cNvPr id="13" name="Text 11"/>
          <p:cNvSpPr/>
          <p:nvPr/>
        </p:nvSpPr>
        <p:spPr>
          <a:xfrm>
            <a:off x="795528" y="2496312"/>
            <a:ext cx="3026664" cy="310896"/>
          </a:xfrm>
          <a:prstGeom prst="rect">
            <a:avLst/>
          </a:prstGeom>
          <a:noFill/>
          <a:ln/>
        </p:spPr>
        <p:txBody>
          <a:bodyPr wrap="square" lIns="0" tIns="0" rIns="0" bIns="0" rtlCol="0" anchor="ctr">
            <a:normAutofit/>
          </a:bodyPr>
          <a:lstStyle/>
          <a:p>
            <a:pPr marL="0" indent="0">
              <a:buNone/>
            </a:pPr>
            <a:r>
              <a:rPr lang="en-US" sz="1120" dirty="0">
                <a:solidFill>
                  <a:srgbClr val="334155"/>
                </a:solidFill>
              </a:rPr>
              <a:t>Pengambilan darah / injeksi</a:t>
            </a:r>
            <a:endParaRPr lang="en-US" sz="1120" dirty="0"/>
          </a:p>
        </p:txBody>
      </p:sp>
      <p:sp>
        <p:nvSpPr>
          <p:cNvPr id="14" name="Shape 12"/>
          <p:cNvSpPr/>
          <p:nvPr/>
        </p:nvSpPr>
        <p:spPr>
          <a:xfrm>
            <a:off x="3931920" y="2377440"/>
            <a:ext cx="5029200" cy="585216"/>
          </a:xfrm>
          <a:prstGeom prst="rect">
            <a:avLst/>
          </a:prstGeom>
          <a:solidFill>
            <a:srgbClr val="FFFFFF"/>
          </a:solidFill>
          <a:ln w="7620">
            <a:solidFill>
              <a:srgbClr val="E2E8F0"/>
            </a:solidFill>
            <a:prstDash val="solid"/>
          </a:ln>
        </p:spPr>
      </p:sp>
      <p:sp>
        <p:nvSpPr>
          <p:cNvPr id="15" name="Text 13"/>
          <p:cNvSpPr/>
          <p:nvPr/>
        </p:nvSpPr>
        <p:spPr>
          <a:xfrm>
            <a:off x="4041648" y="2496312"/>
            <a:ext cx="4809744" cy="310896"/>
          </a:xfrm>
          <a:prstGeom prst="rect">
            <a:avLst/>
          </a:prstGeom>
          <a:noFill/>
          <a:ln/>
        </p:spPr>
        <p:txBody>
          <a:bodyPr wrap="square" lIns="0" tIns="0" rIns="0" bIns="0" rtlCol="0" anchor="ctr">
            <a:normAutofit/>
          </a:bodyPr>
          <a:lstStyle/>
          <a:p>
            <a:pPr marL="0" indent="0">
              <a:buNone/>
            </a:pPr>
            <a:r>
              <a:rPr lang="en-US" sz="1120" dirty="0">
                <a:solidFill>
                  <a:srgbClr val="334155"/>
                </a:solidFill>
              </a:rPr>
              <a:t>Tusukan jarum, darah/cairan tubuh</a:t>
            </a:r>
            <a:endParaRPr lang="en-US" sz="1120" dirty="0"/>
          </a:p>
        </p:txBody>
      </p:sp>
      <p:sp>
        <p:nvSpPr>
          <p:cNvPr id="16" name="Shape 14"/>
          <p:cNvSpPr/>
          <p:nvPr/>
        </p:nvSpPr>
        <p:spPr>
          <a:xfrm>
            <a:off x="8961120" y="2377440"/>
            <a:ext cx="2194560" cy="585216"/>
          </a:xfrm>
          <a:prstGeom prst="rect">
            <a:avLst/>
          </a:prstGeom>
          <a:solidFill>
            <a:srgbClr val="FFFFFF"/>
          </a:solidFill>
          <a:ln w="7620">
            <a:solidFill>
              <a:srgbClr val="E2E8F0"/>
            </a:solidFill>
            <a:prstDash val="solid"/>
          </a:ln>
        </p:spPr>
      </p:sp>
      <p:sp>
        <p:nvSpPr>
          <p:cNvPr id="17" name="Text 15"/>
          <p:cNvSpPr/>
          <p:nvPr/>
        </p:nvSpPr>
        <p:spPr>
          <a:xfrm>
            <a:off x="9070848" y="2496312"/>
            <a:ext cx="1975104" cy="310896"/>
          </a:xfrm>
          <a:prstGeom prst="rect">
            <a:avLst/>
          </a:prstGeom>
          <a:noFill/>
          <a:ln/>
        </p:spPr>
        <p:txBody>
          <a:bodyPr wrap="square" lIns="0" tIns="0" rIns="0" bIns="0" rtlCol="0" anchor="ctr">
            <a:normAutofit/>
          </a:bodyPr>
          <a:lstStyle/>
          <a:p>
            <a:pPr marL="0" indent="0">
              <a:buNone/>
            </a:pPr>
            <a:r>
              <a:rPr lang="en-US" sz="1050" b="1" dirty="0">
                <a:solidFill>
                  <a:srgbClr val="0E7490"/>
                </a:solidFill>
              </a:rPr>
              <a:t>Bio + cedera</a:t>
            </a:r>
            <a:endParaRPr lang="en-US" sz="1050" dirty="0"/>
          </a:p>
        </p:txBody>
      </p:sp>
      <p:sp>
        <p:nvSpPr>
          <p:cNvPr id="18" name="Shape 16"/>
          <p:cNvSpPr/>
          <p:nvPr/>
        </p:nvSpPr>
        <p:spPr>
          <a:xfrm>
            <a:off x="685800" y="2962656"/>
            <a:ext cx="3246120" cy="585216"/>
          </a:xfrm>
          <a:prstGeom prst="rect">
            <a:avLst/>
          </a:prstGeom>
          <a:solidFill>
            <a:srgbClr val="F8FAFC"/>
          </a:solidFill>
          <a:ln w="7620">
            <a:solidFill>
              <a:srgbClr val="E2E8F0"/>
            </a:solidFill>
            <a:prstDash val="solid"/>
          </a:ln>
        </p:spPr>
      </p:sp>
      <p:sp>
        <p:nvSpPr>
          <p:cNvPr id="19" name="Text 17"/>
          <p:cNvSpPr/>
          <p:nvPr/>
        </p:nvSpPr>
        <p:spPr>
          <a:xfrm>
            <a:off x="795528" y="3081528"/>
            <a:ext cx="3026664" cy="310896"/>
          </a:xfrm>
          <a:prstGeom prst="rect">
            <a:avLst/>
          </a:prstGeom>
          <a:noFill/>
          <a:ln/>
        </p:spPr>
        <p:txBody>
          <a:bodyPr wrap="square" lIns="0" tIns="0" rIns="0" bIns="0" rtlCol="0" anchor="ctr">
            <a:normAutofit/>
          </a:bodyPr>
          <a:lstStyle/>
          <a:p>
            <a:pPr marL="0" indent="0">
              <a:buNone/>
            </a:pPr>
            <a:r>
              <a:rPr lang="en-US" sz="1120" dirty="0">
                <a:solidFill>
                  <a:srgbClr val="334155"/>
                </a:solidFill>
              </a:rPr>
              <a:t>Memindahkan pasien</a:t>
            </a:r>
            <a:endParaRPr lang="en-US" sz="1120" dirty="0"/>
          </a:p>
        </p:txBody>
      </p:sp>
      <p:sp>
        <p:nvSpPr>
          <p:cNvPr id="20" name="Shape 18"/>
          <p:cNvSpPr/>
          <p:nvPr/>
        </p:nvSpPr>
        <p:spPr>
          <a:xfrm>
            <a:off x="3931920" y="2962656"/>
            <a:ext cx="5029200" cy="585216"/>
          </a:xfrm>
          <a:prstGeom prst="rect">
            <a:avLst/>
          </a:prstGeom>
          <a:solidFill>
            <a:srgbClr val="F8FAFC"/>
          </a:solidFill>
          <a:ln w="7620">
            <a:solidFill>
              <a:srgbClr val="E2E8F0"/>
            </a:solidFill>
            <a:prstDash val="solid"/>
          </a:ln>
        </p:spPr>
      </p:sp>
      <p:sp>
        <p:nvSpPr>
          <p:cNvPr id="21" name="Text 19"/>
          <p:cNvSpPr/>
          <p:nvPr/>
        </p:nvSpPr>
        <p:spPr>
          <a:xfrm>
            <a:off x="4041648" y="3081528"/>
            <a:ext cx="4809744" cy="310896"/>
          </a:xfrm>
          <a:prstGeom prst="rect">
            <a:avLst/>
          </a:prstGeom>
          <a:noFill/>
          <a:ln/>
        </p:spPr>
        <p:txBody>
          <a:bodyPr wrap="square" lIns="0" tIns="0" rIns="0" bIns="0" rtlCol="0" anchor="ctr">
            <a:normAutofit/>
          </a:bodyPr>
          <a:lstStyle/>
          <a:p>
            <a:pPr marL="0" indent="0">
              <a:buNone/>
            </a:pPr>
            <a:r>
              <a:rPr lang="en-US" sz="1120" dirty="0">
                <a:solidFill>
                  <a:srgbClr val="334155"/>
                </a:solidFill>
              </a:rPr>
              <a:t>Beban berat, postur janggal, jatuh</a:t>
            </a:r>
            <a:endParaRPr lang="en-US" sz="1120" dirty="0"/>
          </a:p>
        </p:txBody>
      </p:sp>
      <p:sp>
        <p:nvSpPr>
          <p:cNvPr id="22" name="Shape 20"/>
          <p:cNvSpPr/>
          <p:nvPr/>
        </p:nvSpPr>
        <p:spPr>
          <a:xfrm>
            <a:off x="8961120" y="2962656"/>
            <a:ext cx="2194560" cy="585216"/>
          </a:xfrm>
          <a:prstGeom prst="rect">
            <a:avLst/>
          </a:prstGeom>
          <a:solidFill>
            <a:srgbClr val="F8FAFC"/>
          </a:solidFill>
          <a:ln w="7620">
            <a:solidFill>
              <a:srgbClr val="E2E8F0"/>
            </a:solidFill>
            <a:prstDash val="solid"/>
          </a:ln>
        </p:spPr>
      </p:sp>
      <p:sp>
        <p:nvSpPr>
          <p:cNvPr id="23" name="Text 21"/>
          <p:cNvSpPr/>
          <p:nvPr/>
        </p:nvSpPr>
        <p:spPr>
          <a:xfrm>
            <a:off x="9070848" y="3081528"/>
            <a:ext cx="1975104" cy="310896"/>
          </a:xfrm>
          <a:prstGeom prst="rect">
            <a:avLst/>
          </a:prstGeom>
          <a:noFill/>
          <a:ln/>
        </p:spPr>
        <p:txBody>
          <a:bodyPr wrap="square" lIns="0" tIns="0" rIns="0" bIns="0" rtlCol="0" anchor="ctr">
            <a:normAutofit/>
          </a:bodyPr>
          <a:lstStyle/>
          <a:p>
            <a:pPr marL="0" indent="0">
              <a:buNone/>
            </a:pPr>
            <a:r>
              <a:rPr lang="en-US" sz="1050" b="1" dirty="0">
                <a:solidFill>
                  <a:srgbClr val="0E7490"/>
                </a:solidFill>
              </a:rPr>
              <a:t>Ergonomi</a:t>
            </a:r>
            <a:endParaRPr lang="en-US" sz="1050" dirty="0"/>
          </a:p>
        </p:txBody>
      </p:sp>
      <p:sp>
        <p:nvSpPr>
          <p:cNvPr id="24" name="Shape 22"/>
          <p:cNvSpPr/>
          <p:nvPr/>
        </p:nvSpPr>
        <p:spPr>
          <a:xfrm>
            <a:off x="685800" y="3547872"/>
            <a:ext cx="3246120" cy="585216"/>
          </a:xfrm>
          <a:prstGeom prst="rect">
            <a:avLst/>
          </a:prstGeom>
          <a:solidFill>
            <a:srgbClr val="FFFFFF"/>
          </a:solidFill>
          <a:ln w="7620">
            <a:solidFill>
              <a:srgbClr val="E2E8F0"/>
            </a:solidFill>
            <a:prstDash val="solid"/>
          </a:ln>
        </p:spPr>
      </p:sp>
      <p:sp>
        <p:nvSpPr>
          <p:cNvPr id="25" name="Text 23"/>
          <p:cNvSpPr/>
          <p:nvPr/>
        </p:nvSpPr>
        <p:spPr>
          <a:xfrm>
            <a:off x="795528" y="3666744"/>
            <a:ext cx="3026664" cy="310896"/>
          </a:xfrm>
          <a:prstGeom prst="rect">
            <a:avLst/>
          </a:prstGeom>
          <a:noFill/>
          <a:ln/>
        </p:spPr>
        <p:txBody>
          <a:bodyPr wrap="square" lIns="0" tIns="0" rIns="0" bIns="0" rtlCol="0" anchor="ctr">
            <a:normAutofit/>
          </a:bodyPr>
          <a:lstStyle/>
          <a:p>
            <a:pPr marL="0" indent="0">
              <a:buNone/>
            </a:pPr>
            <a:r>
              <a:rPr lang="en-US" sz="1120" dirty="0">
                <a:solidFill>
                  <a:srgbClr val="334155"/>
                </a:solidFill>
              </a:rPr>
              <a:t>Pemberian obat sitotoksik / bahan kimia</a:t>
            </a:r>
            <a:endParaRPr lang="en-US" sz="1120" dirty="0"/>
          </a:p>
        </p:txBody>
      </p:sp>
      <p:sp>
        <p:nvSpPr>
          <p:cNvPr id="26" name="Shape 24"/>
          <p:cNvSpPr/>
          <p:nvPr/>
        </p:nvSpPr>
        <p:spPr>
          <a:xfrm>
            <a:off x="3931920" y="3547872"/>
            <a:ext cx="5029200" cy="585216"/>
          </a:xfrm>
          <a:prstGeom prst="rect">
            <a:avLst/>
          </a:prstGeom>
          <a:solidFill>
            <a:srgbClr val="FFFFFF"/>
          </a:solidFill>
          <a:ln w="7620">
            <a:solidFill>
              <a:srgbClr val="E2E8F0"/>
            </a:solidFill>
            <a:prstDash val="solid"/>
          </a:ln>
        </p:spPr>
      </p:sp>
      <p:sp>
        <p:nvSpPr>
          <p:cNvPr id="27" name="Text 25"/>
          <p:cNvSpPr/>
          <p:nvPr/>
        </p:nvSpPr>
        <p:spPr>
          <a:xfrm>
            <a:off x="4041648" y="3666744"/>
            <a:ext cx="4809744" cy="310896"/>
          </a:xfrm>
          <a:prstGeom prst="rect">
            <a:avLst/>
          </a:prstGeom>
          <a:noFill/>
          <a:ln/>
        </p:spPr>
        <p:txBody>
          <a:bodyPr wrap="square" lIns="0" tIns="0" rIns="0" bIns="0" rtlCol="0" anchor="ctr">
            <a:normAutofit/>
          </a:bodyPr>
          <a:lstStyle/>
          <a:p>
            <a:pPr marL="0" indent="0">
              <a:buNone/>
            </a:pPr>
            <a:r>
              <a:rPr lang="en-US" sz="1120" dirty="0">
                <a:solidFill>
                  <a:srgbClr val="334155"/>
                </a:solidFill>
              </a:rPr>
              <a:t>Tumpahan, aerosol, kontak kulit</a:t>
            </a:r>
            <a:endParaRPr lang="en-US" sz="1120" dirty="0"/>
          </a:p>
        </p:txBody>
      </p:sp>
      <p:sp>
        <p:nvSpPr>
          <p:cNvPr id="28" name="Shape 26"/>
          <p:cNvSpPr/>
          <p:nvPr/>
        </p:nvSpPr>
        <p:spPr>
          <a:xfrm>
            <a:off x="8961120" y="3547872"/>
            <a:ext cx="2194560" cy="585216"/>
          </a:xfrm>
          <a:prstGeom prst="rect">
            <a:avLst/>
          </a:prstGeom>
          <a:solidFill>
            <a:srgbClr val="FFFFFF"/>
          </a:solidFill>
          <a:ln w="7620">
            <a:solidFill>
              <a:srgbClr val="E2E8F0"/>
            </a:solidFill>
            <a:prstDash val="solid"/>
          </a:ln>
        </p:spPr>
      </p:sp>
      <p:sp>
        <p:nvSpPr>
          <p:cNvPr id="29" name="Text 27"/>
          <p:cNvSpPr/>
          <p:nvPr/>
        </p:nvSpPr>
        <p:spPr>
          <a:xfrm>
            <a:off x="9070848" y="3666744"/>
            <a:ext cx="1975104" cy="310896"/>
          </a:xfrm>
          <a:prstGeom prst="rect">
            <a:avLst/>
          </a:prstGeom>
          <a:noFill/>
          <a:ln/>
        </p:spPr>
        <p:txBody>
          <a:bodyPr wrap="square" lIns="0" tIns="0" rIns="0" bIns="0" rtlCol="0" anchor="ctr">
            <a:normAutofit/>
          </a:bodyPr>
          <a:lstStyle/>
          <a:p>
            <a:pPr marL="0" indent="0">
              <a:buNone/>
            </a:pPr>
            <a:r>
              <a:rPr lang="en-US" sz="1050" b="1" dirty="0">
                <a:solidFill>
                  <a:srgbClr val="0E7490"/>
                </a:solidFill>
              </a:rPr>
              <a:t>Kimia</a:t>
            </a:r>
            <a:endParaRPr lang="en-US" sz="1050" dirty="0"/>
          </a:p>
        </p:txBody>
      </p:sp>
      <p:sp>
        <p:nvSpPr>
          <p:cNvPr id="30" name="Shape 28"/>
          <p:cNvSpPr/>
          <p:nvPr/>
        </p:nvSpPr>
        <p:spPr>
          <a:xfrm>
            <a:off x="685800" y="4133088"/>
            <a:ext cx="3246120" cy="585216"/>
          </a:xfrm>
          <a:prstGeom prst="rect">
            <a:avLst/>
          </a:prstGeom>
          <a:solidFill>
            <a:srgbClr val="F8FAFC"/>
          </a:solidFill>
          <a:ln w="7620">
            <a:solidFill>
              <a:srgbClr val="E2E8F0"/>
            </a:solidFill>
            <a:prstDash val="solid"/>
          </a:ln>
        </p:spPr>
      </p:sp>
      <p:sp>
        <p:nvSpPr>
          <p:cNvPr id="31" name="Text 29"/>
          <p:cNvSpPr/>
          <p:nvPr/>
        </p:nvSpPr>
        <p:spPr>
          <a:xfrm>
            <a:off x="795528" y="4251960"/>
            <a:ext cx="3026664" cy="310896"/>
          </a:xfrm>
          <a:prstGeom prst="rect">
            <a:avLst/>
          </a:prstGeom>
          <a:noFill/>
          <a:ln/>
        </p:spPr>
        <p:txBody>
          <a:bodyPr wrap="square" lIns="0" tIns="0" rIns="0" bIns="0" rtlCol="0" anchor="ctr">
            <a:normAutofit/>
          </a:bodyPr>
          <a:lstStyle/>
          <a:p>
            <a:pPr marL="0" indent="0">
              <a:buNone/>
            </a:pPr>
            <a:r>
              <a:rPr lang="en-US" sz="1120" dirty="0">
                <a:solidFill>
                  <a:srgbClr val="334155"/>
                </a:solidFill>
              </a:rPr>
              <a:t>Shift malam / beban tinggi</a:t>
            </a:r>
            <a:endParaRPr lang="en-US" sz="1120" dirty="0"/>
          </a:p>
        </p:txBody>
      </p:sp>
      <p:sp>
        <p:nvSpPr>
          <p:cNvPr id="32" name="Shape 30"/>
          <p:cNvSpPr/>
          <p:nvPr/>
        </p:nvSpPr>
        <p:spPr>
          <a:xfrm>
            <a:off x="3931920" y="4133088"/>
            <a:ext cx="5029200" cy="585216"/>
          </a:xfrm>
          <a:prstGeom prst="rect">
            <a:avLst/>
          </a:prstGeom>
          <a:solidFill>
            <a:srgbClr val="F8FAFC"/>
          </a:solidFill>
          <a:ln w="7620">
            <a:solidFill>
              <a:srgbClr val="E2E8F0"/>
            </a:solidFill>
            <a:prstDash val="solid"/>
          </a:ln>
        </p:spPr>
      </p:sp>
      <p:sp>
        <p:nvSpPr>
          <p:cNvPr id="33" name="Text 31"/>
          <p:cNvSpPr/>
          <p:nvPr/>
        </p:nvSpPr>
        <p:spPr>
          <a:xfrm>
            <a:off x="4041648" y="4251960"/>
            <a:ext cx="4809744" cy="310896"/>
          </a:xfrm>
          <a:prstGeom prst="rect">
            <a:avLst/>
          </a:prstGeom>
          <a:noFill/>
          <a:ln/>
        </p:spPr>
        <p:txBody>
          <a:bodyPr wrap="square" lIns="0" tIns="0" rIns="0" bIns="0" rtlCol="0" anchor="ctr">
            <a:normAutofit/>
          </a:bodyPr>
          <a:lstStyle/>
          <a:p>
            <a:pPr marL="0" indent="0">
              <a:buNone/>
            </a:pPr>
            <a:r>
              <a:rPr lang="en-US" sz="1120" dirty="0">
                <a:solidFill>
                  <a:srgbClr val="334155"/>
                </a:solidFill>
              </a:rPr>
              <a:t>Kelelahan, stres, gangguan konsentrasi</a:t>
            </a:r>
            <a:endParaRPr lang="en-US" sz="1120" dirty="0"/>
          </a:p>
        </p:txBody>
      </p:sp>
      <p:sp>
        <p:nvSpPr>
          <p:cNvPr id="34" name="Shape 32"/>
          <p:cNvSpPr/>
          <p:nvPr/>
        </p:nvSpPr>
        <p:spPr>
          <a:xfrm>
            <a:off x="8961120" y="4133088"/>
            <a:ext cx="2194560" cy="585216"/>
          </a:xfrm>
          <a:prstGeom prst="rect">
            <a:avLst/>
          </a:prstGeom>
          <a:solidFill>
            <a:srgbClr val="F8FAFC"/>
          </a:solidFill>
          <a:ln w="7620">
            <a:solidFill>
              <a:srgbClr val="E2E8F0"/>
            </a:solidFill>
            <a:prstDash val="solid"/>
          </a:ln>
        </p:spPr>
      </p:sp>
      <p:sp>
        <p:nvSpPr>
          <p:cNvPr id="35" name="Text 33"/>
          <p:cNvSpPr/>
          <p:nvPr/>
        </p:nvSpPr>
        <p:spPr>
          <a:xfrm>
            <a:off x="9070848" y="4251960"/>
            <a:ext cx="1975104" cy="310896"/>
          </a:xfrm>
          <a:prstGeom prst="rect">
            <a:avLst/>
          </a:prstGeom>
          <a:noFill/>
          <a:ln/>
        </p:spPr>
        <p:txBody>
          <a:bodyPr wrap="square" lIns="0" tIns="0" rIns="0" bIns="0" rtlCol="0" anchor="ctr">
            <a:normAutofit/>
          </a:bodyPr>
          <a:lstStyle/>
          <a:p>
            <a:pPr marL="0" indent="0">
              <a:buNone/>
            </a:pPr>
            <a:r>
              <a:rPr lang="en-US" sz="1050" b="1" dirty="0">
                <a:solidFill>
                  <a:srgbClr val="0E7490"/>
                </a:solidFill>
              </a:rPr>
              <a:t>Psikososial</a:t>
            </a:r>
            <a:endParaRPr lang="en-US" sz="1050" dirty="0"/>
          </a:p>
        </p:txBody>
      </p:sp>
      <p:sp>
        <p:nvSpPr>
          <p:cNvPr id="36" name="Shape 34"/>
          <p:cNvSpPr/>
          <p:nvPr/>
        </p:nvSpPr>
        <p:spPr>
          <a:xfrm>
            <a:off x="685800" y="4718304"/>
            <a:ext cx="3246120" cy="585216"/>
          </a:xfrm>
          <a:prstGeom prst="rect">
            <a:avLst/>
          </a:prstGeom>
          <a:solidFill>
            <a:srgbClr val="FFFFFF"/>
          </a:solidFill>
          <a:ln w="7620">
            <a:solidFill>
              <a:srgbClr val="E2E8F0"/>
            </a:solidFill>
            <a:prstDash val="solid"/>
          </a:ln>
        </p:spPr>
      </p:sp>
      <p:sp>
        <p:nvSpPr>
          <p:cNvPr id="37" name="Text 35"/>
          <p:cNvSpPr/>
          <p:nvPr/>
        </p:nvSpPr>
        <p:spPr>
          <a:xfrm>
            <a:off x="795528" y="4837176"/>
            <a:ext cx="3026664" cy="310896"/>
          </a:xfrm>
          <a:prstGeom prst="rect">
            <a:avLst/>
          </a:prstGeom>
          <a:noFill/>
          <a:ln/>
        </p:spPr>
        <p:txBody>
          <a:bodyPr wrap="square" lIns="0" tIns="0" rIns="0" bIns="0" rtlCol="0" anchor="ctr">
            <a:normAutofit/>
          </a:bodyPr>
          <a:lstStyle/>
          <a:p>
            <a:pPr marL="0" indent="0">
              <a:buNone/>
            </a:pPr>
            <a:r>
              <a:rPr lang="en-US" sz="1120" dirty="0">
                <a:solidFill>
                  <a:srgbClr val="334155"/>
                </a:solidFill>
              </a:rPr>
              <a:t>Ruang isolasi / aerosol</a:t>
            </a:r>
            <a:endParaRPr lang="en-US" sz="1120" dirty="0"/>
          </a:p>
        </p:txBody>
      </p:sp>
      <p:sp>
        <p:nvSpPr>
          <p:cNvPr id="38" name="Shape 36"/>
          <p:cNvSpPr/>
          <p:nvPr/>
        </p:nvSpPr>
        <p:spPr>
          <a:xfrm>
            <a:off x="3931920" y="4718304"/>
            <a:ext cx="5029200" cy="585216"/>
          </a:xfrm>
          <a:prstGeom prst="rect">
            <a:avLst/>
          </a:prstGeom>
          <a:solidFill>
            <a:srgbClr val="FFFFFF"/>
          </a:solidFill>
          <a:ln w="7620">
            <a:solidFill>
              <a:srgbClr val="E2E8F0"/>
            </a:solidFill>
            <a:prstDash val="solid"/>
          </a:ln>
        </p:spPr>
      </p:sp>
      <p:sp>
        <p:nvSpPr>
          <p:cNvPr id="39" name="Text 37"/>
          <p:cNvSpPr/>
          <p:nvPr/>
        </p:nvSpPr>
        <p:spPr>
          <a:xfrm>
            <a:off x="4041648" y="4837176"/>
            <a:ext cx="4809744" cy="310896"/>
          </a:xfrm>
          <a:prstGeom prst="rect">
            <a:avLst/>
          </a:prstGeom>
          <a:noFill/>
          <a:ln/>
        </p:spPr>
        <p:txBody>
          <a:bodyPr wrap="square" lIns="0" tIns="0" rIns="0" bIns="0" rtlCol="0" anchor="ctr">
            <a:normAutofit/>
          </a:bodyPr>
          <a:lstStyle/>
          <a:p>
            <a:pPr marL="0" indent="0">
              <a:buNone/>
            </a:pPr>
            <a:r>
              <a:rPr lang="en-US" sz="1120" dirty="0">
                <a:solidFill>
                  <a:srgbClr val="334155"/>
                </a:solidFill>
              </a:rPr>
              <a:t>Paparan patogen melalui droplet/aerosol</a:t>
            </a:r>
            <a:endParaRPr lang="en-US" sz="1120" dirty="0"/>
          </a:p>
        </p:txBody>
      </p:sp>
      <p:sp>
        <p:nvSpPr>
          <p:cNvPr id="40" name="Shape 38"/>
          <p:cNvSpPr/>
          <p:nvPr/>
        </p:nvSpPr>
        <p:spPr>
          <a:xfrm>
            <a:off x="8961120" y="4718304"/>
            <a:ext cx="2194560" cy="585216"/>
          </a:xfrm>
          <a:prstGeom prst="rect">
            <a:avLst/>
          </a:prstGeom>
          <a:solidFill>
            <a:srgbClr val="FFFFFF"/>
          </a:solidFill>
          <a:ln w="7620">
            <a:solidFill>
              <a:srgbClr val="E2E8F0"/>
            </a:solidFill>
            <a:prstDash val="solid"/>
          </a:ln>
        </p:spPr>
      </p:sp>
      <p:sp>
        <p:nvSpPr>
          <p:cNvPr id="41" name="Text 39"/>
          <p:cNvSpPr/>
          <p:nvPr/>
        </p:nvSpPr>
        <p:spPr>
          <a:xfrm>
            <a:off x="9070848" y="4837176"/>
            <a:ext cx="1975104" cy="310896"/>
          </a:xfrm>
          <a:prstGeom prst="rect">
            <a:avLst/>
          </a:prstGeom>
          <a:noFill/>
          <a:ln/>
        </p:spPr>
        <p:txBody>
          <a:bodyPr wrap="square" lIns="0" tIns="0" rIns="0" bIns="0" rtlCol="0" anchor="ctr">
            <a:normAutofit/>
          </a:bodyPr>
          <a:lstStyle/>
          <a:p>
            <a:pPr marL="0" indent="0">
              <a:buNone/>
            </a:pPr>
            <a:r>
              <a:rPr lang="en-US" sz="1050" b="1" dirty="0">
                <a:solidFill>
                  <a:srgbClr val="0E7490"/>
                </a:solidFill>
              </a:rPr>
              <a:t>Biologis</a:t>
            </a:r>
            <a:endParaRPr lang="en-US" sz="1050" dirty="0"/>
          </a:p>
        </p:txBody>
      </p:sp>
      <p:sp>
        <p:nvSpPr>
          <p:cNvPr id="42" name="Shape 40"/>
          <p:cNvSpPr/>
          <p:nvPr/>
        </p:nvSpPr>
        <p:spPr>
          <a:xfrm>
            <a:off x="685800" y="5303520"/>
            <a:ext cx="3246120" cy="585216"/>
          </a:xfrm>
          <a:prstGeom prst="rect">
            <a:avLst/>
          </a:prstGeom>
          <a:solidFill>
            <a:srgbClr val="F8FAFC"/>
          </a:solidFill>
          <a:ln w="7620">
            <a:solidFill>
              <a:srgbClr val="E2E8F0"/>
            </a:solidFill>
            <a:prstDash val="solid"/>
          </a:ln>
        </p:spPr>
      </p:sp>
      <p:sp>
        <p:nvSpPr>
          <p:cNvPr id="43" name="Text 41"/>
          <p:cNvSpPr/>
          <p:nvPr/>
        </p:nvSpPr>
        <p:spPr>
          <a:xfrm>
            <a:off x="795528" y="5422392"/>
            <a:ext cx="3026664" cy="310896"/>
          </a:xfrm>
          <a:prstGeom prst="rect">
            <a:avLst/>
          </a:prstGeom>
          <a:noFill/>
          <a:ln/>
        </p:spPr>
        <p:txBody>
          <a:bodyPr wrap="square" lIns="0" tIns="0" rIns="0" bIns="0" rtlCol="0" anchor="ctr">
            <a:normAutofit/>
          </a:bodyPr>
          <a:lstStyle/>
          <a:p>
            <a:pPr marL="0" indent="0">
              <a:buNone/>
            </a:pPr>
            <a:r>
              <a:rPr lang="en-US" sz="1120" dirty="0">
                <a:solidFill>
                  <a:srgbClr val="334155"/>
                </a:solidFill>
              </a:rPr>
              <a:t>IGD / area publik</a:t>
            </a:r>
            <a:endParaRPr lang="en-US" sz="1120" dirty="0"/>
          </a:p>
        </p:txBody>
      </p:sp>
      <p:sp>
        <p:nvSpPr>
          <p:cNvPr id="44" name="Shape 42"/>
          <p:cNvSpPr/>
          <p:nvPr/>
        </p:nvSpPr>
        <p:spPr>
          <a:xfrm>
            <a:off x="3931920" y="5303520"/>
            <a:ext cx="5029200" cy="585216"/>
          </a:xfrm>
          <a:prstGeom prst="rect">
            <a:avLst/>
          </a:prstGeom>
          <a:solidFill>
            <a:srgbClr val="F8FAFC"/>
          </a:solidFill>
          <a:ln w="7620">
            <a:solidFill>
              <a:srgbClr val="E2E8F0"/>
            </a:solidFill>
            <a:prstDash val="solid"/>
          </a:ln>
        </p:spPr>
      </p:sp>
      <p:sp>
        <p:nvSpPr>
          <p:cNvPr id="45" name="Text 43"/>
          <p:cNvSpPr/>
          <p:nvPr/>
        </p:nvSpPr>
        <p:spPr>
          <a:xfrm>
            <a:off x="4041648" y="5422392"/>
            <a:ext cx="4809744" cy="310896"/>
          </a:xfrm>
          <a:prstGeom prst="rect">
            <a:avLst/>
          </a:prstGeom>
          <a:noFill/>
          <a:ln/>
        </p:spPr>
        <p:txBody>
          <a:bodyPr wrap="square" lIns="0" tIns="0" rIns="0" bIns="0" rtlCol="0" anchor="ctr">
            <a:normAutofit/>
          </a:bodyPr>
          <a:lstStyle/>
          <a:p>
            <a:pPr marL="0" indent="0">
              <a:buNone/>
            </a:pPr>
            <a:r>
              <a:rPr lang="en-US" sz="1120" dirty="0">
                <a:solidFill>
                  <a:srgbClr val="334155"/>
                </a:solidFill>
              </a:rPr>
              <a:t>Kekerasan, konflik, kerumunan, evakuasi</a:t>
            </a:r>
            <a:endParaRPr lang="en-US" sz="1120" dirty="0"/>
          </a:p>
        </p:txBody>
      </p:sp>
      <p:sp>
        <p:nvSpPr>
          <p:cNvPr id="46" name="Shape 44"/>
          <p:cNvSpPr/>
          <p:nvPr/>
        </p:nvSpPr>
        <p:spPr>
          <a:xfrm>
            <a:off x="8961120" y="5303520"/>
            <a:ext cx="2194560" cy="585216"/>
          </a:xfrm>
          <a:prstGeom prst="rect">
            <a:avLst/>
          </a:prstGeom>
          <a:solidFill>
            <a:srgbClr val="F8FAFC"/>
          </a:solidFill>
          <a:ln w="7620">
            <a:solidFill>
              <a:srgbClr val="E2E8F0"/>
            </a:solidFill>
            <a:prstDash val="solid"/>
          </a:ln>
        </p:spPr>
      </p:sp>
      <p:sp>
        <p:nvSpPr>
          <p:cNvPr id="47" name="Text 45"/>
          <p:cNvSpPr/>
          <p:nvPr/>
        </p:nvSpPr>
        <p:spPr>
          <a:xfrm>
            <a:off x="9070848" y="5422392"/>
            <a:ext cx="1975104" cy="310896"/>
          </a:xfrm>
          <a:prstGeom prst="rect">
            <a:avLst/>
          </a:prstGeom>
          <a:noFill/>
          <a:ln/>
        </p:spPr>
        <p:txBody>
          <a:bodyPr wrap="square" lIns="0" tIns="0" rIns="0" bIns="0" rtlCol="0" anchor="ctr">
            <a:normAutofit/>
          </a:bodyPr>
          <a:lstStyle/>
          <a:p>
            <a:pPr marL="0" indent="0">
              <a:buNone/>
            </a:pPr>
            <a:r>
              <a:rPr lang="en-US" sz="1050" b="1" dirty="0">
                <a:solidFill>
                  <a:srgbClr val="0E7490"/>
                </a:solidFill>
              </a:rPr>
              <a:t>Keamanan</a:t>
            </a:r>
            <a:endParaRPr lang="en-US" sz="1050" dirty="0"/>
          </a:p>
        </p:txBody>
      </p:sp>
      <p:sp>
        <p:nvSpPr>
          <p:cNvPr id="48" name="Text 46"/>
          <p:cNvSpPr/>
          <p:nvPr/>
        </p:nvSpPr>
        <p:spPr>
          <a:xfrm>
            <a:off x="566928" y="6291072"/>
            <a:ext cx="10698480" cy="164592"/>
          </a:xfrm>
          <a:prstGeom prst="rect">
            <a:avLst/>
          </a:prstGeom>
          <a:noFill/>
          <a:ln/>
        </p:spPr>
        <p:txBody>
          <a:bodyPr wrap="square" lIns="0" tIns="0" rIns="0" bIns="0" rtlCol="0" anchor="ctr">
            <a:normAutofit/>
          </a:bodyPr>
          <a:lstStyle/>
          <a:p>
            <a:pPr marL="0" indent="0">
              <a:buNone/>
            </a:pPr>
            <a:r>
              <a:rPr lang="en-US" sz="730" i="1" dirty="0">
                <a:solidFill>
                  <a:srgbClr val="94A3B8"/>
                </a:solidFill>
                <a:latin typeface="Arial" pitchFamily="34" charset="0"/>
                <a:ea typeface="Arial" pitchFamily="34" charset="-122"/>
                <a:cs typeface="Arial" pitchFamily="34" charset="-120"/>
              </a:rPr>
              <a:t>Contoh aktivitas disusun untuk pembelajaran; sesuaikan dengan risk register dan SOP fasilitas masing-masing.</a:t>
            </a:r>
            <a:endParaRPr lang="en-US" sz="730" dirty="0"/>
          </a:p>
        </p:txBody>
      </p:sp>
      <p:sp>
        <p:nvSpPr>
          <p:cNvPr id="49" name="Slide Number Placeholder 0"/>
          <p:cNvSpPr>
            <a:spLocks noGrp="1"/>
          </p:cNvSpPr>
          <p:nvPr>
            <p:ph type="sldNum" sz="quarter" idx="4294967295"/>
          </p:nvPr>
        </p:nvSpPr>
        <p:spPr>
          <a:xfrm>
            <a:off x="11475720" y="6492240"/>
            <a:ext cx="320040"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64748B"/>
                </a:solidFill>
                <a:latin typeface="Arial"/>
                <a:ea typeface="Arial"/>
                <a:cs typeface="Aria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566928" y="347472"/>
            <a:ext cx="1417320" cy="310896"/>
          </a:xfrm>
          <a:prstGeom prst="roundRect">
            <a:avLst>
              <a:gd name="adj" fmla="val 23529"/>
            </a:avLst>
          </a:prstGeom>
          <a:solidFill>
            <a:srgbClr val="ECFEFF"/>
          </a:solidFill>
          <a:ln w="12700">
            <a:solidFill>
              <a:srgbClr val="ECFEFF"/>
            </a:solidFill>
            <a:prstDash val="solid"/>
          </a:ln>
        </p:spPr>
      </p:sp>
      <p:sp>
        <p:nvSpPr>
          <p:cNvPr id="3" name="Text 1"/>
          <p:cNvSpPr/>
          <p:nvPr/>
        </p:nvSpPr>
        <p:spPr>
          <a:xfrm>
            <a:off x="694944" y="429768"/>
            <a:ext cx="1170432" cy="128016"/>
          </a:xfrm>
          <a:prstGeom prst="rect">
            <a:avLst/>
          </a:prstGeom>
          <a:noFill/>
          <a:ln/>
        </p:spPr>
        <p:txBody>
          <a:bodyPr wrap="square" lIns="0" tIns="0" rIns="0" bIns="0" rtlCol="0" anchor="ctr"/>
          <a:lstStyle/>
          <a:p>
            <a:pPr marL="0" indent="0" algn="ctr">
              <a:buNone/>
            </a:pPr>
            <a:r>
              <a:rPr lang="en-US" sz="900" b="1" dirty="0">
                <a:solidFill>
                  <a:srgbClr val="0E7490"/>
                </a:solidFill>
                <a:latin typeface="Arial" pitchFamily="34" charset="0"/>
                <a:ea typeface="Arial" pitchFamily="34" charset="-122"/>
                <a:cs typeface="Arial" pitchFamily="34" charset="-120"/>
              </a:rPr>
              <a:t>BAHAYA KERJA</a:t>
            </a:r>
            <a:endParaRPr lang="en-US" sz="900" dirty="0"/>
          </a:p>
        </p:txBody>
      </p:sp>
      <p:sp>
        <p:nvSpPr>
          <p:cNvPr id="4" name="Text 2"/>
          <p:cNvSpPr/>
          <p:nvPr/>
        </p:nvSpPr>
        <p:spPr>
          <a:xfrm>
            <a:off x="566928" y="777240"/>
            <a:ext cx="10972800" cy="566928"/>
          </a:xfrm>
          <a:prstGeom prst="rect">
            <a:avLst/>
          </a:prstGeom>
          <a:noFill/>
          <a:ln/>
        </p:spPr>
        <p:txBody>
          <a:bodyPr wrap="square" lIns="0" tIns="0" rIns="0" bIns="0" rtlCol="0" anchor="ctr">
            <a:normAutofit/>
          </a:bodyPr>
          <a:lstStyle/>
          <a:p>
            <a:pPr marL="0" indent="0">
              <a:buNone/>
            </a:pPr>
            <a:r>
              <a:rPr lang="en-US" sz="2700" b="1" dirty="0">
                <a:solidFill>
                  <a:srgbClr val="0F172A"/>
                </a:solidFill>
                <a:latin typeface="Arial" pitchFamily="34" charset="0"/>
                <a:ea typeface="Arial" pitchFamily="34" charset="-122"/>
                <a:cs typeface="Arial" pitchFamily="34" charset="-120"/>
              </a:rPr>
              <a:t>Bahaya Biologis</a:t>
            </a:r>
            <a:endParaRPr lang="en-US" sz="2700" dirty="0"/>
          </a:p>
        </p:txBody>
      </p:sp>
      <p:sp>
        <p:nvSpPr>
          <p:cNvPr id="5" name="Text 3"/>
          <p:cNvSpPr/>
          <p:nvPr/>
        </p:nvSpPr>
        <p:spPr>
          <a:xfrm>
            <a:off x="566928" y="1371600"/>
            <a:ext cx="10881360" cy="384048"/>
          </a:xfrm>
          <a:prstGeom prst="rect">
            <a:avLst/>
          </a:prstGeom>
          <a:noFill/>
          <a:ln/>
        </p:spPr>
        <p:txBody>
          <a:bodyPr wrap="square" lIns="0" tIns="0" rIns="0" bIns="0" rtlCol="0" anchor="ctr">
            <a:normAutofit/>
          </a:bodyPr>
          <a:lstStyle/>
          <a:p>
            <a:pPr marL="0" indent="0">
              <a:buNone/>
            </a:pPr>
            <a:r>
              <a:rPr lang="en-US" sz="1250" dirty="0">
                <a:solidFill>
                  <a:srgbClr val="64748B"/>
                </a:solidFill>
                <a:latin typeface="Arial" pitchFamily="34" charset="0"/>
                <a:ea typeface="Arial" pitchFamily="34" charset="-122"/>
                <a:cs typeface="Arial" pitchFamily="34" charset="-120"/>
              </a:rPr>
              <a:t>Risiko biologis berasal dari darah/cairan tubuh, droplet, aerosol, kontak, dan lingkungan yang terkontaminasi.</a:t>
            </a:r>
            <a:endParaRPr lang="en-US" sz="1250" dirty="0"/>
          </a:p>
        </p:txBody>
      </p:sp>
      <p:sp>
        <p:nvSpPr>
          <p:cNvPr id="6" name="Shape 4"/>
          <p:cNvSpPr/>
          <p:nvPr/>
        </p:nvSpPr>
        <p:spPr>
          <a:xfrm>
            <a:off x="685800" y="1920240"/>
            <a:ext cx="2944368" cy="3520440"/>
          </a:xfrm>
          <a:prstGeom prst="roundRect">
            <a:avLst>
              <a:gd name="adj" fmla="val 2484"/>
            </a:avLst>
          </a:prstGeom>
          <a:solidFill>
            <a:srgbClr val="FFFFFF"/>
          </a:solidFill>
          <a:ln w="12700">
            <a:solidFill>
              <a:srgbClr val="E2E8F0"/>
            </a:solidFill>
            <a:prstDash val="solid"/>
          </a:ln>
        </p:spPr>
      </p:sp>
      <p:sp>
        <p:nvSpPr>
          <p:cNvPr id="7" name="Shape 5"/>
          <p:cNvSpPr/>
          <p:nvPr/>
        </p:nvSpPr>
        <p:spPr>
          <a:xfrm>
            <a:off x="1810512" y="2240280"/>
            <a:ext cx="658368" cy="658368"/>
          </a:xfrm>
          <a:prstGeom prst="ellipse">
            <a:avLst/>
          </a:prstGeom>
          <a:solidFill>
            <a:srgbClr val="F8FAFC"/>
          </a:solidFill>
          <a:ln w="12700">
            <a:solidFill>
              <a:srgbClr val="F8FAFC"/>
            </a:solidFill>
            <a:prstDash val="solid"/>
          </a:ln>
        </p:spPr>
      </p:sp>
      <p:pic>
        <p:nvPicPr>
          <p:cNvPr id="8"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47672" y="2377440"/>
            <a:ext cx="384048" cy="384048"/>
          </a:xfrm>
          <a:prstGeom prst="rect">
            <a:avLst/>
          </a:prstGeom>
        </p:spPr>
      </p:pic>
      <p:sp>
        <p:nvSpPr>
          <p:cNvPr id="9" name="Text 6"/>
          <p:cNvSpPr/>
          <p:nvPr/>
        </p:nvSpPr>
        <p:spPr>
          <a:xfrm>
            <a:off x="914400" y="3108960"/>
            <a:ext cx="2487168" cy="329184"/>
          </a:xfrm>
          <a:prstGeom prst="rect">
            <a:avLst/>
          </a:prstGeom>
          <a:noFill/>
          <a:ln/>
        </p:spPr>
        <p:txBody>
          <a:bodyPr wrap="square" lIns="0" tIns="0" rIns="0" bIns="0" rtlCol="0" anchor="ctr"/>
          <a:lstStyle/>
          <a:p>
            <a:pPr marL="0" indent="0" algn="ctr">
              <a:buNone/>
            </a:pPr>
            <a:r>
              <a:rPr lang="en-US" sz="1700" b="1" dirty="0">
                <a:solidFill>
                  <a:srgbClr val="0F172A"/>
                </a:solidFill>
              </a:rPr>
              <a:t>Sumber</a:t>
            </a:r>
            <a:endParaRPr lang="en-US" sz="1700" dirty="0"/>
          </a:p>
        </p:txBody>
      </p:sp>
      <p:sp>
        <p:nvSpPr>
          <p:cNvPr id="10" name="Text 7"/>
          <p:cNvSpPr/>
          <p:nvPr/>
        </p:nvSpPr>
        <p:spPr>
          <a:xfrm>
            <a:off x="978408" y="3657600"/>
            <a:ext cx="2423160" cy="1417320"/>
          </a:xfrm>
          <a:prstGeom prst="rect">
            <a:avLst/>
          </a:prstGeom>
          <a:noFill/>
          <a:ln/>
        </p:spPr>
        <p:txBody>
          <a:bodyPr wrap="square" lIns="381" tIns="381" rIns="381" bIns="381" rtlCol="0" anchor="ctr">
            <a:normAutofit/>
          </a:bodyPr>
          <a:lstStyle/>
          <a:p>
            <a:pPr marL="203200" indent="-203200">
              <a:buSzPct val="100000"/>
              <a:buChar char="•"/>
            </a:pPr>
            <a:r>
              <a:rPr lang="en-US" sz="1160" dirty="0">
                <a:solidFill>
                  <a:srgbClr val="334155"/>
                </a:solidFill>
                <a:latin typeface="Arial" pitchFamily="34" charset="0"/>
                <a:ea typeface="Arial" pitchFamily="34" charset="-122"/>
                <a:cs typeface="Arial" pitchFamily="34" charset="-120"/>
              </a:rPr>
              <a:t>Pasien terinfeksi</a:t>
            </a:r>
            <a:endParaRPr lang="en-US" sz="1160" dirty="0"/>
          </a:p>
          <a:p>
            <a:pPr marL="203200" indent="-203200">
              <a:buSzPct val="100000"/>
              <a:buChar char="•"/>
            </a:pPr>
            <a:r>
              <a:rPr lang="en-US" sz="1160" dirty="0">
                <a:solidFill>
                  <a:srgbClr val="334155"/>
                </a:solidFill>
                <a:latin typeface="Arial" pitchFamily="34" charset="0"/>
                <a:ea typeface="Arial" pitchFamily="34" charset="-122"/>
                <a:cs typeface="Arial" pitchFamily="34" charset="-120"/>
              </a:rPr>
              <a:t>Darah/cairan tubuh</a:t>
            </a:r>
            <a:endParaRPr lang="en-US" sz="1160" dirty="0"/>
          </a:p>
          <a:p>
            <a:pPr marL="203200" indent="-203200">
              <a:buSzPct val="100000"/>
              <a:buChar char="•"/>
            </a:pPr>
            <a:r>
              <a:rPr lang="en-US" sz="1160" dirty="0">
                <a:solidFill>
                  <a:srgbClr val="334155"/>
                </a:solidFill>
                <a:latin typeface="Arial" pitchFamily="34" charset="0"/>
                <a:ea typeface="Arial" pitchFamily="34" charset="-122"/>
                <a:cs typeface="Arial" pitchFamily="34" charset="-120"/>
              </a:rPr>
              <a:t>Sekret pernapasan</a:t>
            </a:r>
            <a:endParaRPr lang="en-US" sz="1160" dirty="0"/>
          </a:p>
          <a:p>
            <a:pPr marL="203200" indent="-203200">
              <a:buSzPct val="100000"/>
              <a:buChar char="•"/>
            </a:pPr>
            <a:r>
              <a:rPr lang="en-US" sz="1160" dirty="0">
                <a:solidFill>
                  <a:srgbClr val="334155"/>
                </a:solidFill>
                <a:latin typeface="Arial" pitchFamily="34" charset="0"/>
                <a:ea typeface="Arial" pitchFamily="34" charset="-122"/>
                <a:cs typeface="Arial" pitchFamily="34" charset="-120"/>
              </a:rPr>
              <a:t>Benda/permukaan tercemar</a:t>
            </a:r>
            <a:endParaRPr lang="en-US" sz="1160" dirty="0"/>
          </a:p>
        </p:txBody>
      </p:sp>
      <p:sp>
        <p:nvSpPr>
          <p:cNvPr id="11" name="Shape 8"/>
          <p:cNvSpPr/>
          <p:nvPr/>
        </p:nvSpPr>
        <p:spPr>
          <a:xfrm>
            <a:off x="4160520" y="1920240"/>
            <a:ext cx="2944368" cy="3520440"/>
          </a:xfrm>
          <a:prstGeom prst="roundRect">
            <a:avLst>
              <a:gd name="adj" fmla="val 2484"/>
            </a:avLst>
          </a:prstGeom>
          <a:solidFill>
            <a:srgbClr val="FFFFFF"/>
          </a:solidFill>
          <a:ln w="12700">
            <a:solidFill>
              <a:srgbClr val="E2E8F0"/>
            </a:solidFill>
            <a:prstDash val="solid"/>
          </a:ln>
        </p:spPr>
      </p:sp>
      <p:sp>
        <p:nvSpPr>
          <p:cNvPr id="12" name="Shape 9"/>
          <p:cNvSpPr/>
          <p:nvPr/>
        </p:nvSpPr>
        <p:spPr>
          <a:xfrm>
            <a:off x="5285232" y="2240280"/>
            <a:ext cx="658368" cy="658368"/>
          </a:xfrm>
          <a:prstGeom prst="ellipse">
            <a:avLst/>
          </a:prstGeom>
          <a:solidFill>
            <a:srgbClr val="F8FAFC"/>
          </a:solidFill>
          <a:ln w="12700">
            <a:solidFill>
              <a:srgbClr val="F8FAFC"/>
            </a:solidFill>
            <a:prstDash val="solid"/>
          </a:ln>
        </p:spPr>
      </p:sp>
      <p:pic>
        <p:nvPicPr>
          <p:cNvPr id="13"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422392" y="2377440"/>
            <a:ext cx="384048" cy="384048"/>
          </a:xfrm>
          <a:prstGeom prst="rect">
            <a:avLst/>
          </a:prstGeom>
        </p:spPr>
      </p:pic>
      <p:sp>
        <p:nvSpPr>
          <p:cNvPr id="14" name="Text 10"/>
          <p:cNvSpPr/>
          <p:nvPr/>
        </p:nvSpPr>
        <p:spPr>
          <a:xfrm>
            <a:off x="4389120" y="3108960"/>
            <a:ext cx="2487168" cy="329184"/>
          </a:xfrm>
          <a:prstGeom prst="rect">
            <a:avLst/>
          </a:prstGeom>
          <a:noFill/>
          <a:ln/>
        </p:spPr>
        <p:txBody>
          <a:bodyPr wrap="square" lIns="0" tIns="0" rIns="0" bIns="0" rtlCol="0" anchor="ctr"/>
          <a:lstStyle/>
          <a:p>
            <a:pPr marL="0" indent="0" algn="ctr">
              <a:buNone/>
            </a:pPr>
            <a:r>
              <a:rPr lang="en-US" sz="1700" b="1" dirty="0">
                <a:solidFill>
                  <a:srgbClr val="0F172A"/>
                </a:solidFill>
              </a:rPr>
              <a:t>Jalur pajanan</a:t>
            </a:r>
            <a:endParaRPr lang="en-US" sz="1700" dirty="0"/>
          </a:p>
        </p:txBody>
      </p:sp>
      <p:sp>
        <p:nvSpPr>
          <p:cNvPr id="15" name="Text 11"/>
          <p:cNvSpPr/>
          <p:nvPr/>
        </p:nvSpPr>
        <p:spPr>
          <a:xfrm>
            <a:off x="4453128" y="3657600"/>
            <a:ext cx="2423160" cy="1417320"/>
          </a:xfrm>
          <a:prstGeom prst="rect">
            <a:avLst/>
          </a:prstGeom>
          <a:noFill/>
          <a:ln/>
        </p:spPr>
        <p:txBody>
          <a:bodyPr wrap="square" lIns="381" tIns="381" rIns="381" bIns="381" rtlCol="0" anchor="ctr">
            <a:normAutofit/>
          </a:bodyPr>
          <a:lstStyle/>
          <a:p>
            <a:pPr marL="203200" indent="-203200">
              <a:buSzPct val="100000"/>
              <a:buChar char="•"/>
            </a:pPr>
            <a:r>
              <a:rPr lang="en-US" sz="1160" dirty="0">
                <a:solidFill>
                  <a:srgbClr val="334155"/>
                </a:solidFill>
                <a:latin typeface="Arial" pitchFamily="34" charset="0"/>
                <a:ea typeface="Arial" pitchFamily="34" charset="-122"/>
                <a:cs typeface="Arial" pitchFamily="34" charset="-120"/>
              </a:rPr>
              <a:t>Percikan mukosa</a:t>
            </a:r>
            <a:endParaRPr lang="en-US" sz="1160" dirty="0"/>
          </a:p>
          <a:p>
            <a:pPr marL="203200" indent="-203200">
              <a:buSzPct val="100000"/>
              <a:buChar char="•"/>
            </a:pPr>
            <a:r>
              <a:rPr lang="en-US" sz="1160" dirty="0">
                <a:solidFill>
                  <a:srgbClr val="334155"/>
                </a:solidFill>
                <a:latin typeface="Arial" pitchFamily="34" charset="0"/>
                <a:ea typeface="Arial" pitchFamily="34" charset="-122"/>
                <a:cs typeface="Arial" pitchFamily="34" charset="-120"/>
              </a:rPr>
              <a:t>Tusukan/luka kulit</a:t>
            </a:r>
            <a:endParaRPr lang="en-US" sz="1160" dirty="0"/>
          </a:p>
          <a:p>
            <a:pPr marL="203200" indent="-203200">
              <a:buSzPct val="100000"/>
              <a:buChar char="•"/>
            </a:pPr>
            <a:r>
              <a:rPr lang="en-US" sz="1160" dirty="0">
                <a:solidFill>
                  <a:srgbClr val="334155"/>
                </a:solidFill>
                <a:latin typeface="Arial" pitchFamily="34" charset="0"/>
                <a:ea typeface="Arial" pitchFamily="34" charset="-122"/>
                <a:cs typeface="Arial" pitchFamily="34" charset="-120"/>
              </a:rPr>
              <a:t>Inhalasi aerosol</a:t>
            </a:r>
            <a:endParaRPr lang="en-US" sz="1160" dirty="0"/>
          </a:p>
          <a:p>
            <a:pPr marL="203200" indent="-203200">
              <a:buSzPct val="100000"/>
              <a:buChar char="•"/>
            </a:pPr>
            <a:r>
              <a:rPr lang="en-US" sz="1160" dirty="0">
                <a:solidFill>
                  <a:srgbClr val="334155"/>
                </a:solidFill>
                <a:latin typeface="Arial" pitchFamily="34" charset="0"/>
                <a:ea typeface="Arial" pitchFamily="34" charset="-122"/>
                <a:cs typeface="Arial" pitchFamily="34" charset="-120"/>
              </a:rPr>
              <a:t>Kontak tangan-ke-wajah</a:t>
            </a:r>
            <a:endParaRPr lang="en-US" sz="1160" dirty="0"/>
          </a:p>
        </p:txBody>
      </p:sp>
      <p:sp>
        <p:nvSpPr>
          <p:cNvPr id="16" name="Shape 12"/>
          <p:cNvSpPr/>
          <p:nvPr/>
        </p:nvSpPr>
        <p:spPr>
          <a:xfrm>
            <a:off x="7635240" y="1920240"/>
            <a:ext cx="2944368" cy="3520440"/>
          </a:xfrm>
          <a:prstGeom prst="roundRect">
            <a:avLst>
              <a:gd name="adj" fmla="val 2484"/>
            </a:avLst>
          </a:prstGeom>
          <a:solidFill>
            <a:srgbClr val="FFFFFF"/>
          </a:solidFill>
          <a:ln w="12700">
            <a:solidFill>
              <a:srgbClr val="E2E8F0"/>
            </a:solidFill>
            <a:prstDash val="solid"/>
          </a:ln>
        </p:spPr>
      </p:sp>
      <p:sp>
        <p:nvSpPr>
          <p:cNvPr id="17" name="Shape 13"/>
          <p:cNvSpPr/>
          <p:nvPr/>
        </p:nvSpPr>
        <p:spPr>
          <a:xfrm>
            <a:off x="8759952" y="2240280"/>
            <a:ext cx="658368" cy="658368"/>
          </a:xfrm>
          <a:prstGeom prst="ellipse">
            <a:avLst/>
          </a:prstGeom>
          <a:solidFill>
            <a:srgbClr val="F8FAFC"/>
          </a:solidFill>
          <a:ln w="12700">
            <a:solidFill>
              <a:srgbClr val="F8FAFC"/>
            </a:solidFill>
            <a:prstDash val="solid"/>
          </a:ln>
        </p:spPr>
      </p:sp>
      <p:pic>
        <p:nvPicPr>
          <p:cNvPr id="18"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897112" y="2377440"/>
            <a:ext cx="384048" cy="384048"/>
          </a:xfrm>
          <a:prstGeom prst="rect">
            <a:avLst/>
          </a:prstGeom>
        </p:spPr>
      </p:pic>
      <p:sp>
        <p:nvSpPr>
          <p:cNvPr id="19" name="Text 14"/>
          <p:cNvSpPr/>
          <p:nvPr/>
        </p:nvSpPr>
        <p:spPr>
          <a:xfrm>
            <a:off x="7863840" y="3108960"/>
            <a:ext cx="2487168" cy="329184"/>
          </a:xfrm>
          <a:prstGeom prst="rect">
            <a:avLst/>
          </a:prstGeom>
          <a:noFill/>
          <a:ln/>
        </p:spPr>
        <p:txBody>
          <a:bodyPr wrap="square" lIns="0" tIns="0" rIns="0" bIns="0" rtlCol="0" anchor="ctr"/>
          <a:lstStyle/>
          <a:p>
            <a:pPr marL="0" indent="0" algn="ctr">
              <a:buNone/>
            </a:pPr>
            <a:r>
              <a:rPr lang="en-US" sz="1700" b="1" dirty="0">
                <a:solidFill>
                  <a:srgbClr val="0F172A"/>
                </a:solidFill>
              </a:rPr>
              <a:t>Pengendalian</a:t>
            </a:r>
            <a:endParaRPr lang="en-US" sz="1700" dirty="0"/>
          </a:p>
        </p:txBody>
      </p:sp>
      <p:sp>
        <p:nvSpPr>
          <p:cNvPr id="20" name="Text 15"/>
          <p:cNvSpPr/>
          <p:nvPr/>
        </p:nvSpPr>
        <p:spPr>
          <a:xfrm>
            <a:off x="7927848" y="3657600"/>
            <a:ext cx="2423160" cy="1417320"/>
          </a:xfrm>
          <a:prstGeom prst="rect">
            <a:avLst/>
          </a:prstGeom>
          <a:noFill/>
          <a:ln/>
        </p:spPr>
        <p:txBody>
          <a:bodyPr wrap="square" lIns="381" tIns="381" rIns="381" bIns="381" rtlCol="0" anchor="ctr">
            <a:normAutofit/>
          </a:bodyPr>
          <a:lstStyle/>
          <a:p>
            <a:pPr marL="203200" indent="-203200">
              <a:buSzPct val="100000"/>
              <a:buChar char="•"/>
            </a:pPr>
            <a:r>
              <a:rPr lang="en-US" sz="1160" dirty="0">
                <a:solidFill>
                  <a:srgbClr val="334155"/>
                </a:solidFill>
                <a:latin typeface="Arial" pitchFamily="34" charset="0"/>
                <a:ea typeface="Arial" pitchFamily="34" charset="-122"/>
                <a:cs typeface="Arial" pitchFamily="34" charset="-120"/>
              </a:rPr>
              <a:t>Kebersihan tangan</a:t>
            </a:r>
            <a:endParaRPr lang="en-US" sz="1160" dirty="0"/>
          </a:p>
          <a:p>
            <a:pPr marL="203200" indent="-203200">
              <a:buSzPct val="100000"/>
              <a:buChar char="•"/>
            </a:pPr>
            <a:r>
              <a:rPr lang="en-US" sz="1160" dirty="0">
                <a:solidFill>
                  <a:srgbClr val="334155"/>
                </a:solidFill>
                <a:latin typeface="Arial" pitchFamily="34" charset="0"/>
                <a:ea typeface="Arial" pitchFamily="34" charset="-122"/>
                <a:cs typeface="Arial" pitchFamily="34" charset="-120"/>
              </a:rPr>
              <a:t>APD sesuai risiko</a:t>
            </a:r>
            <a:endParaRPr lang="en-US" sz="1160" dirty="0"/>
          </a:p>
          <a:p>
            <a:pPr marL="203200" indent="-203200">
              <a:buSzPct val="100000"/>
              <a:buChar char="•"/>
            </a:pPr>
            <a:r>
              <a:rPr lang="en-US" sz="1160" dirty="0">
                <a:solidFill>
                  <a:srgbClr val="334155"/>
                </a:solidFill>
                <a:latin typeface="Arial" pitchFamily="34" charset="0"/>
                <a:ea typeface="Arial" pitchFamily="34" charset="-122"/>
                <a:cs typeface="Arial" pitchFamily="34" charset="-120"/>
              </a:rPr>
              <a:t>Teknik aman benda tajam</a:t>
            </a:r>
            <a:endParaRPr lang="en-US" sz="1160" dirty="0"/>
          </a:p>
          <a:p>
            <a:pPr marL="203200" indent="-203200">
              <a:buSzPct val="100000"/>
              <a:buChar char="•"/>
            </a:pPr>
            <a:r>
              <a:rPr lang="en-US" sz="1160" dirty="0">
                <a:solidFill>
                  <a:srgbClr val="334155"/>
                </a:solidFill>
                <a:latin typeface="Arial" pitchFamily="34" charset="0"/>
                <a:ea typeface="Arial" pitchFamily="34" charset="-122"/>
                <a:cs typeface="Arial" pitchFamily="34" charset="-120"/>
              </a:rPr>
              <a:t>Isolasi &amp; ventilasi sesuai indikasi</a:t>
            </a:r>
            <a:endParaRPr lang="en-US" sz="1160" dirty="0"/>
          </a:p>
        </p:txBody>
      </p:sp>
      <p:sp>
        <p:nvSpPr>
          <p:cNvPr id="21" name="Text 16"/>
          <p:cNvSpPr/>
          <p:nvPr/>
        </p:nvSpPr>
        <p:spPr>
          <a:xfrm>
            <a:off x="566928" y="6291072"/>
            <a:ext cx="10698480" cy="164592"/>
          </a:xfrm>
          <a:prstGeom prst="rect">
            <a:avLst/>
          </a:prstGeom>
          <a:noFill/>
          <a:ln/>
        </p:spPr>
        <p:txBody>
          <a:bodyPr wrap="square" lIns="0" tIns="0" rIns="0" bIns="0" rtlCol="0" anchor="ctr">
            <a:normAutofit/>
          </a:bodyPr>
          <a:lstStyle/>
          <a:p>
            <a:pPr marL="0" indent="0">
              <a:buNone/>
            </a:pPr>
            <a:r>
              <a:rPr lang="en-US" sz="730" i="1" dirty="0">
                <a:solidFill>
                  <a:srgbClr val="94A3B8"/>
                </a:solidFill>
                <a:latin typeface="Arial" pitchFamily="34" charset="0"/>
                <a:ea typeface="Arial" pitchFamily="34" charset="-122"/>
                <a:cs typeface="Arial" pitchFamily="34" charset="-120"/>
              </a:rPr>
              <a:t>WHO 2025: occupational infections termasuk TB, hepatitis B/C, HIV, dan infeksi pernapasan sebagai risiko kerja sektor kesehatan.</a:t>
            </a:r>
            <a:endParaRPr lang="en-US" sz="730" dirty="0"/>
          </a:p>
        </p:txBody>
      </p:sp>
      <p:sp>
        <p:nvSpPr>
          <p:cNvPr id="25" name="Slide Number Placeholder 0"/>
          <p:cNvSpPr>
            <a:spLocks noGrp="1"/>
          </p:cNvSpPr>
          <p:nvPr>
            <p:ph type="sldNum" sz="quarter" idx="4294967295"/>
          </p:nvPr>
        </p:nvSpPr>
        <p:spPr>
          <a:xfrm>
            <a:off x="11475720" y="6492240"/>
            <a:ext cx="320040"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64748B"/>
                </a:solidFill>
                <a:latin typeface="Arial"/>
                <a:ea typeface="Arial"/>
                <a:cs typeface="Aria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566928" y="347472"/>
            <a:ext cx="1417320" cy="310896"/>
          </a:xfrm>
          <a:prstGeom prst="roundRect">
            <a:avLst>
              <a:gd name="adj" fmla="val 23529"/>
            </a:avLst>
          </a:prstGeom>
          <a:solidFill>
            <a:srgbClr val="ECFEFF"/>
          </a:solidFill>
          <a:ln w="12700">
            <a:solidFill>
              <a:srgbClr val="ECFEFF"/>
            </a:solidFill>
            <a:prstDash val="solid"/>
          </a:ln>
        </p:spPr>
      </p:sp>
      <p:sp>
        <p:nvSpPr>
          <p:cNvPr id="3" name="Text 1"/>
          <p:cNvSpPr/>
          <p:nvPr/>
        </p:nvSpPr>
        <p:spPr>
          <a:xfrm>
            <a:off x="694944" y="429768"/>
            <a:ext cx="1170432" cy="128016"/>
          </a:xfrm>
          <a:prstGeom prst="rect">
            <a:avLst/>
          </a:prstGeom>
          <a:noFill/>
          <a:ln/>
        </p:spPr>
        <p:txBody>
          <a:bodyPr wrap="square" lIns="0" tIns="0" rIns="0" bIns="0" rtlCol="0" anchor="ctr"/>
          <a:lstStyle/>
          <a:p>
            <a:pPr marL="0" indent="0" algn="ctr">
              <a:buNone/>
            </a:pPr>
            <a:r>
              <a:rPr lang="en-US" sz="900" b="1" dirty="0">
                <a:solidFill>
                  <a:srgbClr val="0E7490"/>
                </a:solidFill>
                <a:latin typeface="Arial" pitchFamily="34" charset="0"/>
                <a:ea typeface="Arial" pitchFamily="34" charset="-122"/>
                <a:cs typeface="Arial" pitchFamily="34" charset="-120"/>
              </a:rPr>
              <a:t>BAHAYA KERJA</a:t>
            </a:r>
            <a:endParaRPr lang="en-US" sz="900" dirty="0"/>
          </a:p>
        </p:txBody>
      </p:sp>
      <p:sp>
        <p:nvSpPr>
          <p:cNvPr id="4" name="Text 2"/>
          <p:cNvSpPr/>
          <p:nvPr/>
        </p:nvSpPr>
        <p:spPr>
          <a:xfrm>
            <a:off x="566928" y="777240"/>
            <a:ext cx="10972800" cy="566928"/>
          </a:xfrm>
          <a:prstGeom prst="rect">
            <a:avLst/>
          </a:prstGeom>
          <a:noFill/>
          <a:ln/>
        </p:spPr>
        <p:txBody>
          <a:bodyPr wrap="square" lIns="0" tIns="0" rIns="0" bIns="0" rtlCol="0" anchor="ctr">
            <a:normAutofit/>
          </a:bodyPr>
          <a:lstStyle/>
          <a:p>
            <a:pPr marL="0" indent="0">
              <a:buNone/>
            </a:pPr>
            <a:r>
              <a:rPr lang="en-US" sz="2700" b="1" dirty="0">
                <a:solidFill>
                  <a:srgbClr val="0F172A"/>
                </a:solidFill>
                <a:latin typeface="Arial" pitchFamily="34" charset="0"/>
                <a:ea typeface="Arial" pitchFamily="34" charset="-122"/>
                <a:cs typeface="Arial" pitchFamily="34" charset="-120"/>
              </a:rPr>
              <a:t>Cedera Benda Tajam &amp; Pajanan Darah</a:t>
            </a:r>
            <a:endParaRPr lang="en-US" sz="2700" dirty="0"/>
          </a:p>
        </p:txBody>
      </p:sp>
      <p:sp>
        <p:nvSpPr>
          <p:cNvPr id="5" name="Text 3"/>
          <p:cNvSpPr/>
          <p:nvPr/>
        </p:nvSpPr>
        <p:spPr>
          <a:xfrm>
            <a:off x="566928" y="1371600"/>
            <a:ext cx="10881360" cy="384048"/>
          </a:xfrm>
          <a:prstGeom prst="rect">
            <a:avLst/>
          </a:prstGeom>
          <a:noFill/>
          <a:ln/>
        </p:spPr>
        <p:txBody>
          <a:bodyPr wrap="square" lIns="0" tIns="0" rIns="0" bIns="0" rtlCol="0" anchor="ctr">
            <a:normAutofit/>
          </a:bodyPr>
          <a:lstStyle/>
          <a:p>
            <a:pPr marL="0" indent="0">
              <a:buNone/>
            </a:pPr>
            <a:r>
              <a:rPr lang="en-US" sz="1250" dirty="0">
                <a:solidFill>
                  <a:srgbClr val="64748B"/>
                </a:solidFill>
                <a:latin typeface="Arial" pitchFamily="34" charset="0"/>
                <a:ea typeface="Arial" pitchFamily="34" charset="-122"/>
                <a:cs typeface="Arial" pitchFamily="34" charset="-120"/>
              </a:rPr>
              <a:t>Pencegahan terbaik adalah menghindari recapping, menggunakan alat aman, dan membuang benda tajam segera di tempatnya.</a:t>
            </a:r>
            <a:endParaRPr lang="en-US" sz="1250" dirty="0"/>
          </a:p>
        </p:txBody>
      </p:sp>
      <p:pic>
        <p:nvPicPr>
          <p:cNvPr id="6"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04672" y="2048256"/>
            <a:ext cx="1051560" cy="1051560"/>
          </a:xfrm>
          <a:prstGeom prst="rect">
            <a:avLst/>
          </a:prstGeom>
        </p:spPr>
      </p:pic>
      <p:sp>
        <p:nvSpPr>
          <p:cNvPr id="7" name="Text 4"/>
          <p:cNvSpPr/>
          <p:nvPr/>
        </p:nvSpPr>
        <p:spPr>
          <a:xfrm>
            <a:off x="713232" y="3246120"/>
            <a:ext cx="1783080" cy="548640"/>
          </a:xfrm>
          <a:prstGeom prst="rect">
            <a:avLst/>
          </a:prstGeom>
          <a:noFill/>
          <a:ln/>
        </p:spPr>
        <p:txBody>
          <a:bodyPr wrap="square" lIns="0" tIns="0" rIns="0" bIns="0" rtlCol="0" anchor="ctr"/>
          <a:lstStyle/>
          <a:p>
            <a:pPr marL="0" indent="0" algn="ctr">
              <a:buNone/>
            </a:pPr>
            <a:r>
              <a:rPr lang="en-US" sz="1800" b="1" dirty="0">
                <a:solidFill>
                  <a:srgbClr val="0F172A"/>
                </a:solidFill>
              </a:rPr>
              <a:t>Bila pajanan terjadi…</a:t>
            </a:r>
            <a:endParaRPr lang="en-US" sz="1800" dirty="0"/>
          </a:p>
        </p:txBody>
      </p:sp>
      <p:sp>
        <p:nvSpPr>
          <p:cNvPr id="8" name="Shape 5"/>
          <p:cNvSpPr/>
          <p:nvPr/>
        </p:nvSpPr>
        <p:spPr>
          <a:xfrm>
            <a:off x="2514600" y="2084832"/>
            <a:ext cx="1673352" cy="3182112"/>
          </a:xfrm>
          <a:prstGeom prst="roundRect">
            <a:avLst>
              <a:gd name="adj" fmla="val 4372"/>
            </a:avLst>
          </a:prstGeom>
          <a:solidFill>
            <a:srgbClr val="FFFFFF"/>
          </a:solidFill>
          <a:ln w="12700">
            <a:solidFill>
              <a:srgbClr val="E2E8F0"/>
            </a:solidFill>
            <a:prstDash val="solid"/>
          </a:ln>
        </p:spPr>
      </p:sp>
      <p:sp>
        <p:nvSpPr>
          <p:cNvPr id="9" name="Shape 6"/>
          <p:cNvSpPr/>
          <p:nvPr/>
        </p:nvSpPr>
        <p:spPr>
          <a:xfrm>
            <a:off x="3008376" y="2350008"/>
            <a:ext cx="685800" cy="685800"/>
          </a:xfrm>
          <a:prstGeom prst="ellipse">
            <a:avLst/>
          </a:prstGeom>
          <a:solidFill>
            <a:srgbClr val="DC2626"/>
          </a:solidFill>
          <a:ln w="12700">
            <a:solidFill>
              <a:srgbClr val="DC2626"/>
            </a:solidFill>
            <a:prstDash val="solid"/>
          </a:ln>
        </p:spPr>
      </p:sp>
      <p:sp>
        <p:nvSpPr>
          <p:cNvPr id="10" name="Text 7"/>
          <p:cNvSpPr/>
          <p:nvPr/>
        </p:nvSpPr>
        <p:spPr>
          <a:xfrm>
            <a:off x="3008376" y="2532888"/>
            <a:ext cx="685800" cy="201168"/>
          </a:xfrm>
          <a:prstGeom prst="rect">
            <a:avLst/>
          </a:prstGeom>
          <a:noFill/>
          <a:ln/>
        </p:spPr>
        <p:txBody>
          <a:bodyPr wrap="square" lIns="0" tIns="0" rIns="0" bIns="0" rtlCol="0" anchor="ctr"/>
          <a:lstStyle/>
          <a:p>
            <a:pPr marL="0" indent="0" algn="ctr">
              <a:buNone/>
            </a:pPr>
            <a:r>
              <a:rPr lang="en-US" sz="1400" b="1" dirty="0">
                <a:solidFill>
                  <a:srgbClr val="FFFFFF"/>
                </a:solidFill>
              </a:rPr>
              <a:t>1</a:t>
            </a:r>
            <a:endParaRPr lang="en-US" sz="1400" dirty="0"/>
          </a:p>
        </p:txBody>
      </p:sp>
      <p:sp>
        <p:nvSpPr>
          <p:cNvPr id="11" name="Text 8"/>
          <p:cNvSpPr/>
          <p:nvPr/>
        </p:nvSpPr>
        <p:spPr>
          <a:xfrm>
            <a:off x="2679192" y="3310128"/>
            <a:ext cx="1344168" cy="274320"/>
          </a:xfrm>
          <a:prstGeom prst="rect">
            <a:avLst/>
          </a:prstGeom>
          <a:noFill/>
          <a:ln/>
        </p:spPr>
        <p:txBody>
          <a:bodyPr wrap="square" lIns="0" tIns="0" rIns="0" bIns="0" rtlCol="0" anchor="ctr"/>
          <a:lstStyle/>
          <a:p>
            <a:pPr marL="0" indent="0" algn="ctr">
              <a:buNone/>
            </a:pPr>
            <a:r>
              <a:rPr lang="en-US" sz="1200" b="1" dirty="0">
                <a:solidFill>
                  <a:srgbClr val="DC2626"/>
                </a:solidFill>
              </a:rPr>
              <a:t>HENTIKAN</a:t>
            </a:r>
            <a:endParaRPr lang="en-US" sz="1200" dirty="0"/>
          </a:p>
        </p:txBody>
      </p:sp>
      <p:sp>
        <p:nvSpPr>
          <p:cNvPr id="12" name="Text 9"/>
          <p:cNvSpPr/>
          <p:nvPr/>
        </p:nvSpPr>
        <p:spPr>
          <a:xfrm>
            <a:off x="2679192" y="3703320"/>
            <a:ext cx="1344168" cy="1078992"/>
          </a:xfrm>
          <a:prstGeom prst="rect">
            <a:avLst/>
          </a:prstGeom>
          <a:noFill/>
          <a:ln/>
        </p:spPr>
        <p:txBody>
          <a:bodyPr wrap="square" lIns="0" tIns="0" rIns="0" bIns="0" rtlCol="0" anchor="ctr">
            <a:normAutofit/>
          </a:bodyPr>
          <a:lstStyle/>
          <a:p>
            <a:pPr marL="0" indent="0" algn="ctr">
              <a:buNone/>
            </a:pPr>
            <a:r>
              <a:rPr lang="en-US" sz="1020" dirty="0">
                <a:solidFill>
                  <a:srgbClr val="334155"/>
                </a:solidFill>
              </a:rPr>
              <a:t>Hentikan aktivitas dan amankan area.</a:t>
            </a:r>
            <a:endParaRPr lang="en-US" sz="1020" dirty="0"/>
          </a:p>
        </p:txBody>
      </p:sp>
      <p:sp>
        <p:nvSpPr>
          <p:cNvPr id="13" name="Shape 10"/>
          <p:cNvSpPr/>
          <p:nvPr/>
        </p:nvSpPr>
        <p:spPr>
          <a:xfrm>
            <a:off x="4050792" y="3227832"/>
            <a:ext cx="329184" cy="502920"/>
          </a:xfrm>
          <a:prstGeom prst="chevron">
            <a:avLst/>
          </a:prstGeom>
          <a:solidFill>
            <a:srgbClr val="CBD5E1"/>
          </a:solidFill>
          <a:ln w="12700">
            <a:solidFill>
              <a:srgbClr val="CBD5E1"/>
            </a:solidFill>
            <a:prstDash val="solid"/>
          </a:ln>
        </p:spPr>
      </p:sp>
      <p:sp>
        <p:nvSpPr>
          <p:cNvPr id="14" name="Shape 11"/>
          <p:cNvSpPr/>
          <p:nvPr/>
        </p:nvSpPr>
        <p:spPr>
          <a:xfrm>
            <a:off x="4361688" y="2084832"/>
            <a:ext cx="1673352" cy="3182112"/>
          </a:xfrm>
          <a:prstGeom prst="roundRect">
            <a:avLst>
              <a:gd name="adj" fmla="val 4372"/>
            </a:avLst>
          </a:prstGeom>
          <a:solidFill>
            <a:srgbClr val="FFFFFF"/>
          </a:solidFill>
          <a:ln w="12700">
            <a:solidFill>
              <a:srgbClr val="E2E8F0"/>
            </a:solidFill>
            <a:prstDash val="solid"/>
          </a:ln>
        </p:spPr>
      </p:sp>
      <p:sp>
        <p:nvSpPr>
          <p:cNvPr id="15" name="Shape 12"/>
          <p:cNvSpPr/>
          <p:nvPr/>
        </p:nvSpPr>
        <p:spPr>
          <a:xfrm>
            <a:off x="4855464" y="2350008"/>
            <a:ext cx="685800" cy="685800"/>
          </a:xfrm>
          <a:prstGeom prst="ellipse">
            <a:avLst/>
          </a:prstGeom>
          <a:solidFill>
            <a:srgbClr val="D97706"/>
          </a:solidFill>
          <a:ln w="12700">
            <a:solidFill>
              <a:srgbClr val="D97706"/>
            </a:solidFill>
            <a:prstDash val="solid"/>
          </a:ln>
        </p:spPr>
      </p:sp>
      <p:sp>
        <p:nvSpPr>
          <p:cNvPr id="16" name="Text 13"/>
          <p:cNvSpPr/>
          <p:nvPr/>
        </p:nvSpPr>
        <p:spPr>
          <a:xfrm>
            <a:off x="4855464" y="2532888"/>
            <a:ext cx="685800" cy="201168"/>
          </a:xfrm>
          <a:prstGeom prst="rect">
            <a:avLst/>
          </a:prstGeom>
          <a:noFill/>
          <a:ln/>
        </p:spPr>
        <p:txBody>
          <a:bodyPr wrap="square" lIns="0" tIns="0" rIns="0" bIns="0" rtlCol="0" anchor="ctr"/>
          <a:lstStyle/>
          <a:p>
            <a:pPr marL="0" indent="0" algn="ctr">
              <a:buNone/>
            </a:pPr>
            <a:r>
              <a:rPr lang="en-US" sz="1400" b="1" dirty="0">
                <a:solidFill>
                  <a:srgbClr val="FFFFFF"/>
                </a:solidFill>
              </a:rPr>
              <a:t>2</a:t>
            </a:r>
            <a:endParaRPr lang="en-US" sz="1400" dirty="0"/>
          </a:p>
        </p:txBody>
      </p:sp>
      <p:sp>
        <p:nvSpPr>
          <p:cNvPr id="17" name="Text 14"/>
          <p:cNvSpPr/>
          <p:nvPr/>
        </p:nvSpPr>
        <p:spPr>
          <a:xfrm>
            <a:off x="4526280" y="3310128"/>
            <a:ext cx="1344168" cy="274320"/>
          </a:xfrm>
          <a:prstGeom prst="rect">
            <a:avLst/>
          </a:prstGeom>
          <a:noFill/>
          <a:ln/>
        </p:spPr>
        <p:txBody>
          <a:bodyPr wrap="square" lIns="0" tIns="0" rIns="0" bIns="0" rtlCol="0" anchor="ctr"/>
          <a:lstStyle/>
          <a:p>
            <a:pPr marL="0" indent="0" algn="ctr">
              <a:buNone/>
            </a:pPr>
            <a:r>
              <a:rPr lang="en-US" sz="1200" b="1" dirty="0">
                <a:solidFill>
                  <a:srgbClr val="D97706"/>
                </a:solidFill>
              </a:rPr>
              <a:t>BERSIHKAN</a:t>
            </a:r>
            <a:endParaRPr lang="en-US" sz="1200" dirty="0"/>
          </a:p>
        </p:txBody>
      </p:sp>
      <p:sp>
        <p:nvSpPr>
          <p:cNvPr id="18" name="Text 15"/>
          <p:cNvSpPr/>
          <p:nvPr/>
        </p:nvSpPr>
        <p:spPr>
          <a:xfrm>
            <a:off x="4526280" y="3703320"/>
            <a:ext cx="1344168" cy="1078992"/>
          </a:xfrm>
          <a:prstGeom prst="rect">
            <a:avLst/>
          </a:prstGeom>
          <a:noFill/>
          <a:ln/>
        </p:spPr>
        <p:txBody>
          <a:bodyPr wrap="square" lIns="0" tIns="0" rIns="0" bIns="0" rtlCol="0" anchor="ctr">
            <a:normAutofit/>
          </a:bodyPr>
          <a:lstStyle/>
          <a:p>
            <a:pPr marL="0" indent="0" algn="ctr">
              <a:buNone/>
            </a:pPr>
            <a:r>
              <a:rPr lang="en-US" sz="1020" dirty="0">
                <a:solidFill>
                  <a:srgbClr val="334155"/>
                </a:solidFill>
              </a:rPr>
              <a:t>Cuci luka dengan sabun dan air; bilas mukosa bila terkena.</a:t>
            </a:r>
            <a:endParaRPr lang="en-US" sz="1020" dirty="0"/>
          </a:p>
        </p:txBody>
      </p:sp>
      <p:sp>
        <p:nvSpPr>
          <p:cNvPr id="19" name="Shape 16"/>
          <p:cNvSpPr/>
          <p:nvPr/>
        </p:nvSpPr>
        <p:spPr>
          <a:xfrm>
            <a:off x="5897880" y="3227832"/>
            <a:ext cx="329184" cy="502920"/>
          </a:xfrm>
          <a:prstGeom prst="chevron">
            <a:avLst/>
          </a:prstGeom>
          <a:solidFill>
            <a:srgbClr val="CBD5E1"/>
          </a:solidFill>
          <a:ln w="12700">
            <a:solidFill>
              <a:srgbClr val="CBD5E1"/>
            </a:solidFill>
            <a:prstDash val="solid"/>
          </a:ln>
        </p:spPr>
      </p:sp>
      <p:sp>
        <p:nvSpPr>
          <p:cNvPr id="20" name="Shape 17"/>
          <p:cNvSpPr/>
          <p:nvPr/>
        </p:nvSpPr>
        <p:spPr>
          <a:xfrm>
            <a:off x="6208776" y="2084832"/>
            <a:ext cx="1673352" cy="3182112"/>
          </a:xfrm>
          <a:prstGeom prst="roundRect">
            <a:avLst>
              <a:gd name="adj" fmla="val 4372"/>
            </a:avLst>
          </a:prstGeom>
          <a:solidFill>
            <a:srgbClr val="FFFFFF"/>
          </a:solidFill>
          <a:ln w="12700">
            <a:solidFill>
              <a:srgbClr val="E2E8F0"/>
            </a:solidFill>
            <a:prstDash val="solid"/>
          </a:ln>
        </p:spPr>
      </p:sp>
      <p:sp>
        <p:nvSpPr>
          <p:cNvPr id="21" name="Shape 18"/>
          <p:cNvSpPr/>
          <p:nvPr/>
        </p:nvSpPr>
        <p:spPr>
          <a:xfrm>
            <a:off x="6702552" y="2350008"/>
            <a:ext cx="685800" cy="685800"/>
          </a:xfrm>
          <a:prstGeom prst="ellipse">
            <a:avLst/>
          </a:prstGeom>
          <a:solidFill>
            <a:srgbClr val="0E7490"/>
          </a:solidFill>
          <a:ln w="12700">
            <a:solidFill>
              <a:srgbClr val="0E7490"/>
            </a:solidFill>
            <a:prstDash val="solid"/>
          </a:ln>
        </p:spPr>
      </p:sp>
      <p:sp>
        <p:nvSpPr>
          <p:cNvPr id="22" name="Text 19"/>
          <p:cNvSpPr/>
          <p:nvPr/>
        </p:nvSpPr>
        <p:spPr>
          <a:xfrm>
            <a:off x="6702552" y="2532888"/>
            <a:ext cx="685800" cy="201168"/>
          </a:xfrm>
          <a:prstGeom prst="rect">
            <a:avLst/>
          </a:prstGeom>
          <a:noFill/>
          <a:ln/>
        </p:spPr>
        <p:txBody>
          <a:bodyPr wrap="square" lIns="0" tIns="0" rIns="0" bIns="0" rtlCol="0" anchor="ctr"/>
          <a:lstStyle/>
          <a:p>
            <a:pPr marL="0" indent="0" algn="ctr">
              <a:buNone/>
            </a:pPr>
            <a:r>
              <a:rPr lang="en-US" sz="1400" b="1" dirty="0">
                <a:solidFill>
                  <a:srgbClr val="FFFFFF"/>
                </a:solidFill>
              </a:rPr>
              <a:t>3</a:t>
            </a:r>
            <a:endParaRPr lang="en-US" sz="1400" dirty="0"/>
          </a:p>
        </p:txBody>
      </p:sp>
      <p:sp>
        <p:nvSpPr>
          <p:cNvPr id="23" name="Text 20"/>
          <p:cNvSpPr/>
          <p:nvPr/>
        </p:nvSpPr>
        <p:spPr>
          <a:xfrm>
            <a:off x="6373368" y="3310128"/>
            <a:ext cx="1344168" cy="274320"/>
          </a:xfrm>
          <a:prstGeom prst="rect">
            <a:avLst/>
          </a:prstGeom>
          <a:noFill/>
          <a:ln/>
        </p:spPr>
        <p:txBody>
          <a:bodyPr wrap="square" lIns="0" tIns="0" rIns="0" bIns="0" rtlCol="0" anchor="ctr"/>
          <a:lstStyle/>
          <a:p>
            <a:pPr marL="0" indent="0" algn="ctr">
              <a:buNone/>
            </a:pPr>
            <a:r>
              <a:rPr lang="en-US" sz="1200" b="1" dirty="0">
                <a:solidFill>
                  <a:srgbClr val="0E7490"/>
                </a:solidFill>
              </a:rPr>
              <a:t>LAPORKAN</a:t>
            </a:r>
            <a:endParaRPr lang="en-US" sz="1200" dirty="0"/>
          </a:p>
        </p:txBody>
      </p:sp>
      <p:sp>
        <p:nvSpPr>
          <p:cNvPr id="24" name="Text 21"/>
          <p:cNvSpPr/>
          <p:nvPr/>
        </p:nvSpPr>
        <p:spPr>
          <a:xfrm>
            <a:off x="6373368" y="3703320"/>
            <a:ext cx="1344168" cy="1078992"/>
          </a:xfrm>
          <a:prstGeom prst="rect">
            <a:avLst/>
          </a:prstGeom>
          <a:noFill/>
          <a:ln/>
        </p:spPr>
        <p:txBody>
          <a:bodyPr wrap="square" lIns="0" tIns="0" rIns="0" bIns="0" rtlCol="0" anchor="ctr">
            <a:normAutofit/>
          </a:bodyPr>
          <a:lstStyle/>
          <a:p>
            <a:pPr marL="0" indent="0" algn="ctr">
              <a:buNone/>
            </a:pPr>
            <a:r>
              <a:rPr lang="en-US" sz="1020" dirty="0">
                <a:solidFill>
                  <a:srgbClr val="334155"/>
                </a:solidFill>
              </a:rPr>
              <a:t>Laporkan segera sesuai alur pajanan kerja.</a:t>
            </a:r>
            <a:endParaRPr lang="en-US" sz="1020" dirty="0"/>
          </a:p>
        </p:txBody>
      </p:sp>
      <p:sp>
        <p:nvSpPr>
          <p:cNvPr id="25" name="Shape 22"/>
          <p:cNvSpPr/>
          <p:nvPr/>
        </p:nvSpPr>
        <p:spPr>
          <a:xfrm>
            <a:off x="7744968" y="3227832"/>
            <a:ext cx="329184" cy="502920"/>
          </a:xfrm>
          <a:prstGeom prst="chevron">
            <a:avLst/>
          </a:prstGeom>
          <a:solidFill>
            <a:srgbClr val="CBD5E1"/>
          </a:solidFill>
          <a:ln w="12700">
            <a:solidFill>
              <a:srgbClr val="CBD5E1"/>
            </a:solidFill>
            <a:prstDash val="solid"/>
          </a:ln>
        </p:spPr>
      </p:sp>
      <p:sp>
        <p:nvSpPr>
          <p:cNvPr id="26" name="Shape 23"/>
          <p:cNvSpPr/>
          <p:nvPr/>
        </p:nvSpPr>
        <p:spPr>
          <a:xfrm>
            <a:off x="8055864" y="2084832"/>
            <a:ext cx="1673352" cy="3182112"/>
          </a:xfrm>
          <a:prstGeom prst="roundRect">
            <a:avLst>
              <a:gd name="adj" fmla="val 4372"/>
            </a:avLst>
          </a:prstGeom>
          <a:solidFill>
            <a:srgbClr val="FFFFFF"/>
          </a:solidFill>
          <a:ln w="12700">
            <a:solidFill>
              <a:srgbClr val="E2E8F0"/>
            </a:solidFill>
            <a:prstDash val="solid"/>
          </a:ln>
        </p:spPr>
      </p:sp>
      <p:sp>
        <p:nvSpPr>
          <p:cNvPr id="27" name="Shape 24"/>
          <p:cNvSpPr/>
          <p:nvPr/>
        </p:nvSpPr>
        <p:spPr>
          <a:xfrm>
            <a:off x="8549640" y="2350008"/>
            <a:ext cx="685800" cy="685800"/>
          </a:xfrm>
          <a:prstGeom prst="ellipse">
            <a:avLst/>
          </a:prstGeom>
          <a:solidFill>
            <a:srgbClr val="2563EB"/>
          </a:solidFill>
          <a:ln w="12700">
            <a:solidFill>
              <a:srgbClr val="2563EB"/>
            </a:solidFill>
            <a:prstDash val="solid"/>
          </a:ln>
        </p:spPr>
      </p:sp>
      <p:sp>
        <p:nvSpPr>
          <p:cNvPr id="28" name="Text 25"/>
          <p:cNvSpPr/>
          <p:nvPr/>
        </p:nvSpPr>
        <p:spPr>
          <a:xfrm>
            <a:off x="8549640" y="2532888"/>
            <a:ext cx="685800" cy="201168"/>
          </a:xfrm>
          <a:prstGeom prst="rect">
            <a:avLst/>
          </a:prstGeom>
          <a:noFill/>
          <a:ln/>
        </p:spPr>
        <p:txBody>
          <a:bodyPr wrap="square" lIns="0" tIns="0" rIns="0" bIns="0" rtlCol="0" anchor="ctr"/>
          <a:lstStyle/>
          <a:p>
            <a:pPr marL="0" indent="0" algn="ctr">
              <a:buNone/>
            </a:pPr>
            <a:r>
              <a:rPr lang="en-US" sz="1400" b="1" dirty="0">
                <a:solidFill>
                  <a:srgbClr val="FFFFFF"/>
                </a:solidFill>
              </a:rPr>
              <a:t>4</a:t>
            </a:r>
            <a:endParaRPr lang="en-US" sz="1400" dirty="0"/>
          </a:p>
        </p:txBody>
      </p:sp>
      <p:sp>
        <p:nvSpPr>
          <p:cNvPr id="29" name="Text 26"/>
          <p:cNvSpPr/>
          <p:nvPr/>
        </p:nvSpPr>
        <p:spPr>
          <a:xfrm>
            <a:off x="8220456" y="3310128"/>
            <a:ext cx="1344168" cy="274320"/>
          </a:xfrm>
          <a:prstGeom prst="rect">
            <a:avLst/>
          </a:prstGeom>
          <a:noFill/>
          <a:ln/>
        </p:spPr>
        <p:txBody>
          <a:bodyPr wrap="square" lIns="0" tIns="0" rIns="0" bIns="0" rtlCol="0" anchor="ctr"/>
          <a:lstStyle/>
          <a:p>
            <a:pPr marL="0" indent="0" algn="ctr">
              <a:buNone/>
            </a:pPr>
            <a:r>
              <a:rPr lang="en-US" sz="1200" b="1" dirty="0">
                <a:solidFill>
                  <a:srgbClr val="2563EB"/>
                </a:solidFill>
              </a:rPr>
              <a:t>NILAI RISIKO</a:t>
            </a:r>
            <a:endParaRPr lang="en-US" sz="1200" dirty="0"/>
          </a:p>
        </p:txBody>
      </p:sp>
      <p:sp>
        <p:nvSpPr>
          <p:cNvPr id="30" name="Text 27"/>
          <p:cNvSpPr/>
          <p:nvPr/>
        </p:nvSpPr>
        <p:spPr>
          <a:xfrm>
            <a:off x="8220456" y="3703320"/>
            <a:ext cx="1344168" cy="1078992"/>
          </a:xfrm>
          <a:prstGeom prst="rect">
            <a:avLst/>
          </a:prstGeom>
          <a:noFill/>
          <a:ln/>
        </p:spPr>
        <p:txBody>
          <a:bodyPr wrap="square" lIns="0" tIns="0" rIns="0" bIns="0" rtlCol="0" anchor="ctr">
            <a:normAutofit/>
          </a:bodyPr>
          <a:lstStyle/>
          <a:p>
            <a:pPr marL="0" indent="0" algn="ctr">
              <a:buNone/>
            </a:pPr>
            <a:r>
              <a:rPr lang="en-US" sz="1020" dirty="0">
                <a:solidFill>
                  <a:srgbClr val="334155"/>
                </a:solidFill>
              </a:rPr>
              <a:t>Evaluasi jenis pajanan, sumber, dan kebutuhan tata laksana pascapajanan.</a:t>
            </a:r>
            <a:endParaRPr lang="en-US" sz="1020" dirty="0"/>
          </a:p>
        </p:txBody>
      </p:sp>
      <p:sp>
        <p:nvSpPr>
          <p:cNvPr id="31" name="Shape 28"/>
          <p:cNvSpPr/>
          <p:nvPr/>
        </p:nvSpPr>
        <p:spPr>
          <a:xfrm>
            <a:off x="9592056" y="3227832"/>
            <a:ext cx="329184" cy="502920"/>
          </a:xfrm>
          <a:prstGeom prst="chevron">
            <a:avLst/>
          </a:prstGeom>
          <a:solidFill>
            <a:srgbClr val="CBD5E1"/>
          </a:solidFill>
          <a:ln w="12700">
            <a:solidFill>
              <a:srgbClr val="CBD5E1"/>
            </a:solidFill>
            <a:prstDash val="solid"/>
          </a:ln>
        </p:spPr>
      </p:sp>
      <p:sp>
        <p:nvSpPr>
          <p:cNvPr id="32" name="Shape 29"/>
          <p:cNvSpPr/>
          <p:nvPr/>
        </p:nvSpPr>
        <p:spPr>
          <a:xfrm>
            <a:off x="9902952" y="2084832"/>
            <a:ext cx="1673352" cy="3182112"/>
          </a:xfrm>
          <a:prstGeom prst="roundRect">
            <a:avLst>
              <a:gd name="adj" fmla="val 4372"/>
            </a:avLst>
          </a:prstGeom>
          <a:solidFill>
            <a:srgbClr val="FFFFFF"/>
          </a:solidFill>
          <a:ln w="12700">
            <a:solidFill>
              <a:srgbClr val="E2E8F0"/>
            </a:solidFill>
            <a:prstDash val="solid"/>
          </a:ln>
        </p:spPr>
      </p:sp>
      <p:sp>
        <p:nvSpPr>
          <p:cNvPr id="33" name="Shape 30"/>
          <p:cNvSpPr/>
          <p:nvPr/>
        </p:nvSpPr>
        <p:spPr>
          <a:xfrm>
            <a:off x="10396728" y="2350008"/>
            <a:ext cx="685800" cy="685800"/>
          </a:xfrm>
          <a:prstGeom prst="ellipse">
            <a:avLst/>
          </a:prstGeom>
          <a:solidFill>
            <a:srgbClr val="059669"/>
          </a:solidFill>
          <a:ln w="12700">
            <a:solidFill>
              <a:srgbClr val="059669"/>
            </a:solidFill>
            <a:prstDash val="solid"/>
          </a:ln>
        </p:spPr>
      </p:sp>
      <p:sp>
        <p:nvSpPr>
          <p:cNvPr id="34" name="Text 31"/>
          <p:cNvSpPr/>
          <p:nvPr/>
        </p:nvSpPr>
        <p:spPr>
          <a:xfrm>
            <a:off x="10396728" y="2532888"/>
            <a:ext cx="685800" cy="201168"/>
          </a:xfrm>
          <a:prstGeom prst="rect">
            <a:avLst/>
          </a:prstGeom>
          <a:noFill/>
          <a:ln/>
        </p:spPr>
        <p:txBody>
          <a:bodyPr wrap="square" lIns="0" tIns="0" rIns="0" bIns="0" rtlCol="0" anchor="ctr"/>
          <a:lstStyle/>
          <a:p>
            <a:pPr marL="0" indent="0" algn="ctr">
              <a:buNone/>
            </a:pPr>
            <a:r>
              <a:rPr lang="en-US" sz="1400" b="1" dirty="0">
                <a:solidFill>
                  <a:srgbClr val="FFFFFF"/>
                </a:solidFill>
              </a:rPr>
              <a:t>5</a:t>
            </a:r>
            <a:endParaRPr lang="en-US" sz="1400" dirty="0"/>
          </a:p>
        </p:txBody>
      </p:sp>
      <p:sp>
        <p:nvSpPr>
          <p:cNvPr id="35" name="Text 32"/>
          <p:cNvSpPr/>
          <p:nvPr/>
        </p:nvSpPr>
        <p:spPr>
          <a:xfrm>
            <a:off x="10067544" y="3310128"/>
            <a:ext cx="1344168" cy="274320"/>
          </a:xfrm>
          <a:prstGeom prst="rect">
            <a:avLst/>
          </a:prstGeom>
          <a:noFill/>
          <a:ln/>
        </p:spPr>
        <p:txBody>
          <a:bodyPr wrap="square" lIns="0" tIns="0" rIns="0" bIns="0" rtlCol="0" anchor="ctr"/>
          <a:lstStyle/>
          <a:p>
            <a:pPr marL="0" indent="0" algn="ctr">
              <a:buNone/>
            </a:pPr>
            <a:r>
              <a:rPr lang="en-US" sz="1200" b="1" dirty="0">
                <a:solidFill>
                  <a:srgbClr val="059669"/>
                </a:solidFill>
              </a:rPr>
              <a:t>TINDAK LANJUT</a:t>
            </a:r>
            <a:endParaRPr lang="en-US" sz="1200" dirty="0"/>
          </a:p>
        </p:txBody>
      </p:sp>
      <p:sp>
        <p:nvSpPr>
          <p:cNvPr id="36" name="Text 33"/>
          <p:cNvSpPr/>
          <p:nvPr/>
        </p:nvSpPr>
        <p:spPr>
          <a:xfrm>
            <a:off x="10067544" y="3703320"/>
            <a:ext cx="1344168" cy="1078992"/>
          </a:xfrm>
          <a:prstGeom prst="rect">
            <a:avLst/>
          </a:prstGeom>
          <a:noFill/>
          <a:ln/>
        </p:spPr>
        <p:txBody>
          <a:bodyPr wrap="square" lIns="0" tIns="0" rIns="0" bIns="0" rtlCol="0" anchor="ctr">
            <a:normAutofit/>
          </a:bodyPr>
          <a:lstStyle/>
          <a:p>
            <a:pPr marL="0" indent="0" algn="ctr">
              <a:buNone/>
            </a:pPr>
            <a:r>
              <a:rPr lang="en-US" sz="1020" dirty="0">
                <a:solidFill>
                  <a:srgbClr val="334155"/>
                </a:solidFill>
              </a:rPr>
              <a:t>Ikuti konseling, terapi bila perlu, dan monitoring sesuai protokol.</a:t>
            </a:r>
            <a:endParaRPr lang="en-US" sz="1020" dirty="0"/>
          </a:p>
        </p:txBody>
      </p:sp>
      <p:sp>
        <p:nvSpPr>
          <p:cNvPr id="37" name="Text 34"/>
          <p:cNvSpPr/>
          <p:nvPr/>
        </p:nvSpPr>
        <p:spPr>
          <a:xfrm>
            <a:off x="566928" y="6291072"/>
            <a:ext cx="10698480" cy="164592"/>
          </a:xfrm>
          <a:prstGeom prst="rect">
            <a:avLst/>
          </a:prstGeom>
          <a:noFill/>
          <a:ln/>
        </p:spPr>
        <p:txBody>
          <a:bodyPr wrap="square" lIns="0" tIns="0" rIns="0" bIns="0" rtlCol="0" anchor="ctr">
            <a:normAutofit/>
          </a:bodyPr>
          <a:lstStyle/>
          <a:p>
            <a:pPr marL="0" indent="0">
              <a:buNone/>
            </a:pPr>
            <a:r>
              <a:rPr lang="en-US" sz="730" i="1" dirty="0">
                <a:solidFill>
                  <a:srgbClr val="94A3B8"/>
                </a:solidFill>
                <a:latin typeface="Arial" pitchFamily="34" charset="0"/>
                <a:ea typeface="Arial" pitchFamily="34" charset="-122"/>
                <a:cs typeface="Arial" pitchFamily="34" charset="-120"/>
              </a:rPr>
              <a:t>Prinsip umum pascapajanan: WHO/ILO dan praktik K3 fasilitas; ikuti protokol PPI/K3RS setempat.</a:t>
            </a:r>
            <a:endParaRPr lang="en-US" sz="730" dirty="0"/>
          </a:p>
        </p:txBody>
      </p:sp>
      <p:sp>
        <p:nvSpPr>
          <p:cNvPr id="38" name="Slide Number Placeholder 0"/>
          <p:cNvSpPr>
            <a:spLocks noGrp="1"/>
          </p:cNvSpPr>
          <p:nvPr>
            <p:ph type="sldNum" sz="quarter" idx="4294967295"/>
          </p:nvPr>
        </p:nvSpPr>
        <p:spPr>
          <a:xfrm>
            <a:off x="11475720" y="6492240"/>
            <a:ext cx="320040"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64748B"/>
                </a:solidFill>
                <a:latin typeface="Arial"/>
                <a:ea typeface="Arial"/>
                <a:cs typeface="Aria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566928" y="347472"/>
            <a:ext cx="1417320" cy="310896"/>
          </a:xfrm>
          <a:prstGeom prst="roundRect">
            <a:avLst>
              <a:gd name="adj" fmla="val 23529"/>
            </a:avLst>
          </a:prstGeom>
          <a:solidFill>
            <a:srgbClr val="ECFEFF"/>
          </a:solidFill>
          <a:ln w="12700">
            <a:solidFill>
              <a:srgbClr val="ECFEFF"/>
            </a:solidFill>
            <a:prstDash val="solid"/>
          </a:ln>
        </p:spPr>
      </p:sp>
      <p:sp>
        <p:nvSpPr>
          <p:cNvPr id="3" name="Text 1"/>
          <p:cNvSpPr/>
          <p:nvPr/>
        </p:nvSpPr>
        <p:spPr>
          <a:xfrm>
            <a:off x="694944" y="429768"/>
            <a:ext cx="1170432" cy="128016"/>
          </a:xfrm>
          <a:prstGeom prst="rect">
            <a:avLst/>
          </a:prstGeom>
          <a:noFill/>
          <a:ln/>
        </p:spPr>
        <p:txBody>
          <a:bodyPr wrap="square" lIns="0" tIns="0" rIns="0" bIns="0" rtlCol="0" anchor="ctr"/>
          <a:lstStyle/>
          <a:p>
            <a:pPr marL="0" indent="0" algn="ctr">
              <a:buNone/>
            </a:pPr>
            <a:r>
              <a:rPr lang="en-US" sz="900" b="1" dirty="0">
                <a:solidFill>
                  <a:srgbClr val="0E7490"/>
                </a:solidFill>
                <a:latin typeface="Arial" pitchFamily="34" charset="0"/>
                <a:ea typeface="Arial" pitchFamily="34" charset="-122"/>
                <a:cs typeface="Arial" pitchFamily="34" charset="-120"/>
              </a:rPr>
              <a:t>BAHAYA KERJA</a:t>
            </a:r>
            <a:endParaRPr lang="en-US" sz="900" dirty="0"/>
          </a:p>
        </p:txBody>
      </p:sp>
      <p:sp>
        <p:nvSpPr>
          <p:cNvPr id="4" name="Text 2"/>
          <p:cNvSpPr/>
          <p:nvPr/>
        </p:nvSpPr>
        <p:spPr>
          <a:xfrm>
            <a:off x="566928" y="777240"/>
            <a:ext cx="10972800" cy="566928"/>
          </a:xfrm>
          <a:prstGeom prst="rect">
            <a:avLst/>
          </a:prstGeom>
          <a:noFill/>
          <a:ln/>
        </p:spPr>
        <p:txBody>
          <a:bodyPr wrap="square" lIns="0" tIns="0" rIns="0" bIns="0" rtlCol="0" anchor="ctr">
            <a:normAutofit/>
          </a:bodyPr>
          <a:lstStyle/>
          <a:p>
            <a:pPr marL="0" indent="0">
              <a:buNone/>
            </a:pPr>
            <a:r>
              <a:rPr lang="en-US" sz="2700" b="1" dirty="0">
                <a:solidFill>
                  <a:srgbClr val="0F172A"/>
                </a:solidFill>
                <a:latin typeface="Arial" pitchFamily="34" charset="0"/>
                <a:ea typeface="Arial" pitchFamily="34" charset="-122"/>
                <a:cs typeface="Arial" pitchFamily="34" charset="-120"/>
              </a:rPr>
              <a:t>Bahaya Kimia</a:t>
            </a:r>
            <a:endParaRPr lang="en-US" sz="2700" dirty="0"/>
          </a:p>
        </p:txBody>
      </p:sp>
      <p:sp>
        <p:nvSpPr>
          <p:cNvPr id="5" name="Text 3"/>
          <p:cNvSpPr/>
          <p:nvPr/>
        </p:nvSpPr>
        <p:spPr>
          <a:xfrm>
            <a:off x="566928" y="1371600"/>
            <a:ext cx="10881360" cy="384048"/>
          </a:xfrm>
          <a:prstGeom prst="rect">
            <a:avLst/>
          </a:prstGeom>
          <a:noFill/>
          <a:ln/>
        </p:spPr>
        <p:txBody>
          <a:bodyPr wrap="square" lIns="0" tIns="0" rIns="0" bIns="0" rtlCol="0" anchor="ctr">
            <a:normAutofit/>
          </a:bodyPr>
          <a:lstStyle/>
          <a:p>
            <a:pPr marL="0" indent="0">
              <a:buNone/>
            </a:pPr>
            <a:r>
              <a:rPr lang="en-US" sz="1250" dirty="0">
                <a:solidFill>
                  <a:srgbClr val="64748B"/>
                </a:solidFill>
                <a:latin typeface="Arial" pitchFamily="34" charset="0"/>
                <a:ea typeface="Arial" pitchFamily="34" charset="-122"/>
                <a:cs typeface="Arial" pitchFamily="34" charset="-120"/>
              </a:rPr>
              <a:t>Perawat dapat terpapar disinfektan, sterilant, obat berbahaya, gas, reagen, dan bahan pembersih.</a:t>
            </a:r>
            <a:endParaRPr lang="en-US" sz="1250" dirty="0"/>
          </a:p>
        </p:txBody>
      </p:sp>
      <p:sp>
        <p:nvSpPr>
          <p:cNvPr id="6" name="Shape 4"/>
          <p:cNvSpPr/>
          <p:nvPr/>
        </p:nvSpPr>
        <p:spPr>
          <a:xfrm>
            <a:off x="685800" y="1920240"/>
            <a:ext cx="3383280" cy="3584448"/>
          </a:xfrm>
          <a:prstGeom prst="roundRect">
            <a:avLst>
              <a:gd name="adj" fmla="val 2162"/>
            </a:avLst>
          </a:prstGeom>
          <a:solidFill>
            <a:srgbClr val="FFFFFF"/>
          </a:solidFill>
          <a:ln w="10160">
            <a:solidFill>
              <a:srgbClr val="E5E7EB"/>
            </a:solidFill>
            <a:prstDash val="solid"/>
          </a:ln>
        </p:spPr>
      </p:sp>
      <p:sp>
        <p:nvSpPr>
          <p:cNvPr id="7" name="Shape 5"/>
          <p:cNvSpPr/>
          <p:nvPr/>
        </p:nvSpPr>
        <p:spPr>
          <a:xfrm>
            <a:off x="685800" y="1920240"/>
            <a:ext cx="73152" cy="3584448"/>
          </a:xfrm>
          <a:prstGeom prst="rect">
            <a:avLst/>
          </a:prstGeom>
          <a:solidFill>
            <a:srgbClr val="D97706"/>
          </a:solidFill>
          <a:ln w="12700">
            <a:solidFill>
              <a:srgbClr val="D97706"/>
            </a:solidFill>
            <a:prstDash val="solid"/>
          </a:ln>
        </p:spPr>
      </p:sp>
      <p:sp>
        <p:nvSpPr>
          <p:cNvPr id="8" name="Shape 6"/>
          <p:cNvSpPr/>
          <p:nvPr/>
        </p:nvSpPr>
        <p:spPr>
          <a:xfrm>
            <a:off x="886968" y="2121408"/>
            <a:ext cx="658368" cy="658368"/>
          </a:xfrm>
          <a:prstGeom prst="ellipse">
            <a:avLst/>
          </a:prstGeom>
          <a:solidFill>
            <a:srgbClr val="F8FAFC"/>
          </a:solidFill>
          <a:ln w="12700">
            <a:solidFill>
              <a:srgbClr val="F8FAFC"/>
            </a:solidFill>
            <a:prstDash val="solid"/>
          </a:ln>
        </p:spPr>
      </p:sp>
      <p:pic>
        <p:nvPicPr>
          <p:cNvPr id="9"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24128" y="2258568"/>
            <a:ext cx="329184" cy="329184"/>
          </a:xfrm>
          <a:prstGeom prst="rect">
            <a:avLst/>
          </a:prstGeom>
        </p:spPr>
      </p:pic>
      <p:sp>
        <p:nvSpPr>
          <p:cNvPr id="10" name="Text 7"/>
          <p:cNvSpPr/>
          <p:nvPr/>
        </p:nvSpPr>
        <p:spPr>
          <a:xfrm>
            <a:off x="1673352" y="2148840"/>
            <a:ext cx="2176272" cy="292608"/>
          </a:xfrm>
          <a:prstGeom prst="rect">
            <a:avLst/>
          </a:prstGeom>
          <a:noFill/>
          <a:ln/>
        </p:spPr>
        <p:txBody>
          <a:bodyPr wrap="square" lIns="0" tIns="0" rIns="0" bIns="0" rtlCol="0" anchor="ctr">
            <a:normAutofit/>
          </a:bodyPr>
          <a:lstStyle/>
          <a:p>
            <a:pPr marL="0" indent="0">
              <a:buNone/>
            </a:pPr>
            <a:r>
              <a:rPr lang="en-US" sz="1600" b="1" dirty="0">
                <a:solidFill>
                  <a:srgbClr val="0F172A"/>
                </a:solidFill>
                <a:latin typeface="Arial" pitchFamily="34" charset="0"/>
                <a:ea typeface="Arial" pitchFamily="34" charset="-122"/>
                <a:cs typeface="Arial" pitchFamily="34" charset="-120"/>
              </a:rPr>
              <a:t>Sumber Paparan</a:t>
            </a:r>
            <a:endParaRPr lang="en-US" sz="1600" dirty="0"/>
          </a:p>
        </p:txBody>
      </p:sp>
      <p:sp>
        <p:nvSpPr>
          <p:cNvPr id="11" name="Text 8"/>
          <p:cNvSpPr/>
          <p:nvPr/>
        </p:nvSpPr>
        <p:spPr>
          <a:xfrm>
            <a:off x="941832" y="2670048"/>
            <a:ext cx="2871216" cy="2651760"/>
          </a:xfrm>
          <a:prstGeom prst="rect">
            <a:avLst/>
          </a:prstGeom>
          <a:noFill/>
          <a:ln/>
        </p:spPr>
        <p:txBody>
          <a:bodyPr wrap="square" lIns="0" tIns="0" rIns="0" bIns="0" rtlCol="0" anchor="t">
            <a:normAutofit/>
          </a:bodyPr>
          <a:lstStyle/>
          <a:p>
            <a:pPr marL="0" indent="0">
              <a:buNone/>
            </a:pPr>
            <a:r>
              <a:rPr lang="en-US" sz="1300" dirty="0">
                <a:solidFill>
                  <a:srgbClr val="334155"/>
                </a:solidFill>
                <a:latin typeface="Arial" pitchFamily="34" charset="0"/>
                <a:ea typeface="Arial" pitchFamily="34" charset="-122"/>
                <a:cs typeface="Arial" pitchFamily="34" charset="-120"/>
              </a:rPr>
              <a:t>• Disinfektan &amp; bahan pembersih</a:t>
            </a:r>
            <a:endParaRPr lang="en-US" sz="1300" dirty="0"/>
          </a:p>
          <a:p>
            <a:pPr marL="0" indent="0">
              <a:buNone/>
            </a:pPr>
            <a:r>
              <a:rPr lang="en-US" sz="1300" dirty="0">
                <a:solidFill>
                  <a:srgbClr val="334155"/>
                </a:solidFill>
                <a:latin typeface="Arial" pitchFamily="34" charset="0"/>
                <a:ea typeface="Arial" pitchFamily="34" charset="-122"/>
                <a:cs typeface="Arial" pitchFamily="34" charset="-120"/>
              </a:rPr>
              <a:t>• Obat sitotoksik/berbahaya</a:t>
            </a:r>
            <a:endParaRPr lang="en-US" sz="1300" dirty="0"/>
          </a:p>
          <a:p>
            <a:pPr marL="0" indent="0">
              <a:buNone/>
            </a:pPr>
            <a:r>
              <a:rPr lang="en-US" sz="1300" dirty="0">
                <a:solidFill>
                  <a:srgbClr val="334155"/>
                </a:solidFill>
                <a:latin typeface="Arial" pitchFamily="34" charset="0"/>
                <a:ea typeface="Arial" pitchFamily="34" charset="-122"/>
                <a:cs typeface="Arial" pitchFamily="34" charset="-120"/>
              </a:rPr>
              <a:t>• Sterilant &amp; reagen</a:t>
            </a:r>
            <a:endParaRPr lang="en-US" sz="1300" dirty="0"/>
          </a:p>
          <a:p>
            <a:pPr marL="0" indent="0">
              <a:buNone/>
            </a:pPr>
            <a:r>
              <a:rPr lang="en-US" sz="1300" dirty="0">
                <a:solidFill>
                  <a:srgbClr val="334155"/>
                </a:solidFill>
                <a:latin typeface="Arial" pitchFamily="34" charset="0"/>
                <a:ea typeface="Arial" pitchFamily="34" charset="-122"/>
                <a:cs typeface="Arial" pitchFamily="34" charset="-120"/>
              </a:rPr>
              <a:t>• Lateks dan bahan alergi</a:t>
            </a:r>
            <a:endParaRPr lang="en-US" sz="1300" dirty="0"/>
          </a:p>
          <a:p>
            <a:pPr marL="0" indent="0">
              <a:buNone/>
            </a:pPr>
            <a:r>
              <a:rPr lang="en-US" sz="1300" dirty="0">
                <a:solidFill>
                  <a:srgbClr val="334155"/>
                </a:solidFill>
                <a:latin typeface="Arial" pitchFamily="34" charset="0"/>
                <a:ea typeface="Arial" pitchFamily="34" charset="-122"/>
                <a:cs typeface="Arial" pitchFamily="34" charset="-120"/>
              </a:rPr>
              <a:t>• Tumpahan bahan kimia</a:t>
            </a:r>
            <a:endParaRPr lang="en-US" sz="1300" dirty="0"/>
          </a:p>
        </p:txBody>
      </p:sp>
      <p:sp>
        <p:nvSpPr>
          <p:cNvPr id="12" name="Shape 9"/>
          <p:cNvSpPr/>
          <p:nvPr/>
        </p:nvSpPr>
        <p:spPr>
          <a:xfrm>
            <a:off x="4407408" y="1920240"/>
            <a:ext cx="3383280" cy="3584448"/>
          </a:xfrm>
          <a:prstGeom prst="roundRect">
            <a:avLst>
              <a:gd name="adj" fmla="val 2162"/>
            </a:avLst>
          </a:prstGeom>
          <a:solidFill>
            <a:srgbClr val="FFFFFF"/>
          </a:solidFill>
          <a:ln w="10160">
            <a:solidFill>
              <a:srgbClr val="E5E7EB"/>
            </a:solidFill>
            <a:prstDash val="solid"/>
          </a:ln>
        </p:spPr>
      </p:sp>
      <p:sp>
        <p:nvSpPr>
          <p:cNvPr id="13" name="Shape 10"/>
          <p:cNvSpPr/>
          <p:nvPr/>
        </p:nvSpPr>
        <p:spPr>
          <a:xfrm>
            <a:off x="4407408" y="1920240"/>
            <a:ext cx="73152" cy="3584448"/>
          </a:xfrm>
          <a:prstGeom prst="rect">
            <a:avLst/>
          </a:prstGeom>
          <a:solidFill>
            <a:srgbClr val="DC2626"/>
          </a:solidFill>
          <a:ln w="12700">
            <a:solidFill>
              <a:srgbClr val="DC2626"/>
            </a:solidFill>
            <a:prstDash val="solid"/>
          </a:ln>
        </p:spPr>
      </p:sp>
      <p:sp>
        <p:nvSpPr>
          <p:cNvPr id="14" name="Shape 11"/>
          <p:cNvSpPr/>
          <p:nvPr/>
        </p:nvSpPr>
        <p:spPr>
          <a:xfrm>
            <a:off x="4608576" y="2121408"/>
            <a:ext cx="658368" cy="658368"/>
          </a:xfrm>
          <a:prstGeom prst="ellipse">
            <a:avLst/>
          </a:prstGeom>
          <a:solidFill>
            <a:srgbClr val="F8FAFC"/>
          </a:solidFill>
          <a:ln w="12700">
            <a:solidFill>
              <a:srgbClr val="F8FAFC"/>
            </a:solidFill>
            <a:prstDash val="solid"/>
          </a:ln>
        </p:spPr>
      </p:sp>
      <p:pic>
        <p:nvPicPr>
          <p:cNvPr id="15"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745736" y="2258568"/>
            <a:ext cx="329184" cy="329184"/>
          </a:xfrm>
          <a:prstGeom prst="rect">
            <a:avLst/>
          </a:prstGeom>
        </p:spPr>
      </p:pic>
      <p:sp>
        <p:nvSpPr>
          <p:cNvPr id="16" name="Text 12"/>
          <p:cNvSpPr/>
          <p:nvPr/>
        </p:nvSpPr>
        <p:spPr>
          <a:xfrm>
            <a:off x="5394960" y="2148840"/>
            <a:ext cx="2176272" cy="292608"/>
          </a:xfrm>
          <a:prstGeom prst="rect">
            <a:avLst/>
          </a:prstGeom>
          <a:noFill/>
          <a:ln/>
        </p:spPr>
        <p:txBody>
          <a:bodyPr wrap="square" lIns="0" tIns="0" rIns="0" bIns="0" rtlCol="0" anchor="ctr">
            <a:normAutofit/>
          </a:bodyPr>
          <a:lstStyle/>
          <a:p>
            <a:pPr marL="0" indent="0">
              <a:buNone/>
            </a:pPr>
            <a:r>
              <a:rPr lang="en-US" sz="1600" b="1" dirty="0">
                <a:solidFill>
                  <a:srgbClr val="0F172A"/>
                </a:solidFill>
                <a:latin typeface="Arial" pitchFamily="34" charset="0"/>
                <a:ea typeface="Arial" pitchFamily="34" charset="-122"/>
                <a:cs typeface="Arial" pitchFamily="34" charset="-120"/>
              </a:rPr>
              <a:t>Dampak</a:t>
            </a:r>
            <a:endParaRPr lang="en-US" sz="1600" dirty="0"/>
          </a:p>
        </p:txBody>
      </p:sp>
      <p:sp>
        <p:nvSpPr>
          <p:cNvPr id="17" name="Text 13"/>
          <p:cNvSpPr/>
          <p:nvPr/>
        </p:nvSpPr>
        <p:spPr>
          <a:xfrm>
            <a:off x="4663440" y="2670048"/>
            <a:ext cx="2871216" cy="2651760"/>
          </a:xfrm>
          <a:prstGeom prst="rect">
            <a:avLst/>
          </a:prstGeom>
          <a:noFill/>
          <a:ln/>
        </p:spPr>
        <p:txBody>
          <a:bodyPr wrap="square" lIns="0" tIns="0" rIns="0" bIns="0" rtlCol="0" anchor="t">
            <a:normAutofit/>
          </a:bodyPr>
          <a:lstStyle/>
          <a:p>
            <a:pPr marL="0" indent="0">
              <a:buNone/>
            </a:pPr>
            <a:r>
              <a:rPr lang="en-US" sz="1300" dirty="0">
                <a:solidFill>
                  <a:srgbClr val="334155"/>
                </a:solidFill>
                <a:latin typeface="Arial" pitchFamily="34" charset="0"/>
                <a:ea typeface="Arial" pitchFamily="34" charset="-122"/>
                <a:cs typeface="Arial" pitchFamily="34" charset="-120"/>
              </a:rPr>
              <a:t>• Iritasi kulit/mata</a:t>
            </a:r>
            <a:endParaRPr lang="en-US" sz="1300" dirty="0"/>
          </a:p>
          <a:p>
            <a:pPr marL="0" indent="0">
              <a:buNone/>
            </a:pPr>
            <a:r>
              <a:rPr lang="en-US" sz="1300" dirty="0">
                <a:solidFill>
                  <a:srgbClr val="334155"/>
                </a:solidFill>
                <a:latin typeface="Arial" pitchFamily="34" charset="0"/>
                <a:ea typeface="Arial" pitchFamily="34" charset="-122"/>
                <a:cs typeface="Arial" pitchFamily="34" charset="-120"/>
              </a:rPr>
              <a:t>• Gangguan pernapasan</a:t>
            </a:r>
            <a:endParaRPr lang="en-US" sz="1300" dirty="0"/>
          </a:p>
          <a:p>
            <a:pPr marL="0" indent="0">
              <a:buNone/>
            </a:pPr>
            <a:r>
              <a:rPr lang="en-US" sz="1300" dirty="0">
                <a:solidFill>
                  <a:srgbClr val="334155"/>
                </a:solidFill>
                <a:latin typeface="Arial" pitchFamily="34" charset="0"/>
                <a:ea typeface="Arial" pitchFamily="34" charset="-122"/>
                <a:cs typeface="Arial" pitchFamily="34" charset="-120"/>
              </a:rPr>
              <a:t>• Dermatitis/alergi</a:t>
            </a:r>
            <a:endParaRPr lang="en-US" sz="1300" dirty="0"/>
          </a:p>
          <a:p>
            <a:pPr marL="0" indent="0">
              <a:buNone/>
            </a:pPr>
            <a:r>
              <a:rPr lang="en-US" sz="1300" dirty="0">
                <a:solidFill>
                  <a:srgbClr val="334155"/>
                </a:solidFill>
                <a:latin typeface="Arial" pitchFamily="34" charset="0"/>
                <a:ea typeface="Arial" pitchFamily="34" charset="-122"/>
                <a:cs typeface="Arial" pitchFamily="34" charset="-120"/>
              </a:rPr>
              <a:t>• Keracunan akut/kronik</a:t>
            </a:r>
            <a:endParaRPr lang="en-US" sz="1300" dirty="0"/>
          </a:p>
          <a:p>
            <a:pPr marL="0" indent="0">
              <a:buNone/>
            </a:pPr>
            <a:r>
              <a:rPr lang="en-US" sz="1300" dirty="0">
                <a:solidFill>
                  <a:srgbClr val="334155"/>
                </a:solidFill>
                <a:latin typeface="Arial" pitchFamily="34" charset="0"/>
                <a:ea typeface="Arial" pitchFamily="34" charset="-122"/>
                <a:cs typeface="Arial" pitchFamily="34" charset="-120"/>
              </a:rPr>
              <a:t>• Risiko reproduksi pada bahan tertentu</a:t>
            </a:r>
            <a:endParaRPr lang="en-US" sz="1300" dirty="0"/>
          </a:p>
        </p:txBody>
      </p:sp>
      <p:sp>
        <p:nvSpPr>
          <p:cNvPr id="18" name="Shape 14"/>
          <p:cNvSpPr/>
          <p:nvPr/>
        </p:nvSpPr>
        <p:spPr>
          <a:xfrm>
            <a:off x="8119872" y="1920240"/>
            <a:ext cx="3383280" cy="3584448"/>
          </a:xfrm>
          <a:prstGeom prst="roundRect">
            <a:avLst>
              <a:gd name="adj" fmla="val 2162"/>
            </a:avLst>
          </a:prstGeom>
          <a:solidFill>
            <a:srgbClr val="FFFFFF"/>
          </a:solidFill>
          <a:ln w="10160">
            <a:solidFill>
              <a:srgbClr val="E5E7EB"/>
            </a:solidFill>
            <a:prstDash val="solid"/>
          </a:ln>
        </p:spPr>
      </p:sp>
      <p:sp>
        <p:nvSpPr>
          <p:cNvPr id="19" name="Shape 15"/>
          <p:cNvSpPr/>
          <p:nvPr/>
        </p:nvSpPr>
        <p:spPr>
          <a:xfrm>
            <a:off x="8119872" y="1920240"/>
            <a:ext cx="73152" cy="3584448"/>
          </a:xfrm>
          <a:prstGeom prst="rect">
            <a:avLst/>
          </a:prstGeom>
          <a:solidFill>
            <a:srgbClr val="059669"/>
          </a:solidFill>
          <a:ln w="12700">
            <a:solidFill>
              <a:srgbClr val="059669"/>
            </a:solidFill>
            <a:prstDash val="solid"/>
          </a:ln>
        </p:spPr>
      </p:sp>
      <p:sp>
        <p:nvSpPr>
          <p:cNvPr id="20" name="Shape 16"/>
          <p:cNvSpPr/>
          <p:nvPr/>
        </p:nvSpPr>
        <p:spPr>
          <a:xfrm>
            <a:off x="8321040" y="2121408"/>
            <a:ext cx="658368" cy="658368"/>
          </a:xfrm>
          <a:prstGeom prst="ellipse">
            <a:avLst/>
          </a:prstGeom>
          <a:solidFill>
            <a:srgbClr val="F8FAFC"/>
          </a:solidFill>
          <a:ln w="12700">
            <a:solidFill>
              <a:srgbClr val="F8FAFC"/>
            </a:solidFill>
            <a:prstDash val="solid"/>
          </a:ln>
        </p:spPr>
      </p:sp>
      <p:pic>
        <p:nvPicPr>
          <p:cNvPr id="21"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458200" y="2258568"/>
            <a:ext cx="329184" cy="329184"/>
          </a:xfrm>
          <a:prstGeom prst="rect">
            <a:avLst/>
          </a:prstGeom>
        </p:spPr>
      </p:pic>
      <p:sp>
        <p:nvSpPr>
          <p:cNvPr id="22" name="Text 17"/>
          <p:cNvSpPr/>
          <p:nvPr/>
        </p:nvSpPr>
        <p:spPr>
          <a:xfrm>
            <a:off x="9107424" y="2148840"/>
            <a:ext cx="2176272" cy="292608"/>
          </a:xfrm>
          <a:prstGeom prst="rect">
            <a:avLst/>
          </a:prstGeom>
          <a:noFill/>
          <a:ln/>
        </p:spPr>
        <p:txBody>
          <a:bodyPr wrap="square" lIns="0" tIns="0" rIns="0" bIns="0" rtlCol="0" anchor="ctr">
            <a:normAutofit/>
          </a:bodyPr>
          <a:lstStyle/>
          <a:p>
            <a:pPr marL="0" indent="0">
              <a:buNone/>
            </a:pPr>
            <a:r>
              <a:rPr lang="en-US" sz="1600" b="1" dirty="0">
                <a:solidFill>
                  <a:srgbClr val="0F172A"/>
                </a:solidFill>
                <a:latin typeface="Arial" pitchFamily="34" charset="0"/>
                <a:ea typeface="Arial" pitchFamily="34" charset="-122"/>
                <a:cs typeface="Arial" pitchFamily="34" charset="-120"/>
              </a:rPr>
              <a:t>Prinsip Aman</a:t>
            </a:r>
            <a:endParaRPr lang="en-US" sz="1600" dirty="0"/>
          </a:p>
        </p:txBody>
      </p:sp>
      <p:sp>
        <p:nvSpPr>
          <p:cNvPr id="23" name="Text 18"/>
          <p:cNvSpPr/>
          <p:nvPr/>
        </p:nvSpPr>
        <p:spPr>
          <a:xfrm>
            <a:off x="8375904" y="2670048"/>
            <a:ext cx="2871216" cy="2651760"/>
          </a:xfrm>
          <a:prstGeom prst="rect">
            <a:avLst/>
          </a:prstGeom>
          <a:noFill/>
          <a:ln/>
        </p:spPr>
        <p:txBody>
          <a:bodyPr wrap="square" lIns="0" tIns="0" rIns="0" bIns="0" rtlCol="0" anchor="t">
            <a:normAutofit/>
          </a:bodyPr>
          <a:lstStyle/>
          <a:p>
            <a:pPr marL="0" indent="0">
              <a:buNone/>
            </a:pPr>
            <a:r>
              <a:rPr lang="en-US" sz="1300" dirty="0">
                <a:solidFill>
                  <a:srgbClr val="334155"/>
                </a:solidFill>
                <a:latin typeface="Arial" pitchFamily="34" charset="0"/>
                <a:ea typeface="Arial" pitchFamily="34" charset="-122"/>
                <a:cs typeface="Arial" pitchFamily="34" charset="-120"/>
              </a:rPr>
              <a:t>• Baca label &amp; SDS</a:t>
            </a:r>
            <a:endParaRPr lang="en-US" sz="1300" dirty="0"/>
          </a:p>
          <a:p>
            <a:pPr marL="0" indent="0">
              <a:buNone/>
            </a:pPr>
            <a:r>
              <a:rPr lang="en-US" sz="1300" dirty="0">
                <a:solidFill>
                  <a:srgbClr val="334155"/>
                </a:solidFill>
                <a:latin typeface="Arial" pitchFamily="34" charset="0"/>
                <a:ea typeface="Arial" pitchFamily="34" charset="-122"/>
                <a:cs typeface="Arial" pitchFamily="34" charset="-120"/>
              </a:rPr>
              <a:t>• Gunakan ventilasi/engineering control</a:t>
            </a:r>
            <a:endParaRPr lang="en-US" sz="1300" dirty="0"/>
          </a:p>
          <a:p>
            <a:pPr marL="0" indent="0">
              <a:buNone/>
            </a:pPr>
            <a:r>
              <a:rPr lang="en-US" sz="1300" dirty="0">
                <a:solidFill>
                  <a:srgbClr val="334155"/>
                </a:solidFill>
                <a:latin typeface="Arial" pitchFamily="34" charset="0"/>
                <a:ea typeface="Arial" pitchFamily="34" charset="-122"/>
                <a:cs typeface="Arial" pitchFamily="34" charset="-120"/>
              </a:rPr>
              <a:t>• APD sesuai bahan</a:t>
            </a:r>
            <a:endParaRPr lang="en-US" sz="1300" dirty="0"/>
          </a:p>
          <a:p>
            <a:pPr marL="0" indent="0">
              <a:buNone/>
            </a:pPr>
            <a:r>
              <a:rPr lang="en-US" sz="1300" dirty="0">
                <a:solidFill>
                  <a:srgbClr val="334155"/>
                </a:solidFill>
                <a:latin typeface="Arial" pitchFamily="34" charset="0"/>
                <a:ea typeface="Arial" pitchFamily="34" charset="-122"/>
                <a:cs typeface="Arial" pitchFamily="34" charset="-120"/>
              </a:rPr>
              <a:t>• Siapkan spill kit</a:t>
            </a:r>
            <a:endParaRPr lang="en-US" sz="1300" dirty="0"/>
          </a:p>
          <a:p>
            <a:pPr marL="0" indent="0">
              <a:buNone/>
            </a:pPr>
            <a:r>
              <a:rPr lang="en-US" sz="1300" dirty="0">
                <a:solidFill>
                  <a:srgbClr val="334155"/>
                </a:solidFill>
                <a:latin typeface="Arial" pitchFamily="34" charset="0"/>
                <a:ea typeface="Arial" pitchFamily="34" charset="-122"/>
                <a:cs typeface="Arial" pitchFamily="34" charset="-120"/>
              </a:rPr>
              <a:t>• Segregasi &amp; pembuangan sesuai prosedur</a:t>
            </a:r>
            <a:endParaRPr lang="en-US" sz="1300" dirty="0"/>
          </a:p>
        </p:txBody>
      </p:sp>
      <p:sp>
        <p:nvSpPr>
          <p:cNvPr id="24" name="Text 19"/>
          <p:cNvSpPr/>
          <p:nvPr/>
        </p:nvSpPr>
        <p:spPr>
          <a:xfrm>
            <a:off x="566928" y="6291072"/>
            <a:ext cx="10698480" cy="164592"/>
          </a:xfrm>
          <a:prstGeom prst="rect">
            <a:avLst/>
          </a:prstGeom>
          <a:noFill/>
          <a:ln/>
        </p:spPr>
        <p:txBody>
          <a:bodyPr wrap="square" lIns="0" tIns="0" rIns="0" bIns="0" rtlCol="0" anchor="ctr">
            <a:normAutofit/>
          </a:bodyPr>
          <a:lstStyle/>
          <a:p>
            <a:pPr marL="0" indent="0">
              <a:buNone/>
            </a:pPr>
            <a:r>
              <a:rPr lang="en-US" sz="730" i="1" dirty="0">
                <a:solidFill>
                  <a:srgbClr val="94A3B8"/>
                </a:solidFill>
                <a:latin typeface="Arial" pitchFamily="34" charset="0"/>
                <a:ea typeface="Arial" pitchFamily="34" charset="-122"/>
                <a:cs typeface="Arial" pitchFamily="34" charset="-120"/>
              </a:rPr>
              <a:t>WHO 2025 menyebut cleaning/disinfecting agents, sterilants, toxic drugs, latex, dan reagen sebagai bahaya kimia umum di sektor kesehatan.</a:t>
            </a:r>
            <a:endParaRPr lang="en-US" sz="730" dirty="0"/>
          </a:p>
        </p:txBody>
      </p:sp>
      <p:sp>
        <p:nvSpPr>
          <p:cNvPr id="25" name="Slide Number Placeholder 0"/>
          <p:cNvSpPr>
            <a:spLocks noGrp="1"/>
          </p:cNvSpPr>
          <p:nvPr>
            <p:ph type="sldNum" sz="quarter" idx="4294967295"/>
          </p:nvPr>
        </p:nvSpPr>
        <p:spPr>
          <a:xfrm>
            <a:off x="11475720" y="6492240"/>
            <a:ext cx="320040"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64748B"/>
                </a:solidFill>
                <a:latin typeface="Arial"/>
                <a:ea typeface="Arial"/>
                <a:cs typeface="Aria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566928" y="347472"/>
            <a:ext cx="1417320" cy="310896"/>
          </a:xfrm>
          <a:prstGeom prst="roundRect">
            <a:avLst>
              <a:gd name="adj" fmla="val 23529"/>
            </a:avLst>
          </a:prstGeom>
          <a:solidFill>
            <a:srgbClr val="ECFEFF"/>
          </a:solidFill>
          <a:ln w="12700">
            <a:solidFill>
              <a:srgbClr val="ECFEFF"/>
            </a:solidFill>
            <a:prstDash val="solid"/>
          </a:ln>
        </p:spPr>
      </p:sp>
      <p:sp>
        <p:nvSpPr>
          <p:cNvPr id="3" name="Text 1"/>
          <p:cNvSpPr/>
          <p:nvPr/>
        </p:nvSpPr>
        <p:spPr>
          <a:xfrm>
            <a:off x="694944" y="429768"/>
            <a:ext cx="1170432" cy="128016"/>
          </a:xfrm>
          <a:prstGeom prst="rect">
            <a:avLst/>
          </a:prstGeom>
          <a:noFill/>
          <a:ln/>
        </p:spPr>
        <p:txBody>
          <a:bodyPr wrap="square" lIns="0" tIns="0" rIns="0" bIns="0" rtlCol="0" anchor="ctr"/>
          <a:lstStyle/>
          <a:p>
            <a:pPr marL="0" indent="0" algn="ctr">
              <a:buNone/>
            </a:pPr>
            <a:r>
              <a:rPr lang="en-US" sz="900" b="1" dirty="0">
                <a:solidFill>
                  <a:srgbClr val="0E7490"/>
                </a:solidFill>
                <a:latin typeface="Arial" pitchFamily="34" charset="0"/>
                <a:ea typeface="Arial" pitchFamily="34" charset="-122"/>
                <a:cs typeface="Arial" pitchFamily="34" charset="-120"/>
              </a:rPr>
              <a:t>BAHAYA KERJA</a:t>
            </a:r>
            <a:endParaRPr lang="en-US" sz="900" dirty="0"/>
          </a:p>
        </p:txBody>
      </p:sp>
      <p:sp>
        <p:nvSpPr>
          <p:cNvPr id="4" name="Text 2"/>
          <p:cNvSpPr/>
          <p:nvPr/>
        </p:nvSpPr>
        <p:spPr>
          <a:xfrm>
            <a:off x="566928" y="777240"/>
            <a:ext cx="10972800" cy="566928"/>
          </a:xfrm>
          <a:prstGeom prst="rect">
            <a:avLst/>
          </a:prstGeom>
          <a:noFill/>
          <a:ln/>
        </p:spPr>
        <p:txBody>
          <a:bodyPr wrap="square" lIns="0" tIns="0" rIns="0" bIns="0" rtlCol="0" anchor="ctr">
            <a:normAutofit/>
          </a:bodyPr>
          <a:lstStyle/>
          <a:p>
            <a:pPr marL="0" indent="0">
              <a:buNone/>
            </a:pPr>
            <a:r>
              <a:rPr lang="en-US" sz="2700" b="1" dirty="0">
                <a:solidFill>
                  <a:srgbClr val="0F172A"/>
                </a:solidFill>
                <a:latin typeface="Arial" pitchFamily="34" charset="0"/>
                <a:ea typeface="Arial" pitchFamily="34" charset="-122"/>
                <a:cs typeface="Arial" pitchFamily="34" charset="-120"/>
              </a:rPr>
              <a:t>Bahaya Fisik</a:t>
            </a:r>
            <a:endParaRPr lang="en-US" sz="2700" dirty="0"/>
          </a:p>
        </p:txBody>
      </p:sp>
      <p:sp>
        <p:nvSpPr>
          <p:cNvPr id="5" name="Text 3"/>
          <p:cNvSpPr/>
          <p:nvPr/>
        </p:nvSpPr>
        <p:spPr>
          <a:xfrm>
            <a:off x="566928" y="1371600"/>
            <a:ext cx="10881360" cy="384048"/>
          </a:xfrm>
          <a:prstGeom prst="rect">
            <a:avLst/>
          </a:prstGeom>
          <a:noFill/>
          <a:ln/>
        </p:spPr>
        <p:txBody>
          <a:bodyPr wrap="square" lIns="0" tIns="0" rIns="0" bIns="0" rtlCol="0" anchor="ctr">
            <a:normAutofit/>
          </a:bodyPr>
          <a:lstStyle/>
          <a:p>
            <a:pPr marL="0" indent="0">
              <a:buNone/>
            </a:pPr>
            <a:r>
              <a:rPr lang="en-US" sz="1250" dirty="0">
                <a:solidFill>
                  <a:srgbClr val="64748B"/>
                </a:solidFill>
                <a:latin typeface="Arial" pitchFamily="34" charset="0"/>
                <a:ea typeface="Arial" pitchFamily="34" charset="-122"/>
                <a:cs typeface="Arial" pitchFamily="34" charset="-120"/>
              </a:rPr>
              <a:t>Bahaya fisik dapat berasal dari radiasi, listrik, kebisingan, suhu, pencahayaan, dan peralatan medis.</a:t>
            </a:r>
            <a:endParaRPr lang="en-US" sz="1250" dirty="0"/>
          </a:p>
        </p:txBody>
      </p:sp>
      <p:sp>
        <p:nvSpPr>
          <p:cNvPr id="6" name="Shape 4"/>
          <p:cNvSpPr/>
          <p:nvPr/>
        </p:nvSpPr>
        <p:spPr>
          <a:xfrm>
            <a:off x="777240" y="1965960"/>
            <a:ext cx="5074920" cy="1508760"/>
          </a:xfrm>
          <a:prstGeom prst="roundRect">
            <a:avLst>
              <a:gd name="adj" fmla="val 4848"/>
            </a:avLst>
          </a:prstGeom>
          <a:solidFill>
            <a:srgbClr val="FFFFFF"/>
          </a:solidFill>
          <a:ln w="10160">
            <a:solidFill>
              <a:srgbClr val="E5E7EB"/>
            </a:solidFill>
            <a:prstDash val="solid"/>
          </a:ln>
        </p:spPr>
      </p:sp>
      <p:sp>
        <p:nvSpPr>
          <p:cNvPr id="7" name="Shape 5"/>
          <p:cNvSpPr/>
          <p:nvPr/>
        </p:nvSpPr>
        <p:spPr>
          <a:xfrm>
            <a:off x="777240" y="1965960"/>
            <a:ext cx="73152" cy="1508760"/>
          </a:xfrm>
          <a:prstGeom prst="rect">
            <a:avLst/>
          </a:prstGeom>
          <a:solidFill>
            <a:srgbClr val="E11D48"/>
          </a:solidFill>
          <a:ln w="12700">
            <a:solidFill>
              <a:srgbClr val="E11D48"/>
            </a:solidFill>
            <a:prstDash val="solid"/>
          </a:ln>
        </p:spPr>
      </p:sp>
      <p:sp>
        <p:nvSpPr>
          <p:cNvPr id="8" name="Shape 6"/>
          <p:cNvSpPr/>
          <p:nvPr/>
        </p:nvSpPr>
        <p:spPr>
          <a:xfrm>
            <a:off x="978408" y="2167128"/>
            <a:ext cx="658368" cy="658368"/>
          </a:xfrm>
          <a:prstGeom prst="ellipse">
            <a:avLst/>
          </a:prstGeom>
          <a:solidFill>
            <a:srgbClr val="F8FAFC"/>
          </a:solidFill>
          <a:ln w="12700">
            <a:solidFill>
              <a:srgbClr val="F8FAFC"/>
            </a:solidFill>
            <a:prstDash val="solid"/>
          </a:ln>
        </p:spPr>
      </p:sp>
      <p:pic>
        <p:nvPicPr>
          <p:cNvPr id="9"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15568" y="2304288"/>
            <a:ext cx="329184" cy="329184"/>
          </a:xfrm>
          <a:prstGeom prst="rect">
            <a:avLst/>
          </a:prstGeom>
        </p:spPr>
      </p:pic>
      <p:sp>
        <p:nvSpPr>
          <p:cNvPr id="10" name="Text 7"/>
          <p:cNvSpPr/>
          <p:nvPr/>
        </p:nvSpPr>
        <p:spPr>
          <a:xfrm>
            <a:off x="1764792" y="2194560"/>
            <a:ext cx="3867912" cy="292608"/>
          </a:xfrm>
          <a:prstGeom prst="rect">
            <a:avLst/>
          </a:prstGeom>
          <a:noFill/>
          <a:ln/>
        </p:spPr>
        <p:txBody>
          <a:bodyPr wrap="square" lIns="0" tIns="0" rIns="0" bIns="0" rtlCol="0" anchor="ctr">
            <a:normAutofit/>
          </a:bodyPr>
          <a:lstStyle/>
          <a:p>
            <a:pPr marL="0" indent="0">
              <a:buNone/>
            </a:pPr>
            <a:r>
              <a:rPr lang="en-US" sz="1500" b="1" dirty="0">
                <a:solidFill>
                  <a:srgbClr val="0F172A"/>
                </a:solidFill>
                <a:latin typeface="Arial" pitchFamily="34" charset="0"/>
                <a:ea typeface="Arial" pitchFamily="34" charset="-122"/>
                <a:cs typeface="Arial" pitchFamily="34" charset="-120"/>
              </a:rPr>
              <a:t>Radiasi</a:t>
            </a:r>
            <a:endParaRPr lang="en-US" sz="1500" dirty="0"/>
          </a:p>
        </p:txBody>
      </p:sp>
      <p:sp>
        <p:nvSpPr>
          <p:cNvPr id="11" name="Text 8"/>
          <p:cNvSpPr/>
          <p:nvPr/>
        </p:nvSpPr>
        <p:spPr>
          <a:xfrm>
            <a:off x="1033272" y="2715768"/>
            <a:ext cx="4562856" cy="576072"/>
          </a:xfrm>
          <a:prstGeom prst="rect">
            <a:avLst/>
          </a:prstGeom>
          <a:noFill/>
          <a:ln/>
        </p:spPr>
        <p:txBody>
          <a:bodyPr wrap="square" lIns="0" tIns="0" rIns="0" bIns="0" rtlCol="0" anchor="t">
            <a:normAutofit/>
          </a:bodyPr>
          <a:lstStyle/>
          <a:p>
            <a:pPr marL="0" indent="0">
              <a:buNone/>
            </a:pPr>
            <a:r>
              <a:rPr lang="en-US" sz="1140" dirty="0">
                <a:solidFill>
                  <a:srgbClr val="334155"/>
                </a:solidFill>
                <a:latin typeface="Arial" pitchFamily="34" charset="0"/>
                <a:ea typeface="Arial" pitchFamily="34" charset="-122"/>
                <a:cs typeface="Arial" pitchFamily="34" charset="-120"/>
              </a:rPr>
              <a:t>X-ray, radionuklida, laser/UV. Ikuti zonasi, jarak, shielding, dan monitoring.</a:t>
            </a:r>
            <a:endParaRPr lang="en-US" sz="1140" dirty="0"/>
          </a:p>
        </p:txBody>
      </p:sp>
      <p:sp>
        <p:nvSpPr>
          <p:cNvPr id="12" name="Shape 9"/>
          <p:cNvSpPr/>
          <p:nvPr/>
        </p:nvSpPr>
        <p:spPr>
          <a:xfrm>
            <a:off x="6309360" y="1965960"/>
            <a:ext cx="5074920" cy="1508760"/>
          </a:xfrm>
          <a:prstGeom prst="roundRect">
            <a:avLst>
              <a:gd name="adj" fmla="val 4848"/>
            </a:avLst>
          </a:prstGeom>
          <a:solidFill>
            <a:srgbClr val="FFFFFF"/>
          </a:solidFill>
          <a:ln w="10160">
            <a:solidFill>
              <a:srgbClr val="E5E7EB"/>
            </a:solidFill>
            <a:prstDash val="solid"/>
          </a:ln>
        </p:spPr>
      </p:sp>
      <p:sp>
        <p:nvSpPr>
          <p:cNvPr id="13" name="Shape 10"/>
          <p:cNvSpPr/>
          <p:nvPr/>
        </p:nvSpPr>
        <p:spPr>
          <a:xfrm>
            <a:off x="6309360" y="1965960"/>
            <a:ext cx="73152" cy="1508760"/>
          </a:xfrm>
          <a:prstGeom prst="rect">
            <a:avLst/>
          </a:prstGeom>
          <a:solidFill>
            <a:srgbClr val="D97706"/>
          </a:solidFill>
          <a:ln w="12700">
            <a:solidFill>
              <a:srgbClr val="D97706"/>
            </a:solidFill>
            <a:prstDash val="solid"/>
          </a:ln>
        </p:spPr>
      </p:sp>
      <p:sp>
        <p:nvSpPr>
          <p:cNvPr id="14" name="Shape 11"/>
          <p:cNvSpPr/>
          <p:nvPr/>
        </p:nvSpPr>
        <p:spPr>
          <a:xfrm>
            <a:off x="6510528" y="2167128"/>
            <a:ext cx="658368" cy="658368"/>
          </a:xfrm>
          <a:prstGeom prst="ellipse">
            <a:avLst/>
          </a:prstGeom>
          <a:solidFill>
            <a:srgbClr val="F8FAFC"/>
          </a:solidFill>
          <a:ln w="12700">
            <a:solidFill>
              <a:srgbClr val="F8FAFC"/>
            </a:solidFill>
            <a:prstDash val="solid"/>
          </a:ln>
        </p:spPr>
      </p:sp>
      <p:pic>
        <p:nvPicPr>
          <p:cNvPr id="15"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647688" y="2304288"/>
            <a:ext cx="329184" cy="329184"/>
          </a:xfrm>
          <a:prstGeom prst="rect">
            <a:avLst/>
          </a:prstGeom>
        </p:spPr>
      </p:pic>
      <p:sp>
        <p:nvSpPr>
          <p:cNvPr id="16" name="Text 12"/>
          <p:cNvSpPr/>
          <p:nvPr/>
        </p:nvSpPr>
        <p:spPr>
          <a:xfrm>
            <a:off x="7296912" y="2194560"/>
            <a:ext cx="3867912" cy="292608"/>
          </a:xfrm>
          <a:prstGeom prst="rect">
            <a:avLst/>
          </a:prstGeom>
          <a:noFill/>
          <a:ln/>
        </p:spPr>
        <p:txBody>
          <a:bodyPr wrap="square" lIns="0" tIns="0" rIns="0" bIns="0" rtlCol="0" anchor="ctr">
            <a:normAutofit/>
          </a:bodyPr>
          <a:lstStyle/>
          <a:p>
            <a:pPr marL="0" indent="0">
              <a:buNone/>
            </a:pPr>
            <a:r>
              <a:rPr lang="en-US" sz="1500" b="1" dirty="0">
                <a:solidFill>
                  <a:srgbClr val="0F172A"/>
                </a:solidFill>
                <a:latin typeface="Arial" pitchFamily="34" charset="0"/>
                <a:ea typeface="Arial" pitchFamily="34" charset="-122"/>
                <a:cs typeface="Arial" pitchFamily="34" charset="-120"/>
              </a:rPr>
              <a:t>Listrik</a:t>
            </a:r>
            <a:endParaRPr lang="en-US" sz="1500" dirty="0"/>
          </a:p>
        </p:txBody>
      </p:sp>
      <p:sp>
        <p:nvSpPr>
          <p:cNvPr id="17" name="Text 13"/>
          <p:cNvSpPr/>
          <p:nvPr/>
        </p:nvSpPr>
        <p:spPr>
          <a:xfrm>
            <a:off x="6565392" y="2715768"/>
            <a:ext cx="4562856" cy="576072"/>
          </a:xfrm>
          <a:prstGeom prst="rect">
            <a:avLst/>
          </a:prstGeom>
          <a:noFill/>
          <a:ln/>
        </p:spPr>
        <p:txBody>
          <a:bodyPr wrap="square" lIns="0" tIns="0" rIns="0" bIns="0" rtlCol="0" anchor="t">
            <a:normAutofit/>
          </a:bodyPr>
          <a:lstStyle/>
          <a:p>
            <a:pPr marL="0" indent="0">
              <a:buNone/>
            </a:pPr>
            <a:r>
              <a:rPr lang="en-US" sz="1140" dirty="0">
                <a:solidFill>
                  <a:srgbClr val="334155"/>
                </a:solidFill>
                <a:latin typeface="Arial" pitchFamily="34" charset="0"/>
                <a:ea typeface="Arial" pitchFamily="34" charset="-122"/>
                <a:cs typeface="Arial" pitchFamily="34" charset="-120"/>
              </a:rPr>
              <a:t>Kabel rusak, alat basah, grounding tidak aman. Laporkan alat bermasalah dan jangan improvisasi.</a:t>
            </a:r>
            <a:endParaRPr lang="en-US" sz="1140" dirty="0"/>
          </a:p>
        </p:txBody>
      </p:sp>
      <p:sp>
        <p:nvSpPr>
          <p:cNvPr id="18" name="Shape 14"/>
          <p:cNvSpPr/>
          <p:nvPr/>
        </p:nvSpPr>
        <p:spPr>
          <a:xfrm>
            <a:off x="777240" y="3794760"/>
            <a:ext cx="5074920" cy="1508760"/>
          </a:xfrm>
          <a:prstGeom prst="roundRect">
            <a:avLst>
              <a:gd name="adj" fmla="val 4848"/>
            </a:avLst>
          </a:prstGeom>
          <a:solidFill>
            <a:srgbClr val="FFFFFF"/>
          </a:solidFill>
          <a:ln w="10160">
            <a:solidFill>
              <a:srgbClr val="E5E7EB"/>
            </a:solidFill>
            <a:prstDash val="solid"/>
          </a:ln>
        </p:spPr>
      </p:sp>
      <p:sp>
        <p:nvSpPr>
          <p:cNvPr id="19" name="Shape 15"/>
          <p:cNvSpPr/>
          <p:nvPr/>
        </p:nvSpPr>
        <p:spPr>
          <a:xfrm>
            <a:off x="777240" y="3794760"/>
            <a:ext cx="73152" cy="1508760"/>
          </a:xfrm>
          <a:prstGeom prst="rect">
            <a:avLst/>
          </a:prstGeom>
          <a:solidFill>
            <a:srgbClr val="2563EB"/>
          </a:solidFill>
          <a:ln w="12700">
            <a:solidFill>
              <a:srgbClr val="2563EB"/>
            </a:solidFill>
            <a:prstDash val="solid"/>
          </a:ln>
        </p:spPr>
      </p:sp>
      <p:sp>
        <p:nvSpPr>
          <p:cNvPr id="20" name="Shape 16"/>
          <p:cNvSpPr/>
          <p:nvPr/>
        </p:nvSpPr>
        <p:spPr>
          <a:xfrm>
            <a:off x="978408" y="3995928"/>
            <a:ext cx="658368" cy="658368"/>
          </a:xfrm>
          <a:prstGeom prst="ellipse">
            <a:avLst/>
          </a:prstGeom>
          <a:solidFill>
            <a:srgbClr val="F8FAFC"/>
          </a:solidFill>
          <a:ln w="12700">
            <a:solidFill>
              <a:srgbClr val="F8FAFC"/>
            </a:solidFill>
            <a:prstDash val="solid"/>
          </a:ln>
        </p:spPr>
      </p:sp>
      <p:pic>
        <p:nvPicPr>
          <p:cNvPr id="21"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115568" y="4133088"/>
            <a:ext cx="329184" cy="329184"/>
          </a:xfrm>
          <a:prstGeom prst="rect">
            <a:avLst/>
          </a:prstGeom>
        </p:spPr>
      </p:pic>
      <p:sp>
        <p:nvSpPr>
          <p:cNvPr id="22" name="Text 17"/>
          <p:cNvSpPr/>
          <p:nvPr/>
        </p:nvSpPr>
        <p:spPr>
          <a:xfrm>
            <a:off x="1764792" y="4023360"/>
            <a:ext cx="3867912" cy="292608"/>
          </a:xfrm>
          <a:prstGeom prst="rect">
            <a:avLst/>
          </a:prstGeom>
          <a:noFill/>
          <a:ln/>
        </p:spPr>
        <p:txBody>
          <a:bodyPr wrap="square" lIns="0" tIns="0" rIns="0" bIns="0" rtlCol="0" anchor="ctr">
            <a:normAutofit/>
          </a:bodyPr>
          <a:lstStyle/>
          <a:p>
            <a:pPr marL="0" indent="0">
              <a:buNone/>
            </a:pPr>
            <a:r>
              <a:rPr lang="en-US" sz="1500" b="1" dirty="0">
                <a:solidFill>
                  <a:srgbClr val="0F172A"/>
                </a:solidFill>
                <a:latin typeface="Arial" pitchFamily="34" charset="0"/>
                <a:ea typeface="Arial" pitchFamily="34" charset="-122"/>
                <a:cs typeface="Arial" pitchFamily="34" charset="-120"/>
              </a:rPr>
              <a:t>Kebisingan</a:t>
            </a:r>
            <a:endParaRPr lang="en-US" sz="1500" dirty="0"/>
          </a:p>
        </p:txBody>
      </p:sp>
      <p:sp>
        <p:nvSpPr>
          <p:cNvPr id="23" name="Text 18"/>
          <p:cNvSpPr/>
          <p:nvPr/>
        </p:nvSpPr>
        <p:spPr>
          <a:xfrm>
            <a:off x="1033272" y="4544568"/>
            <a:ext cx="4562856" cy="576072"/>
          </a:xfrm>
          <a:prstGeom prst="rect">
            <a:avLst/>
          </a:prstGeom>
          <a:noFill/>
          <a:ln/>
        </p:spPr>
        <p:txBody>
          <a:bodyPr wrap="square" lIns="0" tIns="0" rIns="0" bIns="0" rtlCol="0" anchor="t">
            <a:normAutofit/>
          </a:bodyPr>
          <a:lstStyle/>
          <a:p>
            <a:pPr marL="0" indent="0">
              <a:buNone/>
            </a:pPr>
            <a:r>
              <a:rPr lang="en-US" sz="1140" dirty="0">
                <a:solidFill>
                  <a:srgbClr val="334155"/>
                </a:solidFill>
                <a:latin typeface="Arial" pitchFamily="34" charset="0"/>
                <a:ea typeface="Arial" pitchFamily="34" charset="-122"/>
                <a:cs typeface="Arial" pitchFamily="34" charset="-120"/>
              </a:rPr>
              <a:t>Alarm dan perangkat dapat meningkatkan beban kerja kognitif. Kelola alarm dan lingkungan kerja.</a:t>
            </a:r>
            <a:endParaRPr lang="en-US" sz="1140" dirty="0"/>
          </a:p>
        </p:txBody>
      </p:sp>
      <p:sp>
        <p:nvSpPr>
          <p:cNvPr id="24" name="Shape 19"/>
          <p:cNvSpPr/>
          <p:nvPr/>
        </p:nvSpPr>
        <p:spPr>
          <a:xfrm>
            <a:off x="6309360" y="3794760"/>
            <a:ext cx="5074920" cy="1508760"/>
          </a:xfrm>
          <a:prstGeom prst="roundRect">
            <a:avLst>
              <a:gd name="adj" fmla="val 4848"/>
            </a:avLst>
          </a:prstGeom>
          <a:solidFill>
            <a:srgbClr val="FFFFFF"/>
          </a:solidFill>
          <a:ln w="10160">
            <a:solidFill>
              <a:srgbClr val="E5E7EB"/>
            </a:solidFill>
            <a:prstDash val="solid"/>
          </a:ln>
        </p:spPr>
      </p:sp>
      <p:sp>
        <p:nvSpPr>
          <p:cNvPr id="25" name="Shape 20"/>
          <p:cNvSpPr/>
          <p:nvPr/>
        </p:nvSpPr>
        <p:spPr>
          <a:xfrm>
            <a:off x="6309360" y="3794760"/>
            <a:ext cx="73152" cy="1508760"/>
          </a:xfrm>
          <a:prstGeom prst="rect">
            <a:avLst/>
          </a:prstGeom>
          <a:solidFill>
            <a:srgbClr val="0E7490"/>
          </a:solidFill>
          <a:ln w="12700">
            <a:solidFill>
              <a:srgbClr val="0E7490"/>
            </a:solidFill>
            <a:prstDash val="solid"/>
          </a:ln>
        </p:spPr>
      </p:sp>
      <p:sp>
        <p:nvSpPr>
          <p:cNvPr id="26" name="Shape 21"/>
          <p:cNvSpPr/>
          <p:nvPr/>
        </p:nvSpPr>
        <p:spPr>
          <a:xfrm>
            <a:off x="6510528" y="3995928"/>
            <a:ext cx="658368" cy="658368"/>
          </a:xfrm>
          <a:prstGeom prst="ellipse">
            <a:avLst/>
          </a:prstGeom>
          <a:solidFill>
            <a:srgbClr val="F8FAFC"/>
          </a:solidFill>
          <a:ln w="12700">
            <a:solidFill>
              <a:srgbClr val="F8FAFC"/>
            </a:solidFill>
            <a:prstDash val="solid"/>
          </a:ln>
        </p:spPr>
      </p:sp>
      <p:pic>
        <p:nvPicPr>
          <p:cNvPr id="27"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647688" y="4133088"/>
            <a:ext cx="329184" cy="329184"/>
          </a:xfrm>
          <a:prstGeom prst="rect">
            <a:avLst/>
          </a:prstGeom>
        </p:spPr>
      </p:pic>
      <p:sp>
        <p:nvSpPr>
          <p:cNvPr id="28" name="Text 22"/>
          <p:cNvSpPr/>
          <p:nvPr/>
        </p:nvSpPr>
        <p:spPr>
          <a:xfrm>
            <a:off x="7296912" y="4023360"/>
            <a:ext cx="3867912" cy="292608"/>
          </a:xfrm>
          <a:prstGeom prst="rect">
            <a:avLst/>
          </a:prstGeom>
          <a:noFill/>
          <a:ln/>
        </p:spPr>
        <p:txBody>
          <a:bodyPr wrap="square" lIns="0" tIns="0" rIns="0" bIns="0" rtlCol="0" anchor="ctr">
            <a:normAutofit/>
          </a:bodyPr>
          <a:lstStyle/>
          <a:p>
            <a:pPr marL="0" indent="0">
              <a:buNone/>
            </a:pPr>
            <a:r>
              <a:rPr lang="en-US" sz="1500" b="1" dirty="0">
                <a:solidFill>
                  <a:srgbClr val="0F172A"/>
                </a:solidFill>
                <a:latin typeface="Arial" pitchFamily="34" charset="0"/>
                <a:ea typeface="Arial" pitchFamily="34" charset="-122"/>
                <a:cs typeface="Arial" pitchFamily="34" charset="-120"/>
              </a:rPr>
              <a:t>Suhu &amp; lingkungan</a:t>
            </a:r>
            <a:endParaRPr lang="en-US" sz="1500" dirty="0"/>
          </a:p>
        </p:txBody>
      </p:sp>
      <p:sp>
        <p:nvSpPr>
          <p:cNvPr id="29" name="Text 23"/>
          <p:cNvSpPr/>
          <p:nvPr/>
        </p:nvSpPr>
        <p:spPr>
          <a:xfrm>
            <a:off x="6565392" y="4544568"/>
            <a:ext cx="4562856" cy="576072"/>
          </a:xfrm>
          <a:prstGeom prst="rect">
            <a:avLst/>
          </a:prstGeom>
          <a:noFill/>
          <a:ln/>
        </p:spPr>
        <p:txBody>
          <a:bodyPr wrap="square" lIns="0" tIns="0" rIns="0" bIns="0" rtlCol="0" anchor="t">
            <a:normAutofit/>
          </a:bodyPr>
          <a:lstStyle/>
          <a:p>
            <a:pPr marL="0" indent="0">
              <a:buNone/>
            </a:pPr>
            <a:r>
              <a:rPr lang="en-US" sz="1140" dirty="0">
                <a:solidFill>
                  <a:srgbClr val="334155"/>
                </a:solidFill>
                <a:latin typeface="Arial" pitchFamily="34" charset="0"/>
                <a:ea typeface="Arial" pitchFamily="34" charset="-122"/>
                <a:cs typeface="Arial" pitchFamily="34" charset="-120"/>
              </a:rPr>
              <a:t>Panas/dingin, ventilasi buruk, pencahayaan kurang dapat menurunkan kenyamanan dan keselamatan.</a:t>
            </a:r>
            <a:endParaRPr lang="en-US" sz="1140" dirty="0"/>
          </a:p>
        </p:txBody>
      </p:sp>
      <p:sp>
        <p:nvSpPr>
          <p:cNvPr id="30" name="Text 24"/>
          <p:cNvSpPr/>
          <p:nvPr/>
        </p:nvSpPr>
        <p:spPr>
          <a:xfrm>
            <a:off x="566928" y="6291072"/>
            <a:ext cx="10698480" cy="164592"/>
          </a:xfrm>
          <a:prstGeom prst="rect">
            <a:avLst/>
          </a:prstGeom>
          <a:noFill/>
          <a:ln/>
        </p:spPr>
        <p:txBody>
          <a:bodyPr wrap="square" lIns="0" tIns="0" rIns="0" bIns="0" rtlCol="0" anchor="ctr">
            <a:normAutofit/>
          </a:bodyPr>
          <a:lstStyle/>
          <a:p>
            <a:pPr marL="0" indent="0">
              <a:buNone/>
            </a:pPr>
            <a:r>
              <a:rPr lang="en-US" sz="730" i="1" dirty="0">
                <a:solidFill>
                  <a:srgbClr val="94A3B8"/>
                </a:solidFill>
                <a:latin typeface="Arial" pitchFamily="34" charset="0"/>
                <a:ea typeface="Arial" pitchFamily="34" charset="-122"/>
                <a:cs typeface="Arial" pitchFamily="34" charset="-120"/>
              </a:rPr>
              <a:t>Rujukan umum: WHO Occupational hazards in the health sector (2025).</a:t>
            </a:r>
            <a:endParaRPr lang="en-US" sz="730" dirty="0"/>
          </a:p>
        </p:txBody>
      </p:sp>
      <p:sp>
        <p:nvSpPr>
          <p:cNvPr id="31" name="Slide Number Placeholder 0"/>
          <p:cNvSpPr>
            <a:spLocks noGrp="1"/>
          </p:cNvSpPr>
          <p:nvPr>
            <p:ph type="sldNum" sz="quarter" idx="4294967295"/>
          </p:nvPr>
        </p:nvSpPr>
        <p:spPr>
          <a:xfrm>
            <a:off x="11475720" y="6492240"/>
            <a:ext cx="320040"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64748B"/>
                </a:solidFill>
                <a:latin typeface="Arial"/>
                <a:ea typeface="Arial"/>
                <a:cs typeface="Aria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566928" y="347472"/>
            <a:ext cx="1417320" cy="310896"/>
          </a:xfrm>
          <a:prstGeom prst="roundRect">
            <a:avLst>
              <a:gd name="adj" fmla="val 23529"/>
            </a:avLst>
          </a:prstGeom>
          <a:solidFill>
            <a:srgbClr val="ECFEFF"/>
          </a:solidFill>
          <a:ln w="12700">
            <a:solidFill>
              <a:srgbClr val="ECFEFF"/>
            </a:solidFill>
            <a:prstDash val="solid"/>
          </a:ln>
        </p:spPr>
      </p:sp>
      <p:sp>
        <p:nvSpPr>
          <p:cNvPr id="3" name="Text 1"/>
          <p:cNvSpPr/>
          <p:nvPr/>
        </p:nvSpPr>
        <p:spPr>
          <a:xfrm>
            <a:off x="694944" y="429768"/>
            <a:ext cx="1170432" cy="128016"/>
          </a:xfrm>
          <a:prstGeom prst="rect">
            <a:avLst/>
          </a:prstGeom>
          <a:noFill/>
          <a:ln/>
        </p:spPr>
        <p:txBody>
          <a:bodyPr wrap="square" lIns="0" tIns="0" rIns="0" bIns="0" rtlCol="0" anchor="ctr"/>
          <a:lstStyle/>
          <a:p>
            <a:pPr marL="0" indent="0" algn="ctr">
              <a:buNone/>
            </a:pPr>
            <a:r>
              <a:rPr lang="en-US" sz="900" b="1" dirty="0">
                <a:solidFill>
                  <a:srgbClr val="0E7490"/>
                </a:solidFill>
                <a:latin typeface="Arial" pitchFamily="34" charset="0"/>
                <a:ea typeface="Arial" pitchFamily="34" charset="-122"/>
                <a:cs typeface="Arial" pitchFamily="34" charset="-120"/>
              </a:rPr>
              <a:t>BAHAYA KERJA</a:t>
            </a:r>
            <a:endParaRPr lang="en-US" sz="900" dirty="0"/>
          </a:p>
        </p:txBody>
      </p:sp>
      <p:sp>
        <p:nvSpPr>
          <p:cNvPr id="4" name="Text 2"/>
          <p:cNvSpPr/>
          <p:nvPr/>
        </p:nvSpPr>
        <p:spPr>
          <a:xfrm>
            <a:off x="566928" y="777240"/>
            <a:ext cx="10972800" cy="566928"/>
          </a:xfrm>
          <a:prstGeom prst="rect">
            <a:avLst/>
          </a:prstGeom>
          <a:noFill/>
          <a:ln/>
        </p:spPr>
        <p:txBody>
          <a:bodyPr wrap="square" lIns="0" tIns="0" rIns="0" bIns="0" rtlCol="0" anchor="ctr">
            <a:normAutofit/>
          </a:bodyPr>
          <a:lstStyle/>
          <a:p>
            <a:pPr marL="0" indent="0">
              <a:buNone/>
            </a:pPr>
            <a:r>
              <a:rPr lang="en-US" sz="2700" b="1" dirty="0">
                <a:solidFill>
                  <a:srgbClr val="0F172A"/>
                </a:solidFill>
                <a:latin typeface="Arial" pitchFamily="34" charset="0"/>
                <a:ea typeface="Arial" pitchFamily="34" charset="-122"/>
                <a:cs typeface="Arial" pitchFamily="34" charset="-120"/>
              </a:rPr>
              <a:t>Bahaya Ergonomi</a:t>
            </a:r>
            <a:endParaRPr lang="en-US" sz="2700" dirty="0"/>
          </a:p>
        </p:txBody>
      </p:sp>
      <p:sp>
        <p:nvSpPr>
          <p:cNvPr id="5" name="Text 3"/>
          <p:cNvSpPr/>
          <p:nvPr/>
        </p:nvSpPr>
        <p:spPr>
          <a:xfrm>
            <a:off x="566928" y="1371600"/>
            <a:ext cx="10881360" cy="384048"/>
          </a:xfrm>
          <a:prstGeom prst="rect">
            <a:avLst/>
          </a:prstGeom>
          <a:noFill/>
          <a:ln/>
        </p:spPr>
        <p:txBody>
          <a:bodyPr wrap="square" lIns="0" tIns="0" rIns="0" bIns="0" rtlCol="0" anchor="ctr">
            <a:normAutofit/>
          </a:bodyPr>
          <a:lstStyle/>
          <a:p>
            <a:pPr marL="0" indent="0">
              <a:buNone/>
            </a:pPr>
            <a:r>
              <a:rPr lang="en-US" sz="1250" dirty="0">
                <a:solidFill>
                  <a:srgbClr val="64748B"/>
                </a:solidFill>
                <a:latin typeface="Arial" pitchFamily="34" charset="0"/>
                <a:ea typeface="Arial" pitchFamily="34" charset="-122"/>
                <a:cs typeface="Arial" pitchFamily="34" charset="-120"/>
              </a:rPr>
              <a:t>Cedera muskuloskeletal sering dipicu oleh memindahkan pasien tanpa teknik/alat bantu yang memadai, postur janggal, dan repetisi.</a:t>
            </a:r>
            <a:endParaRPr lang="en-US" sz="1250" dirty="0"/>
          </a:p>
        </p:txBody>
      </p:sp>
      <p:sp>
        <p:nvSpPr>
          <p:cNvPr id="6" name="Shape 4"/>
          <p:cNvSpPr/>
          <p:nvPr/>
        </p:nvSpPr>
        <p:spPr>
          <a:xfrm>
            <a:off x="713232" y="1938528"/>
            <a:ext cx="4572000" cy="3611880"/>
          </a:xfrm>
          <a:prstGeom prst="roundRect">
            <a:avLst>
              <a:gd name="adj" fmla="val 2025"/>
            </a:avLst>
          </a:prstGeom>
          <a:solidFill>
            <a:srgbClr val="FFFFFF"/>
          </a:solidFill>
          <a:ln w="12700">
            <a:solidFill>
              <a:srgbClr val="E2E8F0"/>
            </a:solidFill>
            <a:prstDash val="solid"/>
          </a:ln>
        </p:spPr>
      </p:sp>
      <p:pic>
        <p:nvPicPr>
          <p:cNvPr id="7"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99616" y="2359152"/>
            <a:ext cx="2880360" cy="1920240"/>
          </a:xfrm>
          <a:prstGeom prst="rect">
            <a:avLst/>
          </a:prstGeom>
        </p:spPr>
      </p:pic>
      <p:sp>
        <p:nvSpPr>
          <p:cNvPr id="8" name="Text 5"/>
          <p:cNvSpPr/>
          <p:nvPr/>
        </p:nvSpPr>
        <p:spPr>
          <a:xfrm>
            <a:off x="1078992" y="4453128"/>
            <a:ext cx="3840480" cy="292608"/>
          </a:xfrm>
          <a:prstGeom prst="rect">
            <a:avLst/>
          </a:prstGeom>
          <a:noFill/>
          <a:ln/>
        </p:spPr>
        <p:txBody>
          <a:bodyPr wrap="square" lIns="0" tIns="0" rIns="0" bIns="0" rtlCol="0" anchor="ctr"/>
          <a:lstStyle/>
          <a:p>
            <a:pPr marL="0" indent="0" algn="ctr">
              <a:buNone/>
            </a:pPr>
            <a:r>
              <a:rPr lang="en-US" sz="1600" b="1" dirty="0">
                <a:solidFill>
                  <a:srgbClr val="0F172A"/>
                </a:solidFill>
              </a:rPr>
              <a:t>Risiko meningkat ketika…</a:t>
            </a:r>
            <a:endParaRPr lang="en-US" sz="1600" dirty="0"/>
          </a:p>
        </p:txBody>
      </p:sp>
      <p:sp>
        <p:nvSpPr>
          <p:cNvPr id="9" name="Text 6"/>
          <p:cNvSpPr/>
          <p:nvPr/>
        </p:nvSpPr>
        <p:spPr>
          <a:xfrm>
            <a:off x="1051560" y="4828032"/>
            <a:ext cx="3886200" cy="512064"/>
          </a:xfrm>
          <a:prstGeom prst="rect">
            <a:avLst/>
          </a:prstGeom>
          <a:noFill/>
          <a:ln/>
        </p:spPr>
        <p:txBody>
          <a:bodyPr wrap="square" lIns="0" tIns="0" rIns="0" bIns="0" rtlCol="0" anchor="ctr">
            <a:normAutofit/>
          </a:bodyPr>
          <a:lstStyle/>
          <a:p>
            <a:pPr marL="0" indent="0" algn="ctr">
              <a:buNone/>
            </a:pPr>
            <a:r>
              <a:rPr lang="en-US" sz="1170" dirty="0">
                <a:solidFill>
                  <a:srgbClr val="334155"/>
                </a:solidFill>
              </a:rPr>
              <a:t>pasien berat / tidak kooperatif • ruang sempit • alat bantu tidak tersedia • kerja terburu-buru</a:t>
            </a:r>
            <a:endParaRPr lang="en-US" sz="1170" dirty="0"/>
          </a:p>
        </p:txBody>
      </p:sp>
      <p:sp>
        <p:nvSpPr>
          <p:cNvPr id="10" name="Shape 7"/>
          <p:cNvSpPr/>
          <p:nvPr/>
        </p:nvSpPr>
        <p:spPr>
          <a:xfrm>
            <a:off x="5623560" y="1938528"/>
            <a:ext cx="5715000" cy="1005840"/>
          </a:xfrm>
          <a:prstGeom prst="roundRect">
            <a:avLst>
              <a:gd name="adj" fmla="val 7273"/>
            </a:avLst>
          </a:prstGeom>
          <a:solidFill>
            <a:srgbClr val="FFFFFF"/>
          </a:solidFill>
          <a:ln w="10160">
            <a:solidFill>
              <a:srgbClr val="E5E7EB"/>
            </a:solidFill>
            <a:prstDash val="solid"/>
          </a:ln>
        </p:spPr>
      </p:sp>
      <p:sp>
        <p:nvSpPr>
          <p:cNvPr id="11" name="Shape 8"/>
          <p:cNvSpPr/>
          <p:nvPr/>
        </p:nvSpPr>
        <p:spPr>
          <a:xfrm>
            <a:off x="5623560" y="1938528"/>
            <a:ext cx="73152" cy="1005840"/>
          </a:xfrm>
          <a:prstGeom prst="rect">
            <a:avLst/>
          </a:prstGeom>
          <a:solidFill>
            <a:srgbClr val="0E7490"/>
          </a:solidFill>
          <a:ln w="12700">
            <a:solidFill>
              <a:srgbClr val="0E7490"/>
            </a:solidFill>
            <a:prstDash val="solid"/>
          </a:ln>
        </p:spPr>
      </p:sp>
      <p:sp>
        <p:nvSpPr>
          <p:cNvPr id="12" name="Shape 9"/>
          <p:cNvSpPr/>
          <p:nvPr/>
        </p:nvSpPr>
        <p:spPr>
          <a:xfrm>
            <a:off x="5824728" y="2139696"/>
            <a:ext cx="658368" cy="658368"/>
          </a:xfrm>
          <a:prstGeom prst="ellipse">
            <a:avLst/>
          </a:prstGeom>
          <a:solidFill>
            <a:srgbClr val="F8FAFC"/>
          </a:solidFill>
          <a:ln w="12700">
            <a:solidFill>
              <a:srgbClr val="F8FAFC"/>
            </a:solidFill>
            <a:prstDash val="solid"/>
          </a:ln>
        </p:spPr>
      </p:sp>
      <p:pic>
        <p:nvPicPr>
          <p:cNvPr id="13"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961888" y="2276856"/>
            <a:ext cx="329184" cy="329184"/>
          </a:xfrm>
          <a:prstGeom prst="rect">
            <a:avLst/>
          </a:prstGeom>
        </p:spPr>
      </p:pic>
      <p:sp>
        <p:nvSpPr>
          <p:cNvPr id="14" name="Text 10"/>
          <p:cNvSpPr/>
          <p:nvPr/>
        </p:nvSpPr>
        <p:spPr>
          <a:xfrm>
            <a:off x="6611112" y="2167128"/>
            <a:ext cx="4507992" cy="292608"/>
          </a:xfrm>
          <a:prstGeom prst="rect">
            <a:avLst/>
          </a:prstGeom>
          <a:noFill/>
          <a:ln/>
        </p:spPr>
        <p:txBody>
          <a:bodyPr wrap="square" lIns="0" tIns="0" rIns="0" bIns="0" rtlCol="0" anchor="ctr">
            <a:normAutofit/>
          </a:bodyPr>
          <a:lstStyle/>
          <a:p>
            <a:pPr marL="0" indent="0">
              <a:buNone/>
            </a:pPr>
            <a:r>
              <a:rPr lang="en-US" sz="1380" b="1" dirty="0">
                <a:solidFill>
                  <a:srgbClr val="0F172A"/>
                </a:solidFill>
                <a:latin typeface="Arial" pitchFamily="34" charset="0"/>
                <a:ea typeface="Arial" pitchFamily="34" charset="-122"/>
                <a:cs typeface="Arial" pitchFamily="34" charset="-120"/>
              </a:rPr>
              <a:t>1. Rencanakan</a:t>
            </a:r>
            <a:endParaRPr lang="en-US" sz="1380" dirty="0"/>
          </a:p>
        </p:txBody>
      </p:sp>
      <p:sp>
        <p:nvSpPr>
          <p:cNvPr id="15" name="Text 11"/>
          <p:cNvSpPr/>
          <p:nvPr/>
        </p:nvSpPr>
        <p:spPr>
          <a:xfrm>
            <a:off x="5879592" y="2688336"/>
            <a:ext cx="5385816" cy="329184"/>
          </a:xfrm>
          <a:prstGeom prst="rect">
            <a:avLst/>
          </a:prstGeom>
          <a:noFill/>
          <a:ln/>
        </p:spPr>
        <p:txBody>
          <a:bodyPr wrap="square" lIns="0" tIns="0" rIns="0" bIns="0" rtlCol="0" anchor="t">
            <a:normAutofit/>
          </a:bodyPr>
          <a:lstStyle/>
          <a:p>
            <a:pPr marL="0" indent="0">
              <a:buNone/>
            </a:pPr>
            <a:r>
              <a:rPr lang="en-US" sz="1080" dirty="0">
                <a:solidFill>
                  <a:srgbClr val="334155"/>
                </a:solidFill>
                <a:latin typeface="Arial" pitchFamily="34" charset="0"/>
                <a:ea typeface="Arial" pitchFamily="34" charset="-122"/>
                <a:cs typeface="Arial" pitchFamily="34" charset="-120"/>
              </a:rPr>
              <a:t>Nilai kemampuan pasien, ruang, jumlah petugas, dan alat bantu sebelum memindahkan.</a:t>
            </a:r>
            <a:endParaRPr lang="en-US" sz="1080" dirty="0"/>
          </a:p>
        </p:txBody>
      </p:sp>
      <p:sp>
        <p:nvSpPr>
          <p:cNvPr id="16" name="Shape 12"/>
          <p:cNvSpPr/>
          <p:nvPr/>
        </p:nvSpPr>
        <p:spPr>
          <a:xfrm>
            <a:off x="5623560" y="3136392"/>
            <a:ext cx="5715000" cy="1005840"/>
          </a:xfrm>
          <a:prstGeom prst="roundRect">
            <a:avLst>
              <a:gd name="adj" fmla="val 7273"/>
            </a:avLst>
          </a:prstGeom>
          <a:solidFill>
            <a:srgbClr val="FFFFFF"/>
          </a:solidFill>
          <a:ln w="10160">
            <a:solidFill>
              <a:srgbClr val="E5E7EB"/>
            </a:solidFill>
            <a:prstDash val="solid"/>
          </a:ln>
        </p:spPr>
      </p:sp>
      <p:sp>
        <p:nvSpPr>
          <p:cNvPr id="17" name="Shape 13"/>
          <p:cNvSpPr/>
          <p:nvPr/>
        </p:nvSpPr>
        <p:spPr>
          <a:xfrm>
            <a:off x="5623560" y="3136392"/>
            <a:ext cx="73152" cy="1005840"/>
          </a:xfrm>
          <a:prstGeom prst="rect">
            <a:avLst/>
          </a:prstGeom>
          <a:solidFill>
            <a:srgbClr val="2563EB"/>
          </a:solidFill>
          <a:ln w="12700">
            <a:solidFill>
              <a:srgbClr val="2563EB"/>
            </a:solidFill>
            <a:prstDash val="solid"/>
          </a:ln>
        </p:spPr>
      </p:sp>
      <p:sp>
        <p:nvSpPr>
          <p:cNvPr id="18" name="Shape 14"/>
          <p:cNvSpPr/>
          <p:nvPr/>
        </p:nvSpPr>
        <p:spPr>
          <a:xfrm>
            <a:off x="5824728" y="3337560"/>
            <a:ext cx="658368" cy="658368"/>
          </a:xfrm>
          <a:prstGeom prst="ellipse">
            <a:avLst/>
          </a:prstGeom>
          <a:solidFill>
            <a:srgbClr val="F8FAFC"/>
          </a:solidFill>
          <a:ln w="12700">
            <a:solidFill>
              <a:srgbClr val="F8FAFC"/>
            </a:solidFill>
            <a:prstDash val="solid"/>
          </a:ln>
        </p:spPr>
      </p:sp>
      <p:pic>
        <p:nvPicPr>
          <p:cNvPr id="19"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961888" y="3474720"/>
            <a:ext cx="329184" cy="329184"/>
          </a:xfrm>
          <a:prstGeom prst="rect">
            <a:avLst/>
          </a:prstGeom>
        </p:spPr>
      </p:pic>
      <p:sp>
        <p:nvSpPr>
          <p:cNvPr id="20" name="Text 15"/>
          <p:cNvSpPr/>
          <p:nvPr/>
        </p:nvSpPr>
        <p:spPr>
          <a:xfrm>
            <a:off x="6611112" y="3364992"/>
            <a:ext cx="4507992" cy="292608"/>
          </a:xfrm>
          <a:prstGeom prst="rect">
            <a:avLst/>
          </a:prstGeom>
          <a:noFill/>
          <a:ln/>
        </p:spPr>
        <p:txBody>
          <a:bodyPr wrap="square" lIns="0" tIns="0" rIns="0" bIns="0" rtlCol="0" anchor="ctr">
            <a:normAutofit/>
          </a:bodyPr>
          <a:lstStyle/>
          <a:p>
            <a:pPr marL="0" indent="0">
              <a:buNone/>
            </a:pPr>
            <a:r>
              <a:rPr lang="en-US" sz="1380" b="1" dirty="0">
                <a:solidFill>
                  <a:srgbClr val="0F172A"/>
                </a:solidFill>
                <a:latin typeface="Arial" pitchFamily="34" charset="0"/>
                <a:ea typeface="Arial" pitchFamily="34" charset="-122"/>
                <a:cs typeface="Arial" pitchFamily="34" charset="-120"/>
              </a:rPr>
              <a:t>2. Gunakan alat bantu</a:t>
            </a:r>
            <a:endParaRPr lang="en-US" sz="1380" dirty="0"/>
          </a:p>
        </p:txBody>
      </p:sp>
      <p:sp>
        <p:nvSpPr>
          <p:cNvPr id="21" name="Text 16"/>
          <p:cNvSpPr/>
          <p:nvPr/>
        </p:nvSpPr>
        <p:spPr>
          <a:xfrm>
            <a:off x="5879592" y="3886200"/>
            <a:ext cx="5202936" cy="73152"/>
          </a:xfrm>
          <a:prstGeom prst="rect">
            <a:avLst/>
          </a:prstGeom>
          <a:noFill/>
          <a:ln/>
        </p:spPr>
        <p:txBody>
          <a:bodyPr wrap="square" lIns="0" tIns="0" rIns="0" bIns="0" rtlCol="0" anchor="t">
            <a:normAutofit/>
          </a:bodyPr>
          <a:lstStyle/>
          <a:p>
            <a:pPr marL="0" indent="0">
              <a:buNone/>
            </a:pPr>
            <a:r>
              <a:rPr lang="en-US" sz="1080" dirty="0">
                <a:solidFill>
                  <a:srgbClr val="334155"/>
                </a:solidFill>
                <a:latin typeface="Arial" pitchFamily="34" charset="0"/>
                <a:ea typeface="Arial" pitchFamily="34" charset="-122"/>
                <a:cs typeface="Arial" pitchFamily="34" charset="-120"/>
              </a:rPr>
              <a:t>Manfaatkan slide sheet, transfer board, hoist/lift, kursi roda, atau alat yang tersedia.</a:t>
            </a:r>
            <a:endParaRPr lang="en-US" sz="1080" dirty="0"/>
          </a:p>
        </p:txBody>
      </p:sp>
      <p:sp>
        <p:nvSpPr>
          <p:cNvPr id="22" name="Shape 17"/>
          <p:cNvSpPr/>
          <p:nvPr/>
        </p:nvSpPr>
        <p:spPr>
          <a:xfrm>
            <a:off x="5623560" y="4334256"/>
            <a:ext cx="5715000" cy="1005840"/>
          </a:xfrm>
          <a:prstGeom prst="roundRect">
            <a:avLst>
              <a:gd name="adj" fmla="val 7273"/>
            </a:avLst>
          </a:prstGeom>
          <a:solidFill>
            <a:srgbClr val="FFFFFF"/>
          </a:solidFill>
          <a:ln w="10160">
            <a:solidFill>
              <a:srgbClr val="E5E7EB"/>
            </a:solidFill>
            <a:prstDash val="solid"/>
          </a:ln>
        </p:spPr>
      </p:sp>
      <p:sp>
        <p:nvSpPr>
          <p:cNvPr id="23" name="Shape 18"/>
          <p:cNvSpPr/>
          <p:nvPr/>
        </p:nvSpPr>
        <p:spPr>
          <a:xfrm>
            <a:off x="5623560" y="4334256"/>
            <a:ext cx="73152" cy="1005840"/>
          </a:xfrm>
          <a:prstGeom prst="rect">
            <a:avLst/>
          </a:prstGeom>
          <a:solidFill>
            <a:srgbClr val="059669"/>
          </a:solidFill>
          <a:ln w="12700">
            <a:solidFill>
              <a:srgbClr val="059669"/>
            </a:solidFill>
            <a:prstDash val="solid"/>
          </a:ln>
        </p:spPr>
      </p:sp>
      <p:sp>
        <p:nvSpPr>
          <p:cNvPr id="24" name="Shape 19"/>
          <p:cNvSpPr/>
          <p:nvPr/>
        </p:nvSpPr>
        <p:spPr>
          <a:xfrm>
            <a:off x="5842211" y="4389120"/>
            <a:ext cx="658368" cy="658368"/>
          </a:xfrm>
          <a:prstGeom prst="ellipse">
            <a:avLst/>
          </a:prstGeom>
          <a:solidFill>
            <a:srgbClr val="F8FAFC"/>
          </a:solidFill>
          <a:ln w="12700">
            <a:solidFill>
              <a:srgbClr val="F8FAFC"/>
            </a:solidFill>
            <a:prstDash val="solid"/>
          </a:ln>
        </p:spPr>
      </p:sp>
      <p:pic>
        <p:nvPicPr>
          <p:cNvPr id="25"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979371" y="4526280"/>
            <a:ext cx="329184" cy="329184"/>
          </a:xfrm>
          <a:prstGeom prst="rect">
            <a:avLst/>
          </a:prstGeom>
        </p:spPr>
      </p:pic>
      <p:sp>
        <p:nvSpPr>
          <p:cNvPr id="26" name="Text 20"/>
          <p:cNvSpPr/>
          <p:nvPr/>
        </p:nvSpPr>
        <p:spPr>
          <a:xfrm>
            <a:off x="6611112" y="4562856"/>
            <a:ext cx="4507992" cy="292608"/>
          </a:xfrm>
          <a:prstGeom prst="rect">
            <a:avLst/>
          </a:prstGeom>
          <a:noFill/>
          <a:ln/>
        </p:spPr>
        <p:txBody>
          <a:bodyPr wrap="square" lIns="0" tIns="0" rIns="0" bIns="0" rtlCol="0" anchor="ctr">
            <a:normAutofit/>
          </a:bodyPr>
          <a:lstStyle/>
          <a:p>
            <a:pPr marL="0" indent="0">
              <a:buNone/>
            </a:pPr>
            <a:r>
              <a:rPr lang="en-US" sz="1380" b="1" dirty="0">
                <a:solidFill>
                  <a:srgbClr val="0F172A"/>
                </a:solidFill>
                <a:latin typeface="Arial" pitchFamily="34" charset="0"/>
                <a:ea typeface="Arial" pitchFamily="34" charset="-122"/>
                <a:cs typeface="Arial" pitchFamily="34" charset="-120"/>
              </a:rPr>
              <a:t>3. Komunikasi tim</a:t>
            </a:r>
            <a:endParaRPr lang="en-US" sz="1380" dirty="0"/>
          </a:p>
        </p:txBody>
      </p:sp>
      <p:sp>
        <p:nvSpPr>
          <p:cNvPr id="27" name="Text 21"/>
          <p:cNvSpPr/>
          <p:nvPr/>
        </p:nvSpPr>
        <p:spPr>
          <a:xfrm>
            <a:off x="5879592" y="5005909"/>
            <a:ext cx="5596128" cy="310896"/>
          </a:xfrm>
          <a:prstGeom prst="rect">
            <a:avLst/>
          </a:prstGeom>
          <a:noFill/>
          <a:ln/>
        </p:spPr>
        <p:txBody>
          <a:bodyPr wrap="square" lIns="0" tIns="0" rIns="0" bIns="0" rtlCol="0" anchor="t">
            <a:normAutofit lnSpcReduction="10000"/>
          </a:bodyPr>
          <a:lstStyle/>
          <a:p>
            <a:pPr marL="0" indent="0">
              <a:buNone/>
            </a:pPr>
            <a:r>
              <a:rPr lang="en-US" sz="1080" dirty="0">
                <a:solidFill>
                  <a:srgbClr val="334155"/>
                </a:solidFill>
                <a:latin typeface="Arial" pitchFamily="34" charset="0"/>
                <a:ea typeface="Arial" pitchFamily="34" charset="-122"/>
                <a:cs typeface="Arial" pitchFamily="34" charset="-120"/>
              </a:rPr>
              <a:t>Gunakan aba-aba yang jelas, teknik tubuh yang benar, dan hentikan bila kondisi tidak aman.</a:t>
            </a:r>
            <a:endParaRPr lang="en-US" sz="1080" dirty="0"/>
          </a:p>
        </p:txBody>
      </p:sp>
      <p:sp>
        <p:nvSpPr>
          <p:cNvPr id="28" name="Text 22"/>
          <p:cNvSpPr/>
          <p:nvPr/>
        </p:nvSpPr>
        <p:spPr>
          <a:xfrm>
            <a:off x="566928" y="6291072"/>
            <a:ext cx="10698480" cy="164592"/>
          </a:xfrm>
          <a:prstGeom prst="rect">
            <a:avLst/>
          </a:prstGeom>
          <a:noFill/>
          <a:ln/>
        </p:spPr>
        <p:txBody>
          <a:bodyPr wrap="square" lIns="0" tIns="0" rIns="0" bIns="0" rtlCol="0" anchor="ctr">
            <a:normAutofit/>
          </a:bodyPr>
          <a:lstStyle/>
          <a:p>
            <a:pPr marL="0" indent="0">
              <a:buNone/>
            </a:pPr>
            <a:r>
              <a:rPr lang="en-US" sz="730" i="1" dirty="0">
                <a:solidFill>
                  <a:srgbClr val="94A3B8"/>
                </a:solidFill>
                <a:latin typeface="Arial" pitchFamily="34" charset="0"/>
                <a:ea typeface="Arial" pitchFamily="34" charset="-122"/>
                <a:cs typeface="Arial" pitchFamily="34" charset="-120"/>
              </a:rPr>
              <a:t>WHO: unsafe patient handling dapat menyebabkan cedera punggung dan gangguan muskuloskeletal.</a:t>
            </a:r>
            <a:endParaRPr lang="en-US" sz="730" dirty="0"/>
          </a:p>
        </p:txBody>
      </p:sp>
      <p:sp>
        <p:nvSpPr>
          <p:cNvPr id="29" name="Slide Number Placeholder 0"/>
          <p:cNvSpPr>
            <a:spLocks noGrp="1"/>
          </p:cNvSpPr>
          <p:nvPr>
            <p:ph type="sldNum" sz="quarter" idx="4294967295"/>
          </p:nvPr>
        </p:nvSpPr>
        <p:spPr>
          <a:xfrm>
            <a:off x="11475720" y="6492240"/>
            <a:ext cx="320040"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64748B"/>
                </a:solidFill>
                <a:latin typeface="Arial"/>
                <a:ea typeface="Arial"/>
                <a:cs typeface="Aria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566928" y="347472"/>
            <a:ext cx="1417320" cy="310896"/>
          </a:xfrm>
          <a:prstGeom prst="roundRect">
            <a:avLst>
              <a:gd name="adj" fmla="val 23529"/>
            </a:avLst>
          </a:prstGeom>
          <a:solidFill>
            <a:srgbClr val="ECFEFF"/>
          </a:solidFill>
          <a:ln w="12700">
            <a:solidFill>
              <a:srgbClr val="ECFEFF"/>
            </a:solidFill>
            <a:prstDash val="solid"/>
          </a:ln>
        </p:spPr>
      </p:sp>
      <p:sp>
        <p:nvSpPr>
          <p:cNvPr id="3" name="Text 1"/>
          <p:cNvSpPr/>
          <p:nvPr/>
        </p:nvSpPr>
        <p:spPr>
          <a:xfrm>
            <a:off x="694944" y="429768"/>
            <a:ext cx="1170432" cy="128016"/>
          </a:xfrm>
          <a:prstGeom prst="rect">
            <a:avLst/>
          </a:prstGeom>
          <a:noFill/>
          <a:ln/>
        </p:spPr>
        <p:txBody>
          <a:bodyPr wrap="square" lIns="0" tIns="0" rIns="0" bIns="0" rtlCol="0" anchor="ctr"/>
          <a:lstStyle/>
          <a:p>
            <a:pPr marL="0" indent="0" algn="ctr">
              <a:buNone/>
            </a:pPr>
            <a:r>
              <a:rPr lang="en-US" sz="900" b="1" dirty="0">
                <a:solidFill>
                  <a:srgbClr val="0E7490"/>
                </a:solidFill>
                <a:latin typeface="Arial" pitchFamily="34" charset="0"/>
                <a:ea typeface="Arial" pitchFamily="34" charset="-122"/>
                <a:cs typeface="Arial" pitchFamily="34" charset="-120"/>
              </a:rPr>
              <a:t>BAHAYA KERJA</a:t>
            </a:r>
            <a:endParaRPr lang="en-US" sz="900" dirty="0"/>
          </a:p>
        </p:txBody>
      </p:sp>
      <p:sp>
        <p:nvSpPr>
          <p:cNvPr id="4" name="Text 2"/>
          <p:cNvSpPr/>
          <p:nvPr/>
        </p:nvSpPr>
        <p:spPr>
          <a:xfrm>
            <a:off x="566928" y="777240"/>
            <a:ext cx="10972800" cy="566928"/>
          </a:xfrm>
          <a:prstGeom prst="rect">
            <a:avLst/>
          </a:prstGeom>
          <a:noFill/>
          <a:ln/>
        </p:spPr>
        <p:txBody>
          <a:bodyPr wrap="square" lIns="0" tIns="0" rIns="0" bIns="0" rtlCol="0" anchor="ctr">
            <a:normAutofit/>
          </a:bodyPr>
          <a:lstStyle/>
          <a:p>
            <a:pPr marL="0" indent="0">
              <a:buNone/>
            </a:pPr>
            <a:r>
              <a:rPr lang="en-US" sz="2700" b="1" dirty="0">
                <a:solidFill>
                  <a:srgbClr val="0F172A"/>
                </a:solidFill>
                <a:latin typeface="Arial" pitchFamily="34" charset="0"/>
                <a:ea typeface="Arial" pitchFamily="34" charset="-122"/>
                <a:cs typeface="Arial" pitchFamily="34" charset="-120"/>
              </a:rPr>
              <a:t>Risiko Psikososial &amp; Kelelahan</a:t>
            </a:r>
            <a:endParaRPr lang="en-US" sz="2700" dirty="0"/>
          </a:p>
        </p:txBody>
      </p:sp>
      <p:sp>
        <p:nvSpPr>
          <p:cNvPr id="5" name="Text 3"/>
          <p:cNvSpPr/>
          <p:nvPr/>
        </p:nvSpPr>
        <p:spPr>
          <a:xfrm>
            <a:off x="566928" y="1371600"/>
            <a:ext cx="10881360" cy="384048"/>
          </a:xfrm>
          <a:prstGeom prst="rect">
            <a:avLst/>
          </a:prstGeom>
          <a:noFill/>
          <a:ln/>
        </p:spPr>
        <p:txBody>
          <a:bodyPr wrap="square" lIns="0" tIns="0" rIns="0" bIns="0" rtlCol="0" anchor="ctr">
            <a:normAutofit/>
          </a:bodyPr>
          <a:lstStyle/>
          <a:p>
            <a:pPr marL="0" indent="0">
              <a:buNone/>
            </a:pPr>
            <a:r>
              <a:rPr lang="en-US" sz="1250" dirty="0">
                <a:solidFill>
                  <a:srgbClr val="64748B"/>
                </a:solidFill>
                <a:latin typeface="Arial" pitchFamily="34" charset="0"/>
                <a:ea typeface="Arial" pitchFamily="34" charset="-122"/>
                <a:cs typeface="Arial" pitchFamily="34" charset="-120"/>
              </a:rPr>
              <a:t>K3 juga mencakup kesehatan mental, pola kerja, dukungan tim, dan kondisi organisasi.</a:t>
            </a:r>
            <a:endParaRPr lang="en-US" sz="1250" dirty="0"/>
          </a:p>
        </p:txBody>
      </p:sp>
      <p:sp>
        <p:nvSpPr>
          <p:cNvPr id="6" name="Shape 4"/>
          <p:cNvSpPr/>
          <p:nvPr/>
        </p:nvSpPr>
        <p:spPr>
          <a:xfrm>
            <a:off x="804672" y="2011680"/>
            <a:ext cx="3246120" cy="877824"/>
          </a:xfrm>
          <a:prstGeom prst="roundRect">
            <a:avLst>
              <a:gd name="adj" fmla="val 8333"/>
            </a:avLst>
          </a:prstGeom>
          <a:solidFill>
            <a:srgbClr val="FFFFFF"/>
          </a:solidFill>
          <a:ln w="12700">
            <a:solidFill>
              <a:srgbClr val="E2E8F0"/>
            </a:solidFill>
            <a:prstDash val="solid"/>
          </a:ln>
        </p:spPr>
      </p:sp>
      <p:sp>
        <p:nvSpPr>
          <p:cNvPr id="7" name="Shape 5"/>
          <p:cNvSpPr/>
          <p:nvPr/>
        </p:nvSpPr>
        <p:spPr>
          <a:xfrm>
            <a:off x="969264" y="2194560"/>
            <a:ext cx="502920" cy="502920"/>
          </a:xfrm>
          <a:prstGeom prst="ellipse">
            <a:avLst/>
          </a:prstGeom>
          <a:solidFill>
            <a:srgbClr val="7C3AED"/>
          </a:solidFill>
          <a:ln w="12700">
            <a:solidFill>
              <a:srgbClr val="7C3AED"/>
            </a:solidFill>
            <a:prstDash val="solid"/>
          </a:ln>
        </p:spPr>
      </p:sp>
      <p:sp>
        <p:nvSpPr>
          <p:cNvPr id="8" name="Text 6"/>
          <p:cNvSpPr/>
          <p:nvPr/>
        </p:nvSpPr>
        <p:spPr>
          <a:xfrm>
            <a:off x="969264" y="2350008"/>
            <a:ext cx="502920" cy="155448"/>
          </a:xfrm>
          <a:prstGeom prst="rect">
            <a:avLst/>
          </a:prstGeom>
          <a:noFill/>
          <a:ln/>
        </p:spPr>
        <p:txBody>
          <a:bodyPr wrap="square" lIns="0" tIns="0" rIns="0" bIns="0" rtlCol="0" anchor="ctr"/>
          <a:lstStyle/>
          <a:p>
            <a:pPr marL="0" indent="0" algn="ctr">
              <a:buNone/>
            </a:pPr>
            <a:r>
              <a:rPr lang="en-US" sz="1000" b="1" dirty="0">
                <a:solidFill>
                  <a:srgbClr val="FFFFFF"/>
                </a:solidFill>
              </a:rPr>
              <a:t>1</a:t>
            </a:r>
            <a:endParaRPr lang="en-US" sz="1000" dirty="0"/>
          </a:p>
        </p:txBody>
      </p:sp>
      <p:sp>
        <p:nvSpPr>
          <p:cNvPr id="9" name="Text 7"/>
          <p:cNvSpPr/>
          <p:nvPr/>
        </p:nvSpPr>
        <p:spPr>
          <a:xfrm>
            <a:off x="1609344" y="2212848"/>
            <a:ext cx="2148840" cy="384048"/>
          </a:xfrm>
          <a:prstGeom prst="rect">
            <a:avLst/>
          </a:prstGeom>
          <a:noFill/>
          <a:ln/>
        </p:spPr>
        <p:txBody>
          <a:bodyPr wrap="square" lIns="0" tIns="0" rIns="0" bIns="0" rtlCol="0" anchor="ctr">
            <a:normAutofit/>
          </a:bodyPr>
          <a:lstStyle/>
          <a:p>
            <a:pPr marL="0" indent="0">
              <a:buNone/>
            </a:pPr>
            <a:r>
              <a:rPr lang="en-US" sz="1260" b="1" dirty="0">
                <a:solidFill>
                  <a:srgbClr val="334155"/>
                </a:solidFill>
              </a:rPr>
              <a:t>Shift panjang / malam</a:t>
            </a:r>
            <a:endParaRPr lang="en-US" sz="1260" dirty="0"/>
          </a:p>
        </p:txBody>
      </p:sp>
      <p:sp>
        <p:nvSpPr>
          <p:cNvPr id="10" name="Shape 8"/>
          <p:cNvSpPr/>
          <p:nvPr/>
        </p:nvSpPr>
        <p:spPr>
          <a:xfrm>
            <a:off x="4507992" y="2011680"/>
            <a:ext cx="3246120" cy="877824"/>
          </a:xfrm>
          <a:prstGeom prst="roundRect">
            <a:avLst>
              <a:gd name="adj" fmla="val 8333"/>
            </a:avLst>
          </a:prstGeom>
          <a:solidFill>
            <a:srgbClr val="FFFFFF"/>
          </a:solidFill>
          <a:ln w="12700">
            <a:solidFill>
              <a:srgbClr val="E2E8F0"/>
            </a:solidFill>
            <a:prstDash val="solid"/>
          </a:ln>
        </p:spPr>
      </p:sp>
      <p:sp>
        <p:nvSpPr>
          <p:cNvPr id="11" name="Shape 9"/>
          <p:cNvSpPr/>
          <p:nvPr/>
        </p:nvSpPr>
        <p:spPr>
          <a:xfrm>
            <a:off x="4672584" y="2194560"/>
            <a:ext cx="502920" cy="502920"/>
          </a:xfrm>
          <a:prstGeom prst="ellipse">
            <a:avLst/>
          </a:prstGeom>
          <a:solidFill>
            <a:srgbClr val="2563EB"/>
          </a:solidFill>
          <a:ln w="12700">
            <a:solidFill>
              <a:srgbClr val="2563EB"/>
            </a:solidFill>
            <a:prstDash val="solid"/>
          </a:ln>
        </p:spPr>
      </p:sp>
      <p:sp>
        <p:nvSpPr>
          <p:cNvPr id="12" name="Text 10"/>
          <p:cNvSpPr/>
          <p:nvPr/>
        </p:nvSpPr>
        <p:spPr>
          <a:xfrm>
            <a:off x="4672584" y="2350008"/>
            <a:ext cx="502920" cy="155448"/>
          </a:xfrm>
          <a:prstGeom prst="rect">
            <a:avLst/>
          </a:prstGeom>
          <a:noFill/>
          <a:ln/>
        </p:spPr>
        <p:txBody>
          <a:bodyPr wrap="square" lIns="0" tIns="0" rIns="0" bIns="0" rtlCol="0" anchor="ctr"/>
          <a:lstStyle/>
          <a:p>
            <a:pPr marL="0" indent="0" algn="ctr">
              <a:buNone/>
            </a:pPr>
            <a:r>
              <a:rPr lang="en-US" sz="1000" b="1" dirty="0">
                <a:solidFill>
                  <a:srgbClr val="FFFFFF"/>
                </a:solidFill>
              </a:rPr>
              <a:t>2</a:t>
            </a:r>
            <a:endParaRPr lang="en-US" sz="1000" dirty="0"/>
          </a:p>
        </p:txBody>
      </p:sp>
      <p:sp>
        <p:nvSpPr>
          <p:cNvPr id="13" name="Text 11"/>
          <p:cNvSpPr/>
          <p:nvPr/>
        </p:nvSpPr>
        <p:spPr>
          <a:xfrm>
            <a:off x="5312664" y="2212848"/>
            <a:ext cx="2148840" cy="384048"/>
          </a:xfrm>
          <a:prstGeom prst="rect">
            <a:avLst/>
          </a:prstGeom>
          <a:noFill/>
          <a:ln/>
        </p:spPr>
        <p:txBody>
          <a:bodyPr wrap="square" lIns="0" tIns="0" rIns="0" bIns="0" rtlCol="0" anchor="ctr">
            <a:normAutofit/>
          </a:bodyPr>
          <a:lstStyle/>
          <a:p>
            <a:pPr marL="0" indent="0">
              <a:buNone/>
            </a:pPr>
            <a:r>
              <a:rPr lang="en-US" sz="1260" b="1" dirty="0">
                <a:solidFill>
                  <a:srgbClr val="334155"/>
                </a:solidFill>
              </a:rPr>
              <a:t>Beban kerja tinggi</a:t>
            </a:r>
            <a:endParaRPr lang="en-US" sz="1260" dirty="0"/>
          </a:p>
        </p:txBody>
      </p:sp>
      <p:sp>
        <p:nvSpPr>
          <p:cNvPr id="14" name="Shape 12"/>
          <p:cNvSpPr/>
          <p:nvPr/>
        </p:nvSpPr>
        <p:spPr>
          <a:xfrm>
            <a:off x="8211312" y="2011680"/>
            <a:ext cx="3246120" cy="877824"/>
          </a:xfrm>
          <a:prstGeom prst="roundRect">
            <a:avLst>
              <a:gd name="adj" fmla="val 8333"/>
            </a:avLst>
          </a:prstGeom>
          <a:solidFill>
            <a:srgbClr val="FFFFFF"/>
          </a:solidFill>
          <a:ln w="12700">
            <a:solidFill>
              <a:srgbClr val="E2E8F0"/>
            </a:solidFill>
            <a:prstDash val="solid"/>
          </a:ln>
        </p:spPr>
      </p:sp>
      <p:sp>
        <p:nvSpPr>
          <p:cNvPr id="15" name="Shape 13"/>
          <p:cNvSpPr/>
          <p:nvPr/>
        </p:nvSpPr>
        <p:spPr>
          <a:xfrm>
            <a:off x="8375904" y="2194560"/>
            <a:ext cx="502920" cy="502920"/>
          </a:xfrm>
          <a:prstGeom prst="ellipse">
            <a:avLst/>
          </a:prstGeom>
          <a:solidFill>
            <a:srgbClr val="E11D48"/>
          </a:solidFill>
          <a:ln w="12700">
            <a:solidFill>
              <a:srgbClr val="E11D48"/>
            </a:solidFill>
            <a:prstDash val="solid"/>
          </a:ln>
        </p:spPr>
      </p:sp>
      <p:sp>
        <p:nvSpPr>
          <p:cNvPr id="16" name="Text 14"/>
          <p:cNvSpPr/>
          <p:nvPr/>
        </p:nvSpPr>
        <p:spPr>
          <a:xfrm>
            <a:off x="8375904" y="2350008"/>
            <a:ext cx="502920" cy="155448"/>
          </a:xfrm>
          <a:prstGeom prst="rect">
            <a:avLst/>
          </a:prstGeom>
          <a:noFill/>
          <a:ln/>
        </p:spPr>
        <p:txBody>
          <a:bodyPr wrap="square" lIns="0" tIns="0" rIns="0" bIns="0" rtlCol="0" anchor="ctr"/>
          <a:lstStyle/>
          <a:p>
            <a:pPr marL="0" indent="0" algn="ctr">
              <a:buNone/>
            </a:pPr>
            <a:r>
              <a:rPr lang="en-US" sz="1000" b="1" dirty="0">
                <a:solidFill>
                  <a:srgbClr val="FFFFFF"/>
                </a:solidFill>
              </a:rPr>
              <a:t>3</a:t>
            </a:r>
            <a:endParaRPr lang="en-US" sz="1000" dirty="0"/>
          </a:p>
        </p:txBody>
      </p:sp>
      <p:sp>
        <p:nvSpPr>
          <p:cNvPr id="17" name="Text 15"/>
          <p:cNvSpPr/>
          <p:nvPr/>
        </p:nvSpPr>
        <p:spPr>
          <a:xfrm>
            <a:off x="9015984" y="2212848"/>
            <a:ext cx="2148840" cy="384048"/>
          </a:xfrm>
          <a:prstGeom prst="rect">
            <a:avLst/>
          </a:prstGeom>
          <a:noFill/>
          <a:ln/>
        </p:spPr>
        <p:txBody>
          <a:bodyPr wrap="square" lIns="0" tIns="0" rIns="0" bIns="0" rtlCol="0" anchor="ctr">
            <a:normAutofit/>
          </a:bodyPr>
          <a:lstStyle/>
          <a:p>
            <a:pPr marL="0" indent="0">
              <a:buNone/>
            </a:pPr>
            <a:r>
              <a:rPr lang="en-US" sz="1260" b="1" dirty="0">
                <a:solidFill>
                  <a:srgbClr val="334155"/>
                </a:solidFill>
              </a:rPr>
              <a:t>Paparan penderitaan &amp; kematian</a:t>
            </a:r>
            <a:endParaRPr lang="en-US" sz="1260" dirty="0"/>
          </a:p>
        </p:txBody>
      </p:sp>
      <p:sp>
        <p:nvSpPr>
          <p:cNvPr id="18" name="Shape 16"/>
          <p:cNvSpPr/>
          <p:nvPr/>
        </p:nvSpPr>
        <p:spPr>
          <a:xfrm>
            <a:off x="804672" y="3154680"/>
            <a:ext cx="3246120" cy="877824"/>
          </a:xfrm>
          <a:prstGeom prst="roundRect">
            <a:avLst>
              <a:gd name="adj" fmla="val 8333"/>
            </a:avLst>
          </a:prstGeom>
          <a:solidFill>
            <a:srgbClr val="FFFFFF"/>
          </a:solidFill>
          <a:ln w="12700">
            <a:solidFill>
              <a:srgbClr val="E2E8F0"/>
            </a:solidFill>
            <a:prstDash val="solid"/>
          </a:ln>
        </p:spPr>
      </p:sp>
      <p:sp>
        <p:nvSpPr>
          <p:cNvPr id="19" name="Shape 17"/>
          <p:cNvSpPr/>
          <p:nvPr/>
        </p:nvSpPr>
        <p:spPr>
          <a:xfrm>
            <a:off x="969264" y="3337560"/>
            <a:ext cx="502920" cy="502920"/>
          </a:xfrm>
          <a:prstGeom prst="ellipse">
            <a:avLst/>
          </a:prstGeom>
          <a:solidFill>
            <a:srgbClr val="D97706"/>
          </a:solidFill>
          <a:ln w="12700">
            <a:solidFill>
              <a:srgbClr val="D97706"/>
            </a:solidFill>
            <a:prstDash val="solid"/>
          </a:ln>
        </p:spPr>
      </p:sp>
      <p:sp>
        <p:nvSpPr>
          <p:cNvPr id="20" name="Text 18"/>
          <p:cNvSpPr/>
          <p:nvPr/>
        </p:nvSpPr>
        <p:spPr>
          <a:xfrm>
            <a:off x="969264" y="3493008"/>
            <a:ext cx="502920" cy="155448"/>
          </a:xfrm>
          <a:prstGeom prst="rect">
            <a:avLst/>
          </a:prstGeom>
          <a:noFill/>
          <a:ln/>
        </p:spPr>
        <p:txBody>
          <a:bodyPr wrap="square" lIns="0" tIns="0" rIns="0" bIns="0" rtlCol="0" anchor="ctr"/>
          <a:lstStyle/>
          <a:p>
            <a:pPr marL="0" indent="0" algn="ctr">
              <a:buNone/>
            </a:pPr>
            <a:r>
              <a:rPr lang="en-US" sz="1000" b="1" dirty="0">
                <a:solidFill>
                  <a:srgbClr val="FFFFFF"/>
                </a:solidFill>
              </a:rPr>
              <a:t>4</a:t>
            </a:r>
            <a:endParaRPr lang="en-US" sz="1000" dirty="0"/>
          </a:p>
        </p:txBody>
      </p:sp>
      <p:sp>
        <p:nvSpPr>
          <p:cNvPr id="21" name="Text 19"/>
          <p:cNvSpPr/>
          <p:nvPr/>
        </p:nvSpPr>
        <p:spPr>
          <a:xfrm>
            <a:off x="1609344" y="3355848"/>
            <a:ext cx="2148840" cy="384048"/>
          </a:xfrm>
          <a:prstGeom prst="rect">
            <a:avLst/>
          </a:prstGeom>
          <a:noFill/>
          <a:ln/>
        </p:spPr>
        <p:txBody>
          <a:bodyPr wrap="square" lIns="0" tIns="0" rIns="0" bIns="0" rtlCol="0" anchor="ctr">
            <a:normAutofit/>
          </a:bodyPr>
          <a:lstStyle/>
          <a:p>
            <a:pPr marL="0" indent="0">
              <a:buNone/>
            </a:pPr>
            <a:r>
              <a:rPr lang="en-US" sz="1260" b="1" dirty="0">
                <a:solidFill>
                  <a:srgbClr val="334155"/>
                </a:solidFill>
              </a:rPr>
              <a:t>Konflik tim / komunikasi buruk</a:t>
            </a:r>
            <a:endParaRPr lang="en-US" sz="1260" dirty="0"/>
          </a:p>
        </p:txBody>
      </p:sp>
      <p:sp>
        <p:nvSpPr>
          <p:cNvPr id="22" name="Shape 20"/>
          <p:cNvSpPr/>
          <p:nvPr/>
        </p:nvSpPr>
        <p:spPr>
          <a:xfrm>
            <a:off x="4507992" y="3154680"/>
            <a:ext cx="3246120" cy="877824"/>
          </a:xfrm>
          <a:prstGeom prst="roundRect">
            <a:avLst>
              <a:gd name="adj" fmla="val 8333"/>
            </a:avLst>
          </a:prstGeom>
          <a:solidFill>
            <a:srgbClr val="FFFFFF"/>
          </a:solidFill>
          <a:ln w="12700">
            <a:solidFill>
              <a:srgbClr val="E2E8F0"/>
            </a:solidFill>
            <a:prstDash val="solid"/>
          </a:ln>
        </p:spPr>
      </p:sp>
      <p:sp>
        <p:nvSpPr>
          <p:cNvPr id="23" name="Shape 21"/>
          <p:cNvSpPr/>
          <p:nvPr/>
        </p:nvSpPr>
        <p:spPr>
          <a:xfrm>
            <a:off x="4672584" y="3337560"/>
            <a:ext cx="502920" cy="502920"/>
          </a:xfrm>
          <a:prstGeom prst="ellipse">
            <a:avLst/>
          </a:prstGeom>
          <a:solidFill>
            <a:srgbClr val="0E7490"/>
          </a:solidFill>
          <a:ln w="12700">
            <a:solidFill>
              <a:srgbClr val="0E7490"/>
            </a:solidFill>
            <a:prstDash val="solid"/>
          </a:ln>
        </p:spPr>
      </p:sp>
      <p:sp>
        <p:nvSpPr>
          <p:cNvPr id="24" name="Text 22"/>
          <p:cNvSpPr/>
          <p:nvPr/>
        </p:nvSpPr>
        <p:spPr>
          <a:xfrm>
            <a:off x="4672584" y="3493008"/>
            <a:ext cx="502920" cy="155448"/>
          </a:xfrm>
          <a:prstGeom prst="rect">
            <a:avLst/>
          </a:prstGeom>
          <a:noFill/>
          <a:ln/>
        </p:spPr>
        <p:txBody>
          <a:bodyPr wrap="square" lIns="0" tIns="0" rIns="0" bIns="0" rtlCol="0" anchor="ctr"/>
          <a:lstStyle/>
          <a:p>
            <a:pPr marL="0" indent="0" algn="ctr">
              <a:buNone/>
            </a:pPr>
            <a:r>
              <a:rPr lang="en-US" sz="1000" b="1" dirty="0">
                <a:solidFill>
                  <a:srgbClr val="FFFFFF"/>
                </a:solidFill>
              </a:rPr>
              <a:t>5</a:t>
            </a:r>
            <a:endParaRPr lang="en-US" sz="1000" dirty="0"/>
          </a:p>
        </p:txBody>
      </p:sp>
      <p:sp>
        <p:nvSpPr>
          <p:cNvPr id="25" name="Text 23"/>
          <p:cNvSpPr/>
          <p:nvPr/>
        </p:nvSpPr>
        <p:spPr>
          <a:xfrm>
            <a:off x="5312664" y="3355848"/>
            <a:ext cx="2148840" cy="384048"/>
          </a:xfrm>
          <a:prstGeom prst="rect">
            <a:avLst/>
          </a:prstGeom>
          <a:noFill/>
          <a:ln/>
        </p:spPr>
        <p:txBody>
          <a:bodyPr wrap="square" lIns="0" tIns="0" rIns="0" bIns="0" rtlCol="0" anchor="ctr">
            <a:normAutofit/>
          </a:bodyPr>
          <a:lstStyle/>
          <a:p>
            <a:pPr marL="0" indent="0">
              <a:buNone/>
            </a:pPr>
            <a:r>
              <a:rPr lang="en-US" sz="1260" b="1" dirty="0">
                <a:solidFill>
                  <a:srgbClr val="334155"/>
                </a:solidFill>
              </a:rPr>
              <a:t>Kurang dukungan &amp; kontrol kerja</a:t>
            </a:r>
            <a:endParaRPr lang="en-US" sz="1260" dirty="0"/>
          </a:p>
        </p:txBody>
      </p:sp>
      <p:sp>
        <p:nvSpPr>
          <p:cNvPr id="26" name="Shape 24"/>
          <p:cNvSpPr/>
          <p:nvPr/>
        </p:nvSpPr>
        <p:spPr>
          <a:xfrm>
            <a:off x="8211312" y="3154680"/>
            <a:ext cx="3246120" cy="877824"/>
          </a:xfrm>
          <a:prstGeom prst="roundRect">
            <a:avLst>
              <a:gd name="adj" fmla="val 8333"/>
            </a:avLst>
          </a:prstGeom>
          <a:solidFill>
            <a:srgbClr val="FFFFFF"/>
          </a:solidFill>
          <a:ln w="12700">
            <a:solidFill>
              <a:srgbClr val="E2E8F0"/>
            </a:solidFill>
            <a:prstDash val="solid"/>
          </a:ln>
        </p:spPr>
      </p:sp>
      <p:sp>
        <p:nvSpPr>
          <p:cNvPr id="27" name="Shape 25"/>
          <p:cNvSpPr/>
          <p:nvPr/>
        </p:nvSpPr>
        <p:spPr>
          <a:xfrm>
            <a:off x="8375904" y="3337560"/>
            <a:ext cx="502920" cy="502920"/>
          </a:xfrm>
          <a:prstGeom prst="ellipse">
            <a:avLst/>
          </a:prstGeom>
          <a:solidFill>
            <a:srgbClr val="DC2626"/>
          </a:solidFill>
          <a:ln w="12700">
            <a:solidFill>
              <a:srgbClr val="DC2626"/>
            </a:solidFill>
            <a:prstDash val="solid"/>
          </a:ln>
        </p:spPr>
      </p:sp>
      <p:sp>
        <p:nvSpPr>
          <p:cNvPr id="28" name="Text 26"/>
          <p:cNvSpPr/>
          <p:nvPr/>
        </p:nvSpPr>
        <p:spPr>
          <a:xfrm>
            <a:off x="8375904" y="3493008"/>
            <a:ext cx="502920" cy="155448"/>
          </a:xfrm>
          <a:prstGeom prst="rect">
            <a:avLst/>
          </a:prstGeom>
          <a:noFill/>
          <a:ln/>
        </p:spPr>
        <p:txBody>
          <a:bodyPr wrap="square" lIns="0" tIns="0" rIns="0" bIns="0" rtlCol="0" anchor="ctr"/>
          <a:lstStyle/>
          <a:p>
            <a:pPr marL="0" indent="0" algn="ctr">
              <a:buNone/>
            </a:pPr>
            <a:r>
              <a:rPr lang="en-US" sz="1000" b="1" dirty="0">
                <a:solidFill>
                  <a:srgbClr val="FFFFFF"/>
                </a:solidFill>
              </a:rPr>
              <a:t>6</a:t>
            </a:r>
            <a:endParaRPr lang="en-US" sz="1000" dirty="0"/>
          </a:p>
        </p:txBody>
      </p:sp>
      <p:sp>
        <p:nvSpPr>
          <p:cNvPr id="29" name="Text 27"/>
          <p:cNvSpPr/>
          <p:nvPr/>
        </p:nvSpPr>
        <p:spPr>
          <a:xfrm>
            <a:off x="9015984" y="3355848"/>
            <a:ext cx="2148840" cy="384048"/>
          </a:xfrm>
          <a:prstGeom prst="rect">
            <a:avLst/>
          </a:prstGeom>
          <a:noFill/>
          <a:ln/>
        </p:spPr>
        <p:txBody>
          <a:bodyPr wrap="square" lIns="0" tIns="0" rIns="0" bIns="0" rtlCol="0" anchor="ctr">
            <a:normAutofit/>
          </a:bodyPr>
          <a:lstStyle/>
          <a:p>
            <a:pPr marL="0" indent="0">
              <a:buNone/>
            </a:pPr>
            <a:r>
              <a:rPr lang="en-US" sz="1260" b="1" dirty="0">
                <a:solidFill>
                  <a:srgbClr val="334155"/>
                </a:solidFill>
              </a:rPr>
              <a:t>Moral distress / burnout</a:t>
            </a:r>
            <a:endParaRPr lang="en-US" sz="1260" dirty="0"/>
          </a:p>
        </p:txBody>
      </p:sp>
      <p:sp>
        <p:nvSpPr>
          <p:cNvPr id="30" name="Shape 28"/>
          <p:cNvSpPr/>
          <p:nvPr/>
        </p:nvSpPr>
        <p:spPr>
          <a:xfrm>
            <a:off x="1353312" y="4507992"/>
            <a:ext cx="9372600" cy="960120"/>
          </a:xfrm>
          <a:prstGeom prst="roundRect">
            <a:avLst>
              <a:gd name="adj" fmla="val 7619"/>
            </a:avLst>
          </a:prstGeom>
          <a:solidFill>
            <a:srgbClr val="EDE9FE"/>
          </a:solidFill>
          <a:ln w="12700">
            <a:solidFill>
              <a:srgbClr val="DDD6FE"/>
            </a:solidFill>
            <a:prstDash val="solid"/>
          </a:ln>
        </p:spPr>
      </p:sp>
      <p:pic>
        <p:nvPicPr>
          <p:cNvPr id="31"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27632" y="4709160"/>
            <a:ext cx="530352" cy="530352"/>
          </a:xfrm>
          <a:prstGeom prst="rect">
            <a:avLst/>
          </a:prstGeom>
        </p:spPr>
      </p:pic>
      <p:sp>
        <p:nvSpPr>
          <p:cNvPr id="32" name="Text 29"/>
          <p:cNvSpPr/>
          <p:nvPr/>
        </p:nvSpPr>
        <p:spPr>
          <a:xfrm>
            <a:off x="2331720" y="4718304"/>
            <a:ext cx="7955280" cy="502920"/>
          </a:xfrm>
          <a:prstGeom prst="rect">
            <a:avLst/>
          </a:prstGeom>
          <a:noFill/>
          <a:ln/>
        </p:spPr>
        <p:txBody>
          <a:bodyPr wrap="square" lIns="0" tIns="0" rIns="0" bIns="0" rtlCol="0" anchor="ctr">
            <a:normAutofit/>
          </a:bodyPr>
          <a:lstStyle/>
          <a:p>
            <a:pPr marL="0" indent="0">
              <a:buNone/>
            </a:pPr>
            <a:r>
              <a:rPr lang="en-US" sz="1400" dirty="0">
                <a:solidFill>
                  <a:srgbClr val="0F172A"/>
                </a:solidFill>
              </a:rPr>
              <a:t>Kontrol utama: penjadwalan yang wajar, istirahat, staffing yang aman, dukungan supervisor, akses bantuan psikologis, dan budaya saling menjaga.</a:t>
            </a:r>
            <a:endParaRPr lang="en-US" sz="1400" dirty="0"/>
          </a:p>
        </p:txBody>
      </p:sp>
      <p:sp>
        <p:nvSpPr>
          <p:cNvPr id="33" name="Text 30"/>
          <p:cNvSpPr/>
          <p:nvPr/>
        </p:nvSpPr>
        <p:spPr>
          <a:xfrm>
            <a:off x="566928" y="6291072"/>
            <a:ext cx="10698480" cy="164592"/>
          </a:xfrm>
          <a:prstGeom prst="rect">
            <a:avLst/>
          </a:prstGeom>
          <a:noFill/>
          <a:ln/>
        </p:spPr>
        <p:txBody>
          <a:bodyPr wrap="square" lIns="0" tIns="0" rIns="0" bIns="0" rtlCol="0" anchor="ctr">
            <a:normAutofit/>
          </a:bodyPr>
          <a:lstStyle/>
          <a:p>
            <a:pPr marL="0" indent="0">
              <a:buNone/>
            </a:pPr>
            <a:r>
              <a:rPr lang="en-US" sz="730" i="1" dirty="0">
                <a:solidFill>
                  <a:srgbClr val="94A3B8"/>
                </a:solidFill>
                <a:latin typeface="Arial" pitchFamily="34" charset="0"/>
                <a:ea typeface="Arial" pitchFamily="34" charset="-122"/>
                <a:cs typeface="Arial" pitchFamily="34" charset="-120"/>
              </a:rPr>
              <a:t>WHO 2025: time pressure, long working hours, shift work, lack of support, and moral injury are psychosocial risk factors.</a:t>
            </a:r>
            <a:endParaRPr lang="en-US" sz="730" dirty="0"/>
          </a:p>
        </p:txBody>
      </p:sp>
      <p:sp>
        <p:nvSpPr>
          <p:cNvPr id="34" name="Slide Number Placeholder 0"/>
          <p:cNvSpPr>
            <a:spLocks noGrp="1"/>
          </p:cNvSpPr>
          <p:nvPr>
            <p:ph type="sldNum" sz="quarter" idx="4294967295"/>
          </p:nvPr>
        </p:nvSpPr>
        <p:spPr>
          <a:xfrm>
            <a:off x="11475720" y="6492240"/>
            <a:ext cx="320040"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64748B"/>
                </a:solidFill>
                <a:latin typeface="Arial"/>
                <a:ea typeface="Arial"/>
                <a:cs typeface="Aria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566928" y="347472"/>
            <a:ext cx="1417320" cy="310896"/>
          </a:xfrm>
          <a:prstGeom prst="roundRect">
            <a:avLst>
              <a:gd name="adj" fmla="val 23529"/>
            </a:avLst>
          </a:prstGeom>
          <a:solidFill>
            <a:srgbClr val="ECFEFF"/>
          </a:solidFill>
          <a:ln w="12700">
            <a:solidFill>
              <a:srgbClr val="ECFEFF"/>
            </a:solidFill>
            <a:prstDash val="solid"/>
          </a:ln>
        </p:spPr>
      </p:sp>
      <p:sp>
        <p:nvSpPr>
          <p:cNvPr id="3" name="Text 1"/>
          <p:cNvSpPr/>
          <p:nvPr/>
        </p:nvSpPr>
        <p:spPr>
          <a:xfrm>
            <a:off x="694944" y="429768"/>
            <a:ext cx="1170432" cy="128016"/>
          </a:xfrm>
          <a:prstGeom prst="rect">
            <a:avLst/>
          </a:prstGeom>
          <a:noFill/>
          <a:ln/>
        </p:spPr>
        <p:txBody>
          <a:bodyPr wrap="square" lIns="0" tIns="0" rIns="0" bIns="0" rtlCol="0" anchor="ctr"/>
          <a:lstStyle/>
          <a:p>
            <a:pPr marL="0" indent="0" algn="ctr">
              <a:buNone/>
            </a:pPr>
            <a:r>
              <a:rPr lang="en-US" sz="900" b="1" dirty="0">
                <a:solidFill>
                  <a:srgbClr val="0E7490"/>
                </a:solidFill>
                <a:latin typeface="Arial" pitchFamily="34" charset="0"/>
                <a:ea typeface="Arial" pitchFamily="34" charset="-122"/>
                <a:cs typeface="Arial" pitchFamily="34" charset="-120"/>
              </a:rPr>
              <a:t>BAHAYA KERJA</a:t>
            </a:r>
            <a:endParaRPr lang="en-US" sz="900" dirty="0"/>
          </a:p>
        </p:txBody>
      </p:sp>
      <p:sp>
        <p:nvSpPr>
          <p:cNvPr id="4" name="Text 2"/>
          <p:cNvSpPr/>
          <p:nvPr/>
        </p:nvSpPr>
        <p:spPr>
          <a:xfrm>
            <a:off x="566928" y="777240"/>
            <a:ext cx="10972800" cy="566928"/>
          </a:xfrm>
          <a:prstGeom prst="rect">
            <a:avLst/>
          </a:prstGeom>
          <a:noFill/>
          <a:ln/>
        </p:spPr>
        <p:txBody>
          <a:bodyPr wrap="square" lIns="0" tIns="0" rIns="0" bIns="0" rtlCol="0" anchor="ctr">
            <a:normAutofit/>
          </a:bodyPr>
          <a:lstStyle/>
          <a:p>
            <a:pPr marL="0" indent="0">
              <a:buNone/>
            </a:pPr>
            <a:r>
              <a:rPr lang="en-US" sz="2700" b="1" dirty="0">
                <a:solidFill>
                  <a:srgbClr val="0F172A"/>
                </a:solidFill>
                <a:latin typeface="Arial" pitchFamily="34" charset="0"/>
                <a:ea typeface="Arial" pitchFamily="34" charset="-122"/>
                <a:cs typeface="Arial" pitchFamily="34" charset="-120"/>
              </a:rPr>
              <a:t>Kekerasan &amp; Pelecehan di Tempat Kerja</a:t>
            </a:r>
            <a:endParaRPr lang="en-US" sz="2700" dirty="0"/>
          </a:p>
        </p:txBody>
      </p:sp>
      <p:sp>
        <p:nvSpPr>
          <p:cNvPr id="5" name="Text 3"/>
          <p:cNvSpPr/>
          <p:nvPr/>
        </p:nvSpPr>
        <p:spPr>
          <a:xfrm>
            <a:off x="566928" y="1371600"/>
            <a:ext cx="10881360" cy="384048"/>
          </a:xfrm>
          <a:prstGeom prst="rect">
            <a:avLst/>
          </a:prstGeom>
          <a:noFill/>
          <a:ln/>
        </p:spPr>
        <p:txBody>
          <a:bodyPr wrap="square" lIns="0" tIns="0" rIns="0" bIns="0" rtlCol="0" anchor="ctr">
            <a:normAutofit/>
          </a:bodyPr>
          <a:lstStyle/>
          <a:p>
            <a:pPr marL="0" indent="0">
              <a:buNone/>
            </a:pPr>
            <a:r>
              <a:rPr lang="en-US" sz="1250" dirty="0">
                <a:solidFill>
                  <a:srgbClr val="64748B"/>
                </a:solidFill>
                <a:latin typeface="Arial" pitchFamily="34" charset="0"/>
                <a:ea typeface="Arial" pitchFamily="34" charset="-122"/>
                <a:cs typeface="Arial" pitchFamily="34" charset="-120"/>
              </a:rPr>
              <a:t>Ancaman, kekerasan verbal, fisik, seksual, atau psikologis adalah risiko K3 — bukan “bagian normal” dari pekerjaan.</a:t>
            </a:r>
            <a:endParaRPr lang="en-US" sz="1250" dirty="0"/>
          </a:p>
        </p:txBody>
      </p:sp>
      <p:sp>
        <p:nvSpPr>
          <p:cNvPr id="6" name="Shape 4"/>
          <p:cNvSpPr/>
          <p:nvPr/>
        </p:nvSpPr>
        <p:spPr>
          <a:xfrm>
            <a:off x="713232" y="1920240"/>
            <a:ext cx="3310128" cy="3547872"/>
          </a:xfrm>
          <a:prstGeom prst="roundRect">
            <a:avLst>
              <a:gd name="adj" fmla="val 2210"/>
            </a:avLst>
          </a:prstGeom>
          <a:solidFill>
            <a:srgbClr val="FFFFFF"/>
          </a:solidFill>
          <a:ln w="10160">
            <a:solidFill>
              <a:srgbClr val="E5E7EB"/>
            </a:solidFill>
            <a:prstDash val="solid"/>
          </a:ln>
        </p:spPr>
      </p:sp>
      <p:sp>
        <p:nvSpPr>
          <p:cNvPr id="7" name="Shape 5"/>
          <p:cNvSpPr/>
          <p:nvPr/>
        </p:nvSpPr>
        <p:spPr>
          <a:xfrm>
            <a:off x="713232" y="1920240"/>
            <a:ext cx="73152" cy="3547872"/>
          </a:xfrm>
          <a:prstGeom prst="rect">
            <a:avLst/>
          </a:prstGeom>
          <a:solidFill>
            <a:srgbClr val="DC2626"/>
          </a:solidFill>
          <a:ln w="12700">
            <a:solidFill>
              <a:srgbClr val="DC2626"/>
            </a:solidFill>
            <a:prstDash val="solid"/>
          </a:ln>
        </p:spPr>
      </p:sp>
      <p:sp>
        <p:nvSpPr>
          <p:cNvPr id="8" name="Shape 6"/>
          <p:cNvSpPr/>
          <p:nvPr/>
        </p:nvSpPr>
        <p:spPr>
          <a:xfrm>
            <a:off x="914400" y="2121408"/>
            <a:ext cx="658368" cy="658368"/>
          </a:xfrm>
          <a:prstGeom prst="ellipse">
            <a:avLst/>
          </a:prstGeom>
          <a:solidFill>
            <a:srgbClr val="F8FAFC"/>
          </a:solidFill>
          <a:ln w="12700">
            <a:solidFill>
              <a:srgbClr val="F8FAFC"/>
            </a:solidFill>
            <a:prstDash val="solid"/>
          </a:ln>
        </p:spPr>
      </p:sp>
      <p:pic>
        <p:nvPicPr>
          <p:cNvPr id="9"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51560" y="2258568"/>
            <a:ext cx="329184" cy="329184"/>
          </a:xfrm>
          <a:prstGeom prst="rect">
            <a:avLst/>
          </a:prstGeom>
        </p:spPr>
      </p:pic>
      <p:sp>
        <p:nvSpPr>
          <p:cNvPr id="10" name="Text 7"/>
          <p:cNvSpPr/>
          <p:nvPr/>
        </p:nvSpPr>
        <p:spPr>
          <a:xfrm>
            <a:off x="1700784" y="2148840"/>
            <a:ext cx="2103120" cy="292608"/>
          </a:xfrm>
          <a:prstGeom prst="rect">
            <a:avLst/>
          </a:prstGeom>
          <a:noFill/>
          <a:ln/>
        </p:spPr>
        <p:txBody>
          <a:bodyPr wrap="square" lIns="0" tIns="0" rIns="0" bIns="0" rtlCol="0" anchor="ctr">
            <a:normAutofit/>
          </a:bodyPr>
          <a:lstStyle/>
          <a:p>
            <a:pPr marL="0" indent="0">
              <a:buNone/>
            </a:pPr>
            <a:r>
              <a:rPr lang="en-US" sz="1600" b="1" dirty="0">
                <a:solidFill>
                  <a:srgbClr val="0F172A"/>
                </a:solidFill>
                <a:latin typeface="Arial" pitchFamily="34" charset="0"/>
                <a:ea typeface="Arial" pitchFamily="34" charset="-122"/>
                <a:cs typeface="Arial" pitchFamily="34" charset="-120"/>
              </a:rPr>
              <a:t>Kenali Risiko</a:t>
            </a:r>
            <a:endParaRPr lang="en-US" sz="1600" dirty="0"/>
          </a:p>
        </p:txBody>
      </p:sp>
      <p:sp>
        <p:nvSpPr>
          <p:cNvPr id="11" name="Text 8"/>
          <p:cNvSpPr/>
          <p:nvPr/>
        </p:nvSpPr>
        <p:spPr>
          <a:xfrm>
            <a:off x="969264" y="2670048"/>
            <a:ext cx="2798064" cy="2615184"/>
          </a:xfrm>
          <a:prstGeom prst="rect">
            <a:avLst/>
          </a:prstGeom>
          <a:noFill/>
          <a:ln/>
        </p:spPr>
        <p:txBody>
          <a:bodyPr wrap="square" lIns="0" tIns="0" rIns="0" bIns="0" rtlCol="0" anchor="t">
            <a:normAutofit/>
          </a:bodyPr>
          <a:lstStyle/>
          <a:p>
            <a:pPr marL="0" indent="0">
              <a:buNone/>
            </a:pPr>
            <a:r>
              <a:rPr lang="en-US" sz="1260" dirty="0">
                <a:solidFill>
                  <a:srgbClr val="334155"/>
                </a:solidFill>
                <a:latin typeface="Arial" pitchFamily="34" charset="0"/>
                <a:ea typeface="Arial" pitchFamily="34" charset="-122"/>
                <a:cs typeface="Arial" pitchFamily="34" charset="-120"/>
              </a:rPr>
              <a:t>• Pasien/keluarga agresif</a:t>
            </a:r>
            <a:endParaRPr lang="en-US" sz="1260" dirty="0"/>
          </a:p>
          <a:p>
            <a:pPr marL="0" indent="0">
              <a:buNone/>
            </a:pPr>
            <a:r>
              <a:rPr lang="en-US" sz="1260" dirty="0">
                <a:solidFill>
                  <a:srgbClr val="334155"/>
                </a:solidFill>
                <a:latin typeface="Arial" pitchFamily="34" charset="0"/>
                <a:ea typeface="Arial" pitchFamily="34" charset="-122"/>
                <a:cs typeface="Arial" pitchFamily="34" charset="-120"/>
              </a:rPr>
              <a:t>• Area ramai &amp; waktu tunggu panjang</a:t>
            </a:r>
            <a:endParaRPr lang="en-US" sz="1260" dirty="0"/>
          </a:p>
          <a:p>
            <a:pPr marL="0" indent="0">
              <a:buNone/>
            </a:pPr>
            <a:r>
              <a:rPr lang="en-US" sz="1260" dirty="0">
                <a:solidFill>
                  <a:srgbClr val="334155"/>
                </a:solidFill>
                <a:latin typeface="Arial" pitchFamily="34" charset="0"/>
                <a:ea typeface="Arial" pitchFamily="34" charset="-122"/>
                <a:cs typeface="Arial" pitchFamily="34" charset="-120"/>
              </a:rPr>
              <a:t>• Kerja sendirian</a:t>
            </a:r>
            <a:endParaRPr lang="en-US" sz="1260" dirty="0"/>
          </a:p>
          <a:p>
            <a:pPr marL="0" indent="0">
              <a:buNone/>
            </a:pPr>
            <a:r>
              <a:rPr lang="en-US" sz="1260" dirty="0">
                <a:solidFill>
                  <a:srgbClr val="334155"/>
                </a:solidFill>
                <a:latin typeface="Arial" pitchFamily="34" charset="0"/>
                <a:ea typeface="Arial" pitchFamily="34" charset="-122"/>
                <a:cs typeface="Arial" pitchFamily="34" charset="-120"/>
              </a:rPr>
              <a:t>• Konflik antarstaf</a:t>
            </a:r>
            <a:endParaRPr lang="en-US" sz="1260" dirty="0"/>
          </a:p>
          <a:p>
            <a:pPr marL="0" indent="0">
              <a:buNone/>
            </a:pPr>
            <a:r>
              <a:rPr lang="en-US" sz="1260" dirty="0">
                <a:solidFill>
                  <a:srgbClr val="334155"/>
                </a:solidFill>
                <a:latin typeface="Arial" pitchFamily="34" charset="0"/>
                <a:ea typeface="Arial" pitchFamily="34" charset="-122"/>
                <a:cs typeface="Arial" pitchFamily="34" charset="-120"/>
              </a:rPr>
              <a:t>• Keamanan fisik yang lemah</a:t>
            </a:r>
            <a:endParaRPr lang="en-US" sz="1260" dirty="0"/>
          </a:p>
        </p:txBody>
      </p:sp>
      <p:sp>
        <p:nvSpPr>
          <p:cNvPr id="12" name="Shape 9"/>
          <p:cNvSpPr/>
          <p:nvPr/>
        </p:nvSpPr>
        <p:spPr>
          <a:xfrm>
            <a:off x="4407408" y="1920240"/>
            <a:ext cx="3310128" cy="3547872"/>
          </a:xfrm>
          <a:prstGeom prst="roundRect">
            <a:avLst>
              <a:gd name="adj" fmla="val 2210"/>
            </a:avLst>
          </a:prstGeom>
          <a:solidFill>
            <a:srgbClr val="FFFFFF"/>
          </a:solidFill>
          <a:ln w="10160">
            <a:solidFill>
              <a:srgbClr val="E5E7EB"/>
            </a:solidFill>
            <a:prstDash val="solid"/>
          </a:ln>
        </p:spPr>
      </p:sp>
      <p:sp>
        <p:nvSpPr>
          <p:cNvPr id="13" name="Shape 10"/>
          <p:cNvSpPr/>
          <p:nvPr/>
        </p:nvSpPr>
        <p:spPr>
          <a:xfrm>
            <a:off x="4407408" y="1920240"/>
            <a:ext cx="73152" cy="3547872"/>
          </a:xfrm>
          <a:prstGeom prst="rect">
            <a:avLst/>
          </a:prstGeom>
          <a:solidFill>
            <a:srgbClr val="0E7490"/>
          </a:solidFill>
          <a:ln w="12700">
            <a:solidFill>
              <a:srgbClr val="0E7490"/>
            </a:solidFill>
            <a:prstDash val="solid"/>
          </a:ln>
        </p:spPr>
      </p:sp>
      <p:sp>
        <p:nvSpPr>
          <p:cNvPr id="14" name="Shape 11"/>
          <p:cNvSpPr/>
          <p:nvPr/>
        </p:nvSpPr>
        <p:spPr>
          <a:xfrm>
            <a:off x="4608576" y="2121408"/>
            <a:ext cx="658368" cy="658368"/>
          </a:xfrm>
          <a:prstGeom prst="ellipse">
            <a:avLst/>
          </a:prstGeom>
          <a:solidFill>
            <a:srgbClr val="F8FAFC"/>
          </a:solidFill>
          <a:ln w="12700">
            <a:solidFill>
              <a:srgbClr val="F8FAFC"/>
            </a:solidFill>
            <a:prstDash val="solid"/>
          </a:ln>
        </p:spPr>
      </p:sp>
      <p:pic>
        <p:nvPicPr>
          <p:cNvPr id="15"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745736" y="2258568"/>
            <a:ext cx="329184" cy="329184"/>
          </a:xfrm>
          <a:prstGeom prst="rect">
            <a:avLst/>
          </a:prstGeom>
        </p:spPr>
      </p:pic>
      <p:sp>
        <p:nvSpPr>
          <p:cNvPr id="16" name="Text 12"/>
          <p:cNvSpPr/>
          <p:nvPr/>
        </p:nvSpPr>
        <p:spPr>
          <a:xfrm>
            <a:off x="5394960" y="2148840"/>
            <a:ext cx="2103120" cy="292608"/>
          </a:xfrm>
          <a:prstGeom prst="rect">
            <a:avLst/>
          </a:prstGeom>
          <a:noFill/>
          <a:ln/>
        </p:spPr>
        <p:txBody>
          <a:bodyPr wrap="square" lIns="0" tIns="0" rIns="0" bIns="0" rtlCol="0" anchor="ctr">
            <a:normAutofit/>
          </a:bodyPr>
          <a:lstStyle/>
          <a:p>
            <a:pPr marL="0" indent="0">
              <a:buNone/>
            </a:pPr>
            <a:r>
              <a:rPr lang="en-US" sz="1600" b="1" dirty="0">
                <a:solidFill>
                  <a:srgbClr val="0F172A"/>
                </a:solidFill>
                <a:latin typeface="Arial" pitchFamily="34" charset="0"/>
                <a:ea typeface="Arial" pitchFamily="34" charset="-122"/>
                <a:cs typeface="Arial" pitchFamily="34" charset="-120"/>
              </a:rPr>
              <a:t>Cegah</a:t>
            </a:r>
            <a:endParaRPr lang="en-US" sz="1600" dirty="0"/>
          </a:p>
        </p:txBody>
      </p:sp>
      <p:sp>
        <p:nvSpPr>
          <p:cNvPr id="17" name="Text 13"/>
          <p:cNvSpPr/>
          <p:nvPr/>
        </p:nvSpPr>
        <p:spPr>
          <a:xfrm>
            <a:off x="4663440" y="2670048"/>
            <a:ext cx="2798064" cy="2615184"/>
          </a:xfrm>
          <a:prstGeom prst="rect">
            <a:avLst/>
          </a:prstGeom>
          <a:noFill/>
          <a:ln/>
        </p:spPr>
        <p:txBody>
          <a:bodyPr wrap="square" lIns="0" tIns="0" rIns="0" bIns="0" rtlCol="0" anchor="t">
            <a:normAutofit/>
          </a:bodyPr>
          <a:lstStyle/>
          <a:p>
            <a:pPr marL="0" indent="0">
              <a:buNone/>
            </a:pPr>
            <a:r>
              <a:rPr lang="en-US" sz="1260" dirty="0">
                <a:solidFill>
                  <a:srgbClr val="334155"/>
                </a:solidFill>
                <a:latin typeface="Arial" pitchFamily="34" charset="0"/>
                <a:ea typeface="Arial" pitchFamily="34" charset="-122"/>
                <a:cs typeface="Arial" pitchFamily="34" charset="-120"/>
              </a:rPr>
              <a:t>• Sistem keamanan &amp; akses</a:t>
            </a:r>
            <a:endParaRPr lang="en-US" sz="1260" dirty="0"/>
          </a:p>
          <a:p>
            <a:pPr marL="0" indent="0">
              <a:buNone/>
            </a:pPr>
            <a:r>
              <a:rPr lang="en-US" sz="1260" dirty="0">
                <a:solidFill>
                  <a:srgbClr val="334155"/>
                </a:solidFill>
                <a:latin typeface="Arial" pitchFamily="34" charset="0"/>
                <a:ea typeface="Arial" pitchFamily="34" charset="-122"/>
                <a:cs typeface="Arial" pitchFamily="34" charset="-120"/>
              </a:rPr>
              <a:t>• Staffing memadai</a:t>
            </a:r>
            <a:endParaRPr lang="en-US" sz="1260" dirty="0"/>
          </a:p>
          <a:p>
            <a:pPr marL="0" indent="0">
              <a:buNone/>
            </a:pPr>
            <a:r>
              <a:rPr lang="en-US" sz="1260" dirty="0">
                <a:solidFill>
                  <a:srgbClr val="334155"/>
                </a:solidFill>
                <a:latin typeface="Arial" pitchFamily="34" charset="0"/>
                <a:ea typeface="Arial" pitchFamily="34" charset="-122"/>
                <a:cs typeface="Arial" pitchFamily="34" charset="-120"/>
              </a:rPr>
              <a:t>• Komunikasi de-eskalasi</a:t>
            </a:r>
            <a:endParaRPr lang="en-US" sz="1260" dirty="0"/>
          </a:p>
          <a:p>
            <a:pPr marL="0" indent="0">
              <a:buNone/>
            </a:pPr>
            <a:r>
              <a:rPr lang="en-US" sz="1260" dirty="0">
                <a:solidFill>
                  <a:srgbClr val="334155"/>
                </a:solidFill>
                <a:latin typeface="Arial" pitchFamily="34" charset="0"/>
                <a:ea typeface="Arial" pitchFamily="34" charset="-122"/>
                <a:cs typeface="Arial" pitchFamily="34" charset="-120"/>
              </a:rPr>
              <a:t>• Alarm/panic button bila tersedia</a:t>
            </a:r>
            <a:endParaRPr lang="en-US" sz="1260" dirty="0"/>
          </a:p>
          <a:p>
            <a:pPr marL="0" indent="0">
              <a:buNone/>
            </a:pPr>
            <a:r>
              <a:rPr lang="en-US" sz="1260" dirty="0">
                <a:solidFill>
                  <a:srgbClr val="334155"/>
                </a:solidFill>
                <a:latin typeface="Arial" pitchFamily="34" charset="0"/>
                <a:ea typeface="Arial" pitchFamily="34" charset="-122"/>
                <a:cs typeface="Arial" pitchFamily="34" charset="-120"/>
              </a:rPr>
              <a:t>• SOP pasien berisiko</a:t>
            </a:r>
            <a:endParaRPr lang="en-US" sz="1260" dirty="0"/>
          </a:p>
        </p:txBody>
      </p:sp>
      <p:sp>
        <p:nvSpPr>
          <p:cNvPr id="18" name="Shape 14"/>
          <p:cNvSpPr/>
          <p:nvPr/>
        </p:nvSpPr>
        <p:spPr>
          <a:xfrm>
            <a:off x="8101584" y="1920240"/>
            <a:ext cx="3310128" cy="3547872"/>
          </a:xfrm>
          <a:prstGeom prst="roundRect">
            <a:avLst>
              <a:gd name="adj" fmla="val 2210"/>
            </a:avLst>
          </a:prstGeom>
          <a:solidFill>
            <a:srgbClr val="FFFFFF"/>
          </a:solidFill>
          <a:ln w="10160">
            <a:solidFill>
              <a:srgbClr val="E5E7EB"/>
            </a:solidFill>
            <a:prstDash val="solid"/>
          </a:ln>
        </p:spPr>
      </p:sp>
      <p:sp>
        <p:nvSpPr>
          <p:cNvPr id="19" name="Shape 15"/>
          <p:cNvSpPr/>
          <p:nvPr/>
        </p:nvSpPr>
        <p:spPr>
          <a:xfrm>
            <a:off x="8101584" y="1920240"/>
            <a:ext cx="73152" cy="3547872"/>
          </a:xfrm>
          <a:prstGeom prst="rect">
            <a:avLst/>
          </a:prstGeom>
          <a:solidFill>
            <a:srgbClr val="059669"/>
          </a:solidFill>
          <a:ln w="12700">
            <a:solidFill>
              <a:srgbClr val="059669"/>
            </a:solidFill>
            <a:prstDash val="solid"/>
          </a:ln>
        </p:spPr>
      </p:sp>
      <p:sp>
        <p:nvSpPr>
          <p:cNvPr id="20" name="Shape 16"/>
          <p:cNvSpPr/>
          <p:nvPr/>
        </p:nvSpPr>
        <p:spPr>
          <a:xfrm>
            <a:off x="8302752" y="2121408"/>
            <a:ext cx="658368" cy="658368"/>
          </a:xfrm>
          <a:prstGeom prst="ellipse">
            <a:avLst/>
          </a:prstGeom>
          <a:solidFill>
            <a:srgbClr val="F8FAFC"/>
          </a:solidFill>
          <a:ln w="12700">
            <a:solidFill>
              <a:srgbClr val="F8FAFC"/>
            </a:solidFill>
            <a:prstDash val="solid"/>
          </a:ln>
        </p:spPr>
      </p:sp>
      <p:pic>
        <p:nvPicPr>
          <p:cNvPr id="21"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439912" y="2258568"/>
            <a:ext cx="329184" cy="329184"/>
          </a:xfrm>
          <a:prstGeom prst="rect">
            <a:avLst/>
          </a:prstGeom>
        </p:spPr>
      </p:pic>
      <p:sp>
        <p:nvSpPr>
          <p:cNvPr id="22" name="Text 17"/>
          <p:cNvSpPr/>
          <p:nvPr/>
        </p:nvSpPr>
        <p:spPr>
          <a:xfrm>
            <a:off x="9089136" y="2148840"/>
            <a:ext cx="2103120" cy="292608"/>
          </a:xfrm>
          <a:prstGeom prst="rect">
            <a:avLst/>
          </a:prstGeom>
          <a:noFill/>
          <a:ln/>
        </p:spPr>
        <p:txBody>
          <a:bodyPr wrap="square" lIns="0" tIns="0" rIns="0" bIns="0" rtlCol="0" anchor="ctr">
            <a:normAutofit/>
          </a:bodyPr>
          <a:lstStyle/>
          <a:p>
            <a:pPr marL="0" indent="0">
              <a:buNone/>
            </a:pPr>
            <a:r>
              <a:rPr lang="en-US" sz="1600" b="1" dirty="0">
                <a:solidFill>
                  <a:srgbClr val="0F172A"/>
                </a:solidFill>
                <a:latin typeface="Arial" pitchFamily="34" charset="0"/>
                <a:ea typeface="Arial" pitchFamily="34" charset="-122"/>
                <a:cs typeface="Arial" pitchFamily="34" charset="-120"/>
              </a:rPr>
              <a:t>Respons</a:t>
            </a:r>
            <a:endParaRPr lang="en-US" sz="1600" dirty="0"/>
          </a:p>
        </p:txBody>
      </p:sp>
      <p:sp>
        <p:nvSpPr>
          <p:cNvPr id="23" name="Text 18"/>
          <p:cNvSpPr/>
          <p:nvPr/>
        </p:nvSpPr>
        <p:spPr>
          <a:xfrm>
            <a:off x="8357616" y="2670048"/>
            <a:ext cx="2798064" cy="2615184"/>
          </a:xfrm>
          <a:prstGeom prst="rect">
            <a:avLst/>
          </a:prstGeom>
          <a:noFill/>
          <a:ln/>
        </p:spPr>
        <p:txBody>
          <a:bodyPr wrap="square" lIns="0" tIns="0" rIns="0" bIns="0" rtlCol="0" anchor="t">
            <a:normAutofit/>
          </a:bodyPr>
          <a:lstStyle/>
          <a:p>
            <a:pPr marL="0" indent="0">
              <a:buNone/>
            </a:pPr>
            <a:r>
              <a:rPr lang="en-US" sz="1260" dirty="0">
                <a:solidFill>
                  <a:srgbClr val="334155"/>
                </a:solidFill>
                <a:latin typeface="Arial" pitchFamily="34" charset="0"/>
                <a:ea typeface="Arial" pitchFamily="34" charset="-122"/>
                <a:cs typeface="Arial" pitchFamily="34" charset="-120"/>
              </a:rPr>
              <a:t>• Prioritaskan keselamatan</a:t>
            </a:r>
            <a:endParaRPr lang="en-US" sz="1260" dirty="0"/>
          </a:p>
          <a:p>
            <a:pPr marL="0" indent="0">
              <a:buNone/>
            </a:pPr>
            <a:r>
              <a:rPr lang="en-US" sz="1260" dirty="0">
                <a:solidFill>
                  <a:srgbClr val="334155"/>
                </a:solidFill>
                <a:latin typeface="Arial" pitchFamily="34" charset="0"/>
                <a:ea typeface="Arial" pitchFamily="34" charset="-122"/>
                <a:cs typeface="Arial" pitchFamily="34" charset="-120"/>
              </a:rPr>
              <a:t>• Minta bantuan</a:t>
            </a:r>
            <a:endParaRPr lang="en-US" sz="1260" dirty="0"/>
          </a:p>
          <a:p>
            <a:pPr marL="0" indent="0">
              <a:buNone/>
            </a:pPr>
            <a:r>
              <a:rPr lang="en-US" sz="1260" dirty="0">
                <a:solidFill>
                  <a:srgbClr val="334155"/>
                </a:solidFill>
                <a:latin typeface="Arial" pitchFamily="34" charset="0"/>
                <a:ea typeface="Arial" pitchFamily="34" charset="-122"/>
                <a:cs typeface="Arial" pitchFamily="34" charset="-120"/>
              </a:rPr>
              <a:t>• Dokumentasikan</a:t>
            </a:r>
            <a:endParaRPr lang="en-US" sz="1260" dirty="0"/>
          </a:p>
          <a:p>
            <a:pPr marL="0" indent="0">
              <a:buNone/>
            </a:pPr>
            <a:r>
              <a:rPr lang="en-US" sz="1260" dirty="0">
                <a:solidFill>
                  <a:srgbClr val="334155"/>
                </a:solidFill>
                <a:latin typeface="Arial" pitchFamily="34" charset="0"/>
                <a:ea typeface="Arial" pitchFamily="34" charset="-122"/>
                <a:cs typeface="Arial" pitchFamily="34" charset="-120"/>
              </a:rPr>
              <a:t>• Laporkan insiden</a:t>
            </a:r>
            <a:endParaRPr lang="en-US" sz="1260" dirty="0"/>
          </a:p>
          <a:p>
            <a:pPr marL="0" indent="0">
              <a:buNone/>
            </a:pPr>
            <a:r>
              <a:rPr lang="en-US" sz="1260" dirty="0">
                <a:solidFill>
                  <a:srgbClr val="334155"/>
                </a:solidFill>
                <a:latin typeface="Arial" pitchFamily="34" charset="0"/>
                <a:ea typeface="Arial" pitchFamily="34" charset="-122"/>
                <a:cs typeface="Arial" pitchFamily="34" charset="-120"/>
              </a:rPr>
              <a:t>• Dapatkan dukungan pascainsiden</a:t>
            </a:r>
            <a:endParaRPr lang="en-US" sz="1260" dirty="0"/>
          </a:p>
        </p:txBody>
      </p:sp>
      <p:sp>
        <p:nvSpPr>
          <p:cNvPr id="24" name="Text 19"/>
          <p:cNvSpPr/>
          <p:nvPr/>
        </p:nvSpPr>
        <p:spPr>
          <a:xfrm>
            <a:off x="566928" y="6291072"/>
            <a:ext cx="10698480" cy="164592"/>
          </a:xfrm>
          <a:prstGeom prst="rect">
            <a:avLst/>
          </a:prstGeom>
          <a:noFill/>
          <a:ln/>
        </p:spPr>
        <p:txBody>
          <a:bodyPr wrap="square" lIns="0" tIns="0" rIns="0" bIns="0" rtlCol="0" anchor="ctr">
            <a:normAutofit/>
          </a:bodyPr>
          <a:lstStyle/>
          <a:p>
            <a:pPr marL="0" indent="0">
              <a:buNone/>
            </a:pPr>
            <a:r>
              <a:rPr lang="en-US" sz="730" i="1" dirty="0">
                <a:solidFill>
                  <a:srgbClr val="94A3B8"/>
                </a:solidFill>
                <a:latin typeface="Arial" pitchFamily="34" charset="0"/>
                <a:ea typeface="Arial" pitchFamily="34" charset="-122"/>
                <a:cs typeface="Arial" pitchFamily="34" charset="-120"/>
              </a:rPr>
              <a:t>WHO: violence and harassment mencakup abuse, threats, assaults, dan harassment terkait pekerjaan.</a:t>
            </a:r>
            <a:endParaRPr lang="en-US" sz="730" dirty="0"/>
          </a:p>
        </p:txBody>
      </p:sp>
      <p:sp>
        <p:nvSpPr>
          <p:cNvPr id="25" name="Slide Number Placeholder 0"/>
          <p:cNvSpPr>
            <a:spLocks noGrp="1"/>
          </p:cNvSpPr>
          <p:nvPr>
            <p:ph type="sldNum" sz="quarter" idx="4294967295"/>
          </p:nvPr>
        </p:nvSpPr>
        <p:spPr>
          <a:xfrm>
            <a:off x="11475720" y="6492240"/>
            <a:ext cx="320040"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64748B"/>
                </a:solidFill>
                <a:latin typeface="Arial"/>
                <a:ea typeface="Arial"/>
                <a:cs typeface="Aria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566928" y="347472"/>
            <a:ext cx="1417320" cy="310896"/>
          </a:xfrm>
          <a:prstGeom prst="roundRect">
            <a:avLst>
              <a:gd name="adj" fmla="val 23529"/>
            </a:avLst>
          </a:prstGeom>
          <a:solidFill>
            <a:srgbClr val="ECFEFF"/>
          </a:solidFill>
          <a:ln w="12700">
            <a:solidFill>
              <a:srgbClr val="ECFEFF"/>
            </a:solidFill>
            <a:prstDash val="solid"/>
          </a:ln>
        </p:spPr>
      </p:sp>
      <p:sp>
        <p:nvSpPr>
          <p:cNvPr id="3" name="Text 1"/>
          <p:cNvSpPr/>
          <p:nvPr/>
        </p:nvSpPr>
        <p:spPr>
          <a:xfrm>
            <a:off x="694944" y="429768"/>
            <a:ext cx="1170432" cy="128016"/>
          </a:xfrm>
          <a:prstGeom prst="rect">
            <a:avLst/>
          </a:prstGeom>
          <a:noFill/>
          <a:ln/>
        </p:spPr>
        <p:txBody>
          <a:bodyPr wrap="square" lIns="0" tIns="0" rIns="0" bIns="0" rtlCol="0" anchor="ctr"/>
          <a:lstStyle/>
          <a:p>
            <a:pPr marL="0" indent="0" algn="ctr">
              <a:buNone/>
            </a:pPr>
            <a:r>
              <a:rPr lang="en-US" sz="900" b="1" dirty="0">
                <a:solidFill>
                  <a:srgbClr val="0E7490"/>
                </a:solidFill>
                <a:latin typeface="Arial" pitchFamily="34" charset="0"/>
                <a:ea typeface="Arial" pitchFamily="34" charset="-122"/>
                <a:cs typeface="Arial" pitchFamily="34" charset="-120"/>
              </a:rPr>
              <a:t>BAHAYA KERJA</a:t>
            </a:r>
            <a:endParaRPr lang="en-US" sz="900" dirty="0"/>
          </a:p>
        </p:txBody>
      </p:sp>
      <p:sp>
        <p:nvSpPr>
          <p:cNvPr id="4" name="Text 2"/>
          <p:cNvSpPr/>
          <p:nvPr/>
        </p:nvSpPr>
        <p:spPr>
          <a:xfrm>
            <a:off x="566928" y="777240"/>
            <a:ext cx="10972800" cy="566928"/>
          </a:xfrm>
          <a:prstGeom prst="rect">
            <a:avLst/>
          </a:prstGeom>
          <a:noFill/>
          <a:ln/>
        </p:spPr>
        <p:txBody>
          <a:bodyPr wrap="square" lIns="0" tIns="0" rIns="0" bIns="0" rtlCol="0" anchor="ctr">
            <a:normAutofit/>
          </a:bodyPr>
          <a:lstStyle/>
          <a:p>
            <a:pPr marL="0" indent="0">
              <a:buNone/>
            </a:pPr>
            <a:r>
              <a:rPr lang="en-US" sz="2700" b="1" dirty="0">
                <a:solidFill>
                  <a:srgbClr val="0F172A"/>
                </a:solidFill>
                <a:latin typeface="Arial" pitchFamily="34" charset="0"/>
                <a:ea typeface="Arial" pitchFamily="34" charset="-122"/>
                <a:cs typeface="Arial" pitchFamily="34" charset="-120"/>
              </a:rPr>
              <a:t>Bahaya Keselamatan Umum</a:t>
            </a:r>
            <a:endParaRPr lang="en-US" sz="2700" dirty="0"/>
          </a:p>
        </p:txBody>
      </p:sp>
      <p:sp>
        <p:nvSpPr>
          <p:cNvPr id="5" name="Text 3"/>
          <p:cNvSpPr/>
          <p:nvPr/>
        </p:nvSpPr>
        <p:spPr>
          <a:xfrm>
            <a:off x="566928" y="1371600"/>
            <a:ext cx="10881360" cy="384048"/>
          </a:xfrm>
          <a:prstGeom prst="rect">
            <a:avLst/>
          </a:prstGeom>
          <a:noFill/>
          <a:ln/>
        </p:spPr>
        <p:txBody>
          <a:bodyPr wrap="square" lIns="0" tIns="0" rIns="0" bIns="0" rtlCol="0" anchor="ctr">
            <a:normAutofit/>
          </a:bodyPr>
          <a:lstStyle/>
          <a:p>
            <a:pPr marL="0" indent="0">
              <a:buNone/>
            </a:pPr>
            <a:r>
              <a:rPr lang="en-US" sz="1250" dirty="0">
                <a:solidFill>
                  <a:srgbClr val="64748B"/>
                </a:solidFill>
                <a:latin typeface="Arial" pitchFamily="34" charset="0"/>
                <a:ea typeface="Arial" pitchFamily="34" charset="-122"/>
                <a:cs typeface="Arial" pitchFamily="34" charset="-120"/>
              </a:rPr>
              <a:t>K3 keperawatan tidak hanya soal infeksi. Area kerja juga memiliki risiko jatuh, kebakaran, listrik, dan benda/alat.</a:t>
            </a:r>
            <a:endParaRPr lang="en-US" sz="1250" dirty="0"/>
          </a:p>
        </p:txBody>
      </p:sp>
      <p:sp>
        <p:nvSpPr>
          <p:cNvPr id="6" name="Shape 4"/>
          <p:cNvSpPr/>
          <p:nvPr/>
        </p:nvSpPr>
        <p:spPr>
          <a:xfrm>
            <a:off x="795528" y="2057400"/>
            <a:ext cx="2468880" cy="3063240"/>
          </a:xfrm>
          <a:prstGeom prst="roundRect">
            <a:avLst>
              <a:gd name="adj" fmla="val 2963"/>
            </a:avLst>
          </a:prstGeom>
          <a:solidFill>
            <a:srgbClr val="FFFFFF"/>
          </a:solidFill>
          <a:ln w="12700">
            <a:solidFill>
              <a:srgbClr val="E2E8F0"/>
            </a:solidFill>
            <a:prstDash val="solid"/>
          </a:ln>
        </p:spPr>
      </p:sp>
      <p:sp>
        <p:nvSpPr>
          <p:cNvPr id="7" name="Shape 5"/>
          <p:cNvSpPr/>
          <p:nvPr/>
        </p:nvSpPr>
        <p:spPr>
          <a:xfrm>
            <a:off x="1691640" y="2414016"/>
            <a:ext cx="658368" cy="658368"/>
          </a:xfrm>
          <a:prstGeom prst="ellipse">
            <a:avLst/>
          </a:prstGeom>
          <a:solidFill>
            <a:srgbClr val="F8FAFC"/>
          </a:solidFill>
          <a:ln w="12700">
            <a:solidFill>
              <a:srgbClr val="F8FAFC"/>
            </a:solidFill>
            <a:prstDash val="solid"/>
          </a:ln>
        </p:spPr>
      </p:sp>
      <p:pic>
        <p:nvPicPr>
          <p:cNvPr id="8"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28800" y="2551176"/>
            <a:ext cx="393192" cy="393192"/>
          </a:xfrm>
          <a:prstGeom prst="rect">
            <a:avLst/>
          </a:prstGeom>
        </p:spPr>
      </p:pic>
      <p:sp>
        <p:nvSpPr>
          <p:cNvPr id="9" name="Text 6"/>
          <p:cNvSpPr/>
          <p:nvPr/>
        </p:nvSpPr>
        <p:spPr>
          <a:xfrm>
            <a:off x="996696" y="3291840"/>
            <a:ext cx="2066544" cy="402336"/>
          </a:xfrm>
          <a:prstGeom prst="rect">
            <a:avLst/>
          </a:prstGeom>
          <a:noFill/>
          <a:ln/>
        </p:spPr>
        <p:txBody>
          <a:bodyPr wrap="square" lIns="0" tIns="0" rIns="0" bIns="0" rtlCol="0" anchor="ctr">
            <a:normAutofit/>
          </a:bodyPr>
          <a:lstStyle/>
          <a:p>
            <a:pPr marL="0" indent="0" algn="ctr">
              <a:buNone/>
            </a:pPr>
            <a:r>
              <a:rPr lang="en-US" sz="1430" b="1" dirty="0">
                <a:solidFill>
                  <a:srgbClr val="0F172A"/>
                </a:solidFill>
              </a:rPr>
              <a:t>Slip, trip, fall</a:t>
            </a:r>
            <a:endParaRPr lang="en-US" sz="1430" dirty="0"/>
          </a:p>
        </p:txBody>
      </p:sp>
      <p:sp>
        <p:nvSpPr>
          <p:cNvPr id="10" name="Text 7"/>
          <p:cNvSpPr/>
          <p:nvPr/>
        </p:nvSpPr>
        <p:spPr>
          <a:xfrm>
            <a:off x="1051560" y="3840480"/>
            <a:ext cx="1956816" cy="841248"/>
          </a:xfrm>
          <a:prstGeom prst="rect">
            <a:avLst/>
          </a:prstGeom>
          <a:noFill/>
          <a:ln/>
        </p:spPr>
        <p:txBody>
          <a:bodyPr wrap="square" lIns="0" tIns="0" rIns="0" bIns="0" rtlCol="0" anchor="ctr">
            <a:normAutofit/>
          </a:bodyPr>
          <a:lstStyle/>
          <a:p>
            <a:pPr marL="0" indent="0" algn="ctr">
              <a:buNone/>
            </a:pPr>
            <a:r>
              <a:rPr lang="en-US" sz="1150" dirty="0">
                <a:solidFill>
                  <a:srgbClr val="334155"/>
                </a:solidFill>
              </a:rPr>
              <a:t>Lantai basah, kabel, barang di jalur, pencahayaan.</a:t>
            </a:r>
            <a:endParaRPr lang="en-US" sz="1150" dirty="0"/>
          </a:p>
        </p:txBody>
      </p:sp>
      <p:sp>
        <p:nvSpPr>
          <p:cNvPr id="11" name="Text 8"/>
          <p:cNvSpPr/>
          <p:nvPr/>
        </p:nvSpPr>
        <p:spPr>
          <a:xfrm>
            <a:off x="1115568" y="4754880"/>
            <a:ext cx="1828800" cy="182880"/>
          </a:xfrm>
          <a:prstGeom prst="rect">
            <a:avLst/>
          </a:prstGeom>
          <a:noFill/>
          <a:ln/>
        </p:spPr>
        <p:txBody>
          <a:bodyPr wrap="square" lIns="0" tIns="0" rIns="0" bIns="0" rtlCol="0" anchor="ctr"/>
          <a:lstStyle/>
          <a:p>
            <a:pPr marL="0" indent="0" algn="ctr">
              <a:buNone/>
            </a:pPr>
            <a:r>
              <a:rPr lang="en-US" sz="920" b="1" dirty="0">
                <a:solidFill>
                  <a:srgbClr val="D97706"/>
                </a:solidFill>
              </a:rPr>
              <a:t>Lihat • Amankan • Laporkan</a:t>
            </a:r>
            <a:endParaRPr lang="en-US" sz="920" dirty="0"/>
          </a:p>
        </p:txBody>
      </p:sp>
      <p:sp>
        <p:nvSpPr>
          <p:cNvPr id="12" name="Shape 9"/>
          <p:cNvSpPr/>
          <p:nvPr/>
        </p:nvSpPr>
        <p:spPr>
          <a:xfrm>
            <a:off x="3630168" y="2057400"/>
            <a:ext cx="2468880" cy="3063240"/>
          </a:xfrm>
          <a:prstGeom prst="roundRect">
            <a:avLst>
              <a:gd name="adj" fmla="val 2963"/>
            </a:avLst>
          </a:prstGeom>
          <a:solidFill>
            <a:srgbClr val="FFFFFF"/>
          </a:solidFill>
          <a:ln w="12700">
            <a:solidFill>
              <a:srgbClr val="E2E8F0"/>
            </a:solidFill>
            <a:prstDash val="solid"/>
          </a:ln>
        </p:spPr>
      </p:sp>
      <p:sp>
        <p:nvSpPr>
          <p:cNvPr id="13" name="Shape 10"/>
          <p:cNvSpPr/>
          <p:nvPr/>
        </p:nvSpPr>
        <p:spPr>
          <a:xfrm>
            <a:off x="4526280" y="2414016"/>
            <a:ext cx="658368" cy="658368"/>
          </a:xfrm>
          <a:prstGeom prst="ellipse">
            <a:avLst/>
          </a:prstGeom>
          <a:solidFill>
            <a:srgbClr val="F8FAFC"/>
          </a:solidFill>
          <a:ln w="12700">
            <a:solidFill>
              <a:srgbClr val="F8FAFC"/>
            </a:solidFill>
            <a:prstDash val="solid"/>
          </a:ln>
        </p:spPr>
      </p:sp>
      <p:pic>
        <p:nvPicPr>
          <p:cNvPr id="14"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663440" y="2551176"/>
            <a:ext cx="393192" cy="393192"/>
          </a:xfrm>
          <a:prstGeom prst="rect">
            <a:avLst/>
          </a:prstGeom>
        </p:spPr>
      </p:pic>
      <p:sp>
        <p:nvSpPr>
          <p:cNvPr id="15" name="Text 11"/>
          <p:cNvSpPr/>
          <p:nvPr/>
        </p:nvSpPr>
        <p:spPr>
          <a:xfrm>
            <a:off x="3831336" y="3291840"/>
            <a:ext cx="2066544" cy="402336"/>
          </a:xfrm>
          <a:prstGeom prst="rect">
            <a:avLst/>
          </a:prstGeom>
          <a:noFill/>
          <a:ln/>
        </p:spPr>
        <p:txBody>
          <a:bodyPr wrap="square" lIns="0" tIns="0" rIns="0" bIns="0" rtlCol="0" anchor="ctr">
            <a:normAutofit/>
          </a:bodyPr>
          <a:lstStyle/>
          <a:p>
            <a:pPr marL="0" indent="0" algn="ctr">
              <a:buNone/>
            </a:pPr>
            <a:r>
              <a:rPr lang="en-US" sz="1430" b="1" dirty="0">
                <a:solidFill>
                  <a:srgbClr val="0F172A"/>
                </a:solidFill>
              </a:rPr>
              <a:t>Kebakaran</a:t>
            </a:r>
            <a:endParaRPr lang="en-US" sz="1430" dirty="0"/>
          </a:p>
        </p:txBody>
      </p:sp>
      <p:sp>
        <p:nvSpPr>
          <p:cNvPr id="16" name="Text 12"/>
          <p:cNvSpPr/>
          <p:nvPr/>
        </p:nvSpPr>
        <p:spPr>
          <a:xfrm>
            <a:off x="3886200" y="3840480"/>
            <a:ext cx="1956816" cy="841248"/>
          </a:xfrm>
          <a:prstGeom prst="rect">
            <a:avLst/>
          </a:prstGeom>
          <a:noFill/>
          <a:ln/>
        </p:spPr>
        <p:txBody>
          <a:bodyPr wrap="square" lIns="0" tIns="0" rIns="0" bIns="0" rtlCol="0" anchor="ctr">
            <a:normAutofit/>
          </a:bodyPr>
          <a:lstStyle/>
          <a:p>
            <a:pPr marL="0" indent="0" algn="ctr">
              <a:buNone/>
            </a:pPr>
            <a:r>
              <a:rPr lang="en-US" sz="1150" dirty="0">
                <a:solidFill>
                  <a:srgbClr val="334155"/>
                </a:solidFill>
              </a:rPr>
              <a:t>Oksigen, bahan mudah terbakar, kelistrikan, dapur/utility.</a:t>
            </a:r>
            <a:endParaRPr lang="en-US" sz="1150" dirty="0"/>
          </a:p>
        </p:txBody>
      </p:sp>
      <p:sp>
        <p:nvSpPr>
          <p:cNvPr id="17" name="Text 13"/>
          <p:cNvSpPr/>
          <p:nvPr/>
        </p:nvSpPr>
        <p:spPr>
          <a:xfrm>
            <a:off x="3950208" y="4754880"/>
            <a:ext cx="1828800" cy="182880"/>
          </a:xfrm>
          <a:prstGeom prst="rect">
            <a:avLst/>
          </a:prstGeom>
          <a:noFill/>
          <a:ln/>
        </p:spPr>
        <p:txBody>
          <a:bodyPr wrap="square" lIns="0" tIns="0" rIns="0" bIns="0" rtlCol="0" anchor="ctr"/>
          <a:lstStyle/>
          <a:p>
            <a:pPr marL="0" indent="0" algn="ctr">
              <a:buNone/>
            </a:pPr>
            <a:r>
              <a:rPr lang="en-US" sz="920" b="1" dirty="0">
                <a:solidFill>
                  <a:srgbClr val="DC2626"/>
                </a:solidFill>
              </a:rPr>
              <a:t>Lihat • Amankan • Laporkan</a:t>
            </a:r>
            <a:endParaRPr lang="en-US" sz="920" dirty="0"/>
          </a:p>
        </p:txBody>
      </p:sp>
      <p:sp>
        <p:nvSpPr>
          <p:cNvPr id="18" name="Shape 14"/>
          <p:cNvSpPr/>
          <p:nvPr/>
        </p:nvSpPr>
        <p:spPr>
          <a:xfrm>
            <a:off x="6464808" y="2057400"/>
            <a:ext cx="2468880" cy="3063240"/>
          </a:xfrm>
          <a:prstGeom prst="roundRect">
            <a:avLst>
              <a:gd name="adj" fmla="val 2963"/>
            </a:avLst>
          </a:prstGeom>
          <a:solidFill>
            <a:srgbClr val="FFFFFF"/>
          </a:solidFill>
          <a:ln w="12700">
            <a:solidFill>
              <a:srgbClr val="E2E8F0"/>
            </a:solidFill>
            <a:prstDash val="solid"/>
          </a:ln>
        </p:spPr>
      </p:sp>
      <p:sp>
        <p:nvSpPr>
          <p:cNvPr id="19" name="Shape 15"/>
          <p:cNvSpPr/>
          <p:nvPr/>
        </p:nvSpPr>
        <p:spPr>
          <a:xfrm>
            <a:off x="7360920" y="2414016"/>
            <a:ext cx="658368" cy="658368"/>
          </a:xfrm>
          <a:prstGeom prst="ellipse">
            <a:avLst/>
          </a:prstGeom>
          <a:solidFill>
            <a:srgbClr val="F8FAFC"/>
          </a:solidFill>
          <a:ln w="12700">
            <a:solidFill>
              <a:srgbClr val="F8FAFC"/>
            </a:solidFill>
            <a:prstDash val="solid"/>
          </a:ln>
        </p:spPr>
      </p:sp>
      <p:pic>
        <p:nvPicPr>
          <p:cNvPr id="20"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498080" y="2551176"/>
            <a:ext cx="393192" cy="393192"/>
          </a:xfrm>
          <a:prstGeom prst="rect">
            <a:avLst/>
          </a:prstGeom>
        </p:spPr>
      </p:pic>
      <p:sp>
        <p:nvSpPr>
          <p:cNvPr id="21" name="Text 16"/>
          <p:cNvSpPr/>
          <p:nvPr/>
        </p:nvSpPr>
        <p:spPr>
          <a:xfrm>
            <a:off x="6665976" y="3291840"/>
            <a:ext cx="2066544" cy="402336"/>
          </a:xfrm>
          <a:prstGeom prst="rect">
            <a:avLst/>
          </a:prstGeom>
          <a:noFill/>
          <a:ln/>
        </p:spPr>
        <p:txBody>
          <a:bodyPr wrap="square" lIns="0" tIns="0" rIns="0" bIns="0" rtlCol="0" anchor="ctr">
            <a:normAutofit/>
          </a:bodyPr>
          <a:lstStyle/>
          <a:p>
            <a:pPr marL="0" indent="0" algn="ctr">
              <a:buNone/>
            </a:pPr>
            <a:r>
              <a:rPr lang="en-US" sz="1430" b="1" dirty="0">
                <a:solidFill>
                  <a:srgbClr val="0F172A"/>
                </a:solidFill>
              </a:rPr>
              <a:t>Listrik &amp; alat</a:t>
            </a:r>
            <a:endParaRPr lang="en-US" sz="1430" dirty="0"/>
          </a:p>
        </p:txBody>
      </p:sp>
      <p:sp>
        <p:nvSpPr>
          <p:cNvPr id="22" name="Text 17"/>
          <p:cNvSpPr/>
          <p:nvPr/>
        </p:nvSpPr>
        <p:spPr>
          <a:xfrm>
            <a:off x="6720840" y="3840480"/>
            <a:ext cx="1956816" cy="841248"/>
          </a:xfrm>
          <a:prstGeom prst="rect">
            <a:avLst/>
          </a:prstGeom>
          <a:noFill/>
          <a:ln/>
        </p:spPr>
        <p:txBody>
          <a:bodyPr wrap="square" lIns="0" tIns="0" rIns="0" bIns="0" rtlCol="0" anchor="ctr">
            <a:normAutofit/>
          </a:bodyPr>
          <a:lstStyle/>
          <a:p>
            <a:pPr marL="0" indent="0" algn="ctr">
              <a:buNone/>
            </a:pPr>
            <a:r>
              <a:rPr lang="en-US" sz="1150" dirty="0">
                <a:solidFill>
                  <a:srgbClr val="334155"/>
                </a:solidFill>
              </a:rPr>
              <a:t>Alat rusak, colokan berlebih, kabel terkelupas, cairan.</a:t>
            </a:r>
            <a:endParaRPr lang="en-US" sz="1150" dirty="0"/>
          </a:p>
        </p:txBody>
      </p:sp>
      <p:sp>
        <p:nvSpPr>
          <p:cNvPr id="23" name="Text 18"/>
          <p:cNvSpPr/>
          <p:nvPr/>
        </p:nvSpPr>
        <p:spPr>
          <a:xfrm>
            <a:off x="6784848" y="4754880"/>
            <a:ext cx="1828800" cy="182880"/>
          </a:xfrm>
          <a:prstGeom prst="rect">
            <a:avLst/>
          </a:prstGeom>
          <a:noFill/>
          <a:ln/>
        </p:spPr>
        <p:txBody>
          <a:bodyPr wrap="square" lIns="0" tIns="0" rIns="0" bIns="0" rtlCol="0" anchor="ctr"/>
          <a:lstStyle/>
          <a:p>
            <a:pPr marL="0" indent="0" algn="ctr">
              <a:buNone/>
            </a:pPr>
            <a:r>
              <a:rPr lang="en-US" sz="920" b="1" dirty="0">
                <a:solidFill>
                  <a:srgbClr val="2563EB"/>
                </a:solidFill>
              </a:rPr>
              <a:t>Lihat • Amankan • Laporkan</a:t>
            </a:r>
            <a:endParaRPr lang="en-US" sz="920" dirty="0"/>
          </a:p>
        </p:txBody>
      </p:sp>
      <p:sp>
        <p:nvSpPr>
          <p:cNvPr id="24" name="Shape 19"/>
          <p:cNvSpPr/>
          <p:nvPr/>
        </p:nvSpPr>
        <p:spPr>
          <a:xfrm>
            <a:off x="9299448" y="2057400"/>
            <a:ext cx="2468880" cy="3063240"/>
          </a:xfrm>
          <a:prstGeom prst="roundRect">
            <a:avLst>
              <a:gd name="adj" fmla="val 2963"/>
            </a:avLst>
          </a:prstGeom>
          <a:solidFill>
            <a:srgbClr val="FFFFFF"/>
          </a:solidFill>
          <a:ln w="12700">
            <a:solidFill>
              <a:srgbClr val="E2E8F0"/>
            </a:solidFill>
            <a:prstDash val="solid"/>
          </a:ln>
        </p:spPr>
      </p:sp>
      <p:sp>
        <p:nvSpPr>
          <p:cNvPr id="25" name="Shape 20"/>
          <p:cNvSpPr/>
          <p:nvPr/>
        </p:nvSpPr>
        <p:spPr>
          <a:xfrm>
            <a:off x="10195560" y="2414016"/>
            <a:ext cx="658368" cy="658368"/>
          </a:xfrm>
          <a:prstGeom prst="ellipse">
            <a:avLst/>
          </a:prstGeom>
          <a:solidFill>
            <a:srgbClr val="F8FAFC"/>
          </a:solidFill>
          <a:ln w="12700">
            <a:solidFill>
              <a:srgbClr val="F8FAFC"/>
            </a:solidFill>
            <a:prstDash val="solid"/>
          </a:ln>
        </p:spPr>
      </p:sp>
      <p:pic>
        <p:nvPicPr>
          <p:cNvPr id="26"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0332720" y="2551176"/>
            <a:ext cx="393192" cy="393192"/>
          </a:xfrm>
          <a:prstGeom prst="rect">
            <a:avLst/>
          </a:prstGeom>
        </p:spPr>
      </p:pic>
      <p:sp>
        <p:nvSpPr>
          <p:cNvPr id="27" name="Text 21"/>
          <p:cNvSpPr/>
          <p:nvPr/>
        </p:nvSpPr>
        <p:spPr>
          <a:xfrm>
            <a:off x="9500616" y="3291840"/>
            <a:ext cx="2066544" cy="402336"/>
          </a:xfrm>
          <a:prstGeom prst="rect">
            <a:avLst/>
          </a:prstGeom>
          <a:noFill/>
          <a:ln/>
        </p:spPr>
        <p:txBody>
          <a:bodyPr wrap="square" lIns="0" tIns="0" rIns="0" bIns="0" rtlCol="0" anchor="ctr">
            <a:normAutofit/>
          </a:bodyPr>
          <a:lstStyle/>
          <a:p>
            <a:pPr marL="0" indent="0" algn="ctr">
              <a:buNone/>
            </a:pPr>
            <a:r>
              <a:rPr lang="en-US" sz="1430" b="1" dirty="0">
                <a:solidFill>
                  <a:srgbClr val="0F172A"/>
                </a:solidFill>
              </a:rPr>
              <a:t>Transport internal</a:t>
            </a:r>
            <a:endParaRPr lang="en-US" sz="1430" dirty="0"/>
          </a:p>
        </p:txBody>
      </p:sp>
      <p:sp>
        <p:nvSpPr>
          <p:cNvPr id="28" name="Text 22"/>
          <p:cNvSpPr/>
          <p:nvPr/>
        </p:nvSpPr>
        <p:spPr>
          <a:xfrm>
            <a:off x="9555480" y="3840480"/>
            <a:ext cx="1956816" cy="841248"/>
          </a:xfrm>
          <a:prstGeom prst="rect">
            <a:avLst/>
          </a:prstGeom>
          <a:noFill/>
          <a:ln/>
        </p:spPr>
        <p:txBody>
          <a:bodyPr wrap="square" lIns="0" tIns="0" rIns="0" bIns="0" rtlCol="0" anchor="ctr">
            <a:normAutofit/>
          </a:bodyPr>
          <a:lstStyle/>
          <a:p>
            <a:pPr marL="0" indent="0" algn="ctr">
              <a:buNone/>
            </a:pPr>
            <a:r>
              <a:rPr lang="en-US" sz="1150" dirty="0">
                <a:solidFill>
                  <a:srgbClr val="334155"/>
                </a:solidFill>
              </a:rPr>
              <a:t>Bed/troli, lift, koridor sempit, tabung gas, ambulans.</a:t>
            </a:r>
            <a:endParaRPr lang="en-US" sz="1150" dirty="0"/>
          </a:p>
        </p:txBody>
      </p:sp>
      <p:sp>
        <p:nvSpPr>
          <p:cNvPr id="29" name="Text 23"/>
          <p:cNvSpPr/>
          <p:nvPr/>
        </p:nvSpPr>
        <p:spPr>
          <a:xfrm>
            <a:off x="9619488" y="4754880"/>
            <a:ext cx="1828800" cy="182880"/>
          </a:xfrm>
          <a:prstGeom prst="rect">
            <a:avLst/>
          </a:prstGeom>
          <a:noFill/>
          <a:ln/>
        </p:spPr>
        <p:txBody>
          <a:bodyPr wrap="square" lIns="0" tIns="0" rIns="0" bIns="0" rtlCol="0" anchor="ctr"/>
          <a:lstStyle/>
          <a:p>
            <a:pPr marL="0" indent="0" algn="ctr">
              <a:buNone/>
            </a:pPr>
            <a:r>
              <a:rPr lang="en-US" sz="920" b="1" dirty="0">
                <a:solidFill>
                  <a:srgbClr val="0E7490"/>
                </a:solidFill>
              </a:rPr>
              <a:t>Lihat • Amankan • Laporkan</a:t>
            </a:r>
            <a:endParaRPr lang="en-US" sz="920" dirty="0"/>
          </a:p>
        </p:txBody>
      </p:sp>
      <p:sp>
        <p:nvSpPr>
          <p:cNvPr id="30" name="Slide Number Placeholder 0"/>
          <p:cNvSpPr>
            <a:spLocks noGrp="1"/>
          </p:cNvSpPr>
          <p:nvPr>
            <p:ph type="sldNum" sz="quarter" idx="4294967295"/>
          </p:nvPr>
        </p:nvSpPr>
        <p:spPr>
          <a:xfrm>
            <a:off x="11475720" y="6492240"/>
            <a:ext cx="320040"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64748B"/>
                </a:solidFill>
                <a:latin typeface="Arial"/>
                <a:ea typeface="Arial"/>
                <a:cs typeface="Arial"/>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566928" y="347472"/>
            <a:ext cx="1417320" cy="310896"/>
          </a:xfrm>
          <a:prstGeom prst="roundRect">
            <a:avLst>
              <a:gd name="adj" fmla="val 23529"/>
            </a:avLst>
          </a:prstGeom>
          <a:solidFill>
            <a:srgbClr val="ECFEFF"/>
          </a:solidFill>
          <a:ln w="12700">
            <a:solidFill>
              <a:srgbClr val="ECFEFF"/>
            </a:solidFill>
            <a:prstDash val="solid"/>
          </a:ln>
        </p:spPr>
      </p:sp>
      <p:sp>
        <p:nvSpPr>
          <p:cNvPr id="3" name="Text 1"/>
          <p:cNvSpPr/>
          <p:nvPr/>
        </p:nvSpPr>
        <p:spPr>
          <a:xfrm>
            <a:off x="694944" y="429768"/>
            <a:ext cx="1170432" cy="128016"/>
          </a:xfrm>
          <a:prstGeom prst="rect">
            <a:avLst/>
          </a:prstGeom>
          <a:noFill/>
          <a:ln/>
        </p:spPr>
        <p:txBody>
          <a:bodyPr wrap="square" lIns="0" tIns="0" rIns="0" bIns="0" rtlCol="0" anchor="ctr"/>
          <a:lstStyle/>
          <a:p>
            <a:pPr marL="0" indent="0" algn="ctr">
              <a:buNone/>
            </a:pPr>
            <a:r>
              <a:rPr lang="en-US" sz="900" b="1" dirty="0">
                <a:solidFill>
                  <a:srgbClr val="0E7490"/>
                </a:solidFill>
                <a:latin typeface="Arial" pitchFamily="34" charset="0"/>
                <a:ea typeface="Arial" pitchFamily="34" charset="-122"/>
                <a:cs typeface="Arial" pitchFamily="34" charset="-120"/>
              </a:rPr>
              <a:t>PENGENDALIAN</a:t>
            </a:r>
            <a:endParaRPr lang="en-US" sz="900" dirty="0"/>
          </a:p>
        </p:txBody>
      </p:sp>
      <p:sp>
        <p:nvSpPr>
          <p:cNvPr id="4" name="Text 2"/>
          <p:cNvSpPr/>
          <p:nvPr/>
        </p:nvSpPr>
        <p:spPr>
          <a:xfrm>
            <a:off x="566928" y="777240"/>
            <a:ext cx="10972800" cy="566928"/>
          </a:xfrm>
          <a:prstGeom prst="rect">
            <a:avLst/>
          </a:prstGeom>
          <a:noFill/>
          <a:ln/>
        </p:spPr>
        <p:txBody>
          <a:bodyPr wrap="square" lIns="0" tIns="0" rIns="0" bIns="0" rtlCol="0" anchor="ctr">
            <a:normAutofit/>
          </a:bodyPr>
          <a:lstStyle/>
          <a:p>
            <a:pPr marL="0" indent="0">
              <a:buNone/>
            </a:pPr>
            <a:r>
              <a:rPr lang="en-US" sz="2700" b="1" dirty="0">
                <a:solidFill>
                  <a:srgbClr val="0F172A"/>
                </a:solidFill>
                <a:latin typeface="Arial" pitchFamily="34" charset="0"/>
                <a:ea typeface="Arial" pitchFamily="34" charset="-122"/>
                <a:cs typeface="Arial" pitchFamily="34" charset="-120"/>
              </a:rPr>
              <a:t>Pencegahan &amp; Pengendalian Infeksi sebagai Bagian K3</a:t>
            </a:r>
            <a:endParaRPr lang="en-US" sz="2700" dirty="0"/>
          </a:p>
        </p:txBody>
      </p:sp>
      <p:sp>
        <p:nvSpPr>
          <p:cNvPr id="5" name="Text 3"/>
          <p:cNvSpPr/>
          <p:nvPr/>
        </p:nvSpPr>
        <p:spPr>
          <a:xfrm>
            <a:off x="566928" y="1371600"/>
            <a:ext cx="10881360" cy="384048"/>
          </a:xfrm>
          <a:prstGeom prst="rect">
            <a:avLst/>
          </a:prstGeom>
          <a:noFill/>
          <a:ln/>
        </p:spPr>
        <p:txBody>
          <a:bodyPr wrap="square" lIns="0" tIns="0" rIns="0" bIns="0" rtlCol="0" anchor="ctr">
            <a:normAutofit/>
          </a:bodyPr>
          <a:lstStyle/>
          <a:p>
            <a:pPr marL="0" indent="0">
              <a:buNone/>
            </a:pPr>
            <a:r>
              <a:rPr lang="en-US" sz="1250" dirty="0">
                <a:solidFill>
                  <a:srgbClr val="64748B"/>
                </a:solidFill>
                <a:latin typeface="Arial" pitchFamily="34" charset="0"/>
                <a:ea typeface="Arial" pitchFamily="34" charset="-122"/>
                <a:cs typeface="Arial" pitchFamily="34" charset="-120"/>
              </a:rPr>
              <a:t>Standard precautions melindungi pasien dan tenaga kesehatan dari pajanan yang dapat dicegah.</a:t>
            </a:r>
            <a:endParaRPr lang="en-US" sz="1250" dirty="0"/>
          </a:p>
        </p:txBody>
      </p:sp>
      <p:sp>
        <p:nvSpPr>
          <p:cNvPr id="6" name="Shape 4"/>
          <p:cNvSpPr/>
          <p:nvPr/>
        </p:nvSpPr>
        <p:spPr>
          <a:xfrm>
            <a:off x="758952" y="2011680"/>
            <a:ext cx="2423160" cy="1280160"/>
          </a:xfrm>
          <a:prstGeom prst="roundRect">
            <a:avLst>
              <a:gd name="adj" fmla="val 5714"/>
            </a:avLst>
          </a:prstGeom>
          <a:solidFill>
            <a:srgbClr val="FFFFFF"/>
          </a:solidFill>
          <a:ln w="12700">
            <a:solidFill>
              <a:srgbClr val="E2E8F0"/>
            </a:solidFill>
            <a:prstDash val="solid"/>
          </a:ln>
        </p:spPr>
      </p:sp>
      <p:sp>
        <p:nvSpPr>
          <p:cNvPr id="7" name="Shape 5"/>
          <p:cNvSpPr/>
          <p:nvPr/>
        </p:nvSpPr>
        <p:spPr>
          <a:xfrm>
            <a:off x="923544" y="2286000"/>
            <a:ext cx="658368" cy="658368"/>
          </a:xfrm>
          <a:prstGeom prst="ellipse">
            <a:avLst/>
          </a:prstGeom>
          <a:solidFill>
            <a:srgbClr val="F8FAFC"/>
          </a:solidFill>
          <a:ln w="12700">
            <a:solidFill>
              <a:srgbClr val="F8FAFC"/>
            </a:solidFill>
            <a:prstDash val="solid"/>
          </a:ln>
        </p:spPr>
      </p:sp>
      <p:pic>
        <p:nvPicPr>
          <p:cNvPr id="8"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60704" y="2423160"/>
            <a:ext cx="292608" cy="292608"/>
          </a:xfrm>
          <a:prstGeom prst="rect">
            <a:avLst/>
          </a:prstGeom>
        </p:spPr>
      </p:pic>
      <p:sp>
        <p:nvSpPr>
          <p:cNvPr id="9" name="Text 6"/>
          <p:cNvSpPr/>
          <p:nvPr/>
        </p:nvSpPr>
        <p:spPr>
          <a:xfrm>
            <a:off x="1655064" y="2395728"/>
            <a:ext cx="1298448" cy="475488"/>
          </a:xfrm>
          <a:prstGeom prst="rect">
            <a:avLst/>
          </a:prstGeom>
          <a:noFill/>
          <a:ln/>
        </p:spPr>
        <p:txBody>
          <a:bodyPr wrap="square" lIns="0" tIns="0" rIns="0" bIns="0" rtlCol="0" anchor="ctr">
            <a:normAutofit/>
          </a:bodyPr>
          <a:lstStyle/>
          <a:p>
            <a:pPr marL="0" indent="0">
              <a:buNone/>
            </a:pPr>
            <a:r>
              <a:rPr lang="en-US" sz="1150" b="1" dirty="0">
                <a:solidFill>
                  <a:srgbClr val="334155"/>
                </a:solidFill>
              </a:rPr>
              <a:t>Kebersihan tangan</a:t>
            </a:r>
            <a:endParaRPr lang="en-US" sz="1150" dirty="0"/>
          </a:p>
        </p:txBody>
      </p:sp>
      <p:sp>
        <p:nvSpPr>
          <p:cNvPr id="10" name="Shape 7"/>
          <p:cNvSpPr/>
          <p:nvPr/>
        </p:nvSpPr>
        <p:spPr>
          <a:xfrm>
            <a:off x="3575304" y="2011680"/>
            <a:ext cx="2423160" cy="1280160"/>
          </a:xfrm>
          <a:prstGeom prst="roundRect">
            <a:avLst>
              <a:gd name="adj" fmla="val 5714"/>
            </a:avLst>
          </a:prstGeom>
          <a:solidFill>
            <a:srgbClr val="FFFFFF"/>
          </a:solidFill>
          <a:ln w="12700">
            <a:solidFill>
              <a:srgbClr val="E2E8F0"/>
            </a:solidFill>
            <a:prstDash val="solid"/>
          </a:ln>
        </p:spPr>
      </p:sp>
      <p:sp>
        <p:nvSpPr>
          <p:cNvPr id="11" name="Shape 8"/>
          <p:cNvSpPr/>
          <p:nvPr/>
        </p:nvSpPr>
        <p:spPr>
          <a:xfrm>
            <a:off x="3739896" y="2286000"/>
            <a:ext cx="658368" cy="658368"/>
          </a:xfrm>
          <a:prstGeom prst="ellipse">
            <a:avLst/>
          </a:prstGeom>
          <a:solidFill>
            <a:srgbClr val="F8FAFC"/>
          </a:solidFill>
          <a:ln w="12700">
            <a:solidFill>
              <a:srgbClr val="F8FAFC"/>
            </a:solidFill>
            <a:prstDash val="solid"/>
          </a:ln>
        </p:spPr>
      </p:sp>
      <p:pic>
        <p:nvPicPr>
          <p:cNvPr id="12"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877056" y="2423160"/>
            <a:ext cx="292608" cy="292608"/>
          </a:xfrm>
          <a:prstGeom prst="rect">
            <a:avLst/>
          </a:prstGeom>
        </p:spPr>
      </p:pic>
      <p:sp>
        <p:nvSpPr>
          <p:cNvPr id="13" name="Text 9"/>
          <p:cNvSpPr/>
          <p:nvPr/>
        </p:nvSpPr>
        <p:spPr>
          <a:xfrm>
            <a:off x="4471416" y="2395728"/>
            <a:ext cx="1298448" cy="475488"/>
          </a:xfrm>
          <a:prstGeom prst="rect">
            <a:avLst/>
          </a:prstGeom>
          <a:noFill/>
          <a:ln/>
        </p:spPr>
        <p:txBody>
          <a:bodyPr wrap="square" lIns="0" tIns="0" rIns="0" bIns="0" rtlCol="0" anchor="ctr">
            <a:normAutofit/>
          </a:bodyPr>
          <a:lstStyle/>
          <a:p>
            <a:pPr marL="0" indent="0">
              <a:buNone/>
            </a:pPr>
            <a:r>
              <a:rPr lang="en-US" sz="1150" b="1" dirty="0">
                <a:solidFill>
                  <a:srgbClr val="334155"/>
                </a:solidFill>
              </a:rPr>
              <a:t>APD sesuai risiko</a:t>
            </a:r>
            <a:endParaRPr lang="en-US" sz="1150" dirty="0"/>
          </a:p>
        </p:txBody>
      </p:sp>
      <p:sp>
        <p:nvSpPr>
          <p:cNvPr id="14" name="Shape 10"/>
          <p:cNvSpPr/>
          <p:nvPr/>
        </p:nvSpPr>
        <p:spPr>
          <a:xfrm>
            <a:off x="6391656" y="2011680"/>
            <a:ext cx="2423160" cy="1280160"/>
          </a:xfrm>
          <a:prstGeom prst="roundRect">
            <a:avLst>
              <a:gd name="adj" fmla="val 5714"/>
            </a:avLst>
          </a:prstGeom>
          <a:solidFill>
            <a:srgbClr val="FFFFFF"/>
          </a:solidFill>
          <a:ln w="12700">
            <a:solidFill>
              <a:srgbClr val="E2E8F0"/>
            </a:solidFill>
            <a:prstDash val="solid"/>
          </a:ln>
        </p:spPr>
      </p:sp>
      <p:sp>
        <p:nvSpPr>
          <p:cNvPr id="15" name="Shape 11"/>
          <p:cNvSpPr/>
          <p:nvPr/>
        </p:nvSpPr>
        <p:spPr>
          <a:xfrm>
            <a:off x="6556248" y="2286000"/>
            <a:ext cx="658368" cy="658368"/>
          </a:xfrm>
          <a:prstGeom prst="ellipse">
            <a:avLst/>
          </a:prstGeom>
          <a:solidFill>
            <a:srgbClr val="F8FAFC"/>
          </a:solidFill>
          <a:ln w="12700">
            <a:solidFill>
              <a:srgbClr val="F8FAFC"/>
            </a:solidFill>
            <a:prstDash val="solid"/>
          </a:ln>
        </p:spPr>
      </p:sp>
      <p:pic>
        <p:nvPicPr>
          <p:cNvPr id="16"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693408" y="2423160"/>
            <a:ext cx="292608" cy="292608"/>
          </a:xfrm>
          <a:prstGeom prst="rect">
            <a:avLst/>
          </a:prstGeom>
        </p:spPr>
      </p:pic>
      <p:sp>
        <p:nvSpPr>
          <p:cNvPr id="17" name="Text 12"/>
          <p:cNvSpPr/>
          <p:nvPr/>
        </p:nvSpPr>
        <p:spPr>
          <a:xfrm>
            <a:off x="7287768" y="2395728"/>
            <a:ext cx="1298448" cy="475488"/>
          </a:xfrm>
          <a:prstGeom prst="rect">
            <a:avLst/>
          </a:prstGeom>
          <a:noFill/>
          <a:ln/>
        </p:spPr>
        <p:txBody>
          <a:bodyPr wrap="square" lIns="0" tIns="0" rIns="0" bIns="0" rtlCol="0" anchor="ctr">
            <a:normAutofit/>
          </a:bodyPr>
          <a:lstStyle/>
          <a:p>
            <a:pPr marL="0" indent="0">
              <a:buNone/>
            </a:pPr>
            <a:r>
              <a:rPr lang="en-US" sz="1150" b="1" dirty="0">
                <a:solidFill>
                  <a:srgbClr val="334155"/>
                </a:solidFill>
              </a:rPr>
              <a:t>Etika batuk &amp; respirasi</a:t>
            </a:r>
            <a:endParaRPr lang="en-US" sz="1150" dirty="0"/>
          </a:p>
        </p:txBody>
      </p:sp>
      <p:sp>
        <p:nvSpPr>
          <p:cNvPr id="18" name="Shape 13"/>
          <p:cNvSpPr/>
          <p:nvPr/>
        </p:nvSpPr>
        <p:spPr>
          <a:xfrm>
            <a:off x="9208008" y="2011680"/>
            <a:ext cx="2423160" cy="1280160"/>
          </a:xfrm>
          <a:prstGeom prst="roundRect">
            <a:avLst>
              <a:gd name="adj" fmla="val 5714"/>
            </a:avLst>
          </a:prstGeom>
          <a:solidFill>
            <a:srgbClr val="FFFFFF"/>
          </a:solidFill>
          <a:ln w="12700">
            <a:solidFill>
              <a:srgbClr val="E2E8F0"/>
            </a:solidFill>
            <a:prstDash val="solid"/>
          </a:ln>
        </p:spPr>
      </p:sp>
      <p:sp>
        <p:nvSpPr>
          <p:cNvPr id="19" name="Shape 14"/>
          <p:cNvSpPr/>
          <p:nvPr/>
        </p:nvSpPr>
        <p:spPr>
          <a:xfrm>
            <a:off x="9372600" y="2286000"/>
            <a:ext cx="658368" cy="658368"/>
          </a:xfrm>
          <a:prstGeom prst="ellipse">
            <a:avLst/>
          </a:prstGeom>
          <a:solidFill>
            <a:srgbClr val="F8FAFC"/>
          </a:solidFill>
          <a:ln w="12700">
            <a:solidFill>
              <a:srgbClr val="F8FAFC"/>
            </a:solidFill>
            <a:prstDash val="solid"/>
          </a:ln>
        </p:spPr>
      </p:sp>
      <p:pic>
        <p:nvPicPr>
          <p:cNvPr id="20"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509760" y="2423160"/>
            <a:ext cx="292608" cy="292608"/>
          </a:xfrm>
          <a:prstGeom prst="rect">
            <a:avLst/>
          </a:prstGeom>
        </p:spPr>
      </p:pic>
      <p:sp>
        <p:nvSpPr>
          <p:cNvPr id="21" name="Text 15"/>
          <p:cNvSpPr/>
          <p:nvPr/>
        </p:nvSpPr>
        <p:spPr>
          <a:xfrm>
            <a:off x="10104120" y="2395728"/>
            <a:ext cx="1298448" cy="475488"/>
          </a:xfrm>
          <a:prstGeom prst="rect">
            <a:avLst/>
          </a:prstGeom>
          <a:noFill/>
          <a:ln/>
        </p:spPr>
        <p:txBody>
          <a:bodyPr wrap="square" lIns="0" tIns="0" rIns="0" bIns="0" rtlCol="0" anchor="ctr">
            <a:normAutofit/>
          </a:bodyPr>
          <a:lstStyle/>
          <a:p>
            <a:pPr marL="0" indent="0">
              <a:buNone/>
            </a:pPr>
            <a:r>
              <a:rPr lang="en-US" sz="1150" b="1" dirty="0">
                <a:solidFill>
                  <a:srgbClr val="334155"/>
                </a:solidFill>
              </a:rPr>
              <a:t>Keamanan injeksi</a:t>
            </a:r>
            <a:endParaRPr lang="en-US" sz="1150" dirty="0"/>
          </a:p>
        </p:txBody>
      </p:sp>
      <p:sp>
        <p:nvSpPr>
          <p:cNvPr id="22" name="Shape 16"/>
          <p:cNvSpPr/>
          <p:nvPr/>
        </p:nvSpPr>
        <p:spPr>
          <a:xfrm>
            <a:off x="758952" y="3639312"/>
            <a:ext cx="2423160" cy="1280160"/>
          </a:xfrm>
          <a:prstGeom prst="roundRect">
            <a:avLst>
              <a:gd name="adj" fmla="val 5714"/>
            </a:avLst>
          </a:prstGeom>
          <a:solidFill>
            <a:srgbClr val="FFFFFF"/>
          </a:solidFill>
          <a:ln w="12700">
            <a:solidFill>
              <a:srgbClr val="E2E8F0"/>
            </a:solidFill>
            <a:prstDash val="solid"/>
          </a:ln>
        </p:spPr>
      </p:sp>
      <p:sp>
        <p:nvSpPr>
          <p:cNvPr id="23" name="Shape 17"/>
          <p:cNvSpPr/>
          <p:nvPr/>
        </p:nvSpPr>
        <p:spPr>
          <a:xfrm>
            <a:off x="923544" y="3913632"/>
            <a:ext cx="658368" cy="658368"/>
          </a:xfrm>
          <a:prstGeom prst="ellipse">
            <a:avLst/>
          </a:prstGeom>
          <a:solidFill>
            <a:srgbClr val="F8FAFC"/>
          </a:solidFill>
          <a:ln w="12700">
            <a:solidFill>
              <a:srgbClr val="F8FAFC"/>
            </a:solidFill>
            <a:prstDash val="solid"/>
          </a:ln>
        </p:spPr>
      </p:sp>
      <p:pic>
        <p:nvPicPr>
          <p:cNvPr id="24"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060704" y="4050792"/>
            <a:ext cx="292608" cy="292608"/>
          </a:xfrm>
          <a:prstGeom prst="rect">
            <a:avLst/>
          </a:prstGeom>
        </p:spPr>
      </p:pic>
      <p:sp>
        <p:nvSpPr>
          <p:cNvPr id="25" name="Text 18"/>
          <p:cNvSpPr/>
          <p:nvPr/>
        </p:nvSpPr>
        <p:spPr>
          <a:xfrm>
            <a:off x="1655064" y="4023360"/>
            <a:ext cx="1298448" cy="475488"/>
          </a:xfrm>
          <a:prstGeom prst="rect">
            <a:avLst/>
          </a:prstGeom>
          <a:noFill/>
          <a:ln/>
        </p:spPr>
        <p:txBody>
          <a:bodyPr wrap="square" lIns="0" tIns="0" rIns="0" bIns="0" rtlCol="0" anchor="ctr">
            <a:normAutofit/>
          </a:bodyPr>
          <a:lstStyle/>
          <a:p>
            <a:pPr marL="0" indent="0">
              <a:buNone/>
            </a:pPr>
            <a:r>
              <a:rPr lang="en-US" sz="1150" b="1" dirty="0">
                <a:solidFill>
                  <a:srgbClr val="334155"/>
                </a:solidFill>
              </a:rPr>
              <a:t>Reprocessing alat</a:t>
            </a:r>
            <a:endParaRPr lang="en-US" sz="1150" dirty="0"/>
          </a:p>
        </p:txBody>
      </p:sp>
      <p:sp>
        <p:nvSpPr>
          <p:cNvPr id="26" name="Shape 19"/>
          <p:cNvSpPr/>
          <p:nvPr/>
        </p:nvSpPr>
        <p:spPr>
          <a:xfrm>
            <a:off x="3575304" y="3639312"/>
            <a:ext cx="2423160" cy="1280160"/>
          </a:xfrm>
          <a:prstGeom prst="roundRect">
            <a:avLst>
              <a:gd name="adj" fmla="val 5714"/>
            </a:avLst>
          </a:prstGeom>
          <a:solidFill>
            <a:srgbClr val="FFFFFF"/>
          </a:solidFill>
          <a:ln w="12700">
            <a:solidFill>
              <a:srgbClr val="E2E8F0"/>
            </a:solidFill>
            <a:prstDash val="solid"/>
          </a:ln>
        </p:spPr>
      </p:sp>
      <p:sp>
        <p:nvSpPr>
          <p:cNvPr id="27" name="Shape 20"/>
          <p:cNvSpPr/>
          <p:nvPr/>
        </p:nvSpPr>
        <p:spPr>
          <a:xfrm>
            <a:off x="3739896" y="3913632"/>
            <a:ext cx="658368" cy="658368"/>
          </a:xfrm>
          <a:prstGeom prst="ellipse">
            <a:avLst/>
          </a:prstGeom>
          <a:solidFill>
            <a:srgbClr val="F8FAFC"/>
          </a:solidFill>
          <a:ln w="12700">
            <a:solidFill>
              <a:srgbClr val="F8FAFC"/>
            </a:solidFill>
            <a:prstDash val="solid"/>
          </a:ln>
        </p:spPr>
      </p:sp>
      <p:pic>
        <p:nvPicPr>
          <p:cNvPr id="28"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3877056" y="4050792"/>
            <a:ext cx="292608" cy="292608"/>
          </a:xfrm>
          <a:prstGeom prst="rect">
            <a:avLst/>
          </a:prstGeom>
        </p:spPr>
      </p:pic>
      <p:sp>
        <p:nvSpPr>
          <p:cNvPr id="29" name="Text 21"/>
          <p:cNvSpPr/>
          <p:nvPr/>
        </p:nvSpPr>
        <p:spPr>
          <a:xfrm>
            <a:off x="4471416" y="4023360"/>
            <a:ext cx="1298448" cy="475488"/>
          </a:xfrm>
          <a:prstGeom prst="rect">
            <a:avLst/>
          </a:prstGeom>
          <a:noFill/>
          <a:ln/>
        </p:spPr>
        <p:txBody>
          <a:bodyPr wrap="square" lIns="0" tIns="0" rIns="0" bIns="0" rtlCol="0" anchor="ctr">
            <a:normAutofit/>
          </a:bodyPr>
          <a:lstStyle/>
          <a:p>
            <a:pPr marL="0" indent="0">
              <a:buNone/>
            </a:pPr>
            <a:r>
              <a:rPr lang="en-US" sz="1150" b="1" dirty="0">
                <a:solidFill>
                  <a:srgbClr val="334155"/>
                </a:solidFill>
              </a:rPr>
              <a:t>Kebersihan lingkungan</a:t>
            </a:r>
            <a:endParaRPr lang="en-US" sz="1150" dirty="0"/>
          </a:p>
        </p:txBody>
      </p:sp>
      <p:sp>
        <p:nvSpPr>
          <p:cNvPr id="30" name="Shape 22"/>
          <p:cNvSpPr/>
          <p:nvPr/>
        </p:nvSpPr>
        <p:spPr>
          <a:xfrm>
            <a:off x="6391656" y="3639312"/>
            <a:ext cx="2423160" cy="1280160"/>
          </a:xfrm>
          <a:prstGeom prst="roundRect">
            <a:avLst>
              <a:gd name="adj" fmla="val 5714"/>
            </a:avLst>
          </a:prstGeom>
          <a:solidFill>
            <a:srgbClr val="FFFFFF"/>
          </a:solidFill>
          <a:ln w="12700">
            <a:solidFill>
              <a:srgbClr val="E2E8F0"/>
            </a:solidFill>
            <a:prstDash val="solid"/>
          </a:ln>
        </p:spPr>
      </p:sp>
      <p:sp>
        <p:nvSpPr>
          <p:cNvPr id="31" name="Shape 23"/>
          <p:cNvSpPr/>
          <p:nvPr/>
        </p:nvSpPr>
        <p:spPr>
          <a:xfrm>
            <a:off x="6556248" y="3913632"/>
            <a:ext cx="658368" cy="658368"/>
          </a:xfrm>
          <a:prstGeom prst="ellipse">
            <a:avLst/>
          </a:prstGeom>
          <a:solidFill>
            <a:srgbClr val="F8FAFC"/>
          </a:solidFill>
          <a:ln w="12700">
            <a:solidFill>
              <a:srgbClr val="F8FAFC"/>
            </a:solidFill>
            <a:prstDash val="solid"/>
          </a:ln>
        </p:spPr>
      </p:sp>
      <p:pic>
        <p:nvPicPr>
          <p:cNvPr id="32" name="Image 6" descr="preencoded.png"/>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6693408" y="4050792"/>
            <a:ext cx="292608" cy="292608"/>
          </a:xfrm>
          <a:prstGeom prst="rect">
            <a:avLst/>
          </a:prstGeom>
        </p:spPr>
      </p:pic>
      <p:sp>
        <p:nvSpPr>
          <p:cNvPr id="33" name="Text 24"/>
          <p:cNvSpPr/>
          <p:nvPr/>
        </p:nvSpPr>
        <p:spPr>
          <a:xfrm>
            <a:off x="7287768" y="4023360"/>
            <a:ext cx="1298448" cy="475488"/>
          </a:xfrm>
          <a:prstGeom prst="rect">
            <a:avLst/>
          </a:prstGeom>
          <a:noFill/>
          <a:ln/>
        </p:spPr>
        <p:txBody>
          <a:bodyPr wrap="square" lIns="0" tIns="0" rIns="0" bIns="0" rtlCol="0" anchor="ctr">
            <a:normAutofit/>
          </a:bodyPr>
          <a:lstStyle/>
          <a:p>
            <a:pPr marL="0" indent="0">
              <a:buNone/>
            </a:pPr>
            <a:r>
              <a:rPr lang="en-US" sz="1150" b="1" dirty="0">
                <a:solidFill>
                  <a:srgbClr val="334155"/>
                </a:solidFill>
              </a:rPr>
              <a:t>Linen &amp; limbah</a:t>
            </a:r>
            <a:endParaRPr lang="en-US" sz="1150" dirty="0"/>
          </a:p>
        </p:txBody>
      </p:sp>
      <p:sp>
        <p:nvSpPr>
          <p:cNvPr id="34" name="Shape 25"/>
          <p:cNvSpPr/>
          <p:nvPr/>
        </p:nvSpPr>
        <p:spPr>
          <a:xfrm>
            <a:off x="9208008" y="3639312"/>
            <a:ext cx="2423160" cy="1280160"/>
          </a:xfrm>
          <a:prstGeom prst="roundRect">
            <a:avLst>
              <a:gd name="adj" fmla="val 5714"/>
            </a:avLst>
          </a:prstGeom>
          <a:solidFill>
            <a:srgbClr val="FFFFFF"/>
          </a:solidFill>
          <a:ln w="12700">
            <a:solidFill>
              <a:srgbClr val="E2E8F0"/>
            </a:solidFill>
            <a:prstDash val="solid"/>
          </a:ln>
        </p:spPr>
      </p:sp>
      <p:sp>
        <p:nvSpPr>
          <p:cNvPr id="35" name="Shape 26"/>
          <p:cNvSpPr/>
          <p:nvPr/>
        </p:nvSpPr>
        <p:spPr>
          <a:xfrm>
            <a:off x="9372600" y="3913632"/>
            <a:ext cx="658368" cy="658368"/>
          </a:xfrm>
          <a:prstGeom prst="ellipse">
            <a:avLst/>
          </a:prstGeom>
          <a:solidFill>
            <a:srgbClr val="F8FAFC"/>
          </a:solidFill>
          <a:ln w="12700">
            <a:solidFill>
              <a:srgbClr val="F8FAFC"/>
            </a:solidFill>
            <a:prstDash val="solid"/>
          </a:ln>
        </p:spPr>
      </p:sp>
      <p:pic>
        <p:nvPicPr>
          <p:cNvPr id="36" name="Image 7" descr="preencoded.png"/>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9509760" y="4050792"/>
            <a:ext cx="292608" cy="292608"/>
          </a:xfrm>
          <a:prstGeom prst="rect">
            <a:avLst/>
          </a:prstGeom>
        </p:spPr>
      </p:pic>
      <p:sp>
        <p:nvSpPr>
          <p:cNvPr id="37" name="Text 27"/>
          <p:cNvSpPr/>
          <p:nvPr/>
        </p:nvSpPr>
        <p:spPr>
          <a:xfrm>
            <a:off x="10104120" y="4023360"/>
            <a:ext cx="1298448" cy="475488"/>
          </a:xfrm>
          <a:prstGeom prst="rect">
            <a:avLst/>
          </a:prstGeom>
          <a:noFill/>
          <a:ln/>
        </p:spPr>
        <p:txBody>
          <a:bodyPr wrap="square" lIns="0" tIns="0" rIns="0" bIns="0" rtlCol="0" anchor="ctr">
            <a:normAutofit/>
          </a:bodyPr>
          <a:lstStyle/>
          <a:p>
            <a:pPr marL="0" indent="0">
              <a:buNone/>
            </a:pPr>
            <a:r>
              <a:rPr lang="en-US" sz="1150" b="1" dirty="0">
                <a:solidFill>
                  <a:srgbClr val="334155"/>
                </a:solidFill>
              </a:rPr>
              <a:t>Penempatan/isolation</a:t>
            </a:r>
            <a:endParaRPr lang="en-US" sz="1150" dirty="0"/>
          </a:p>
        </p:txBody>
      </p:sp>
      <p:sp>
        <p:nvSpPr>
          <p:cNvPr id="38" name="Text 28"/>
          <p:cNvSpPr/>
          <p:nvPr/>
        </p:nvSpPr>
        <p:spPr>
          <a:xfrm>
            <a:off x="1051560" y="5413248"/>
            <a:ext cx="10058400" cy="384048"/>
          </a:xfrm>
          <a:prstGeom prst="rect">
            <a:avLst/>
          </a:prstGeom>
          <a:noFill/>
          <a:ln/>
        </p:spPr>
        <p:txBody>
          <a:bodyPr wrap="square" lIns="0" tIns="0" rIns="0" bIns="0" rtlCol="0" anchor="ctr"/>
          <a:lstStyle/>
          <a:p>
            <a:pPr marL="0" indent="0" algn="ctr">
              <a:buNone/>
            </a:pPr>
            <a:r>
              <a:rPr lang="en-US" sz="1420" b="1" dirty="0">
                <a:solidFill>
                  <a:srgbClr val="0E7490"/>
                </a:solidFill>
              </a:rPr>
              <a:t>Prinsip kunci: lakukan berdasarkan risiko pajanan, bukan berdasarkan “terlihat sakit atau tidak”.</a:t>
            </a:r>
            <a:endParaRPr lang="en-US" sz="1420" dirty="0"/>
          </a:p>
        </p:txBody>
      </p:sp>
      <p:sp>
        <p:nvSpPr>
          <p:cNvPr id="39" name="Slide Number Placeholder 0"/>
          <p:cNvSpPr>
            <a:spLocks noGrp="1"/>
          </p:cNvSpPr>
          <p:nvPr>
            <p:ph type="sldNum" sz="quarter" idx="4294967295"/>
          </p:nvPr>
        </p:nvSpPr>
        <p:spPr>
          <a:xfrm>
            <a:off x="11475720" y="6492240"/>
            <a:ext cx="320040"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64748B"/>
                </a:solidFill>
                <a:latin typeface="Arial"/>
                <a:ea typeface="Arial"/>
                <a:cs typeface="Arial"/>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566928" y="347472"/>
            <a:ext cx="1417320" cy="310896"/>
          </a:xfrm>
          <a:prstGeom prst="roundRect">
            <a:avLst>
              <a:gd name="adj" fmla="val 23529"/>
            </a:avLst>
          </a:prstGeom>
          <a:solidFill>
            <a:srgbClr val="ECFEFF"/>
          </a:solidFill>
          <a:ln w="12700">
            <a:solidFill>
              <a:srgbClr val="ECFEFF"/>
            </a:solidFill>
            <a:prstDash val="solid"/>
          </a:ln>
        </p:spPr>
      </p:sp>
      <p:sp>
        <p:nvSpPr>
          <p:cNvPr id="3" name="Text 1"/>
          <p:cNvSpPr/>
          <p:nvPr/>
        </p:nvSpPr>
        <p:spPr>
          <a:xfrm>
            <a:off x="694944" y="429768"/>
            <a:ext cx="1170432" cy="128016"/>
          </a:xfrm>
          <a:prstGeom prst="rect">
            <a:avLst/>
          </a:prstGeom>
          <a:noFill/>
          <a:ln/>
        </p:spPr>
        <p:txBody>
          <a:bodyPr wrap="square" lIns="0" tIns="0" rIns="0" bIns="0" rtlCol="0" anchor="ctr"/>
          <a:lstStyle/>
          <a:p>
            <a:pPr marL="0" indent="0" algn="ctr">
              <a:buNone/>
            </a:pPr>
            <a:r>
              <a:rPr lang="en-US" sz="900" b="1" dirty="0">
                <a:solidFill>
                  <a:srgbClr val="0E7490"/>
                </a:solidFill>
                <a:latin typeface="Arial" pitchFamily="34" charset="0"/>
                <a:ea typeface="Arial" pitchFamily="34" charset="-122"/>
                <a:cs typeface="Arial" pitchFamily="34" charset="-120"/>
              </a:rPr>
              <a:t>PENGENDALIAN</a:t>
            </a:r>
            <a:endParaRPr lang="en-US" sz="900" dirty="0"/>
          </a:p>
        </p:txBody>
      </p:sp>
      <p:sp>
        <p:nvSpPr>
          <p:cNvPr id="4" name="Text 2"/>
          <p:cNvSpPr/>
          <p:nvPr/>
        </p:nvSpPr>
        <p:spPr>
          <a:xfrm>
            <a:off x="566928" y="777240"/>
            <a:ext cx="10972800" cy="566928"/>
          </a:xfrm>
          <a:prstGeom prst="rect">
            <a:avLst/>
          </a:prstGeom>
          <a:noFill/>
          <a:ln/>
        </p:spPr>
        <p:txBody>
          <a:bodyPr wrap="square" lIns="0" tIns="0" rIns="0" bIns="0" rtlCol="0" anchor="ctr">
            <a:normAutofit/>
          </a:bodyPr>
          <a:lstStyle/>
          <a:p>
            <a:pPr marL="0" indent="0">
              <a:buNone/>
            </a:pPr>
            <a:r>
              <a:rPr lang="en-US" sz="2700" b="1" dirty="0">
                <a:solidFill>
                  <a:srgbClr val="0F172A"/>
                </a:solidFill>
                <a:latin typeface="Arial" pitchFamily="34" charset="0"/>
                <a:ea typeface="Arial" pitchFamily="34" charset="-122"/>
                <a:cs typeface="Arial" pitchFamily="34" charset="-120"/>
              </a:rPr>
              <a:t>APD: Tepat Jenis, Tepat Waktu, Tepat Cara</a:t>
            </a:r>
            <a:endParaRPr lang="en-US" sz="2700" dirty="0"/>
          </a:p>
        </p:txBody>
      </p:sp>
      <p:sp>
        <p:nvSpPr>
          <p:cNvPr id="5" name="Text 3"/>
          <p:cNvSpPr/>
          <p:nvPr/>
        </p:nvSpPr>
        <p:spPr>
          <a:xfrm>
            <a:off x="566928" y="1371600"/>
            <a:ext cx="10881360" cy="384048"/>
          </a:xfrm>
          <a:prstGeom prst="rect">
            <a:avLst/>
          </a:prstGeom>
          <a:noFill/>
          <a:ln/>
        </p:spPr>
        <p:txBody>
          <a:bodyPr wrap="square" lIns="0" tIns="0" rIns="0" bIns="0" rtlCol="0" anchor="ctr">
            <a:normAutofit/>
          </a:bodyPr>
          <a:lstStyle/>
          <a:p>
            <a:pPr marL="0" indent="0">
              <a:buNone/>
            </a:pPr>
            <a:r>
              <a:rPr lang="en-US" sz="1250" dirty="0">
                <a:solidFill>
                  <a:srgbClr val="64748B"/>
                </a:solidFill>
                <a:latin typeface="Arial" pitchFamily="34" charset="0"/>
                <a:ea typeface="Arial" pitchFamily="34" charset="-122"/>
                <a:cs typeface="Arial" pitchFamily="34" charset="-120"/>
              </a:rPr>
              <a:t>APD adalah lapisan terakhir pengendalian — penting, tetapi tidak boleh menggantikan pengendalian sumber dan rekayasa.</a:t>
            </a:r>
            <a:endParaRPr lang="en-US" sz="1250" dirty="0"/>
          </a:p>
        </p:txBody>
      </p:sp>
      <p:sp>
        <p:nvSpPr>
          <p:cNvPr id="6" name="Shape 4"/>
          <p:cNvSpPr/>
          <p:nvPr/>
        </p:nvSpPr>
        <p:spPr>
          <a:xfrm>
            <a:off x="822960" y="1847088"/>
            <a:ext cx="6492240" cy="585216"/>
          </a:xfrm>
          <a:prstGeom prst="roundRect">
            <a:avLst>
              <a:gd name="adj" fmla="val 12500"/>
            </a:avLst>
          </a:prstGeom>
          <a:solidFill>
            <a:srgbClr val="FFFFFF"/>
          </a:solidFill>
          <a:ln w="12700">
            <a:solidFill>
              <a:srgbClr val="E2E8F0"/>
            </a:solidFill>
            <a:prstDash val="solid"/>
          </a:ln>
        </p:spPr>
      </p:sp>
      <p:sp>
        <p:nvSpPr>
          <p:cNvPr id="7" name="Shape 5"/>
          <p:cNvSpPr/>
          <p:nvPr/>
        </p:nvSpPr>
        <p:spPr>
          <a:xfrm>
            <a:off x="822960" y="1847088"/>
            <a:ext cx="82296" cy="585216"/>
          </a:xfrm>
          <a:prstGeom prst="rect">
            <a:avLst/>
          </a:prstGeom>
          <a:solidFill>
            <a:srgbClr val="0E7490"/>
          </a:solidFill>
          <a:ln w="12700">
            <a:solidFill>
              <a:srgbClr val="0E7490"/>
            </a:solidFill>
            <a:prstDash val="solid"/>
          </a:ln>
        </p:spPr>
      </p:sp>
      <p:sp>
        <p:nvSpPr>
          <p:cNvPr id="8" name="Text 6"/>
          <p:cNvSpPr/>
          <p:nvPr/>
        </p:nvSpPr>
        <p:spPr>
          <a:xfrm>
            <a:off x="1115568" y="1956816"/>
            <a:ext cx="1261872" cy="228600"/>
          </a:xfrm>
          <a:prstGeom prst="rect">
            <a:avLst/>
          </a:prstGeom>
          <a:noFill/>
          <a:ln/>
        </p:spPr>
        <p:txBody>
          <a:bodyPr wrap="square" lIns="0" tIns="0" rIns="0" bIns="0" rtlCol="0" anchor="ctr"/>
          <a:lstStyle/>
          <a:p>
            <a:pPr marL="0" indent="0">
              <a:buNone/>
            </a:pPr>
            <a:r>
              <a:rPr lang="en-US" sz="1270" b="1" dirty="0">
                <a:solidFill>
                  <a:srgbClr val="0E7490"/>
                </a:solidFill>
              </a:rPr>
              <a:t>1. Nilai risiko</a:t>
            </a:r>
            <a:endParaRPr lang="en-US" sz="1270" dirty="0"/>
          </a:p>
        </p:txBody>
      </p:sp>
      <p:sp>
        <p:nvSpPr>
          <p:cNvPr id="9" name="Text 7"/>
          <p:cNvSpPr/>
          <p:nvPr/>
        </p:nvSpPr>
        <p:spPr>
          <a:xfrm>
            <a:off x="2487168" y="1956816"/>
            <a:ext cx="4480560" cy="274320"/>
          </a:xfrm>
          <a:prstGeom prst="rect">
            <a:avLst/>
          </a:prstGeom>
          <a:noFill/>
          <a:ln/>
        </p:spPr>
        <p:txBody>
          <a:bodyPr wrap="square" lIns="0" tIns="0" rIns="0" bIns="0" rtlCol="0" anchor="ctr">
            <a:normAutofit/>
          </a:bodyPr>
          <a:lstStyle/>
          <a:p>
            <a:pPr marL="0" indent="0">
              <a:buNone/>
            </a:pPr>
            <a:r>
              <a:rPr lang="en-US" sz="1170" dirty="0">
                <a:solidFill>
                  <a:srgbClr val="334155"/>
                </a:solidFill>
              </a:rPr>
              <a:t>Apa pajanan yang mungkin terjadi?</a:t>
            </a:r>
            <a:endParaRPr lang="en-US" sz="1170" dirty="0"/>
          </a:p>
        </p:txBody>
      </p:sp>
      <p:sp>
        <p:nvSpPr>
          <p:cNvPr id="10" name="Shape 8"/>
          <p:cNvSpPr/>
          <p:nvPr/>
        </p:nvSpPr>
        <p:spPr>
          <a:xfrm>
            <a:off x="822960" y="2606040"/>
            <a:ext cx="6492240" cy="585216"/>
          </a:xfrm>
          <a:prstGeom prst="roundRect">
            <a:avLst>
              <a:gd name="adj" fmla="val 12500"/>
            </a:avLst>
          </a:prstGeom>
          <a:solidFill>
            <a:srgbClr val="FFFFFF"/>
          </a:solidFill>
          <a:ln w="12700">
            <a:solidFill>
              <a:srgbClr val="E2E8F0"/>
            </a:solidFill>
            <a:prstDash val="solid"/>
          </a:ln>
        </p:spPr>
      </p:sp>
      <p:sp>
        <p:nvSpPr>
          <p:cNvPr id="11" name="Shape 9"/>
          <p:cNvSpPr/>
          <p:nvPr/>
        </p:nvSpPr>
        <p:spPr>
          <a:xfrm>
            <a:off x="822960" y="2606040"/>
            <a:ext cx="82296" cy="585216"/>
          </a:xfrm>
          <a:prstGeom prst="rect">
            <a:avLst/>
          </a:prstGeom>
          <a:solidFill>
            <a:srgbClr val="2563EB"/>
          </a:solidFill>
          <a:ln w="12700">
            <a:solidFill>
              <a:srgbClr val="2563EB"/>
            </a:solidFill>
            <a:prstDash val="solid"/>
          </a:ln>
        </p:spPr>
      </p:sp>
      <p:sp>
        <p:nvSpPr>
          <p:cNvPr id="12" name="Text 10"/>
          <p:cNvSpPr/>
          <p:nvPr/>
        </p:nvSpPr>
        <p:spPr>
          <a:xfrm>
            <a:off x="1115568" y="2715768"/>
            <a:ext cx="1261872" cy="228600"/>
          </a:xfrm>
          <a:prstGeom prst="rect">
            <a:avLst/>
          </a:prstGeom>
          <a:noFill/>
          <a:ln/>
        </p:spPr>
        <p:txBody>
          <a:bodyPr wrap="square" lIns="0" tIns="0" rIns="0" bIns="0" rtlCol="0" anchor="ctr"/>
          <a:lstStyle/>
          <a:p>
            <a:pPr marL="0" indent="0">
              <a:buNone/>
            </a:pPr>
            <a:r>
              <a:rPr lang="en-US" sz="1270" b="1" dirty="0">
                <a:solidFill>
                  <a:srgbClr val="2563EB"/>
                </a:solidFill>
              </a:rPr>
              <a:t>2. Pilih APD</a:t>
            </a:r>
            <a:endParaRPr lang="en-US" sz="1270" dirty="0"/>
          </a:p>
        </p:txBody>
      </p:sp>
      <p:sp>
        <p:nvSpPr>
          <p:cNvPr id="13" name="Text 11"/>
          <p:cNvSpPr/>
          <p:nvPr/>
        </p:nvSpPr>
        <p:spPr>
          <a:xfrm>
            <a:off x="2487168" y="2715768"/>
            <a:ext cx="4480560" cy="274320"/>
          </a:xfrm>
          <a:prstGeom prst="rect">
            <a:avLst/>
          </a:prstGeom>
          <a:noFill/>
          <a:ln/>
        </p:spPr>
        <p:txBody>
          <a:bodyPr wrap="square" lIns="0" tIns="0" rIns="0" bIns="0" rtlCol="0" anchor="ctr">
            <a:normAutofit/>
          </a:bodyPr>
          <a:lstStyle/>
          <a:p>
            <a:pPr marL="0" indent="0">
              <a:buNone/>
            </a:pPr>
            <a:r>
              <a:rPr lang="en-US" sz="1170" dirty="0">
                <a:solidFill>
                  <a:srgbClr val="334155"/>
                </a:solidFill>
              </a:rPr>
              <a:t>Sarung tangan, masker/respirator, gown, pelindung mata, dll.</a:t>
            </a:r>
            <a:endParaRPr lang="en-US" sz="1170" dirty="0"/>
          </a:p>
        </p:txBody>
      </p:sp>
      <p:sp>
        <p:nvSpPr>
          <p:cNvPr id="14" name="Shape 12"/>
          <p:cNvSpPr/>
          <p:nvPr/>
        </p:nvSpPr>
        <p:spPr>
          <a:xfrm>
            <a:off x="822960" y="3364992"/>
            <a:ext cx="6492240" cy="585216"/>
          </a:xfrm>
          <a:prstGeom prst="roundRect">
            <a:avLst>
              <a:gd name="adj" fmla="val 12500"/>
            </a:avLst>
          </a:prstGeom>
          <a:solidFill>
            <a:srgbClr val="FFFFFF"/>
          </a:solidFill>
          <a:ln w="12700">
            <a:solidFill>
              <a:srgbClr val="E2E8F0"/>
            </a:solidFill>
            <a:prstDash val="solid"/>
          </a:ln>
        </p:spPr>
      </p:sp>
      <p:sp>
        <p:nvSpPr>
          <p:cNvPr id="15" name="Shape 13"/>
          <p:cNvSpPr/>
          <p:nvPr/>
        </p:nvSpPr>
        <p:spPr>
          <a:xfrm>
            <a:off x="822960" y="3364992"/>
            <a:ext cx="82296" cy="585216"/>
          </a:xfrm>
          <a:prstGeom prst="rect">
            <a:avLst/>
          </a:prstGeom>
          <a:solidFill>
            <a:srgbClr val="7C3AED"/>
          </a:solidFill>
          <a:ln w="12700">
            <a:solidFill>
              <a:srgbClr val="7C3AED"/>
            </a:solidFill>
            <a:prstDash val="solid"/>
          </a:ln>
        </p:spPr>
      </p:sp>
      <p:sp>
        <p:nvSpPr>
          <p:cNvPr id="16" name="Text 14"/>
          <p:cNvSpPr/>
          <p:nvPr/>
        </p:nvSpPr>
        <p:spPr>
          <a:xfrm>
            <a:off x="1115568" y="3474720"/>
            <a:ext cx="1261872" cy="228600"/>
          </a:xfrm>
          <a:prstGeom prst="rect">
            <a:avLst/>
          </a:prstGeom>
          <a:noFill/>
          <a:ln/>
        </p:spPr>
        <p:txBody>
          <a:bodyPr wrap="square" lIns="0" tIns="0" rIns="0" bIns="0" rtlCol="0" anchor="ctr"/>
          <a:lstStyle/>
          <a:p>
            <a:pPr marL="0" indent="0">
              <a:buNone/>
            </a:pPr>
            <a:r>
              <a:rPr lang="en-US" sz="1270" b="1" dirty="0">
                <a:solidFill>
                  <a:srgbClr val="7C3AED"/>
                </a:solidFill>
              </a:rPr>
              <a:t>3. Pakai benar</a:t>
            </a:r>
            <a:endParaRPr lang="en-US" sz="1270" dirty="0"/>
          </a:p>
        </p:txBody>
      </p:sp>
      <p:sp>
        <p:nvSpPr>
          <p:cNvPr id="17" name="Text 15"/>
          <p:cNvSpPr/>
          <p:nvPr/>
        </p:nvSpPr>
        <p:spPr>
          <a:xfrm>
            <a:off x="2487168" y="3474720"/>
            <a:ext cx="4480560" cy="274320"/>
          </a:xfrm>
          <a:prstGeom prst="rect">
            <a:avLst/>
          </a:prstGeom>
          <a:noFill/>
          <a:ln/>
        </p:spPr>
        <p:txBody>
          <a:bodyPr wrap="square" lIns="0" tIns="0" rIns="0" bIns="0" rtlCol="0" anchor="ctr">
            <a:normAutofit/>
          </a:bodyPr>
          <a:lstStyle/>
          <a:p>
            <a:pPr marL="0" indent="0">
              <a:buNone/>
            </a:pPr>
            <a:r>
              <a:rPr lang="en-US" sz="1170" dirty="0">
                <a:solidFill>
                  <a:srgbClr val="334155"/>
                </a:solidFill>
              </a:rPr>
              <a:t>Pastikan ukuran, fit, urutan, dan integritas APD.</a:t>
            </a:r>
            <a:endParaRPr lang="en-US" sz="1170" dirty="0"/>
          </a:p>
        </p:txBody>
      </p:sp>
      <p:sp>
        <p:nvSpPr>
          <p:cNvPr id="18" name="Shape 16"/>
          <p:cNvSpPr/>
          <p:nvPr/>
        </p:nvSpPr>
        <p:spPr>
          <a:xfrm>
            <a:off x="822960" y="4123944"/>
            <a:ext cx="6492240" cy="585216"/>
          </a:xfrm>
          <a:prstGeom prst="roundRect">
            <a:avLst>
              <a:gd name="adj" fmla="val 12500"/>
            </a:avLst>
          </a:prstGeom>
          <a:solidFill>
            <a:srgbClr val="FFFFFF"/>
          </a:solidFill>
          <a:ln w="12700">
            <a:solidFill>
              <a:srgbClr val="E2E8F0"/>
            </a:solidFill>
            <a:prstDash val="solid"/>
          </a:ln>
        </p:spPr>
      </p:sp>
      <p:sp>
        <p:nvSpPr>
          <p:cNvPr id="19" name="Shape 17"/>
          <p:cNvSpPr/>
          <p:nvPr/>
        </p:nvSpPr>
        <p:spPr>
          <a:xfrm>
            <a:off x="822960" y="4123944"/>
            <a:ext cx="82296" cy="585216"/>
          </a:xfrm>
          <a:prstGeom prst="rect">
            <a:avLst/>
          </a:prstGeom>
          <a:solidFill>
            <a:srgbClr val="DC2626"/>
          </a:solidFill>
          <a:ln w="12700">
            <a:solidFill>
              <a:srgbClr val="DC2626"/>
            </a:solidFill>
            <a:prstDash val="solid"/>
          </a:ln>
        </p:spPr>
      </p:sp>
      <p:sp>
        <p:nvSpPr>
          <p:cNvPr id="20" name="Text 18"/>
          <p:cNvSpPr/>
          <p:nvPr/>
        </p:nvSpPr>
        <p:spPr>
          <a:xfrm>
            <a:off x="1115568" y="4233672"/>
            <a:ext cx="1261872" cy="228600"/>
          </a:xfrm>
          <a:prstGeom prst="rect">
            <a:avLst/>
          </a:prstGeom>
          <a:noFill/>
          <a:ln/>
        </p:spPr>
        <p:txBody>
          <a:bodyPr wrap="square" lIns="0" tIns="0" rIns="0" bIns="0" rtlCol="0" anchor="ctr"/>
          <a:lstStyle/>
          <a:p>
            <a:pPr marL="0" indent="0">
              <a:buNone/>
            </a:pPr>
            <a:r>
              <a:rPr lang="en-US" sz="1270" b="1" dirty="0">
                <a:solidFill>
                  <a:srgbClr val="DC2626"/>
                </a:solidFill>
              </a:rPr>
              <a:t>4. Lepas aman</a:t>
            </a:r>
            <a:endParaRPr lang="en-US" sz="1270" dirty="0"/>
          </a:p>
        </p:txBody>
      </p:sp>
      <p:sp>
        <p:nvSpPr>
          <p:cNvPr id="21" name="Text 19"/>
          <p:cNvSpPr/>
          <p:nvPr/>
        </p:nvSpPr>
        <p:spPr>
          <a:xfrm>
            <a:off x="2487168" y="4233672"/>
            <a:ext cx="4480560" cy="274320"/>
          </a:xfrm>
          <a:prstGeom prst="rect">
            <a:avLst/>
          </a:prstGeom>
          <a:noFill/>
          <a:ln/>
        </p:spPr>
        <p:txBody>
          <a:bodyPr wrap="square" lIns="0" tIns="0" rIns="0" bIns="0" rtlCol="0" anchor="ctr">
            <a:normAutofit/>
          </a:bodyPr>
          <a:lstStyle/>
          <a:p>
            <a:pPr marL="0" indent="0">
              <a:buNone/>
            </a:pPr>
            <a:r>
              <a:rPr lang="en-US" sz="1170" dirty="0">
                <a:solidFill>
                  <a:srgbClr val="334155"/>
                </a:solidFill>
              </a:rPr>
              <a:t>Hindari menyentuh area yang terkontaminasi.</a:t>
            </a:r>
            <a:endParaRPr lang="en-US" sz="1170" dirty="0"/>
          </a:p>
        </p:txBody>
      </p:sp>
      <p:sp>
        <p:nvSpPr>
          <p:cNvPr id="22" name="Shape 20"/>
          <p:cNvSpPr/>
          <p:nvPr/>
        </p:nvSpPr>
        <p:spPr>
          <a:xfrm>
            <a:off x="822960" y="4882896"/>
            <a:ext cx="6492240" cy="585216"/>
          </a:xfrm>
          <a:prstGeom prst="roundRect">
            <a:avLst>
              <a:gd name="adj" fmla="val 12500"/>
            </a:avLst>
          </a:prstGeom>
          <a:solidFill>
            <a:srgbClr val="FFFFFF"/>
          </a:solidFill>
          <a:ln w="12700">
            <a:solidFill>
              <a:srgbClr val="E2E8F0"/>
            </a:solidFill>
            <a:prstDash val="solid"/>
          </a:ln>
        </p:spPr>
      </p:sp>
      <p:sp>
        <p:nvSpPr>
          <p:cNvPr id="23" name="Shape 21"/>
          <p:cNvSpPr/>
          <p:nvPr/>
        </p:nvSpPr>
        <p:spPr>
          <a:xfrm>
            <a:off x="822960" y="4882896"/>
            <a:ext cx="82296" cy="585216"/>
          </a:xfrm>
          <a:prstGeom prst="rect">
            <a:avLst/>
          </a:prstGeom>
          <a:solidFill>
            <a:srgbClr val="059669"/>
          </a:solidFill>
          <a:ln w="12700">
            <a:solidFill>
              <a:srgbClr val="059669"/>
            </a:solidFill>
            <a:prstDash val="solid"/>
          </a:ln>
        </p:spPr>
      </p:sp>
      <p:sp>
        <p:nvSpPr>
          <p:cNvPr id="24" name="Text 22"/>
          <p:cNvSpPr/>
          <p:nvPr/>
        </p:nvSpPr>
        <p:spPr>
          <a:xfrm>
            <a:off x="1115568" y="4992624"/>
            <a:ext cx="1261872" cy="228600"/>
          </a:xfrm>
          <a:prstGeom prst="rect">
            <a:avLst/>
          </a:prstGeom>
          <a:noFill/>
          <a:ln/>
        </p:spPr>
        <p:txBody>
          <a:bodyPr wrap="square" lIns="0" tIns="0" rIns="0" bIns="0" rtlCol="0" anchor="ctr"/>
          <a:lstStyle/>
          <a:p>
            <a:pPr marL="0" indent="0">
              <a:buNone/>
            </a:pPr>
            <a:r>
              <a:rPr lang="en-US" sz="1270" b="1" dirty="0">
                <a:solidFill>
                  <a:srgbClr val="059669"/>
                </a:solidFill>
              </a:rPr>
              <a:t>5. Buang / proses</a:t>
            </a:r>
            <a:endParaRPr lang="en-US" sz="1270" dirty="0"/>
          </a:p>
        </p:txBody>
      </p:sp>
      <p:sp>
        <p:nvSpPr>
          <p:cNvPr id="25" name="Text 23"/>
          <p:cNvSpPr/>
          <p:nvPr/>
        </p:nvSpPr>
        <p:spPr>
          <a:xfrm>
            <a:off x="2487168" y="4992624"/>
            <a:ext cx="4480560" cy="274320"/>
          </a:xfrm>
          <a:prstGeom prst="rect">
            <a:avLst/>
          </a:prstGeom>
          <a:noFill/>
          <a:ln/>
        </p:spPr>
        <p:txBody>
          <a:bodyPr wrap="square" lIns="0" tIns="0" rIns="0" bIns="0" rtlCol="0" anchor="ctr">
            <a:normAutofit/>
          </a:bodyPr>
          <a:lstStyle/>
          <a:p>
            <a:pPr marL="0" indent="0">
              <a:buNone/>
            </a:pPr>
            <a:r>
              <a:rPr lang="en-US" sz="1170" dirty="0">
                <a:solidFill>
                  <a:srgbClr val="334155"/>
                </a:solidFill>
              </a:rPr>
              <a:t>Sesuai jenis APD, limbah, dan kebijakan fasilitas.</a:t>
            </a:r>
            <a:endParaRPr lang="en-US" sz="1170" dirty="0"/>
          </a:p>
        </p:txBody>
      </p:sp>
      <p:sp>
        <p:nvSpPr>
          <p:cNvPr id="26" name="Shape 24"/>
          <p:cNvSpPr/>
          <p:nvPr/>
        </p:nvSpPr>
        <p:spPr>
          <a:xfrm>
            <a:off x="8046720" y="2176272"/>
            <a:ext cx="2697480" cy="2697480"/>
          </a:xfrm>
          <a:prstGeom prst="ellipse">
            <a:avLst/>
          </a:prstGeom>
          <a:solidFill>
            <a:srgbClr val="ECFEFF"/>
          </a:solidFill>
          <a:ln w="12700">
            <a:solidFill>
              <a:srgbClr val="A5F3FC"/>
            </a:solidFill>
            <a:prstDash val="solid"/>
          </a:ln>
        </p:spPr>
      </p:sp>
      <p:pic>
        <p:nvPicPr>
          <p:cNvPr id="27"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741664" y="2788920"/>
            <a:ext cx="1325880" cy="1325880"/>
          </a:xfrm>
          <a:prstGeom prst="rect">
            <a:avLst/>
          </a:prstGeom>
        </p:spPr>
      </p:pic>
      <p:sp>
        <p:nvSpPr>
          <p:cNvPr id="28" name="Text 25"/>
          <p:cNvSpPr/>
          <p:nvPr/>
        </p:nvSpPr>
        <p:spPr>
          <a:xfrm>
            <a:off x="8275320" y="4956048"/>
            <a:ext cx="2240280" cy="713232"/>
          </a:xfrm>
          <a:prstGeom prst="rect">
            <a:avLst/>
          </a:prstGeom>
          <a:noFill/>
          <a:ln/>
        </p:spPr>
        <p:txBody>
          <a:bodyPr wrap="square" lIns="0" tIns="0" rIns="0" bIns="0" rtlCol="0" anchor="ctr"/>
          <a:lstStyle/>
          <a:p>
            <a:pPr marL="0" indent="0" algn="ctr">
              <a:buNone/>
            </a:pPr>
            <a:r>
              <a:rPr lang="en-US" sz="1400" b="1" dirty="0">
                <a:solidFill>
                  <a:srgbClr val="0F172A"/>
                </a:solidFill>
              </a:rPr>
              <a:t>APD BUKAN</a:t>
            </a:r>
            <a:endParaRPr lang="en-US" sz="1400" dirty="0"/>
          </a:p>
          <a:p>
            <a:pPr marL="0" indent="0" algn="ctr">
              <a:buNone/>
            </a:pPr>
            <a:r>
              <a:rPr lang="en-US" sz="1400" b="1" dirty="0">
                <a:solidFill>
                  <a:srgbClr val="0F172A"/>
                </a:solidFill>
              </a:rPr>
              <a:t>SATU-SATUNYA</a:t>
            </a:r>
            <a:endParaRPr lang="en-US" sz="1400" dirty="0"/>
          </a:p>
          <a:p>
            <a:pPr marL="0" indent="0" algn="ctr">
              <a:buNone/>
            </a:pPr>
            <a:r>
              <a:rPr lang="en-US" sz="1400" b="1" dirty="0">
                <a:solidFill>
                  <a:srgbClr val="0F172A"/>
                </a:solidFill>
              </a:rPr>
              <a:t>PENGENDALIAN</a:t>
            </a:r>
            <a:endParaRPr lang="en-US" sz="1400" dirty="0"/>
          </a:p>
        </p:txBody>
      </p:sp>
      <p:sp>
        <p:nvSpPr>
          <p:cNvPr id="29" name="Text 26"/>
          <p:cNvSpPr/>
          <p:nvPr/>
        </p:nvSpPr>
        <p:spPr>
          <a:xfrm>
            <a:off x="566928" y="6291072"/>
            <a:ext cx="10698480" cy="164592"/>
          </a:xfrm>
          <a:prstGeom prst="rect">
            <a:avLst/>
          </a:prstGeom>
          <a:noFill/>
          <a:ln/>
        </p:spPr>
        <p:txBody>
          <a:bodyPr wrap="square" lIns="0" tIns="0" rIns="0" bIns="0" rtlCol="0" anchor="ctr">
            <a:normAutofit/>
          </a:bodyPr>
          <a:lstStyle/>
          <a:p>
            <a:pPr marL="0" indent="0">
              <a:buNone/>
            </a:pPr>
            <a:r>
              <a:rPr lang="en-US" sz="730" i="1" dirty="0">
                <a:solidFill>
                  <a:srgbClr val="94A3B8"/>
                </a:solidFill>
                <a:latin typeface="Arial" pitchFamily="34" charset="0"/>
                <a:ea typeface="Arial" pitchFamily="34" charset="-122"/>
                <a:cs typeface="Arial" pitchFamily="34" charset="-120"/>
              </a:rPr>
              <a:t>WHO/ILO: gunakan hierarchy of controls; PPE adalah lapisan proteksi terakhir.</a:t>
            </a:r>
            <a:endParaRPr lang="en-US" sz="730" dirty="0"/>
          </a:p>
        </p:txBody>
      </p:sp>
      <p:sp>
        <p:nvSpPr>
          <p:cNvPr id="30" name="Slide Number Placeholder 0"/>
          <p:cNvSpPr>
            <a:spLocks noGrp="1"/>
          </p:cNvSpPr>
          <p:nvPr>
            <p:ph type="sldNum" sz="quarter" idx="4294967295"/>
          </p:nvPr>
        </p:nvSpPr>
        <p:spPr>
          <a:xfrm>
            <a:off x="11475720" y="6492240"/>
            <a:ext cx="320040"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64748B"/>
                </a:solidFill>
                <a:latin typeface="Arial"/>
                <a:ea typeface="Arial"/>
                <a:cs typeface="Arial"/>
              </a:defRPr>
            </a:lvl1pPr>
          </a:lstStyle>
          <a:p>
            <a:pPr algn="r"/>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566928" y="347472"/>
            <a:ext cx="1417320" cy="310896"/>
          </a:xfrm>
          <a:prstGeom prst="roundRect">
            <a:avLst>
              <a:gd name="adj" fmla="val 23529"/>
            </a:avLst>
          </a:prstGeom>
          <a:solidFill>
            <a:srgbClr val="ECFEFF"/>
          </a:solidFill>
          <a:ln w="12700">
            <a:solidFill>
              <a:srgbClr val="ECFEFF"/>
            </a:solidFill>
            <a:prstDash val="solid"/>
          </a:ln>
        </p:spPr>
      </p:sp>
      <p:sp>
        <p:nvSpPr>
          <p:cNvPr id="3" name="Text 1"/>
          <p:cNvSpPr/>
          <p:nvPr/>
        </p:nvSpPr>
        <p:spPr>
          <a:xfrm>
            <a:off x="694944" y="429768"/>
            <a:ext cx="1170432" cy="128016"/>
          </a:xfrm>
          <a:prstGeom prst="rect">
            <a:avLst/>
          </a:prstGeom>
          <a:noFill/>
          <a:ln/>
        </p:spPr>
        <p:txBody>
          <a:bodyPr wrap="square" lIns="0" tIns="0" rIns="0" bIns="0" rtlCol="0" anchor="ctr"/>
          <a:lstStyle/>
          <a:p>
            <a:pPr marL="0" indent="0" algn="ctr">
              <a:buNone/>
            </a:pPr>
            <a:r>
              <a:rPr lang="en-US" sz="900" b="1" dirty="0">
                <a:solidFill>
                  <a:srgbClr val="0E7490"/>
                </a:solidFill>
                <a:latin typeface="Arial" pitchFamily="34" charset="0"/>
                <a:ea typeface="Arial" pitchFamily="34" charset="-122"/>
                <a:cs typeface="Arial" pitchFamily="34" charset="-120"/>
              </a:rPr>
              <a:t>PENGENDALIAN</a:t>
            </a:r>
            <a:endParaRPr lang="en-US" sz="900" dirty="0"/>
          </a:p>
        </p:txBody>
      </p:sp>
      <p:sp>
        <p:nvSpPr>
          <p:cNvPr id="4" name="Text 2"/>
          <p:cNvSpPr/>
          <p:nvPr/>
        </p:nvSpPr>
        <p:spPr>
          <a:xfrm>
            <a:off x="566928" y="777240"/>
            <a:ext cx="10972800" cy="566928"/>
          </a:xfrm>
          <a:prstGeom prst="rect">
            <a:avLst/>
          </a:prstGeom>
          <a:noFill/>
          <a:ln/>
        </p:spPr>
        <p:txBody>
          <a:bodyPr wrap="square" lIns="0" tIns="0" rIns="0" bIns="0" rtlCol="0" anchor="ctr">
            <a:normAutofit/>
          </a:bodyPr>
          <a:lstStyle/>
          <a:p>
            <a:pPr marL="0" indent="0">
              <a:buNone/>
            </a:pPr>
            <a:r>
              <a:rPr lang="en-US" sz="2700" b="1" dirty="0">
                <a:solidFill>
                  <a:srgbClr val="0F172A"/>
                </a:solidFill>
                <a:latin typeface="Arial" pitchFamily="34" charset="0"/>
                <a:ea typeface="Arial" pitchFamily="34" charset="-122"/>
                <a:cs typeface="Arial" pitchFamily="34" charset="-120"/>
              </a:rPr>
              <a:t>Safe Patient Handling</a:t>
            </a:r>
            <a:endParaRPr lang="en-US" sz="2700" dirty="0"/>
          </a:p>
        </p:txBody>
      </p:sp>
      <p:sp>
        <p:nvSpPr>
          <p:cNvPr id="5" name="Text 3"/>
          <p:cNvSpPr/>
          <p:nvPr/>
        </p:nvSpPr>
        <p:spPr>
          <a:xfrm>
            <a:off x="566928" y="1371600"/>
            <a:ext cx="10881360" cy="384048"/>
          </a:xfrm>
          <a:prstGeom prst="rect">
            <a:avLst/>
          </a:prstGeom>
          <a:noFill/>
          <a:ln/>
        </p:spPr>
        <p:txBody>
          <a:bodyPr wrap="square" lIns="0" tIns="0" rIns="0" bIns="0" rtlCol="0" anchor="ctr">
            <a:normAutofit/>
          </a:bodyPr>
          <a:lstStyle/>
          <a:p>
            <a:pPr marL="0" indent="0">
              <a:buNone/>
            </a:pPr>
            <a:r>
              <a:rPr lang="en-US" sz="1250" dirty="0">
                <a:solidFill>
                  <a:srgbClr val="64748B"/>
                </a:solidFill>
                <a:latin typeface="Arial" pitchFamily="34" charset="0"/>
                <a:ea typeface="Arial" pitchFamily="34" charset="-122"/>
                <a:cs typeface="Arial" pitchFamily="34" charset="-120"/>
              </a:rPr>
              <a:t>Memindahkan pasien harus diperlakukan sebagai aktivitas berisiko yang perlu penilaian, koordinasi, dan alat bantu.</a:t>
            </a:r>
            <a:endParaRPr lang="en-US" sz="1250" dirty="0"/>
          </a:p>
        </p:txBody>
      </p:sp>
      <p:sp>
        <p:nvSpPr>
          <p:cNvPr id="6" name="Text 4"/>
          <p:cNvSpPr/>
          <p:nvPr/>
        </p:nvSpPr>
        <p:spPr>
          <a:xfrm>
            <a:off x="822960" y="1920240"/>
            <a:ext cx="4937760" cy="3337560"/>
          </a:xfrm>
          <a:prstGeom prst="rect">
            <a:avLst/>
          </a:prstGeom>
          <a:noFill/>
          <a:ln/>
        </p:spPr>
        <p:txBody>
          <a:bodyPr wrap="square" lIns="381" tIns="381" rIns="381" bIns="381" rtlCol="0" anchor="ctr">
            <a:normAutofit/>
          </a:bodyPr>
          <a:lstStyle/>
          <a:p>
            <a:pPr marL="203200" indent="-203200">
              <a:buSzPct val="100000"/>
              <a:buChar char="•"/>
            </a:pPr>
            <a:r>
              <a:rPr lang="en-US" sz="1530" dirty="0">
                <a:solidFill>
                  <a:srgbClr val="334155"/>
                </a:solidFill>
                <a:latin typeface="Arial" pitchFamily="34" charset="0"/>
                <a:ea typeface="Arial" pitchFamily="34" charset="-122"/>
                <a:cs typeface="Arial" pitchFamily="34" charset="-120"/>
              </a:rPr>
              <a:t>Nilai kemampuan pasien untuk berdiri/berpindah.</a:t>
            </a:r>
            <a:endParaRPr lang="en-US" sz="1530" dirty="0"/>
          </a:p>
          <a:p>
            <a:pPr marL="203200" indent="-203200">
              <a:buSzPct val="100000"/>
              <a:buChar char="•"/>
            </a:pPr>
            <a:r>
              <a:rPr lang="en-US" sz="1530" dirty="0">
                <a:solidFill>
                  <a:srgbClr val="334155"/>
                </a:solidFill>
                <a:latin typeface="Arial" pitchFamily="34" charset="0"/>
                <a:ea typeface="Arial" pitchFamily="34" charset="-122"/>
                <a:cs typeface="Arial" pitchFamily="34" charset="-120"/>
              </a:rPr>
              <a:t>Tentukan jumlah petugas yang diperlukan.</a:t>
            </a:r>
            <a:endParaRPr lang="en-US" sz="1530" dirty="0"/>
          </a:p>
          <a:p>
            <a:pPr marL="203200" indent="-203200">
              <a:buSzPct val="100000"/>
              <a:buChar char="•"/>
            </a:pPr>
            <a:r>
              <a:rPr lang="en-US" sz="1530" dirty="0">
                <a:solidFill>
                  <a:srgbClr val="334155"/>
                </a:solidFill>
                <a:latin typeface="Arial" pitchFamily="34" charset="0"/>
                <a:ea typeface="Arial" pitchFamily="34" charset="-122"/>
                <a:cs typeface="Arial" pitchFamily="34" charset="-120"/>
              </a:rPr>
              <a:t>Siapkan jalur dan alat bantu sebelum memulai.</a:t>
            </a:r>
            <a:endParaRPr lang="en-US" sz="1530" dirty="0"/>
          </a:p>
          <a:p>
            <a:pPr marL="203200" indent="-203200">
              <a:buSzPct val="100000"/>
              <a:buChar char="•"/>
            </a:pPr>
            <a:r>
              <a:rPr lang="en-US" sz="1530" dirty="0">
                <a:solidFill>
                  <a:srgbClr val="334155"/>
                </a:solidFill>
                <a:latin typeface="Arial" pitchFamily="34" charset="0"/>
                <a:ea typeface="Arial" pitchFamily="34" charset="-122"/>
                <a:cs typeface="Arial" pitchFamily="34" charset="-120"/>
              </a:rPr>
              <a:t>Hindari mengandalkan kekuatan punggung sendiri.</a:t>
            </a:r>
            <a:endParaRPr lang="en-US" sz="1530" dirty="0"/>
          </a:p>
          <a:p>
            <a:pPr marL="203200" indent="-203200">
              <a:buSzPct val="100000"/>
              <a:buChar char="•"/>
            </a:pPr>
            <a:r>
              <a:rPr lang="en-US" sz="1530" dirty="0">
                <a:solidFill>
                  <a:srgbClr val="334155"/>
                </a:solidFill>
                <a:latin typeface="Arial" pitchFamily="34" charset="0"/>
                <a:ea typeface="Arial" pitchFamily="34" charset="-122"/>
                <a:cs typeface="Arial" pitchFamily="34" charset="-120"/>
              </a:rPr>
              <a:t>Komunikasikan aba-aba: satu pemimpin, satu timing.</a:t>
            </a:r>
            <a:endParaRPr lang="en-US" sz="1530" dirty="0"/>
          </a:p>
        </p:txBody>
      </p:sp>
      <p:sp>
        <p:nvSpPr>
          <p:cNvPr id="7" name="Shape 5"/>
          <p:cNvSpPr/>
          <p:nvPr/>
        </p:nvSpPr>
        <p:spPr>
          <a:xfrm>
            <a:off x="6199632" y="1938528"/>
            <a:ext cx="5047488" cy="3456432"/>
          </a:xfrm>
          <a:prstGeom prst="roundRect">
            <a:avLst>
              <a:gd name="adj" fmla="val 2116"/>
            </a:avLst>
          </a:prstGeom>
          <a:solidFill>
            <a:srgbClr val="DBEAFE"/>
          </a:solidFill>
          <a:ln w="12700">
            <a:solidFill>
              <a:srgbClr val="BFDBFE"/>
            </a:solidFill>
            <a:prstDash val="solid"/>
          </a:ln>
        </p:spPr>
      </p:sp>
      <p:pic>
        <p:nvPicPr>
          <p:cNvPr id="8"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629400" y="2423160"/>
            <a:ext cx="1572768" cy="1572768"/>
          </a:xfrm>
          <a:prstGeom prst="rect">
            <a:avLst/>
          </a:prstGeom>
        </p:spPr>
      </p:pic>
      <p:sp>
        <p:nvSpPr>
          <p:cNvPr id="9" name="Text 6"/>
          <p:cNvSpPr/>
          <p:nvPr/>
        </p:nvSpPr>
        <p:spPr>
          <a:xfrm>
            <a:off x="8458200" y="2523744"/>
            <a:ext cx="2359152" cy="384048"/>
          </a:xfrm>
          <a:prstGeom prst="rect">
            <a:avLst/>
          </a:prstGeom>
          <a:noFill/>
          <a:ln/>
        </p:spPr>
        <p:txBody>
          <a:bodyPr wrap="square" lIns="0" tIns="0" rIns="0" bIns="0" rtlCol="0" anchor="ctr"/>
          <a:lstStyle/>
          <a:p>
            <a:pPr marL="0" indent="0">
              <a:buNone/>
            </a:pPr>
            <a:r>
              <a:rPr lang="en-US" sz="1900" b="1" dirty="0">
                <a:solidFill>
                  <a:srgbClr val="0F172A"/>
                </a:solidFill>
              </a:rPr>
              <a:t>STOP bila tidak aman</a:t>
            </a:r>
            <a:endParaRPr lang="en-US" sz="1900" dirty="0"/>
          </a:p>
        </p:txBody>
      </p:sp>
      <p:sp>
        <p:nvSpPr>
          <p:cNvPr id="10" name="Text 7"/>
          <p:cNvSpPr/>
          <p:nvPr/>
        </p:nvSpPr>
        <p:spPr>
          <a:xfrm>
            <a:off x="8458200" y="3090672"/>
            <a:ext cx="2221992" cy="960120"/>
          </a:xfrm>
          <a:prstGeom prst="rect">
            <a:avLst/>
          </a:prstGeom>
          <a:noFill/>
          <a:ln/>
        </p:spPr>
        <p:txBody>
          <a:bodyPr wrap="square" lIns="0" tIns="0" rIns="0" bIns="0" rtlCol="0" anchor="ctr">
            <a:normAutofit/>
          </a:bodyPr>
          <a:lstStyle/>
          <a:p>
            <a:pPr marL="0" indent="0">
              <a:buNone/>
            </a:pPr>
            <a:r>
              <a:rPr lang="en-US" sz="1320" dirty="0">
                <a:solidFill>
                  <a:srgbClr val="334155"/>
                </a:solidFill>
              </a:rPr>
              <a:t>Hentikan manuver bila pasien tiba-tiba lemah, alat tidak stabil, ruang terlalu sempit, atau tim belum siap.</a:t>
            </a:r>
            <a:endParaRPr lang="en-US" sz="1320" dirty="0"/>
          </a:p>
        </p:txBody>
      </p:sp>
      <p:sp>
        <p:nvSpPr>
          <p:cNvPr id="11" name="Text 8"/>
          <p:cNvSpPr/>
          <p:nvPr/>
        </p:nvSpPr>
        <p:spPr>
          <a:xfrm>
            <a:off x="6620256" y="4480560"/>
            <a:ext cx="4133088" cy="502920"/>
          </a:xfrm>
          <a:prstGeom prst="rect">
            <a:avLst/>
          </a:prstGeom>
          <a:noFill/>
          <a:ln/>
        </p:spPr>
        <p:txBody>
          <a:bodyPr wrap="square" lIns="0" tIns="0" rIns="0" bIns="0" rtlCol="0" anchor="ctr"/>
          <a:lstStyle/>
          <a:p>
            <a:pPr marL="0" indent="0" algn="ctr">
              <a:buNone/>
            </a:pPr>
            <a:r>
              <a:rPr lang="en-US" sz="1350" b="1" dirty="0">
                <a:solidFill>
                  <a:srgbClr val="2563EB"/>
                </a:solidFill>
              </a:rPr>
              <a:t>Keselamatan petugas dan pasien harus dijaga bersamaan.</a:t>
            </a:r>
            <a:endParaRPr lang="en-US" sz="1350" dirty="0"/>
          </a:p>
        </p:txBody>
      </p:sp>
      <p:sp>
        <p:nvSpPr>
          <p:cNvPr id="12" name="Text 9"/>
          <p:cNvSpPr/>
          <p:nvPr/>
        </p:nvSpPr>
        <p:spPr>
          <a:xfrm>
            <a:off x="566928" y="6291072"/>
            <a:ext cx="10698480" cy="164592"/>
          </a:xfrm>
          <a:prstGeom prst="rect">
            <a:avLst/>
          </a:prstGeom>
          <a:noFill/>
          <a:ln/>
        </p:spPr>
        <p:txBody>
          <a:bodyPr wrap="square" lIns="0" tIns="0" rIns="0" bIns="0" rtlCol="0" anchor="ctr">
            <a:normAutofit/>
          </a:bodyPr>
          <a:lstStyle/>
          <a:p>
            <a:pPr marL="0" indent="0">
              <a:buNone/>
            </a:pPr>
            <a:r>
              <a:rPr lang="en-US" sz="730" i="1" dirty="0">
                <a:solidFill>
                  <a:srgbClr val="94A3B8"/>
                </a:solidFill>
                <a:latin typeface="Arial" pitchFamily="34" charset="0"/>
                <a:ea typeface="Arial" pitchFamily="34" charset="-122"/>
                <a:cs typeface="Arial" pitchFamily="34" charset="-120"/>
              </a:rPr>
              <a:t>WHO: teknik/alat yang tidak tepat saat lifting, transfer, repositioning, dan moving dapat menyebabkan cedera muskuloskeletal.</a:t>
            </a:r>
            <a:endParaRPr lang="en-US" sz="730" dirty="0"/>
          </a:p>
        </p:txBody>
      </p:sp>
      <p:sp>
        <p:nvSpPr>
          <p:cNvPr id="25" name="Slide Number Placeholder 0"/>
          <p:cNvSpPr>
            <a:spLocks noGrp="1"/>
          </p:cNvSpPr>
          <p:nvPr>
            <p:ph type="sldNum" sz="quarter" idx="4294967295"/>
          </p:nvPr>
        </p:nvSpPr>
        <p:spPr>
          <a:xfrm>
            <a:off x="11475720" y="6492240"/>
            <a:ext cx="320040"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64748B"/>
                </a:solidFill>
                <a:latin typeface="Arial"/>
                <a:ea typeface="Arial"/>
                <a:cs typeface="Arial"/>
              </a:defRPr>
            </a:lvl1pPr>
          </a:lstStyle>
          <a:p>
            <a:pPr algn="r"/>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566928" y="347472"/>
            <a:ext cx="1417320" cy="310896"/>
          </a:xfrm>
          <a:prstGeom prst="roundRect">
            <a:avLst>
              <a:gd name="adj" fmla="val 23529"/>
            </a:avLst>
          </a:prstGeom>
          <a:solidFill>
            <a:srgbClr val="ECFEFF"/>
          </a:solidFill>
          <a:ln w="12700">
            <a:solidFill>
              <a:srgbClr val="ECFEFF"/>
            </a:solidFill>
            <a:prstDash val="solid"/>
          </a:ln>
        </p:spPr>
      </p:sp>
      <p:sp>
        <p:nvSpPr>
          <p:cNvPr id="3" name="Text 1"/>
          <p:cNvSpPr/>
          <p:nvPr/>
        </p:nvSpPr>
        <p:spPr>
          <a:xfrm>
            <a:off x="694944" y="429768"/>
            <a:ext cx="1170432" cy="128016"/>
          </a:xfrm>
          <a:prstGeom prst="rect">
            <a:avLst/>
          </a:prstGeom>
          <a:noFill/>
          <a:ln/>
        </p:spPr>
        <p:txBody>
          <a:bodyPr wrap="square" lIns="0" tIns="0" rIns="0" bIns="0" rtlCol="0" anchor="ctr"/>
          <a:lstStyle/>
          <a:p>
            <a:pPr marL="0" indent="0" algn="ctr">
              <a:buNone/>
            </a:pPr>
            <a:r>
              <a:rPr lang="en-US" sz="900" b="1" dirty="0">
                <a:solidFill>
                  <a:srgbClr val="0E7490"/>
                </a:solidFill>
                <a:latin typeface="Arial" pitchFamily="34" charset="0"/>
                <a:ea typeface="Arial" pitchFamily="34" charset="-122"/>
                <a:cs typeface="Arial" pitchFamily="34" charset="-120"/>
              </a:rPr>
              <a:t>PENGENDALIAN</a:t>
            </a:r>
            <a:endParaRPr lang="en-US" sz="900" dirty="0"/>
          </a:p>
        </p:txBody>
      </p:sp>
      <p:sp>
        <p:nvSpPr>
          <p:cNvPr id="4" name="Text 2"/>
          <p:cNvSpPr/>
          <p:nvPr/>
        </p:nvSpPr>
        <p:spPr>
          <a:xfrm>
            <a:off x="566928" y="777240"/>
            <a:ext cx="10972800" cy="566928"/>
          </a:xfrm>
          <a:prstGeom prst="rect">
            <a:avLst/>
          </a:prstGeom>
          <a:noFill/>
          <a:ln/>
        </p:spPr>
        <p:txBody>
          <a:bodyPr wrap="square" lIns="0" tIns="0" rIns="0" bIns="0" rtlCol="0" anchor="ctr">
            <a:normAutofit/>
          </a:bodyPr>
          <a:lstStyle/>
          <a:p>
            <a:pPr marL="0" indent="0">
              <a:buNone/>
            </a:pPr>
            <a:r>
              <a:rPr lang="en-US" sz="2700" b="1" dirty="0">
                <a:solidFill>
                  <a:srgbClr val="0F172A"/>
                </a:solidFill>
                <a:latin typeface="Arial" pitchFamily="34" charset="0"/>
                <a:ea typeface="Arial" pitchFamily="34" charset="-122"/>
                <a:cs typeface="Arial" pitchFamily="34" charset="-120"/>
              </a:rPr>
              <a:t>K3 pada Obat &amp; Bahan Berbahaya</a:t>
            </a:r>
            <a:endParaRPr lang="en-US" sz="2700" dirty="0"/>
          </a:p>
        </p:txBody>
      </p:sp>
      <p:sp>
        <p:nvSpPr>
          <p:cNvPr id="5" name="Text 3"/>
          <p:cNvSpPr/>
          <p:nvPr/>
        </p:nvSpPr>
        <p:spPr>
          <a:xfrm>
            <a:off x="566928" y="1371600"/>
            <a:ext cx="10881360" cy="384048"/>
          </a:xfrm>
          <a:prstGeom prst="rect">
            <a:avLst/>
          </a:prstGeom>
          <a:noFill/>
          <a:ln/>
        </p:spPr>
        <p:txBody>
          <a:bodyPr wrap="square" lIns="0" tIns="0" rIns="0" bIns="0" rtlCol="0" anchor="ctr">
            <a:normAutofit/>
          </a:bodyPr>
          <a:lstStyle/>
          <a:p>
            <a:pPr marL="0" indent="0">
              <a:buNone/>
            </a:pPr>
            <a:r>
              <a:rPr lang="en-US" sz="1250" dirty="0">
                <a:solidFill>
                  <a:srgbClr val="64748B"/>
                </a:solidFill>
                <a:latin typeface="Arial" pitchFamily="34" charset="0"/>
                <a:ea typeface="Arial" pitchFamily="34" charset="-122"/>
                <a:cs typeface="Arial" pitchFamily="34" charset="-120"/>
              </a:rPr>
              <a:t>Keselamatan penggunaan obat berbahaya memerlukan pengendalian dari penyimpanan hingga pembuangan.</a:t>
            </a:r>
            <a:endParaRPr lang="en-US" sz="1250" dirty="0"/>
          </a:p>
        </p:txBody>
      </p:sp>
      <p:sp>
        <p:nvSpPr>
          <p:cNvPr id="6" name="Shape 4"/>
          <p:cNvSpPr/>
          <p:nvPr/>
        </p:nvSpPr>
        <p:spPr>
          <a:xfrm>
            <a:off x="621792" y="2103120"/>
            <a:ext cx="1938528" cy="2907792"/>
          </a:xfrm>
          <a:prstGeom prst="roundRect">
            <a:avLst>
              <a:gd name="adj" fmla="val 3774"/>
            </a:avLst>
          </a:prstGeom>
          <a:solidFill>
            <a:srgbClr val="FFFFFF"/>
          </a:solidFill>
          <a:ln w="12700">
            <a:solidFill>
              <a:srgbClr val="E2E8F0"/>
            </a:solidFill>
            <a:prstDash val="solid"/>
          </a:ln>
        </p:spPr>
      </p:sp>
      <p:sp>
        <p:nvSpPr>
          <p:cNvPr id="7" name="Shape 5"/>
          <p:cNvSpPr/>
          <p:nvPr/>
        </p:nvSpPr>
        <p:spPr>
          <a:xfrm>
            <a:off x="1261872" y="2395728"/>
            <a:ext cx="658368" cy="658368"/>
          </a:xfrm>
          <a:prstGeom prst="ellipse">
            <a:avLst/>
          </a:prstGeom>
          <a:solidFill>
            <a:srgbClr val="F8FAFC"/>
          </a:solidFill>
          <a:ln w="12700">
            <a:solidFill>
              <a:srgbClr val="F8FAFC"/>
            </a:solidFill>
            <a:prstDash val="solid"/>
          </a:ln>
        </p:spPr>
      </p:sp>
      <p:pic>
        <p:nvPicPr>
          <p:cNvPr id="8"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99032" y="2532888"/>
            <a:ext cx="329184" cy="329184"/>
          </a:xfrm>
          <a:prstGeom prst="rect">
            <a:avLst/>
          </a:prstGeom>
        </p:spPr>
      </p:pic>
      <p:sp>
        <p:nvSpPr>
          <p:cNvPr id="9" name="Text 6"/>
          <p:cNvSpPr/>
          <p:nvPr/>
        </p:nvSpPr>
        <p:spPr>
          <a:xfrm>
            <a:off x="822960" y="3246120"/>
            <a:ext cx="1536192" cy="310896"/>
          </a:xfrm>
          <a:prstGeom prst="rect">
            <a:avLst/>
          </a:prstGeom>
          <a:noFill/>
          <a:ln/>
        </p:spPr>
        <p:txBody>
          <a:bodyPr wrap="square" lIns="0" tIns="0" rIns="0" bIns="0" rtlCol="0" anchor="ctr"/>
          <a:lstStyle/>
          <a:p>
            <a:pPr marL="0" indent="0" algn="ctr">
              <a:buNone/>
            </a:pPr>
            <a:r>
              <a:rPr lang="en-US" sz="1500" b="1" dirty="0">
                <a:solidFill>
                  <a:srgbClr val="0F172A"/>
                </a:solidFill>
              </a:rPr>
              <a:t>Simpan</a:t>
            </a:r>
            <a:endParaRPr lang="en-US" sz="1500" dirty="0"/>
          </a:p>
        </p:txBody>
      </p:sp>
      <p:sp>
        <p:nvSpPr>
          <p:cNvPr id="10" name="Text 7"/>
          <p:cNvSpPr/>
          <p:nvPr/>
        </p:nvSpPr>
        <p:spPr>
          <a:xfrm>
            <a:off x="877824" y="3675888"/>
            <a:ext cx="1426464" cy="960120"/>
          </a:xfrm>
          <a:prstGeom prst="rect">
            <a:avLst/>
          </a:prstGeom>
          <a:noFill/>
          <a:ln/>
        </p:spPr>
        <p:txBody>
          <a:bodyPr wrap="square" lIns="0" tIns="0" rIns="0" bIns="0" rtlCol="0" anchor="ctr">
            <a:normAutofit/>
          </a:bodyPr>
          <a:lstStyle/>
          <a:p>
            <a:pPr marL="0" indent="0" algn="ctr">
              <a:buNone/>
            </a:pPr>
            <a:r>
              <a:rPr lang="en-US" sz="1080" dirty="0">
                <a:solidFill>
                  <a:srgbClr val="334155"/>
                </a:solidFill>
              </a:rPr>
              <a:t>Label jelas, area sesuai, pisahkan bahan inkompatibel.</a:t>
            </a:r>
            <a:endParaRPr lang="en-US" sz="1080" dirty="0"/>
          </a:p>
        </p:txBody>
      </p:sp>
      <p:sp>
        <p:nvSpPr>
          <p:cNvPr id="11" name="Shape 8"/>
          <p:cNvSpPr/>
          <p:nvPr/>
        </p:nvSpPr>
        <p:spPr>
          <a:xfrm>
            <a:off x="2450592" y="3273552"/>
            <a:ext cx="310896" cy="475488"/>
          </a:xfrm>
          <a:prstGeom prst="chevron">
            <a:avLst/>
          </a:prstGeom>
          <a:solidFill>
            <a:srgbClr val="CBD5E1"/>
          </a:solidFill>
          <a:ln w="12700">
            <a:solidFill>
              <a:srgbClr val="CBD5E1"/>
            </a:solidFill>
            <a:prstDash val="solid"/>
          </a:ln>
        </p:spPr>
      </p:sp>
      <p:sp>
        <p:nvSpPr>
          <p:cNvPr id="12" name="Shape 9"/>
          <p:cNvSpPr/>
          <p:nvPr/>
        </p:nvSpPr>
        <p:spPr>
          <a:xfrm>
            <a:off x="2953512" y="2103120"/>
            <a:ext cx="1938528" cy="2907792"/>
          </a:xfrm>
          <a:prstGeom prst="roundRect">
            <a:avLst>
              <a:gd name="adj" fmla="val 3774"/>
            </a:avLst>
          </a:prstGeom>
          <a:solidFill>
            <a:srgbClr val="FFFFFF"/>
          </a:solidFill>
          <a:ln w="12700">
            <a:solidFill>
              <a:srgbClr val="E2E8F0"/>
            </a:solidFill>
            <a:prstDash val="solid"/>
          </a:ln>
        </p:spPr>
      </p:sp>
      <p:sp>
        <p:nvSpPr>
          <p:cNvPr id="13" name="Shape 10"/>
          <p:cNvSpPr/>
          <p:nvPr/>
        </p:nvSpPr>
        <p:spPr>
          <a:xfrm>
            <a:off x="3593592" y="2395728"/>
            <a:ext cx="658368" cy="658368"/>
          </a:xfrm>
          <a:prstGeom prst="ellipse">
            <a:avLst/>
          </a:prstGeom>
          <a:solidFill>
            <a:srgbClr val="F8FAFC"/>
          </a:solidFill>
          <a:ln w="12700">
            <a:solidFill>
              <a:srgbClr val="F8FAFC"/>
            </a:solidFill>
            <a:prstDash val="solid"/>
          </a:ln>
        </p:spPr>
      </p:sp>
      <p:pic>
        <p:nvPicPr>
          <p:cNvPr id="14"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730752" y="2532888"/>
            <a:ext cx="329184" cy="329184"/>
          </a:xfrm>
          <a:prstGeom prst="rect">
            <a:avLst/>
          </a:prstGeom>
        </p:spPr>
      </p:pic>
      <p:sp>
        <p:nvSpPr>
          <p:cNvPr id="15" name="Text 11"/>
          <p:cNvSpPr/>
          <p:nvPr/>
        </p:nvSpPr>
        <p:spPr>
          <a:xfrm>
            <a:off x="3154680" y="3246120"/>
            <a:ext cx="1536192" cy="310896"/>
          </a:xfrm>
          <a:prstGeom prst="rect">
            <a:avLst/>
          </a:prstGeom>
          <a:noFill/>
          <a:ln/>
        </p:spPr>
        <p:txBody>
          <a:bodyPr wrap="square" lIns="0" tIns="0" rIns="0" bIns="0" rtlCol="0" anchor="ctr"/>
          <a:lstStyle/>
          <a:p>
            <a:pPr marL="0" indent="0" algn="ctr">
              <a:buNone/>
            </a:pPr>
            <a:r>
              <a:rPr lang="en-US" sz="1500" b="1" dirty="0">
                <a:solidFill>
                  <a:srgbClr val="0F172A"/>
                </a:solidFill>
              </a:rPr>
              <a:t>Siapkan</a:t>
            </a:r>
            <a:endParaRPr lang="en-US" sz="1500" dirty="0"/>
          </a:p>
        </p:txBody>
      </p:sp>
      <p:sp>
        <p:nvSpPr>
          <p:cNvPr id="16" name="Text 12"/>
          <p:cNvSpPr/>
          <p:nvPr/>
        </p:nvSpPr>
        <p:spPr>
          <a:xfrm>
            <a:off x="3209544" y="3675888"/>
            <a:ext cx="1426464" cy="960120"/>
          </a:xfrm>
          <a:prstGeom prst="rect">
            <a:avLst/>
          </a:prstGeom>
          <a:noFill/>
          <a:ln/>
        </p:spPr>
        <p:txBody>
          <a:bodyPr wrap="square" lIns="0" tIns="0" rIns="0" bIns="0" rtlCol="0" anchor="ctr">
            <a:normAutofit/>
          </a:bodyPr>
          <a:lstStyle/>
          <a:p>
            <a:pPr marL="0" indent="0" algn="ctr">
              <a:buNone/>
            </a:pPr>
            <a:r>
              <a:rPr lang="en-US" sz="1080" dirty="0">
                <a:solidFill>
                  <a:srgbClr val="334155"/>
                </a:solidFill>
              </a:rPr>
              <a:t>Area kerja terkontrol, teknik aman, APD sesuai.</a:t>
            </a:r>
            <a:endParaRPr lang="en-US" sz="1080" dirty="0"/>
          </a:p>
        </p:txBody>
      </p:sp>
      <p:sp>
        <p:nvSpPr>
          <p:cNvPr id="17" name="Shape 13"/>
          <p:cNvSpPr/>
          <p:nvPr/>
        </p:nvSpPr>
        <p:spPr>
          <a:xfrm>
            <a:off x="4782312" y="3273552"/>
            <a:ext cx="310896" cy="475488"/>
          </a:xfrm>
          <a:prstGeom prst="chevron">
            <a:avLst/>
          </a:prstGeom>
          <a:solidFill>
            <a:srgbClr val="CBD5E1"/>
          </a:solidFill>
          <a:ln w="12700">
            <a:solidFill>
              <a:srgbClr val="CBD5E1"/>
            </a:solidFill>
            <a:prstDash val="solid"/>
          </a:ln>
        </p:spPr>
      </p:sp>
      <p:sp>
        <p:nvSpPr>
          <p:cNvPr id="18" name="Shape 14"/>
          <p:cNvSpPr/>
          <p:nvPr/>
        </p:nvSpPr>
        <p:spPr>
          <a:xfrm>
            <a:off x="5285232" y="2103120"/>
            <a:ext cx="1938528" cy="2907792"/>
          </a:xfrm>
          <a:prstGeom prst="roundRect">
            <a:avLst>
              <a:gd name="adj" fmla="val 3774"/>
            </a:avLst>
          </a:prstGeom>
          <a:solidFill>
            <a:srgbClr val="FFFFFF"/>
          </a:solidFill>
          <a:ln w="12700">
            <a:solidFill>
              <a:srgbClr val="E2E8F0"/>
            </a:solidFill>
            <a:prstDash val="solid"/>
          </a:ln>
        </p:spPr>
      </p:sp>
      <p:sp>
        <p:nvSpPr>
          <p:cNvPr id="19" name="Shape 15"/>
          <p:cNvSpPr/>
          <p:nvPr/>
        </p:nvSpPr>
        <p:spPr>
          <a:xfrm>
            <a:off x="5925312" y="2395728"/>
            <a:ext cx="658368" cy="658368"/>
          </a:xfrm>
          <a:prstGeom prst="ellipse">
            <a:avLst/>
          </a:prstGeom>
          <a:solidFill>
            <a:srgbClr val="F8FAFC"/>
          </a:solidFill>
          <a:ln w="12700">
            <a:solidFill>
              <a:srgbClr val="F8FAFC"/>
            </a:solidFill>
            <a:prstDash val="solid"/>
          </a:ln>
        </p:spPr>
      </p:sp>
      <p:pic>
        <p:nvPicPr>
          <p:cNvPr id="20"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062472" y="2532888"/>
            <a:ext cx="329184" cy="329184"/>
          </a:xfrm>
          <a:prstGeom prst="rect">
            <a:avLst/>
          </a:prstGeom>
        </p:spPr>
      </p:pic>
      <p:sp>
        <p:nvSpPr>
          <p:cNvPr id="21" name="Text 16"/>
          <p:cNvSpPr/>
          <p:nvPr/>
        </p:nvSpPr>
        <p:spPr>
          <a:xfrm>
            <a:off x="5486400" y="3246120"/>
            <a:ext cx="1536192" cy="310896"/>
          </a:xfrm>
          <a:prstGeom prst="rect">
            <a:avLst/>
          </a:prstGeom>
          <a:noFill/>
          <a:ln/>
        </p:spPr>
        <p:txBody>
          <a:bodyPr wrap="square" lIns="0" tIns="0" rIns="0" bIns="0" rtlCol="0" anchor="ctr"/>
          <a:lstStyle/>
          <a:p>
            <a:pPr marL="0" indent="0" algn="ctr">
              <a:buNone/>
            </a:pPr>
            <a:r>
              <a:rPr lang="en-US" sz="1500" b="1" dirty="0">
                <a:solidFill>
                  <a:srgbClr val="0F172A"/>
                </a:solidFill>
              </a:rPr>
              <a:t>Berikan</a:t>
            </a:r>
            <a:endParaRPr lang="en-US" sz="1500" dirty="0"/>
          </a:p>
        </p:txBody>
      </p:sp>
      <p:sp>
        <p:nvSpPr>
          <p:cNvPr id="22" name="Text 17"/>
          <p:cNvSpPr/>
          <p:nvPr/>
        </p:nvSpPr>
        <p:spPr>
          <a:xfrm>
            <a:off x="5541264" y="3675888"/>
            <a:ext cx="1426464" cy="960120"/>
          </a:xfrm>
          <a:prstGeom prst="rect">
            <a:avLst/>
          </a:prstGeom>
          <a:noFill/>
          <a:ln/>
        </p:spPr>
        <p:txBody>
          <a:bodyPr wrap="square" lIns="0" tIns="0" rIns="0" bIns="0" rtlCol="0" anchor="ctr">
            <a:normAutofit/>
          </a:bodyPr>
          <a:lstStyle/>
          <a:p>
            <a:pPr marL="0" indent="0" algn="ctr">
              <a:buNone/>
            </a:pPr>
            <a:r>
              <a:rPr lang="en-US" sz="1080" dirty="0">
                <a:solidFill>
                  <a:srgbClr val="334155"/>
                </a:solidFill>
              </a:rPr>
              <a:t>Minimalkan percikan/aerosol dan hindari kontak langsung.</a:t>
            </a:r>
            <a:endParaRPr lang="en-US" sz="1080" dirty="0"/>
          </a:p>
        </p:txBody>
      </p:sp>
      <p:sp>
        <p:nvSpPr>
          <p:cNvPr id="23" name="Shape 18"/>
          <p:cNvSpPr/>
          <p:nvPr/>
        </p:nvSpPr>
        <p:spPr>
          <a:xfrm>
            <a:off x="7114032" y="3273552"/>
            <a:ext cx="310896" cy="475488"/>
          </a:xfrm>
          <a:prstGeom prst="chevron">
            <a:avLst/>
          </a:prstGeom>
          <a:solidFill>
            <a:srgbClr val="CBD5E1"/>
          </a:solidFill>
          <a:ln w="12700">
            <a:solidFill>
              <a:srgbClr val="CBD5E1"/>
            </a:solidFill>
            <a:prstDash val="solid"/>
          </a:ln>
        </p:spPr>
      </p:sp>
      <p:sp>
        <p:nvSpPr>
          <p:cNvPr id="24" name="Shape 19"/>
          <p:cNvSpPr/>
          <p:nvPr/>
        </p:nvSpPr>
        <p:spPr>
          <a:xfrm>
            <a:off x="7616952" y="2103120"/>
            <a:ext cx="1938528" cy="2907792"/>
          </a:xfrm>
          <a:prstGeom prst="roundRect">
            <a:avLst>
              <a:gd name="adj" fmla="val 3774"/>
            </a:avLst>
          </a:prstGeom>
          <a:solidFill>
            <a:srgbClr val="FFFFFF"/>
          </a:solidFill>
          <a:ln w="12700">
            <a:solidFill>
              <a:srgbClr val="E2E8F0"/>
            </a:solidFill>
            <a:prstDash val="solid"/>
          </a:ln>
        </p:spPr>
      </p:sp>
      <p:sp>
        <p:nvSpPr>
          <p:cNvPr id="25" name="Shape 20"/>
          <p:cNvSpPr/>
          <p:nvPr/>
        </p:nvSpPr>
        <p:spPr>
          <a:xfrm>
            <a:off x="8257032" y="2395728"/>
            <a:ext cx="658368" cy="658368"/>
          </a:xfrm>
          <a:prstGeom prst="ellipse">
            <a:avLst/>
          </a:prstGeom>
          <a:solidFill>
            <a:srgbClr val="F8FAFC"/>
          </a:solidFill>
          <a:ln w="12700">
            <a:solidFill>
              <a:srgbClr val="F8FAFC"/>
            </a:solidFill>
            <a:prstDash val="solid"/>
          </a:ln>
        </p:spPr>
      </p:sp>
      <p:pic>
        <p:nvPicPr>
          <p:cNvPr id="26"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394192" y="2532888"/>
            <a:ext cx="329184" cy="329184"/>
          </a:xfrm>
          <a:prstGeom prst="rect">
            <a:avLst/>
          </a:prstGeom>
        </p:spPr>
      </p:pic>
      <p:sp>
        <p:nvSpPr>
          <p:cNvPr id="27" name="Text 21"/>
          <p:cNvSpPr/>
          <p:nvPr/>
        </p:nvSpPr>
        <p:spPr>
          <a:xfrm>
            <a:off x="7818120" y="3246120"/>
            <a:ext cx="1536192" cy="310896"/>
          </a:xfrm>
          <a:prstGeom prst="rect">
            <a:avLst/>
          </a:prstGeom>
          <a:noFill/>
          <a:ln/>
        </p:spPr>
        <p:txBody>
          <a:bodyPr wrap="square" lIns="0" tIns="0" rIns="0" bIns="0" rtlCol="0" anchor="ctr"/>
          <a:lstStyle/>
          <a:p>
            <a:pPr marL="0" indent="0" algn="ctr">
              <a:buNone/>
            </a:pPr>
            <a:r>
              <a:rPr lang="en-US" sz="1500" b="1" dirty="0">
                <a:solidFill>
                  <a:srgbClr val="0F172A"/>
                </a:solidFill>
              </a:rPr>
              <a:t>Tumpahan</a:t>
            </a:r>
            <a:endParaRPr lang="en-US" sz="1500" dirty="0"/>
          </a:p>
        </p:txBody>
      </p:sp>
      <p:sp>
        <p:nvSpPr>
          <p:cNvPr id="28" name="Text 22"/>
          <p:cNvSpPr/>
          <p:nvPr/>
        </p:nvSpPr>
        <p:spPr>
          <a:xfrm>
            <a:off x="7872984" y="3675888"/>
            <a:ext cx="1426464" cy="960120"/>
          </a:xfrm>
          <a:prstGeom prst="rect">
            <a:avLst/>
          </a:prstGeom>
          <a:noFill/>
          <a:ln/>
        </p:spPr>
        <p:txBody>
          <a:bodyPr wrap="square" lIns="0" tIns="0" rIns="0" bIns="0" rtlCol="0" anchor="ctr">
            <a:normAutofit/>
          </a:bodyPr>
          <a:lstStyle/>
          <a:p>
            <a:pPr marL="0" indent="0" algn="ctr">
              <a:buNone/>
            </a:pPr>
            <a:r>
              <a:rPr lang="en-US" sz="1080" dirty="0">
                <a:solidFill>
                  <a:srgbClr val="334155"/>
                </a:solidFill>
              </a:rPr>
              <a:t>Gunakan spill kit dan prosedur dekontaminasi.</a:t>
            </a:r>
            <a:endParaRPr lang="en-US" sz="1080" dirty="0"/>
          </a:p>
        </p:txBody>
      </p:sp>
      <p:sp>
        <p:nvSpPr>
          <p:cNvPr id="29" name="Shape 23"/>
          <p:cNvSpPr/>
          <p:nvPr/>
        </p:nvSpPr>
        <p:spPr>
          <a:xfrm>
            <a:off x="9445752" y="3273552"/>
            <a:ext cx="310896" cy="475488"/>
          </a:xfrm>
          <a:prstGeom prst="chevron">
            <a:avLst/>
          </a:prstGeom>
          <a:solidFill>
            <a:srgbClr val="CBD5E1"/>
          </a:solidFill>
          <a:ln w="12700">
            <a:solidFill>
              <a:srgbClr val="CBD5E1"/>
            </a:solidFill>
            <a:prstDash val="solid"/>
          </a:ln>
        </p:spPr>
      </p:sp>
      <p:sp>
        <p:nvSpPr>
          <p:cNvPr id="30" name="Shape 24"/>
          <p:cNvSpPr/>
          <p:nvPr/>
        </p:nvSpPr>
        <p:spPr>
          <a:xfrm>
            <a:off x="9948672" y="2103120"/>
            <a:ext cx="1938528" cy="2907792"/>
          </a:xfrm>
          <a:prstGeom prst="roundRect">
            <a:avLst>
              <a:gd name="adj" fmla="val 3774"/>
            </a:avLst>
          </a:prstGeom>
          <a:solidFill>
            <a:srgbClr val="FFFFFF"/>
          </a:solidFill>
          <a:ln w="12700">
            <a:solidFill>
              <a:srgbClr val="E2E8F0"/>
            </a:solidFill>
            <a:prstDash val="solid"/>
          </a:ln>
        </p:spPr>
      </p:sp>
      <p:sp>
        <p:nvSpPr>
          <p:cNvPr id="31" name="Shape 25"/>
          <p:cNvSpPr/>
          <p:nvPr/>
        </p:nvSpPr>
        <p:spPr>
          <a:xfrm>
            <a:off x="10588752" y="2395728"/>
            <a:ext cx="658368" cy="658368"/>
          </a:xfrm>
          <a:prstGeom prst="ellipse">
            <a:avLst/>
          </a:prstGeom>
          <a:solidFill>
            <a:srgbClr val="F8FAFC"/>
          </a:solidFill>
          <a:ln w="12700">
            <a:solidFill>
              <a:srgbClr val="F8FAFC"/>
            </a:solidFill>
            <a:prstDash val="solid"/>
          </a:ln>
        </p:spPr>
      </p:sp>
      <p:pic>
        <p:nvPicPr>
          <p:cNvPr id="32"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0725912" y="2532888"/>
            <a:ext cx="329184" cy="329184"/>
          </a:xfrm>
          <a:prstGeom prst="rect">
            <a:avLst/>
          </a:prstGeom>
        </p:spPr>
      </p:pic>
      <p:sp>
        <p:nvSpPr>
          <p:cNvPr id="33" name="Text 26"/>
          <p:cNvSpPr/>
          <p:nvPr/>
        </p:nvSpPr>
        <p:spPr>
          <a:xfrm>
            <a:off x="10149840" y="3246120"/>
            <a:ext cx="1536192" cy="310896"/>
          </a:xfrm>
          <a:prstGeom prst="rect">
            <a:avLst/>
          </a:prstGeom>
          <a:noFill/>
          <a:ln/>
        </p:spPr>
        <p:txBody>
          <a:bodyPr wrap="square" lIns="0" tIns="0" rIns="0" bIns="0" rtlCol="0" anchor="ctr"/>
          <a:lstStyle/>
          <a:p>
            <a:pPr marL="0" indent="0" algn="ctr">
              <a:buNone/>
            </a:pPr>
            <a:r>
              <a:rPr lang="en-US" sz="1500" b="1" dirty="0">
                <a:solidFill>
                  <a:srgbClr val="0F172A"/>
                </a:solidFill>
              </a:rPr>
              <a:t>Buang</a:t>
            </a:r>
            <a:endParaRPr lang="en-US" sz="1500" dirty="0"/>
          </a:p>
        </p:txBody>
      </p:sp>
      <p:sp>
        <p:nvSpPr>
          <p:cNvPr id="34" name="Text 27"/>
          <p:cNvSpPr/>
          <p:nvPr/>
        </p:nvSpPr>
        <p:spPr>
          <a:xfrm>
            <a:off x="10204704" y="3675888"/>
            <a:ext cx="1426464" cy="960120"/>
          </a:xfrm>
          <a:prstGeom prst="rect">
            <a:avLst/>
          </a:prstGeom>
          <a:noFill/>
          <a:ln/>
        </p:spPr>
        <p:txBody>
          <a:bodyPr wrap="square" lIns="0" tIns="0" rIns="0" bIns="0" rtlCol="0" anchor="ctr">
            <a:normAutofit/>
          </a:bodyPr>
          <a:lstStyle/>
          <a:p>
            <a:pPr marL="0" indent="0" algn="ctr">
              <a:buNone/>
            </a:pPr>
            <a:r>
              <a:rPr lang="en-US" sz="1080" dirty="0">
                <a:solidFill>
                  <a:srgbClr val="334155"/>
                </a:solidFill>
              </a:rPr>
              <a:t>Segregasi limbah dan wadah sesuai kategori bahaya.</a:t>
            </a:r>
            <a:endParaRPr lang="en-US" sz="1080" dirty="0"/>
          </a:p>
        </p:txBody>
      </p:sp>
      <p:sp>
        <p:nvSpPr>
          <p:cNvPr id="35" name="Text 28"/>
          <p:cNvSpPr/>
          <p:nvPr/>
        </p:nvSpPr>
        <p:spPr>
          <a:xfrm>
            <a:off x="1993392" y="5358384"/>
            <a:ext cx="8183880" cy="329184"/>
          </a:xfrm>
          <a:prstGeom prst="rect">
            <a:avLst/>
          </a:prstGeom>
          <a:noFill/>
          <a:ln/>
        </p:spPr>
        <p:txBody>
          <a:bodyPr wrap="square" lIns="0" tIns="0" rIns="0" bIns="0" rtlCol="0" anchor="ctr"/>
          <a:lstStyle/>
          <a:p>
            <a:pPr marL="0" indent="0" algn="ctr">
              <a:buNone/>
            </a:pPr>
            <a:r>
              <a:rPr lang="en-US" sz="1400" b="1" dirty="0">
                <a:solidFill>
                  <a:srgbClr val="0E7490"/>
                </a:solidFill>
              </a:rPr>
              <a:t>Selalu gunakan informasi label, SDS, dan kebijakan lokal fasilitas.</a:t>
            </a:r>
            <a:endParaRPr lang="en-US" sz="1400" dirty="0"/>
          </a:p>
        </p:txBody>
      </p:sp>
      <p:sp>
        <p:nvSpPr>
          <p:cNvPr id="36" name="Slide Number Placeholder 0"/>
          <p:cNvSpPr>
            <a:spLocks noGrp="1"/>
          </p:cNvSpPr>
          <p:nvPr>
            <p:ph type="sldNum" sz="quarter" idx="4294967295"/>
          </p:nvPr>
        </p:nvSpPr>
        <p:spPr>
          <a:xfrm>
            <a:off x="11475720" y="6492240"/>
            <a:ext cx="320040"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64748B"/>
                </a:solidFill>
                <a:latin typeface="Arial"/>
                <a:ea typeface="Arial"/>
                <a:cs typeface="Arial"/>
              </a:defRPr>
            </a:lvl1pPr>
          </a:lstStyle>
          <a:p>
            <a:pPr algn="r"/>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566928" y="347472"/>
            <a:ext cx="1417320" cy="310896"/>
          </a:xfrm>
          <a:prstGeom prst="roundRect">
            <a:avLst>
              <a:gd name="adj" fmla="val 23529"/>
            </a:avLst>
          </a:prstGeom>
          <a:solidFill>
            <a:srgbClr val="ECFEFF"/>
          </a:solidFill>
          <a:ln w="12700">
            <a:solidFill>
              <a:srgbClr val="ECFEFF"/>
            </a:solidFill>
            <a:prstDash val="solid"/>
          </a:ln>
        </p:spPr>
      </p:sp>
      <p:sp>
        <p:nvSpPr>
          <p:cNvPr id="3" name="Text 1"/>
          <p:cNvSpPr/>
          <p:nvPr/>
        </p:nvSpPr>
        <p:spPr>
          <a:xfrm>
            <a:off x="694944" y="429768"/>
            <a:ext cx="1170432" cy="128016"/>
          </a:xfrm>
          <a:prstGeom prst="rect">
            <a:avLst/>
          </a:prstGeom>
          <a:noFill/>
          <a:ln/>
        </p:spPr>
        <p:txBody>
          <a:bodyPr wrap="square" lIns="0" tIns="0" rIns="0" bIns="0" rtlCol="0" anchor="ctr"/>
          <a:lstStyle/>
          <a:p>
            <a:pPr marL="0" indent="0" algn="ctr">
              <a:buNone/>
            </a:pPr>
            <a:r>
              <a:rPr lang="en-US" sz="900" b="1" dirty="0">
                <a:solidFill>
                  <a:srgbClr val="0E7490"/>
                </a:solidFill>
                <a:latin typeface="Arial" pitchFamily="34" charset="0"/>
                <a:ea typeface="Arial" pitchFamily="34" charset="-122"/>
                <a:cs typeface="Arial" pitchFamily="34" charset="-120"/>
              </a:rPr>
              <a:t>PENGENDALIAN</a:t>
            </a:r>
            <a:endParaRPr lang="en-US" sz="900" dirty="0"/>
          </a:p>
        </p:txBody>
      </p:sp>
      <p:sp>
        <p:nvSpPr>
          <p:cNvPr id="4" name="Text 2"/>
          <p:cNvSpPr/>
          <p:nvPr/>
        </p:nvSpPr>
        <p:spPr>
          <a:xfrm>
            <a:off x="566928" y="777240"/>
            <a:ext cx="10972800" cy="566928"/>
          </a:xfrm>
          <a:prstGeom prst="rect">
            <a:avLst/>
          </a:prstGeom>
          <a:noFill/>
          <a:ln/>
        </p:spPr>
        <p:txBody>
          <a:bodyPr wrap="square" lIns="0" tIns="0" rIns="0" bIns="0" rtlCol="0" anchor="ctr">
            <a:normAutofit/>
          </a:bodyPr>
          <a:lstStyle/>
          <a:p>
            <a:pPr marL="0" indent="0">
              <a:buNone/>
            </a:pPr>
            <a:r>
              <a:rPr lang="en-US" sz="2700" b="1" dirty="0">
                <a:solidFill>
                  <a:srgbClr val="0F172A"/>
                </a:solidFill>
                <a:latin typeface="Arial" pitchFamily="34" charset="0"/>
                <a:ea typeface="Arial" pitchFamily="34" charset="-122"/>
                <a:cs typeface="Arial" pitchFamily="34" charset="-120"/>
              </a:rPr>
              <a:t>K3 Limbah Medis &amp; Lingkungan Kerja</a:t>
            </a:r>
            <a:endParaRPr lang="en-US" sz="2700" dirty="0"/>
          </a:p>
        </p:txBody>
      </p:sp>
      <p:sp>
        <p:nvSpPr>
          <p:cNvPr id="5" name="Text 3"/>
          <p:cNvSpPr/>
          <p:nvPr/>
        </p:nvSpPr>
        <p:spPr>
          <a:xfrm>
            <a:off x="566928" y="1371600"/>
            <a:ext cx="10881360" cy="384048"/>
          </a:xfrm>
          <a:prstGeom prst="rect">
            <a:avLst/>
          </a:prstGeom>
          <a:noFill/>
          <a:ln/>
        </p:spPr>
        <p:txBody>
          <a:bodyPr wrap="square" lIns="0" tIns="0" rIns="0" bIns="0" rtlCol="0" anchor="ctr">
            <a:normAutofit/>
          </a:bodyPr>
          <a:lstStyle/>
          <a:p>
            <a:pPr marL="0" indent="0">
              <a:buNone/>
            </a:pPr>
            <a:r>
              <a:rPr lang="en-US" sz="1250" dirty="0">
                <a:solidFill>
                  <a:srgbClr val="64748B"/>
                </a:solidFill>
                <a:latin typeface="Arial" pitchFamily="34" charset="0"/>
                <a:ea typeface="Arial" pitchFamily="34" charset="-122"/>
                <a:cs typeface="Arial" pitchFamily="34" charset="-120"/>
              </a:rPr>
              <a:t>Pengelolaan limbah yang benar mencegah luka, infeksi, paparan kimia, dan pencemaran.</a:t>
            </a:r>
            <a:endParaRPr lang="en-US" sz="1250" dirty="0"/>
          </a:p>
        </p:txBody>
      </p:sp>
      <p:sp>
        <p:nvSpPr>
          <p:cNvPr id="6" name="Shape 4"/>
          <p:cNvSpPr/>
          <p:nvPr/>
        </p:nvSpPr>
        <p:spPr>
          <a:xfrm>
            <a:off x="850392" y="1956816"/>
            <a:ext cx="658368" cy="658368"/>
          </a:xfrm>
          <a:prstGeom prst="ellipse">
            <a:avLst/>
          </a:prstGeom>
          <a:solidFill>
            <a:srgbClr val="F8FAFC"/>
          </a:solidFill>
          <a:ln w="12700">
            <a:solidFill>
              <a:srgbClr val="F8FAFC"/>
            </a:solidFill>
            <a:prstDash val="solid"/>
          </a:ln>
        </p:spPr>
      </p:sp>
      <p:pic>
        <p:nvPicPr>
          <p:cNvPr id="7"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87552" y="2093976"/>
            <a:ext cx="310896" cy="310896"/>
          </a:xfrm>
          <a:prstGeom prst="rect">
            <a:avLst/>
          </a:prstGeom>
        </p:spPr>
      </p:pic>
      <p:sp>
        <p:nvSpPr>
          <p:cNvPr id="8" name="Text 5"/>
          <p:cNvSpPr/>
          <p:nvPr/>
        </p:nvSpPr>
        <p:spPr>
          <a:xfrm>
            <a:off x="1664208" y="1956816"/>
            <a:ext cx="2240280" cy="292608"/>
          </a:xfrm>
          <a:prstGeom prst="rect">
            <a:avLst/>
          </a:prstGeom>
          <a:noFill/>
          <a:ln/>
        </p:spPr>
        <p:txBody>
          <a:bodyPr wrap="square" lIns="0" tIns="0" rIns="0" bIns="0" rtlCol="0" anchor="ctr"/>
          <a:lstStyle/>
          <a:p>
            <a:pPr marL="0" indent="0">
              <a:buNone/>
            </a:pPr>
            <a:r>
              <a:rPr lang="en-US" sz="1450" b="1" dirty="0">
                <a:solidFill>
                  <a:srgbClr val="0F172A"/>
                </a:solidFill>
              </a:rPr>
              <a:t>Benda tajam</a:t>
            </a:r>
            <a:endParaRPr lang="en-US" sz="1450" dirty="0"/>
          </a:p>
        </p:txBody>
      </p:sp>
      <p:sp>
        <p:nvSpPr>
          <p:cNvPr id="9" name="Text 6"/>
          <p:cNvSpPr/>
          <p:nvPr/>
        </p:nvSpPr>
        <p:spPr>
          <a:xfrm>
            <a:off x="3730752" y="1929384"/>
            <a:ext cx="6839712" cy="475488"/>
          </a:xfrm>
          <a:prstGeom prst="rect">
            <a:avLst/>
          </a:prstGeom>
          <a:noFill/>
          <a:ln/>
        </p:spPr>
        <p:txBody>
          <a:bodyPr wrap="square" lIns="0" tIns="0" rIns="0" bIns="0" rtlCol="0" anchor="ctr">
            <a:normAutofit/>
          </a:bodyPr>
          <a:lstStyle/>
          <a:p>
            <a:pPr marL="0" indent="0">
              <a:buNone/>
            </a:pPr>
            <a:r>
              <a:rPr lang="en-US" sz="1240" dirty="0">
                <a:solidFill>
                  <a:srgbClr val="334155"/>
                </a:solidFill>
              </a:rPr>
              <a:t>Buang segera ke sharps container tahan tusuk di titik penggunaan.</a:t>
            </a:r>
            <a:endParaRPr lang="en-US" sz="1240" dirty="0"/>
          </a:p>
        </p:txBody>
      </p:sp>
      <p:sp>
        <p:nvSpPr>
          <p:cNvPr id="10" name="Shape 7"/>
          <p:cNvSpPr/>
          <p:nvPr/>
        </p:nvSpPr>
        <p:spPr>
          <a:xfrm>
            <a:off x="1664208" y="2633472"/>
            <a:ext cx="8851392" cy="0"/>
          </a:xfrm>
          <a:prstGeom prst="line">
            <a:avLst/>
          </a:prstGeom>
          <a:noFill/>
          <a:ln w="10160">
            <a:solidFill>
              <a:srgbClr val="E2E8F0"/>
            </a:solidFill>
            <a:prstDash val="solid"/>
          </a:ln>
        </p:spPr>
      </p:sp>
      <p:sp>
        <p:nvSpPr>
          <p:cNvPr id="11" name="Shape 8"/>
          <p:cNvSpPr/>
          <p:nvPr/>
        </p:nvSpPr>
        <p:spPr>
          <a:xfrm>
            <a:off x="850392" y="2926080"/>
            <a:ext cx="658368" cy="658368"/>
          </a:xfrm>
          <a:prstGeom prst="ellipse">
            <a:avLst/>
          </a:prstGeom>
          <a:solidFill>
            <a:srgbClr val="F8FAFC"/>
          </a:solidFill>
          <a:ln w="12700">
            <a:solidFill>
              <a:srgbClr val="F8FAFC"/>
            </a:solidFill>
            <a:prstDash val="solid"/>
          </a:ln>
        </p:spPr>
      </p:sp>
      <p:pic>
        <p:nvPicPr>
          <p:cNvPr id="12"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87552" y="3063240"/>
            <a:ext cx="310896" cy="310896"/>
          </a:xfrm>
          <a:prstGeom prst="rect">
            <a:avLst/>
          </a:prstGeom>
        </p:spPr>
      </p:pic>
      <p:sp>
        <p:nvSpPr>
          <p:cNvPr id="13" name="Text 9"/>
          <p:cNvSpPr/>
          <p:nvPr/>
        </p:nvSpPr>
        <p:spPr>
          <a:xfrm>
            <a:off x="1664208" y="2926080"/>
            <a:ext cx="2240280" cy="292608"/>
          </a:xfrm>
          <a:prstGeom prst="rect">
            <a:avLst/>
          </a:prstGeom>
          <a:noFill/>
          <a:ln/>
        </p:spPr>
        <p:txBody>
          <a:bodyPr wrap="square" lIns="0" tIns="0" rIns="0" bIns="0" rtlCol="0" anchor="ctr"/>
          <a:lstStyle/>
          <a:p>
            <a:pPr marL="0" indent="0">
              <a:buNone/>
            </a:pPr>
            <a:r>
              <a:rPr lang="en-US" sz="1450" b="1" dirty="0">
                <a:solidFill>
                  <a:srgbClr val="0F172A"/>
                </a:solidFill>
              </a:rPr>
              <a:t>Limbah infeksius</a:t>
            </a:r>
            <a:endParaRPr lang="en-US" sz="1450" dirty="0"/>
          </a:p>
        </p:txBody>
      </p:sp>
      <p:sp>
        <p:nvSpPr>
          <p:cNvPr id="14" name="Text 10"/>
          <p:cNvSpPr/>
          <p:nvPr/>
        </p:nvSpPr>
        <p:spPr>
          <a:xfrm>
            <a:off x="3730752" y="2898648"/>
            <a:ext cx="6839712" cy="475488"/>
          </a:xfrm>
          <a:prstGeom prst="rect">
            <a:avLst/>
          </a:prstGeom>
          <a:noFill/>
          <a:ln/>
        </p:spPr>
        <p:txBody>
          <a:bodyPr wrap="square" lIns="0" tIns="0" rIns="0" bIns="0" rtlCol="0" anchor="ctr">
            <a:normAutofit/>
          </a:bodyPr>
          <a:lstStyle/>
          <a:p>
            <a:pPr marL="0" indent="0">
              <a:buNone/>
            </a:pPr>
            <a:r>
              <a:rPr lang="en-US" sz="1240" dirty="0">
                <a:solidFill>
                  <a:srgbClr val="334155"/>
                </a:solidFill>
              </a:rPr>
              <a:t>Segregasi sejak sumber sesuai kode/ketentuan fasilitas.</a:t>
            </a:r>
            <a:endParaRPr lang="en-US" sz="1240" dirty="0"/>
          </a:p>
        </p:txBody>
      </p:sp>
      <p:sp>
        <p:nvSpPr>
          <p:cNvPr id="15" name="Shape 11"/>
          <p:cNvSpPr/>
          <p:nvPr/>
        </p:nvSpPr>
        <p:spPr>
          <a:xfrm>
            <a:off x="1664208" y="3602736"/>
            <a:ext cx="8851392" cy="0"/>
          </a:xfrm>
          <a:prstGeom prst="line">
            <a:avLst/>
          </a:prstGeom>
          <a:noFill/>
          <a:ln w="10160">
            <a:solidFill>
              <a:srgbClr val="E2E8F0"/>
            </a:solidFill>
            <a:prstDash val="solid"/>
          </a:ln>
        </p:spPr>
      </p:sp>
      <p:sp>
        <p:nvSpPr>
          <p:cNvPr id="16" name="Shape 12"/>
          <p:cNvSpPr/>
          <p:nvPr/>
        </p:nvSpPr>
        <p:spPr>
          <a:xfrm>
            <a:off x="850392" y="3895344"/>
            <a:ext cx="658368" cy="658368"/>
          </a:xfrm>
          <a:prstGeom prst="ellipse">
            <a:avLst/>
          </a:prstGeom>
          <a:solidFill>
            <a:srgbClr val="F8FAFC"/>
          </a:solidFill>
          <a:ln w="12700">
            <a:solidFill>
              <a:srgbClr val="F8FAFC"/>
            </a:solidFill>
            <a:prstDash val="solid"/>
          </a:ln>
        </p:spPr>
      </p:sp>
      <p:pic>
        <p:nvPicPr>
          <p:cNvPr id="17"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87552" y="4032504"/>
            <a:ext cx="310896" cy="310896"/>
          </a:xfrm>
          <a:prstGeom prst="rect">
            <a:avLst/>
          </a:prstGeom>
        </p:spPr>
      </p:pic>
      <p:sp>
        <p:nvSpPr>
          <p:cNvPr id="18" name="Text 13"/>
          <p:cNvSpPr/>
          <p:nvPr/>
        </p:nvSpPr>
        <p:spPr>
          <a:xfrm>
            <a:off x="1664208" y="3895344"/>
            <a:ext cx="2240280" cy="292608"/>
          </a:xfrm>
          <a:prstGeom prst="rect">
            <a:avLst/>
          </a:prstGeom>
          <a:noFill/>
          <a:ln/>
        </p:spPr>
        <p:txBody>
          <a:bodyPr wrap="square" lIns="0" tIns="0" rIns="0" bIns="0" rtlCol="0" anchor="ctr"/>
          <a:lstStyle/>
          <a:p>
            <a:pPr marL="0" indent="0">
              <a:buNone/>
            </a:pPr>
            <a:r>
              <a:rPr lang="en-US" sz="1450" b="1" dirty="0">
                <a:solidFill>
                  <a:srgbClr val="0F172A"/>
                </a:solidFill>
              </a:rPr>
              <a:t>Limbah farmasi/kimia</a:t>
            </a:r>
            <a:endParaRPr lang="en-US" sz="1450" dirty="0"/>
          </a:p>
        </p:txBody>
      </p:sp>
      <p:sp>
        <p:nvSpPr>
          <p:cNvPr id="19" name="Text 14"/>
          <p:cNvSpPr/>
          <p:nvPr/>
        </p:nvSpPr>
        <p:spPr>
          <a:xfrm>
            <a:off x="3730752" y="3867912"/>
            <a:ext cx="6839712" cy="475488"/>
          </a:xfrm>
          <a:prstGeom prst="rect">
            <a:avLst/>
          </a:prstGeom>
          <a:noFill/>
          <a:ln/>
        </p:spPr>
        <p:txBody>
          <a:bodyPr wrap="square" lIns="0" tIns="0" rIns="0" bIns="0" rtlCol="0" anchor="ctr">
            <a:normAutofit/>
          </a:bodyPr>
          <a:lstStyle/>
          <a:p>
            <a:pPr marL="0" indent="0">
              <a:buNone/>
            </a:pPr>
            <a:r>
              <a:rPr lang="en-US" sz="1240" dirty="0">
                <a:solidFill>
                  <a:srgbClr val="334155"/>
                </a:solidFill>
              </a:rPr>
              <a:t>Pisahkan dari limbah umum; ikuti prosedur penanganan khusus.</a:t>
            </a:r>
            <a:endParaRPr lang="en-US" sz="1240" dirty="0"/>
          </a:p>
        </p:txBody>
      </p:sp>
      <p:sp>
        <p:nvSpPr>
          <p:cNvPr id="20" name="Shape 15"/>
          <p:cNvSpPr/>
          <p:nvPr/>
        </p:nvSpPr>
        <p:spPr>
          <a:xfrm>
            <a:off x="1664208" y="4572000"/>
            <a:ext cx="8851392" cy="0"/>
          </a:xfrm>
          <a:prstGeom prst="line">
            <a:avLst/>
          </a:prstGeom>
          <a:noFill/>
          <a:ln w="10160">
            <a:solidFill>
              <a:srgbClr val="E2E8F0"/>
            </a:solidFill>
            <a:prstDash val="solid"/>
          </a:ln>
        </p:spPr>
      </p:sp>
      <p:sp>
        <p:nvSpPr>
          <p:cNvPr id="21" name="Shape 16"/>
          <p:cNvSpPr/>
          <p:nvPr/>
        </p:nvSpPr>
        <p:spPr>
          <a:xfrm>
            <a:off x="850392" y="4864608"/>
            <a:ext cx="658368" cy="658368"/>
          </a:xfrm>
          <a:prstGeom prst="ellipse">
            <a:avLst/>
          </a:prstGeom>
          <a:solidFill>
            <a:srgbClr val="F8FAFC"/>
          </a:solidFill>
          <a:ln w="12700">
            <a:solidFill>
              <a:srgbClr val="F8FAFC"/>
            </a:solidFill>
            <a:prstDash val="solid"/>
          </a:ln>
        </p:spPr>
      </p:sp>
      <p:pic>
        <p:nvPicPr>
          <p:cNvPr id="22"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87552" y="5001768"/>
            <a:ext cx="310896" cy="310896"/>
          </a:xfrm>
          <a:prstGeom prst="rect">
            <a:avLst/>
          </a:prstGeom>
        </p:spPr>
      </p:pic>
      <p:sp>
        <p:nvSpPr>
          <p:cNvPr id="23" name="Text 17"/>
          <p:cNvSpPr/>
          <p:nvPr/>
        </p:nvSpPr>
        <p:spPr>
          <a:xfrm>
            <a:off x="1664208" y="4864608"/>
            <a:ext cx="2240280" cy="292608"/>
          </a:xfrm>
          <a:prstGeom prst="rect">
            <a:avLst/>
          </a:prstGeom>
          <a:noFill/>
          <a:ln/>
        </p:spPr>
        <p:txBody>
          <a:bodyPr wrap="square" lIns="0" tIns="0" rIns="0" bIns="0" rtlCol="0" anchor="ctr"/>
          <a:lstStyle/>
          <a:p>
            <a:pPr marL="0" indent="0">
              <a:buNone/>
            </a:pPr>
            <a:r>
              <a:rPr lang="en-US" sz="1450" b="1" dirty="0">
                <a:solidFill>
                  <a:srgbClr val="0F172A"/>
                </a:solidFill>
              </a:rPr>
              <a:t>Limbah umum</a:t>
            </a:r>
            <a:endParaRPr lang="en-US" sz="1450" dirty="0"/>
          </a:p>
        </p:txBody>
      </p:sp>
      <p:sp>
        <p:nvSpPr>
          <p:cNvPr id="24" name="Text 18"/>
          <p:cNvSpPr/>
          <p:nvPr/>
        </p:nvSpPr>
        <p:spPr>
          <a:xfrm>
            <a:off x="3730752" y="4837176"/>
            <a:ext cx="6839712" cy="475488"/>
          </a:xfrm>
          <a:prstGeom prst="rect">
            <a:avLst/>
          </a:prstGeom>
          <a:noFill/>
          <a:ln/>
        </p:spPr>
        <p:txBody>
          <a:bodyPr wrap="square" lIns="0" tIns="0" rIns="0" bIns="0" rtlCol="0" anchor="ctr">
            <a:normAutofit/>
          </a:bodyPr>
          <a:lstStyle/>
          <a:p>
            <a:pPr marL="0" indent="0">
              <a:buNone/>
            </a:pPr>
            <a:r>
              <a:rPr lang="en-US" sz="1240" dirty="0">
                <a:solidFill>
                  <a:srgbClr val="334155"/>
                </a:solidFill>
              </a:rPr>
              <a:t>Jaga pemisahan agar tidak terjadi kontaminasi silang.</a:t>
            </a:r>
            <a:endParaRPr lang="en-US" sz="1240" dirty="0"/>
          </a:p>
        </p:txBody>
      </p:sp>
      <p:sp>
        <p:nvSpPr>
          <p:cNvPr id="25" name="Shape 19"/>
          <p:cNvSpPr/>
          <p:nvPr/>
        </p:nvSpPr>
        <p:spPr>
          <a:xfrm>
            <a:off x="1737360" y="5742432"/>
            <a:ext cx="8686800" cy="420624"/>
          </a:xfrm>
          <a:prstGeom prst="roundRect">
            <a:avLst>
              <a:gd name="adj" fmla="val 17391"/>
            </a:avLst>
          </a:prstGeom>
          <a:solidFill>
            <a:srgbClr val="D1FAE5"/>
          </a:solidFill>
          <a:ln w="12700">
            <a:solidFill>
              <a:srgbClr val="D1FAE5"/>
            </a:solidFill>
            <a:prstDash val="solid"/>
          </a:ln>
        </p:spPr>
      </p:sp>
      <p:sp>
        <p:nvSpPr>
          <p:cNvPr id="26" name="Text 20"/>
          <p:cNvSpPr/>
          <p:nvPr/>
        </p:nvSpPr>
        <p:spPr>
          <a:xfrm>
            <a:off x="1965960" y="5852160"/>
            <a:ext cx="8229600" cy="164592"/>
          </a:xfrm>
          <a:prstGeom prst="rect">
            <a:avLst/>
          </a:prstGeom>
          <a:noFill/>
          <a:ln/>
        </p:spPr>
        <p:txBody>
          <a:bodyPr wrap="square" lIns="0" tIns="0" rIns="0" bIns="0" rtlCol="0" anchor="ctr"/>
          <a:lstStyle/>
          <a:p>
            <a:pPr marL="0" indent="0" algn="ctr">
              <a:buNone/>
            </a:pPr>
            <a:r>
              <a:rPr lang="en-US" sz="1150" b="1" dirty="0">
                <a:solidFill>
                  <a:srgbClr val="059669"/>
                </a:solidFill>
              </a:rPr>
              <a:t>Aturan sederhana: pisahkan di sumber • wadah tepat • jangan overfill • tutup &amp; angkut dengan aman</a:t>
            </a:r>
            <a:endParaRPr lang="en-US" sz="1150" dirty="0"/>
          </a:p>
        </p:txBody>
      </p:sp>
      <p:sp>
        <p:nvSpPr>
          <p:cNvPr id="27" name="Slide Number Placeholder 0"/>
          <p:cNvSpPr>
            <a:spLocks noGrp="1"/>
          </p:cNvSpPr>
          <p:nvPr>
            <p:ph type="sldNum" sz="quarter" idx="4294967295"/>
          </p:nvPr>
        </p:nvSpPr>
        <p:spPr>
          <a:xfrm>
            <a:off x="11475720" y="6492240"/>
            <a:ext cx="320040"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64748B"/>
                </a:solidFill>
                <a:latin typeface="Arial"/>
                <a:ea typeface="Arial"/>
                <a:cs typeface="Arial"/>
              </a:defRPr>
            </a:lvl1pPr>
          </a:lstStyle>
          <a:p>
            <a:pPr algn="r"/>
            <a:fld id="{F7021451-1387-4CA6-816F-3879F97B5CBC}" type="slidenum">
              <a:rPr lang="en-US" b="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566928" y="347472"/>
            <a:ext cx="1417320" cy="310896"/>
          </a:xfrm>
          <a:prstGeom prst="roundRect">
            <a:avLst>
              <a:gd name="adj" fmla="val 23529"/>
            </a:avLst>
          </a:prstGeom>
          <a:solidFill>
            <a:srgbClr val="ECFEFF"/>
          </a:solidFill>
          <a:ln w="12700">
            <a:solidFill>
              <a:srgbClr val="ECFEFF"/>
            </a:solidFill>
            <a:prstDash val="solid"/>
          </a:ln>
        </p:spPr>
      </p:sp>
      <p:sp>
        <p:nvSpPr>
          <p:cNvPr id="3" name="Text 1"/>
          <p:cNvSpPr/>
          <p:nvPr/>
        </p:nvSpPr>
        <p:spPr>
          <a:xfrm>
            <a:off x="694944" y="429768"/>
            <a:ext cx="1170432" cy="128016"/>
          </a:xfrm>
          <a:prstGeom prst="rect">
            <a:avLst/>
          </a:prstGeom>
          <a:noFill/>
          <a:ln/>
        </p:spPr>
        <p:txBody>
          <a:bodyPr wrap="square" lIns="0" tIns="0" rIns="0" bIns="0" rtlCol="0" anchor="ctr"/>
          <a:lstStyle/>
          <a:p>
            <a:pPr marL="0" indent="0" algn="ctr">
              <a:buNone/>
            </a:pPr>
            <a:r>
              <a:rPr lang="en-US" sz="900" b="1" dirty="0">
                <a:solidFill>
                  <a:srgbClr val="0E7490"/>
                </a:solidFill>
                <a:latin typeface="Arial" pitchFamily="34" charset="0"/>
                <a:ea typeface="Arial" pitchFamily="34" charset="-122"/>
                <a:cs typeface="Arial" pitchFamily="34" charset="-120"/>
              </a:rPr>
              <a:t>RUANG LINGKUP</a:t>
            </a:r>
            <a:endParaRPr lang="en-US" sz="900" dirty="0"/>
          </a:p>
        </p:txBody>
      </p:sp>
      <p:sp>
        <p:nvSpPr>
          <p:cNvPr id="4" name="Text 2"/>
          <p:cNvSpPr/>
          <p:nvPr/>
        </p:nvSpPr>
        <p:spPr>
          <a:xfrm>
            <a:off x="566928" y="777240"/>
            <a:ext cx="10972800" cy="566928"/>
          </a:xfrm>
          <a:prstGeom prst="rect">
            <a:avLst/>
          </a:prstGeom>
          <a:noFill/>
          <a:ln/>
        </p:spPr>
        <p:txBody>
          <a:bodyPr wrap="square" lIns="0" tIns="0" rIns="0" bIns="0" rtlCol="0" anchor="ctr">
            <a:normAutofit/>
          </a:bodyPr>
          <a:lstStyle/>
          <a:p>
            <a:pPr marL="0" indent="0">
              <a:buNone/>
            </a:pPr>
            <a:r>
              <a:rPr lang="en-US" sz="2700" b="1" dirty="0">
                <a:solidFill>
                  <a:srgbClr val="0F172A"/>
                </a:solidFill>
                <a:latin typeface="Arial" pitchFamily="34" charset="0"/>
                <a:ea typeface="Arial" pitchFamily="34" charset="-122"/>
                <a:cs typeface="Arial" pitchFamily="34" charset="-120"/>
              </a:rPr>
              <a:t>K3 pada Area Klinis Berisiko Tinggi</a:t>
            </a:r>
            <a:endParaRPr lang="en-US" sz="2700" dirty="0"/>
          </a:p>
        </p:txBody>
      </p:sp>
      <p:sp>
        <p:nvSpPr>
          <p:cNvPr id="5" name="Text 3"/>
          <p:cNvSpPr/>
          <p:nvPr/>
        </p:nvSpPr>
        <p:spPr>
          <a:xfrm>
            <a:off x="566928" y="1371600"/>
            <a:ext cx="10881360" cy="384048"/>
          </a:xfrm>
          <a:prstGeom prst="rect">
            <a:avLst/>
          </a:prstGeom>
          <a:noFill/>
          <a:ln/>
        </p:spPr>
        <p:txBody>
          <a:bodyPr wrap="square" lIns="0" tIns="0" rIns="0" bIns="0" rtlCol="0" anchor="ctr">
            <a:normAutofit/>
          </a:bodyPr>
          <a:lstStyle/>
          <a:p>
            <a:pPr marL="0" indent="0">
              <a:buNone/>
            </a:pPr>
            <a:r>
              <a:rPr lang="en-US" sz="1250" dirty="0">
                <a:solidFill>
                  <a:srgbClr val="64748B"/>
                </a:solidFill>
                <a:latin typeface="Arial" pitchFamily="34" charset="0"/>
                <a:ea typeface="Arial" pitchFamily="34" charset="-122"/>
                <a:cs typeface="Arial" pitchFamily="34" charset="-120"/>
              </a:rPr>
              <a:t>Profil bahaya berbeda antarunit. Pengendalian harus spesifik terhadap proses kerja dan pasien.</a:t>
            </a:r>
            <a:endParaRPr lang="en-US" sz="1250" dirty="0"/>
          </a:p>
        </p:txBody>
      </p:sp>
      <p:sp>
        <p:nvSpPr>
          <p:cNvPr id="6" name="Shape 4"/>
          <p:cNvSpPr/>
          <p:nvPr/>
        </p:nvSpPr>
        <p:spPr>
          <a:xfrm>
            <a:off x="658368" y="1993392"/>
            <a:ext cx="2542032" cy="3611880"/>
          </a:xfrm>
          <a:prstGeom prst="roundRect">
            <a:avLst>
              <a:gd name="adj" fmla="val 2878"/>
            </a:avLst>
          </a:prstGeom>
          <a:solidFill>
            <a:srgbClr val="FFFFFF"/>
          </a:solidFill>
          <a:ln w="12700">
            <a:solidFill>
              <a:srgbClr val="E2E8F0"/>
            </a:solidFill>
            <a:prstDash val="solid"/>
          </a:ln>
        </p:spPr>
      </p:sp>
      <p:sp>
        <p:nvSpPr>
          <p:cNvPr id="7" name="Shape 5"/>
          <p:cNvSpPr/>
          <p:nvPr/>
        </p:nvSpPr>
        <p:spPr>
          <a:xfrm>
            <a:off x="658368" y="1993392"/>
            <a:ext cx="2542032" cy="658368"/>
          </a:xfrm>
          <a:prstGeom prst="rect">
            <a:avLst/>
          </a:prstGeom>
          <a:solidFill>
            <a:srgbClr val="DC2626"/>
          </a:solidFill>
          <a:ln w="12700">
            <a:solidFill>
              <a:srgbClr val="DC2626"/>
            </a:solidFill>
            <a:prstDash val="solid"/>
          </a:ln>
        </p:spPr>
      </p:sp>
      <p:sp>
        <p:nvSpPr>
          <p:cNvPr id="8" name="Text 6"/>
          <p:cNvSpPr/>
          <p:nvPr/>
        </p:nvSpPr>
        <p:spPr>
          <a:xfrm>
            <a:off x="822960" y="2212848"/>
            <a:ext cx="2212848" cy="237744"/>
          </a:xfrm>
          <a:prstGeom prst="rect">
            <a:avLst/>
          </a:prstGeom>
          <a:noFill/>
          <a:ln/>
        </p:spPr>
        <p:txBody>
          <a:bodyPr wrap="square" lIns="0" tIns="0" rIns="0" bIns="0" rtlCol="0" anchor="ctr"/>
          <a:lstStyle/>
          <a:p>
            <a:pPr marL="0" indent="0" algn="ctr">
              <a:buNone/>
            </a:pPr>
            <a:r>
              <a:rPr lang="en-US" sz="1600" b="1" dirty="0">
                <a:solidFill>
                  <a:srgbClr val="FFFFFF"/>
                </a:solidFill>
              </a:rPr>
              <a:t>IGD</a:t>
            </a:r>
            <a:endParaRPr lang="en-US" sz="1600" dirty="0"/>
          </a:p>
        </p:txBody>
      </p:sp>
      <p:sp>
        <p:nvSpPr>
          <p:cNvPr id="9" name="Text 7"/>
          <p:cNvSpPr/>
          <p:nvPr/>
        </p:nvSpPr>
        <p:spPr>
          <a:xfrm>
            <a:off x="886968" y="2926080"/>
            <a:ext cx="2084832" cy="228600"/>
          </a:xfrm>
          <a:prstGeom prst="rect">
            <a:avLst/>
          </a:prstGeom>
          <a:noFill/>
          <a:ln/>
        </p:spPr>
        <p:txBody>
          <a:bodyPr wrap="square" lIns="0" tIns="0" rIns="0" bIns="0" rtlCol="0" anchor="ctr"/>
          <a:lstStyle/>
          <a:p>
            <a:pPr marL="0" indent="0">
              <a:buNone/>
            </a:pPr>
            <a:r>
              <a:rPr lang="en-US" sz="1100" b="1" dirty="0">
                <a:solidFill>
                  <a:srgbClr val="DC2626"/>
                </a:solidFill>
              </a:rPr>
              <a:t>Risiko utama</a:t>
            </a:r>
            <a:endParaRPr lang="en-US" sz="1100" dirty="0"/>
          </a:p>
        </p:txBody>
      </p:sp>
      <p:sp>
        <p:nvSpPr>
          <p:cNvPr id="10" name="Text 8"/>
          <p:cNvSpPr/>
          <p:nvPr/>
        </p:nvSpPr>
        <p:spPr>
          <a:xfrm>
            <a:off x="886968" y="3255264"/>
            <a:ext cx="2084832" cy="960120"/>
          </a:xfrm>
          <a:prstGeom prst="rect">
            <a:avLst/>
          </a:prstGeom>
          <a:noFill/>
          <a:ln/>
        </p:spPr>
        <p:txBody>
          <a:bodyPr wrap="square" lIns="0" tIns="0" rIns="0" bIns="0" rtlCol="0" anchor="ctr">
            <a:normAutofit/>
          </a:bodyPr>
          <a:lstStyle/>
          <a:p>
            <a:pPr marL="0" indent="0">
              <a:buNone/>
            </a:pPr>
            <a:r>
              <a:rPr lang="en-US" sz="1120" dirty="0">
                <a:solidFill>
                  <a:srgbClr val="334155"/>
                </a:solidFill>
              </a:rPr>
              <a:t>Aerosol, kekerasan, crowding, paparan darah, evakuasi.</a:t>
            </a:r>
            <a:endParaRPr lang="en-US" sz="1120" dirty="0"/>
          </a:p>
        </p:txBody>
      </p:sp>
      <p:sp>
        <p:nvSpPr>
          <p:cNvPr id="11" name="Text 9"/>
          <p:cNvSpPr/>
          <p:nvPr/>
        </p:nvSpPr>
        <p:spPr>
          <a:xfrm>
            <a:off x="886968" y="4443984"/>
            <a:ext cx="2084832" cy="228600"/>
          </a:xfrm>
          <a:prstGeom prst="rect">
            <a:avLst/>
          </a:prstGeom>
          <a:noFill/>
          <a:ln/>
        </p:spPr>
        <p:txBody>
          <a:bodyPr wrap="square" lIns="0" tIns="0" rIns="0" bIns="0" rtlCol="0" anchor="ctr"/>
          <a:lstStyle/>
          <a:p>
            <a:pPr marL="0" indent="0">
              <a:buNone/>
            </a:pPr>
            <a:r>
              <a:rPr lang="en-US" sz="1100" b="1" dirty="0">
                <a:solidFill>
                  <a:srgbClr val="DC2626"/>
                </a:solidFill>
              </a:rPr>
              <a:t>Kontrol kunci</a:t>
            </a:r>
            <a:endParaRPr lang="en-US" sz="1100" dirty="0"/>
          </a:p>
        </p:txBody>
      </p:sp>
      <p:sp>
        <p:nvSpPr>
          <p:cNvPr id="12" name="Text 10"/>
          <p:cNvSpPr/>
          <p:nvPr/>
        </p:nvSpPr>
        <p:spPr>
          <a:xfrm>
            <a:off x="886968" y="4754880"/>
            <a:ext cx="2084832" cy="566928"/>
          </a:xfrm>
          <a:prstGeom prst="rect">
            <a:avLst/>
          </a:prstGeom>
          <a:noFill/>
          <a:ln/>
        </p:spPr>
        <p:txBody>
          <a:bodyPr wrap="square" lIns="0" tIns="0" rIns="0" bIns="0" rtlCol="0" anchor="ctr">
            <a:normAutofit/>
          </a:bodyPr>
          <a:lstStyle/>
          <a:p>
            <a:pPr marL="0" indent="0">
              <a:buNone/>
            </a:pPr>
            <a:r>
              <a:rPr lang="en-US" sz="1080" dirty="0">
                <a:solidFill>
                  <a:srgbClr val="334155"/>
                </a:solidFill>
              </a:rPr>
              <a:t>Triage risiko • APD • keamanan • jalur darurat</a:t>
            </a:r>
            <a:endParaRPr lang="en-US" sz="1080" dirty="0"/>
          </a:p>
        </p:txBody>
      </p:sp>
      <p:sp>
        <p:nvSpPr>
          <p:cNvPr id="13" name="Shape 11"/>
          <p:cNvSpPr/>
          <p:nvPr/>
        </p:nvSpPr>
        <p:spPr>
          <a:xfrm>
            <a:off x="3538728" y="1993392"/>
            <a:ext cx="2542032" cy="3611880"/>
          </a:xfrm>
          <a:prstGeom prst="roundRect">
            <a:avLst>
              <a:gd name="adj" fmla="val 2878"/>
            </a:avLst>
          </a:prstGeom>
          <a:solidFill>
            <a:srgbClr val="FFFFFF"/>
          </a:solidFill>
          <a:ln w="12700">
            <a:solidFill>
              <a:srgbClr val="E2E8F0"/>
            </a:solidFill>
            <a:prstDash val="solid"/>
          </a:ln>
        </p:spPr>
      </p:sp>
      <p:sp>
        <p:nvSpPr>
          <p:cNvPr id="14" name="Shape 12"/>
          <p:cNvSpPr/>
          <p:nvPr/>
        </p:nvSpPr>
        <p:spPr>
          <a:xfrm>
            <a:off x="3538728" y="1993392"/>
            <a:ext cx="2542032" cy="658368"/>
          </a:xfrm>
          <a:prstGeom prst="rect">
            <a:avLst/>
          </a:prstGeom>
          <a:solidFill>
            <a:srgbClr val="2563EB"/>
          </a:solidFill>
          <a:ln w="12700">
            <a:solidFill>
              <a:srgbClr val="2563EB"/>
            </a:solidFill>
            <a:prstDash val="solid"/>
          </a:ln>
        </p:spPr>
      </p:sp>
      <p:sp>
        <p:nvSpPr>
          <p:cNvPr id="15" name="Text 13"/>
          <p:cNvSpPr/>
          <p:nvPr/>
        </p:nvSpPr>
        <p:spPr>
          <a:xfrm>
            <a:off x="3703320" y="2212848"/>
            <a:ext cx="2212848" cy="237744"/>
          </a:xfrm>
          <a:prstGeom prst="rect">
            <a:avLst/>
          </a:prstGeom>
          <a:noFill/>
          <a:ln/>
        </p:spPr>
        <p:txBody>
          <a:bodyPr wrap="square" lIns="0" tIns="0" rIns="0" bIns="0" rtlCol="0" anchor="ctr"/>
          <a:lstStyle/>
          <a:p>
            <a:pPr marL="0" indent="0" algn="ctr">
              <a:buNone/>
            </a:pPr>
            <a:r>
              <a:rPr lang="en-US" sz="1600" b="1" dirty="0">
                <a:solidFill>
                  <a:srgbClr val="FFFFFF"/>
                </a:solidFill>
              </a:rPr>
              <a:t>ICU</a:t>
            </a:r>
            <a:endParaRPr lang="en-US" sz="1600" dirty="0"/>
          </a:p>
        </p:txBody>
      </p:sp>
      <p:sp>
        <p:nvSpPr>
          <p:cNvPr id="16" name="Text 14"/>
          <p:cNvSpPr/>
          <p:nvPr/>
        </p:nvSpPr>
        <p:spPr>
          <a:xfrm>
            <a:off x="3767328" y="2926080"/>
            <a:ext cx="2084832" cy="228600"/>
          </a:xfrm>
          <a:prstGeom prst="rect">
            <a:avLst/>
          </a:prstGeom>
          <a:noFill/>
          <a:ln/>
        </p:spPr>
        <p:txBody>
          <a:bodyPr wrap="square" lIns="0" tIns="0" rIns="0" bIns="0" rtlCol="0" anchor="ctr"/>
          <a:lstStyle/>
          <a:p>
            <a:pPr marL="0" indent="0">
              <a:buNone/>
            </a:pPr>
            <a:r>
              <a:rPr lang="en-US" sz="1100" b="1" dirty="0">
                <a:solidFill>
                  <a:srgbClr val="2563EB"/>
                </a:solidFill>
              </a:rPr>
              <a:t>Risiko utama</a:t>
            </a:r>
            <a:endParaRPr lang="en-US" sz="1100" dirty="0"/>
          </a:p>
        </p:txBody>
      </p:sp>
      <p:sp>
        <p:nvSpPr>
          <p:cNvPr id="17" name="Text 15"/>
          <p:cNvSpPr/>
          <p:nvPr/>
        </p:nvSpPr>
        <p:spPr>
          <a:xfrm>
            <a:off x="3767328" y="3255264"/>
            <a:ext cx="2084832" cy="960120"/>
          </a:xfrm>
          <a:prstGeom prst="rect">
            <a:avLst/>
          </a:prstGeom>
          <a:noFill/>
          <a:ln/>
        </p:spPr>
        <p:txBody>
          <a:bodyPr wrap="square" lIns="0" tIns="0" rIns="0" bIns="0" rtlCol="0" anchor="ctr">
            <a:normAutofit/>
          </a:bodyPr>
          <a:lstStyle/>
          <a:p>
            <a:pPr marL="0" indent="0">
              <a:buNone/>
            </a:pPr>
            <a:r>
              <a:rPr lang="en-US" sz="1120" dirty="0">
                <a:solidFill>
                  <a:srgbClr val="334155"/>
                </a:solidFill>
              </a:rPr>
              <a:t>Alarm, alat listrik, infeksi, transfer pasien kompleks.</a:t>
            </a:r>
            <a:endParaRPr lang="en-US" sz="1120" dirty="0"/>
          </a:p>
        </p:txBody>
      </p:sp>
      <p:sp>
        <p:nvSpPr>
          <p:cNvPr id="18" name="Text 16"/>
          <p:cNvSpPr/>
          <p:nvPr/>
        </p:nvSpPr>
        <p:spPr>
          <a:xfrm>
            <a:off x="3767328" y="4443984"/>
            <a:ext cx="2084832" cy="228600"/>
          </a:xfrm>
          <a:prstGeom prst="rect">
            <a:avLst/>
          </a:prstGeom>
          <a:noFill/>
          <a:ln/>
        </p:spPr>
        <p:txBody>
          <a:bodyPr wrap="square" lIns="0" tIns="0" rIns="0" bIns="0" rtlCol="0" anchor="ctr"/>
          <a:lstStyle/>
          <a:p>
            <a:pPr marL="0" indent="0">
              <a:buNone/>
            </a:pPr>
            <a:r>
              <a:rPr lang="en-US" sz="1100" b="1" dirty="0">
                <a:solidFill>
                  <a:srgbClr val="2563EB"/>
                </a:solidFill>
              </a:rPr>
              <a:t>Kontrol kunci</a:t>
            </a:r>
            <a:endParaRPr lang="en-US" sz="1100" dirty="0"/>
          </a:p>
        </p:txBody>
      </p:sp>
      <p:sp>
        <p:nvSpPr>
          <p:cNvPr id="19" name="Text 17"/>
          <p:cNvSpPr/>
          <p:nvPr/>
        </p:nvSpPr>
        <p:spPr>
          <a:xfrm>
            <a:off x="3767328" y="4754880"/>
            <a:ext cx="2084832" cy="566928"/>
          </a:xfrm>
          <a:prstGeom prst="rect">
            <a:avLst/>
          </a:prstGeom>
          <a:noFill/>
          <a:ln/>
        </p:spPr>
        <p:txBody>
          <a:bodyPr wrap="square" lIns="0" tIns="0" rIns="0" bIns="0" rtlCol="0" anchor="ctr">
            <a:normAutofit/>
          </a:bodyPr>
          <a:lstStyle/>
          <a:p>
            <a:pPr marL="0" indent="0">
              <a:buNone/>
            </a:pPr>
            <a:r>
              <a:rPr lang="en-US" sz="1080" dirty="0">
                <a:solidFill>
                  <a:srgbClr val="334155"/>
                </a:solidFill>
              </a:rPr>
              <a:t>Bundle keselamatan • alarm management • teamwork</a:t>
            </a:r>
            <a:endParaRPr lang="en-US" sz="1080" dirty="0"/>
          </a:p>
        </p:txBody>
      </p:sp>
      <p:sp>
        <p:nvSpPr>
          <p:cNvPr id="20" name="Shape 18"/>
          <p:cNvSpPr/>
          <p:nvPr/>
        </p:nvSpPr>
        <p:spPr>
          <a:xfrm>
            <a:off x="6419088" y="1993392"/>
            <a:ext cx="2542032" cy="3611880"/>
          </a:xfrm>
          <a:prstGeom prst="roundRect">
            <a:avLst>
              <a:gd name="adj" fmla="val 2878"/>
            </a:avLst>
          </a:prstGeom>
          <a:solidFill>
            <a:srgbClr val="FFFFFF"/>
          </a:solidFill>
          <a:ln w="12700">
            <a:solidFill>
              <a:srgbClr val="E2E8F0"/>
            </a:solidFill>
            <a:prstDash val="solid"/>
          </a:ln>
        </p:spPr>
      </p:sp>
      <p:sp>
        <p:nvSpPr>
          <p:cNvPr id="21" name="Shape 19"/>
          <p:cNvSpPr/>
          <p:nvPr/>
        </p:nvSpPr>
        <p:spPr>
          <a:xfrm>
            <a:off x="6419088" y="1993392"/>
            <a:ext cx="2542032" cy="658368"/>
          </a:xfrm>
          <a:prstGeom prst="rect">
            <a:avLst/>
          </a:prstGeom>
          <a:solidFill>
            <a:srgbClr val="7C3AED"/>
          </a:solidFill>
          <a:ln w="12700">
            <a:solidFill>
              <a:srgbClr val="7C3AED"/>
            </a:solidFill>
            <a:prstDash val="solid"/>
          </a:ln>
        </p:spPr>
      </p:sp>
      <p:sp>
        <p:nvSpPr>
          <p:cNvPr id="22" name="Text 20"/>
          <p:cNvSpPr/>
          <p:nvPr/>
        </p:nvSpPr>
        <p:spPr>
          <a:xfrm>
            <a:off x="6583680" y="2212848"/>
            <a:ext cx="2212848" cy="237744"/>
          </a:xfrm>
          <a:prstGeom prst="rect">
            <a:avLst/>
          </a:prstGeom>
          <a:noFill/>
          <a:ln/>
        </p:spPr>
        <p:txBody>
          <a:bodyPr wrap="square" lIns="0" tIns="0" rIns="0" bIns="0" rtlCol="0" anchor="ctr"/>
          <a:lstStyle/>
          <a:p>
            <a:pPr marL="0" indent="0" algn="ctr">
              <a:buNone/>
            </a:pPr>
            <a:r>
              <a:rPr lang="en-US" sz="1600" b="1" dirty="0">
                <a:solidFill>
                  <a:srgbClr val="FFFFFF"/>
                </a:solidFill>
              </a:rPr>
              <a:t>Kamar Operasi</a:t>
            </a:r>
            <a:endParaRPr lang="en-US" sz="1600" dirty="0"/>
          </a:p>
        </p:txBody>
      </p:sp>
      <p:sp>
        <p:nvSpPr>
          <p:cNvPr id="23" name="Text 21"/>
          <p:cNvSpPr/>
          <p:nvPr/>
        </p:nvSpPr>
        <p:spPr>
          <a:xfrm>
            <a:off x="6647688" y="2926080"/>
            <a:ext cx="2084832" cy="228600"/>
          </a:xfrm>
          <a:prstGeom prst="rect">
            <a:avLst/>
          </a:prstGeom>
          <a:noFill/>
          <a:ln/>
        </p:spPr>
        <p:txBody>
          <a:bodyPr wrap="square" lIns="0" tIns="0" rIns="0" bIns="0" rtlCol="0" anchor="ctr"/>
          <a:lstStyle/>
          <a:p>
            <a:pPr marL="0" indent="0">
              <a:buNone/>
            </a:pPr>
            <a:r>
              <a:rPr lang="en-US" sz="1100" b="1" dirty="0">
                <a:solidFill>
                  <a:srgbClr val="7C3AED"/>
                </a:solidFill>
              </a:rPr>
              <a:t>Risiko utama</a:t>
            </a:r>
            <a:endParaRPr lang="en-US" sz="1100" dirty="0"/>
          </a:p>
        </p:txBody>
      </p:sp>
      <p:sp>
        <p:nvSpPr>
          <p:cNvPr id="24" name="Text 22"/>
          <p:cNvSpPr/>
          <p:nvPr/>
        </p:nvSpPr>
        <p:spPr>
          <a:xfrm>
            <a:off x="6647688" y="3255264"/>
            <a:ext cx="2084832" cy="960120"/>
          </a:xfrm>
          <a:prstGeom prst="rect">
            <a:avLst/>
          </a:prstGeom>
          <a:noFill/>
          <a:ln/>
        </p:spPr>
        <p:txBody>
          <a:bodyPr wrap="square" lIns="0" tIns="0" rIns="0" bIns="0" rtlCol="0" anchor="ctr">
            <a:normAutofit/>
          </a:bodyPr>
          <a:lstStyle/>
          <a:p>
            <a:pPr marL="0" indent="0">
              <a:buNone/>
            </a:pPr>
            <a:r>
              <a:rPr lang="en-US" sz="1120" dirty="0">
                <a:solidFill>
                  <a:srgbClr val="334155"/>
                </a:solidFill>
              </a:rPr>
              <a:t>Sharps, asap bedah, gas, bahan kimia, listrik, kebakaran.</a:t>
            </a:r>
            <a:endParaRPr lang="en-US" sz="1120" dirty="0"/>
          </a:p>
        </p:txBody>
      </p:sp>
      <p:sp>
        <p:nvSpPr>
          <p:cNvPr id="25" name="Text 23"/>
          <p:cNvSpPr/>
          <p:nvPr/>
        </p:nvSpPr>
        <p:spPr>
          <a:xfrm>
            <a:off x="6647688" y="4443984"/>
            <a:ext cx="2084832" cy="228600"/>
          </a:xfrm>
          <a:prstGeom prst="rect">
            <a:avLst/>
          </a:prstGeom>
          <a:noFill/>
          <a:ln/>
        </p:spPr>
        <p:txBody>
          <a:bodyPr wrap="square" lIns="0" tIns="0" rIns="0" bIns="0" rtlCol="0" anchor="ctr"/>
          <a:lstStyle/>
          <a:p>
            <a:pPr marL="0" indent="0">
              <a:buNone/>
            </a:pPr>
            <a:r>
              <a:rPr lang="en-US" sz="1100" b="1" dirty="0">
                <a:solidFill>
                  <a:srgbClr val="7C3AED"/>
                </a:solidFill>
              </a:rPr>
              <a:t>Kontrol kunci</a:t>
            </a:r>
            <a:endParaRPr lang="en-US" sz="1100" dirty="0"/>
          </a:p>
        </p:txBody>
      </p:sp>
      <p:sp>
        <p:nvSpPr>
          <p:cNvPr id="26" name="Text 24"/>
          <p:cNvSpPr/>
          <p:nvPr/>
        </p:nvSpPr>
        <p:spPr>
          <a:xfrm>
            <a:off x="6647688" y="4754880"/>
            <a:ext cx="2084832" cy="566928"/>
          </a:xfrm>
          <a:prstGeom prst="rect">
            <a:avLst/>
          </a:prstGeom>
          <a:noFill/>
          <a:ln/>
        </p:spPr>
        <p:txBody>
          <a:bodyPr wrap="square" lIns="0" tIns="0" rIns="0" bIns="0" rtlCol="0" anchor="ctr">
            <a:normAutofit/>
          </a:bodyPr>
          <a:lstStyle/>
          <a:p>
            <a:pPr marL="0" indent="0">
              <a:buNone/>
            </a:pPr>
            <a:r>
              <a:rPr lang="en-US" sz="1080" dirty="0">
                <a:solidFill>
                  <a:srgbClr val="334155"/>
                </a:solidFill>
              </a:rPr>
              <a:t>Zonasi • sharps safety • ventilasi • time-out</a:t>
            </a:r>
            <a:endParaRPr lang="en-US" sz="1080" dirty="0"/>
          </a:p>
        </p:txBody>
      </p:sp>
      <p:sp>
        <p:nvSpPr>
          <p:cNvPr id="27" name="Shape 25"/>
          <p:cNvSpPr/>
          <p:nvPr/>
        </p:nvSpPr>
        <p:spPr>
          <a:xfrm>
            <a:off x="9299448" y="1993392"/>
            <a:ext cx="2542032" cy="3611880"/>
          </a:xfrm>
          <a:prstGeom prst="roundRect">
            <a:avLst>
              <a:gd name="adj" fmla="val 2878"/>
            </a:avLst>
          </a:prstGeom>
          <a:solidFill>
            <a:srgbClr val="FFFFFF"/>
          </a:solidFill>
          <a:ln w="12700">
            <a:solidFill>
              <a:srgbClr val="E2E8F0"/>
            </a:solidFill>
            <a:prstDash val="solid"/>
          </a:ln>
        </p:spPr>
      </p:sp>
      <p:sp>
        <p:nvSpPr>
          <p:cNvPr id="28" name="Shape 26"/>
          <p:cNvSpPr/>
          <p:nvPr/>
        </p:nvSpPr>
        <p:spPr>
          <a:xfrm>
            <a:off x="9299448" y="1993392"/>
            <a:ext cx="2542032" cy="658368"/>
          </a:xfrm>
          <a:prstGeom prst="rect">
            <a:avLst/>
          </a:prstGeom>
          <a:solidFill>
            <a:srgbClr val="0E7490"/>
          </a:solidFill>
          <a:ln w="12700">
            <a:solidFill>
              <a:srgbClr val="0E7490"/>
            </a:solidFill>
            <a:prstDash val="solid"/>
          </a:ln>
        </p:spPr>
      </p:sp>
      <p:sp>
        <p:nvSpPr>
          <p:cNvPr id="29" name="Text 27"/>
          <p:cNvSpPr/>
          <p:nvPr/>
        </p:nvSpPr>
        <p:spPr>
          <a:xfrm>
            <a:off x="9464040" y="2212848"/>
            <a:ext cx="2212848" cy="237744"/>
          </a:xfrm>
          <a:prstGeom prst="rect">
            <a:avLst/>
          </a:prstGeom>
          <a:noFill/>
          <a:ln/>
        </p:spPr>
        <p:txBody>
          <a:bodyPr wrap="square" lIns="0" tIns="0" rIns="0" bIns="0" rtlCol="0" anchor="ctr"/>
          <a:lstStyle/>
          <a:p>
            <a:pPr marL="0" indent="0" algn="ctr">
              <a:buNone/>
            </a:pPr>
            <a:r>
              <a:rPr lang="en-US" sz="1600" b="1" dirty="0">
                <a:solidFill>
                  <a:srgbClr val="FFFFFF"/>
                </a:solidFill>
              </a:rPr>
              <a:t>Ruang Isolasi</a:t>
            </a:r>
            <a:endParaRPr lang="en-US" sz="1600" dirty="0"/>
          </a:p>
        </p:txBody>
      </p:sp>
      <p:sp>
        <p:nvSpPr>
          <p:cNvPr id="30" name="Text 28"/>
          <p:cNvSpPr/>
          <p:nvPr/>
        </p:nvSpPr>
        <p:spPr>
          <a:xfrm>
            <a:off x="9528048" y="2926080"/>
            <a:ext cx="2084832" cy="228600"/>
          </a:xfrm>
          <a:prstGeom prst="rect">
            <a:avLst/>
          </a:prstGeom>
          <a:noFill/>
          <a:ln/>
        </p:spPr>
        <p:txBody>
          <a:bodyPr wrap="square" lIns="0" tIns="0" rIns="0" bIns="0" rtlCol="0" anchor="ctr"/>
          <a:lstStyle/>
          <a:p>
            <a:pPr marL="0" indent="0">
              <a:buNone/>
            </a:pPr>
            <a:r>
              <a:rPr lang="en-US" sz="1100" b="1" dirty="0">
                <a:solidFill>
                  <a:srgbClr val="0E7490"/>
                </a:solidFill>
              </a:rPr>
              <a:t>Risiko utama</a:t>
            </a:r>
            <a:endParaRPr lang="en-US" sz="1100" dirty="0"/>
          </a:p>
        </p:txBody>
      </p:sp>
      <p:sp>
        <p:nvSpPr>
          <p:cNvPr id="31" name="Text 29"/>
          <p:cNvSpPr/>
          <p:nvPr/>
        </p:nvSpPr>
        <p:spPr>
          <a:xfrm>
            <a:off x="9528048" y="3255264"/>
            <a:ext cx="2084832" cy="960120"/>
          </a:xfrm>
          <a:prstGeom prst="rect">
            <a:avLst/>
          </a:prstGeom>
          <a:noFill/>
          <a:ln/>
        </p:spPr>
        <p:txBody>
          <a:bodyPr wrap="square" lIns="0" tIns="0" rIns="0" bIns="0" rtlCol="0" anchor="ctr">
            <a:normAutofit/>
          </a:bodyPr>
          <a:lstStyle/>
          <a:p>
            <a:pPr marL="0" indent="0">
              <a:buNone/>
            </a:pPr>
            <a:r>
              <a:rPr lang="en-US" sz="1120" dirty="0">
                <a:solidFill>
                  <a:srgbClr val="334155"/>
                </a:solidFill>
              </a:rPr>
              <a:t>Droplet/aerosol, donning-doffing, limbah, tekanan kerja.</a:t>
            </a:r>
            <a:endParaRPr lang="en-US" sz="1120" dirty="0"/>
          </a:p>
        </p:txBody>
      </p:sp>
      <p:sp>
        <p:nvSpPr>
          <p:cNvPr id="32" name="Text 30"/>
          <p:cNvSpPr/>
          <p:nvPr/>
        </p:nvSpPr>
        <p:spPr>
          <a:xfrm>
            <a:off x="9528048" y="4443984"/>
            <a:ext cx="2084832" cy="228600"/>
          </a:xfrm>
          <a:prstGeom prst="rect">
            <a:avLst/>
          </a:prstGeom>
          <a:noFill/>
          <a:ln/>
        </p:spPr>
        <p:txBody>
          <a:bodyPr wrap="square" lIns="0" tIns="0" rIns="0" bIns="0" rtlCol="0" anchor="ctr"/>
          <a:lstStyle/>
          <a:p>
            <a:pPr marL="0" indent="0">
              <a:buNone/>
            </a:pPr>
            <a:r>
              <a:rPr lang="en-US" sz="1100" b="1" dirty="0">
                <a:solidFill>
                  <a:srgbClr val="0E7490"/>
                </a:solidFill>
              </a:rPr>
              <a:t>Kontrol kunci</a:t>
            </a:r>
            <a:endParaRPr lang="en-US" sz="1100" dirty="0"/>
          </a:p>
        </p:txBody>
      </p:sp>
      <p:sp>
        <p:nvSpPr>
          <p:cNvPr id="33" name="Text 31"/>
          <p:cNvSpPr/>
          <p:nvPr/>
        </p:nvSpPr>
        <p:spPr>
          <a:xfrm>
            <a:off x="9528048" y="4754880"/>
            <a:ext cx="2084832" cy="566928"/>
          </a:xfrm>
          <a:prstGeom prst="rect">
            <a:avLst/>
          </a:prstGeom>
          <a:noFill/>
          <a:ln/>
        </p:spPr>
        <p:txBody>
          <a:bodyPr wrap="square" lIns="0" tIns="0" rIns="0" bIns="0" rtlCol="0" anchor="ctr">
            <a:normAutofit/>
          </a:bodyPr>
          <a:lstStyle/>
          <a:p>
            <a:pPr marL="0" indent="0">
              <a:buNone/>
            </a:pPr>
            <a:r>
              <a:rPr lang="en-US" sz="1080" dirty="0">
                <a:solidFill>
                  <a:srgbClr val="334155"/>
                </a:solidFill>
              </a:rPr>
              <a:t>PPI • ventilasi • observer/buddy • alur bersih-kotor</a:t>
            </a:r>
            <a:endParaRPr lang="en-US" sz="1080" dirty="0"/>
          </a:p>
        </p:txBody>
      </p:sp>
      <p:sp>
        <p:nvSpPr>
          <p:cNvPr id="34" name="Slide Number Placeholder 0"/>
          <p:cNvSpPr>
            <a:spLocks noGrp="1"/>
          </p:cNvSpPr>
          <p:nvPr>
            <p:ph type="sldNum" sz="quarter" idx="4294967295"/>
          </p:nvPr>
        </p:nvSpPr>
        <p:spPr>
          <a:xfrm>
            <a:off x="11475720" y="6492240"/>
            <a:ext cx="320040"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64748B"/>
                </a:solidFill>
                <a:latin typeface="Arial"/>
                <a:ea typeface="Arial"/>
                <a:cs typeface="Arial"/>
              </a:defRPr>
            </a:lvl1pPr>
          </a:lstStyle>
          <a:p>
            <a:pPr algn="r"/>
            <a:fld id="{F7021451-1387-4CA6-816F-3879F97B5CBC}" type="slidenum">
              <a:rPr lang="en-US" b="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566928" y="347472"/>
            <a:ext cx="1417320" cy="310896"/>
          </a:xfrm>
          <a:prstGeom prst="roundRect">
            <a:avLst>
              <a:gd name="adj" fmla="val 23529"/>
            </a:avLst>
          </a:prstGeom>
          <a:solidFill>
            <a:srgbClr val="ECFEFF"/>
          </a:solidFill>
          <a:ln w="12700">
            <a:solidFill>
              <a:srgbClr val="ECFEFF"/>
            </a:solidFill>
            <a:prstDash val="solid"/>
          </a:ln>
        </p:spPr>
      </p:sp>
      <p:sp>
        <p:nvSpPr>
          <p:cNvPr id="3" name="Text 1"/>
          <p:cNvSpPr/>
          <p:nvPr/>
        </p:nvSpPr>
        <p:spPr>
          <a:xfrm>
            <a:off x="694944" y="429768"/>
            <a:ext cx="1170432" cy="128016"/>
          </a:xfrm>
          <a:prstGeom prst="rect">
            <a:avLst/>
          </a:prstGeom>
          <a:noFill/>
          <a:ln/>
        </p:spPr>
        <p:txBody>
          <a:bodyPr wrap="square" lIns="0" tIns="0" rIns="0" bIns="0" rtlCol="0" anchor="ctr"/>
          <a:lstStyle/>
          <a:p>
            <a:pPr marL="0" indent="0" algn="ctr">
              <a:buNone/>
            </a:pPr>
            <a:r>
              <a:rPr lang="en-US" sz="900" b="1" dirty="0">
                <a:solidFill>
                  <a:srgbClr val="0E7490"/>
                </a:solidFill>
                <a:latin typeface="Arial" pitchFamily="34" charset="0"/>
                <a:ea typeface="Arial" pitchFamily="34" charset="-122"/>
                <a:cs typeface="Arial" pitchFamily="34" charset="-120"/>
              </a:rPr>
              <a:t>MANAJEMEN RISIKO</a:t>
            </a:r>
            <a:endParaRPr lang="en-US" sz="900" dirty="0"/>
          </a:p>
        </p:txBody>
      </p:sp>
      <p:sp>
        <p:nvSpPr>
          <p:cNvPr id="4" name="Text 2"/>
          <p:cNvSpPr/>
          <p:nvPr/>
        </p:nvSpPr>
        <p:spPr>
          <a:xfrm>
            <a:off x="566928" y="777240"/>
            <a:ext cx="10972800" cy="566928"/>
          </a:xfrm>
          <a:prstGeom prst="rect">
            <a:avLst/>
          </a:prstGeom>
          <a:noFill/>
          <a:ln/>
        </p:spPr>
        <p:txBody>
          <a:bodyPr wrap="square" lIns="0" tIns="0" rIns="0" bIns="0" rtlCol="0" anchor="ctr">
            <a:normAutofit/>
          </a:bodyPr>
          <a:lstStyle/>
          <a:p>
            <a:pPr marL="0" indent="0">
              <a:buNone/>
            </a:pPr>
            <a:r>
              <a:rPr lang="en-US" sz="2700" b="1" dirty="0">
                <a:solidFill>
                  <a:srgbClr val="0F172A"/>
                </a:solidFill>
                <a:latin typeface="Arial" pitchFamily="34" charset="0"/>
                <a:ea typeface="Arial" pitchFamily="34" charset="-122"/>
                <a:cs typeface="Arial" pitchFamily="34" charset="-120"/>
              </a:rPr>
              <a:t>Manajemen Risiko K3: HIRADC</a:t>
            </a:r>
            <a:endParaRPr lang="en-US" sz="2700" dirty="0"/>
          </a:p>
        </p:txBody>
      </p:sp>
      <p:sp>
        <p:nvSpPr>
          <p:cNvPr id="5" name="Text 3"/>
          <p:cNvSpPr/>
          <p:nvPr/>
        </p:nvSpPr>
        <p:spPr>
          <a:xfrm>
            <a:off x="566928" y="1371600"/>
            <a:ext cx="10881360" cy="384048"/>
          </a:xfrm>
          <a:prstGeom prst="rect">
            <a:avLst/>
          </a:prstGeom>
          <a:noFill/>
          <a:ln/>
        </p:spPr>
        <p:txBody>
          <a:bodyPr wrap="square" lIns="0" tIns="0" rIns="0" bIns="0" rtlCol="0" anchor="ctr">
            <a:normAutofit/>
          </a:bodyPr>
          <a:lstStyle/>
          <a:p>
            <a:pPr marL="0" indent="0">
              <a:buNone/>
            </a:pPr>
            <a:r>
              <a:rPr lang="en-US" sz="1250" dirty="0">
                <a:solidFill>
                  <a:srgbClr val="64748B"/>
                </a:solidFill>
                <a:latin typeface="Arial" pitchFamily="34" charset="0"/>
                <a:ea typeface="Arial" pitchFamily="34" charset="-122"/>
                <a:cs typeface="Arial" pitchFamily="34" charset="-120"/>
              </a:rPr>
              <a:t>Pendekatan sederhana: Hazard Identification → Risk Assessment → Determine Controls → Monitor.</a:t>
            </a:r>
            <a:endParaRPr lang="en-US" sz="1250" dirty="0"/>
          </a:p>
        </p:txBody>
      </p:sp>
      <p:sp>
        <p:nvSpPr>
          <p:cNvPr id="6" name="Shape 4"/>
          <p:cNvSpPr/>
          <p:nvPr/>
        </p:nvSpPr>
        <p:spPr>
          <a:xfrm>
            <a:off x="621792" y="2057400"/>
            <a:ext cx="1901952" cy="2834640"/>
          </a:xfrm>
          <a:prstGeom prst="roundRect">
            <a:avLst>
              <a:gd name="adj" fmla="val 3846"/>
            </a:avLst>
          </a:prstGeom>
          <a:solidFill>
            <a:srgbClr val="FFFFFF"/>
          </a:solidFill>
          <a:ln w="12700">
            <a:solidFill>
              <a:srgbClr val="E2E8F0"/>
            </a:solidFill>
            <a:prstDash val="solid"/>
          </a:ln>
        </p:spPr>
      </p:sp>
      <p:sp>
        <p:nvSpPr>
          <p:cNvPr id="7" name="Shape 5"/>
          <p:cNvSpPr/>
          <p:nvPr/>
        </p:nvSpPr>
        <p:spPr>
          <a:xfrm>
            <a:off x="1243584" y="2340864"/>
            <a:ext cx="658368" cy="658368"/>
          </a:xfrm>
          <a:prstGeom prst="ellipse">
            <a:avLst/>
          </a:prstGeom>
          <a:solidFill>
            <a:srgbClr val="F8FAFC"/>
          </a:solidFill>
          <a:ln w="12700">
            <a:solidFill>
              <a:srgbClr val="F8FAFC"/>
            </a:solidFill>
            <a:prstDash val="solid"/>
          </a:ln>
        </p:spPr>
      </p:sp>
      <p:pic>
        <p:nvPicPr>
          <p:cNvPr id="8"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80744" y="2478024"/>
            <a:ext cx="310896" cy="310896"/>
          </a:xfrm>
          <a:prstGeom prst="rect">
            <a:avLst/>
          </a:prstGeom>
        </p:spPr>
      </p:pic>
      <p:sp>
        <p:nvSpPr>
          <p:cNvPr id="9" name="Text 6"/>
          <p:cNvSpPr/>
          <p:nvPr/>
        </p:nvSpPr>
        <p:spPr>
          <a:xfrm>
            <a:off x="786384" y="3172968"/>
            <a:ext cx="1572768" cy="365760"/>
          </a:xfrm>
          <a:prstGeom prst="rect">
            <a:avLst/>
          </a:prstGeom>
          <a:noFill/>
          <a:ln/>
        </p:spPr>
        <p:txBody>
          <a:bodyPr wrap="square" lIns="0" tIns="0" rIns="0" bIns="0" rtlCol="0" anchor="ctr">
            <a:normAutofit/>
          </a:bodyPr>
          <a:lstStyle/>
          <a:p>
            <a:pPr marL="0" indent="0" algn="ctr">
              <a:buNone/>
            </a:pPr>
            <a:r>
              <a:rPr lang="en-US" sz="1310" b="1" dirty="0">
                <a:solidFill>
                  <a:srgbClr val="0F172A"/>
                </a:solidFill>
              </a:rPr>
              <a:t>1. Identifikasi</a:t>
            </a:r>
            <a:endParaRPr lang="en-US" sz="1310" dirty="0"/>
          </a:p>
        </p:txBody>
      </p:sp>
      <p:sp>
        <p:nvSpPr>
          <p:cNvPr id="10" name="Text 7"/>
          <p:cNvSpPr/>
          <p:nvPr/>
        </p:nvSpPr>
        <p:spPr>
          <a:xfrm>
            <a:off x="822960" y="3712464"/>
            <a:ext cx="1499616" cy="804672"/>
          </a:xfrm>
          <a:prstGeom prst="rect">
            <a:avLst/>
          </a:prstGeom>
          <a:noFill/>
          <a:ln/>
        </p:spPr>
        <p:txBody>
          <a:bodyPr wrap="square" lIns="0" tIns="0" rIns="0" bIns="0" rtlCol="0" anchor="ctr">
            <a:normAutofit/>
          </a:bodyPr>
          <a:lstStyle/>
          <a:p>
            <a:pPr marL="0" indent="0" algn="ctr">
              <a:buNone/>
            </a:pPr>
            <a:r>
              <a:rPr lang="en-US" sz="1050" dirty="0">
                <a:solidFill>
                  <a:srgbClr val="334155"/>
                </a:solidFill>
              </a:rPr>
              <a:t>Apa yang dapat mencederai atau membuat sakit?</a:t>
            </a:r>
            <a:endParaRPr lang="en-US" sz="1050" dirty="0"/>
          </a:p>
        </p:txBody>
      </p:sp>
      <p:sp>
        <p:nvSpPr>
          <p:cNvPr id="11" name="Shape 8"/>
          <p:cNvSpPr/>
          <p:nvPr/>
        </p:nvSpPr>
        <p:spPr>
          <a:xfrm>
            <a:off x="2377440" y="3127248"/>
            <a:ext cx="310896" cy="530352"/>
          </a:xfrm>
          <a:prstGeom prst="chevron">
            <a:avLst/>
          </a:prstGeom>
          <a:solidFill>
            <a:srgbClr val="CBD5E1"/>
          </a:solidFill>
          <a:ln w="12700">
            <a:solidFill>
              <a:srgbClr val="CBD5E1"/>
            </a:solidFill>
            <a:prstDash val="solid"/>
          </a:ln>
        </p:spPr>
      </p:sp>
      <p:sp>
        <p:nvSpPr>
          <p:cNvPr id="12" name="Shape 9"/>
          <p:cNvSpPr/>
          <p:nvPr/>
        </p:nvSpPr>
        <p:spPr>
          <a:xfrm>
            <a:off x="2935224" y="2057400"/>
            <a:ext cx="1901952" cy="2834640"/>
          </a:xfrm>
          <a:prstGeom prst="roundRect">
            <a:avLst>
              <a:gd name="adj" fmla="val 3846"/>
            </a:avLst>
          </a:prstGeom>
          <a:solidFill>
            <a:srgbClr val="FFFFFF"/>
          </a:solidFill>
          <a:ln w="12700">
            <a:solidFill>
              <a:srgbClr val="E2E8F0"/>
            </a:solidFill>
            <a:prstDash val="solid"/>
          </a:ln>
        </p:spPr>
      </p:sp>
      <p:sp>
        <p:nvSpPr>
          <p:cNvPr id="13" name="Shape 10"/>
          <p:cNvSpPr/>
          <p:nvPr/>
        </p:nvSpPr>
        <p:spPr>
          <a:xfrm>
            <a:off x="3557016" y="2340864"/>
            <a:ext cx="658368" cy="658368"/>
          </a:xfrm>
          <a:prstGeom prst="ellipse">
            <a:avLst/>
          </a:prstGeom>
          <a:solidFill>
            <a:srgbClr val="F8FAFC"/>
          </a:solidFill>
          <a:ln w="12700">
            <a:solidFill>
              <a:srgbClr val="F8FAFC"/>
            </a:solidFill>
            <a:prstDash val="solid"/>
          </a:ln>
        </p:spPr>
      </p:sp>
      <p:pic>
        <p:nvPicPr>
          <p:cNvPr id="14"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694176" y="2478024"/>
            <a:ext cx="310896" cy="310896"/>
          </a:xfrm>
          <a:prstGeom prst="rect">
            <a:avLst/>
          </a:prstGeom>
        </p:spPr>
      </p:pic>
      <p:sp>
        <p:nvSpPr>
          <p:cNvPr id="15" name="Text 11"/>
          <p:cNvSpPr/>
          <p:nvPr/>
        </p:nvSpPr>
        <p:spPr>
          <a:xfrm>
            <a:off x="3099816" y="3172968"/>
            <a:ext cx="1572768" cy="365760"/>
          </a:xfrm>
          <a:prstGeom prst="rect">
            <a:avLst/>
          </a:prstGeom>
          <a:noFill/>
          <a:ln/>
        </p:spPr>
        <p:txBody>
          <a:bodyPr wrap="square" lIns="0" tIns="0" rIns="0" bIns="0" rtlCol="0" anchor="ctr">
            <a:normAutofit/>
          </a:bodyPr>
          <a:lstStyle/>
          <a:p>
            <a:pPr marL="0" indent="0" algn="ctr">
              <a:buNone/>
            </a:pPr>
            <a:r>
              <a:rPr lang="en-US" sz="1310" b="1" dirty="0">
                <a:solidFill>
                  <a:srgbClr val="0F172A"/>
                </a:solidFill>
              </a:rPr>
              <a:t>2. Nilai Risiko</a:t>
            </a:r>
            <a:endParaRPr lang="en-US" sz="1310" dirty="0"/>
          </a:p>
        </p:txBody>
      </p:sp>
      <p:sp>
        <p:nvSpPr>
          <p:cNvPr id="16" name="Text 12"/>
          <p:cNvSpPr/>
          <p:nvPr/>
        </p:nvSpPr>
        <p:spPr>
          <a:xfrm>
            <a:off x="3136392" y="3712464"/>
            <a:ext cx="1499616" cy="804672"/>
          </a:xfrm>
          <a:prstGeom prst="rect">
            <a:avLst/>
          </a:prstGeom>
          <a:noFill/>
          <a:ln/>
        </p:spPr>
        <p:txBody>
          <a:bodyPr wrap="square" lIns="0" tIns="0" rIns="0" bIns="0" rtlCol="0" anchor="ctr">
            <a:normAutofit/>
          </a:bodyPr>
          <a:lstStyle/>
          <a:p>
            <a:pPr marL="0" indent="0" algn="ctr">
              <a:buNone/>
            </a:pPr>
            <a:r>
              <a:rPr lang="en-US" sz="1050" dirty="0">
                <a:solidFill>
                  <a:srgbClr val="334155"/>
                </a:solidFill>
              </a:rPr>
              <a:t>Seberapa mungkin? Seberapa berat dampaknya?</a:t>
            </a:r>
            <a:endParaRPr lang="en-US" sz="1050" dirty="0"/>
          </a:p>
        </p:txBody>
      </p:sp>
      <p:sp>
        <p:nvSpPr>
          <p:cNvPr id="17" name="Shape 13"/>
          <p:cNvSpPr/>
          <p:nvPr/>
        </p:nvSpPr>
        <p:spPr>
          <a:xfrm>
            <a:off x="4690872" y="3127248"/>
            <a:ext cx="310896" cy="530352"/>
          </a:xfrm>
          <a:prstGeom prst="chevron">
            <a:avLst/>
          </a:prstGeom>
          <a:solidFill>
            <a:srgbClr val="CBD5E1"/>
          </a:solidFill>
          <a:ln w="12700">
            <a:solidFill>
              <a:srgbClr val="CBD5E1"/>
            </a:solidFill>
            <a:prstDash val="solid"/>
          </a:ln>
        </p:spPr>
      </p:sp>
      <p:sp>
        <p:nvSpPr>
          <p:cNvPr id="18" name="Shape 14"/>
          <p:cNvSpPr/>
          <p:nvPr/>
        </p:nvSpPr>
        <p:spPr>
          <a:xfrm>
            <a:off x="5248656" y="2057400"/>
            <a:ext cx="1901952" cy="2834640"/>
          </a:xfrm>
          <a:prstGeom prst="roundRect">
            <a:avLst>
              <a:gd name="adj" fmla="val 3846"/>
            </a:avLst>
          </a:prstGeom>
          <a:solidFill>
            <a:srgbClr val="FFFFFF"/>
          </a:solidFill>
          <a:ln w="12700">
            <a:solidFill>
              <a:srgbClr val="E2E8F0"/>
            </a:solidFill>
            <a:prstDash val="solid"/>
          </a:ln>
        </p:spPr>
      </p:sp>
      <p:sp>
        <p:nvSpPr>
          <p:cNvPr id="19" name="Shape 15"/>
          <p:cNvSpPr/>
          <p:nvPr/>
        </p:nvSpPr>
        <p:spPr>
          <a:xfrm>
            <a:off x="5870448" y="2340864"/>
            <a:ext cx="658368" cy="658368"/>
          </a:xfrm>
          <a:prstGeom prst="ellipse">
            <a:avLst/>
          </a:prstGeom>
          <a:solidFill>
            <a:srgbClr val="F8FAFC"/>
          </a:solidFill>
          <a:ln w="12700">
            <a:solidFill>
              <a:srgbClr val="F8FAFC"/>
            </a:solidFill>
            <a:prstDash val="solid"/>
          </a:ln>
        </p:spPr>
      </p:sp>
      <p:pic>
        <p:nvPicPr>
          <p:cNvPr id="20"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007608" y="2478024"/>
            <a:ext cx="310896" cy="310896"/>
          </a:xfrm>
          <a:prstGeom prst="rect">
            <a:avLst/>
          </a:prstGeom>
        </p:spPr>
      </p:pic>
      <p:sp>
        <p:nvSpPr>
          <p:cNvPr id="21" name="Text 16"/>
          <p:cNvSpPr/>
          <p:nvPr/>
        </p:nvSpPr>
        <p:spPr>
          <a:xfrm>
            <a:off x="5413248" y="3172968"/>
            <a:ext cx="1572768" cy="365760"/>
          </a:xfrm>
          <a:prstGeom prst="rect">
            <a:avLst/>
          </a:prstGeom>
          <a:noFill/>
          <a:ln/>
        </p:spPr>
        <p:txBody>
          <a:bodyPr wrap="square" lIns="0" tIns="0" rIns="0" bIns="0" rtlCol="0" anchor="ctr">
            <a:normAutofit/>
          </a:bodyPr>
          <a:lstStyle/>
          <a:p>
            <a:pPr marL="0" indent="0" algn="ctr">
              <a:buNone/>
            </a:pPr>
            <a:r>
              <a:rPr lang="en-US" sz="1310" b="1" dirty="0">
                <a:solidFill>
                  <a:srgbClr val="0F172A"/>
                </a:solidFill>
              </a:rPr>
              <a:t>3. Tentukan Kontrol</a:t>
            </a:r>
            <a:endParaRPr lang="en-US" sz="1310" dirty="0"/>
          </a:p>
        </p:txBody>
      </p:sp>
      <p:sp>
        <p:nvSpPr>
          <p:cNvPr id="22" name="Text 17"/>
          <p:cNvSpPr/>
          <p:nvPr/>
        </p:nvSpPr>
        <p:spPr>
          <a:xfrm>
            <a:off x="5449824" y="3712464"/>
            <a:ext cx="1499616" cy="804672"/>
          </a:xfrm>
          <a:prstGeom prst="rect">
            <a:avLst/>
          </a:prstGeom>
          <a:noFill/>
          <a:ln/>
        </p:spPr>
        <p:txBody>
          <a:bodyPr wrap="square" lIns="0" tIns="0" rIns="0" bIns="0" rtlCol="0" anchor="ctr">
            <a:normAutofit/>
          </a:bodyPr>
          <a:lstStyle/>
          <a:p>
            <a:pPr marL="0" indent="0" algn="ctr">
              <a:buNone/>
            </a:pPr>
            <a:r>
              <a:rPr lang="en-US" sz="1050" dirty="0">
                <a:solidFill>
                  <a:srgbClr val="334155"/>
                </a:solidFill>
              </a:rPr>
              <a:t>Pilih pengendalian paling efektif dan realistis.</a:t>
            </a:r>
            <a:endParaRPr lang="en-US" sz="1050" dirty="0"/>
          </a:p>
        </p:txBody>
      </p:sp>
      <p:sp>
        <p:nvSpPr>
          <p:cNvPr id="23" name="Shape 18"/>
          <p:cNvSpPr/>
          <p:nvPr/>
        </p:nvSpPr>
        <p:spPr>
          <a:xfrm>
            <a:off x="7004304" y="3127248"/>
            <a:ext cx="310896" cy="530352"/>
          </a:xfrm>
          <a:prstGeom prst="chevron">
            <a:avLst/>
          </a:prstGeom>
          <a:solidFill>
            <a:srgbClr val="CBD5E1"/>
          </a:solidFill>
          <a:ln w="12700">
            <a:solidFill>
              <a:srgbClr val="CBD5E1"/>
            </a:solidFill>
            <a:prstDash val="solid"/>
          </a:ln>
        </p:spPr>
      </p:sp>
      <p:sp>
        <p:nvSpPr>
          <p:cNvPr id="24" name="Shape 19"/>
          <p:cNvSpPr/>
          <p:nvPr/>
        </p:nvSpPr>
        <p:spPr>
          <a:xfrm>
            <a:off x="7562088" y="2057400"/>
            <a:ext cx="1901952" cy="2834640"/>
          </a:xfrm>
          <a:prstGeom prst="roundRect">
            <a:avLst>
              <a:gd name="adj" fmla="val 3846"/>
            </a:avLst>
          </a:prstGeom>
          <a:solidFill>
            <a:srgbClr val="FFFFFF"/>
          </a:solidFill>
          <a:ln w="12700">
            <a:solidFill>
              <a:srgbClr val="E2E8F0"/>
            </a:solidFill>
            <a:prstDash val="solid"/>
          </a:ln>
        </p:spPr>
      </p:sp>
      <p:sp>
        <p:nvSpPr>
          <p:cNvPr id="25" name="Shape 20"/>
          <p:cNvSpPr/>
          <p:nvPr/>
        </p:nvSpPr>
        <p:spPr>
          <a:xfrm>
            <a:off x="8183880" y="2340864"/>
            <a:ext cx="658368" cy="658368"/>
          </a:xfrm>
          <a:prstGeom prst="ellipse">
            <a:avLst/>
          </a:prstGeom>
          <a:solidFill>
            <a:srgbClr val="F8FAFC"/>
          </a:solidFill>
          <a:ln w="12700">
            <a:solidFill>
              <a:srgbClr val="F8FAFC"/>
            </a:solidFill>
            <a:prstDash val="solid"/>
          </a:ln>
        </p:spPr>
      </p:sp>
      <p:pic>
        <p:nvPicPr>
          <p:cNvPr id="26"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321040" y="2478024"/>
            <a:ext cx="310896" cy="310896"/>
          </a:xfrm>
          <a:prstGeom prst="rect">
            <a:avLst/>
          </a:prstGeom>
        </p:spPr>
      </p:pic>
      <p:sp>
        <p:nvSpPr>
          <p:cNvPr id="27" name="Text 21"/>
          <p:cNvSpPr/>
          <p:nvPr/>
        </p:nvSpPr>
        <p:spPr>
          <a:xfrm>
            <a:off x="7726680" y="3172968"/>
            <a:ext cx="1572768" cy="365760"/>
          </a:xfrm>
          <a:prstGeom prst="rect">
            <a:avLst/>
          </a:prstGeom>
          <a:noFill/>
          <a:ln/>
        </p:spPr>
        <p:txBody>
          <a:bodyPr wrap="square" lIns="0" tIns="0" rIns="0" bIns="0" rtlCol="0" anchor="ctr">
            <a:normAutofit/>
          </a:bodyPr>
          <a:lstStyle/>
          <a:p>
            <a:pPr marL="0" indent="0" algn="ctr">
              <a:buNone/>
            </a:pPr>
            <a:r>
              <a:rPr lang="en-US" sz="1310" b="1" dirty="0">
                <a:solidFill>
                  <a:srgbClr val="0F172A"/>
                </a:solidFill>
              </a:rPr>
              <a:t>4. Implementasi</a:t>
            </a:r>
            <a:endParaRPr lang="en-US" sz="1310" dirty="0"/>
          </a:p>
        </p:txBody>
      </p:sp>
      <p:sp>
        <p:nvSpPr>
          <p:cNvPr id="28" name="Text 22"/>
          <p:cNvSpPr/>
          <p:nvPr/>
        </p:nvSpPr>
        <p:spPr>
          <a:xfrm>
            <a:off x="7763256" y="3712464"/>
            <a:ext cx="1499616" cy="804672"/>
          </a:xfrm>
          <a:prstGeom prst="rect">
            <a:avLst/>
          </a:prstGeom>
          <a:noFill/>
          <a:ln/>
        </p:spPr>
        <p:txBody>
          <a:bodyPr wrap="square" lIns="0" tIns="0" rIns="0" bIns="0" rtlCol="0" anchor="ctr">
            <a:normAutofit/>
          </a:bodyPr>
          <a:lstStyle/>
          <a:p>
            <a:pPr marL="0" indent="0" algn="ctr">
              <a:buNone/>
            </a:pPr>
            <a:r>
              <a:rPr lang="en-US" sz="1050" dirty="0">
                <a:solidFill>
                  <a:srgbClr val="334155"/>
                </a:solidFill>
              </a:rPr>
              <a:t>SOP, alat, pelatihan, komunikasi, penanggung jawab.</a:t>
            </a:r>
            <a:endParaRPr lang="en-US" sz="1050" dirty="0"/>
          </a:p>
        </p:txBody>
      </p:sp>
      <p:sp>
        <p:nvSpPr>
          <p:cNvPr id="29" name="Shape 23"/>
          <p:cNvSpPr/>
          <p:nvPr/>
        </p:nvSpPr>
        <p:spPr>
          <a:xfrm>
            <a:off x="9317736" y="3127248"/>
            <a:ext cx="310896" cy="530352"/>
          </a:xfrm>
          <a:prstGeom prst="chevron">
            <a:avLst/>
          </a:prstGeom>
          <a:solidFill>
            <a:srgbClr val="CBD5E1"/>
          </a:solidFill>
          <a:ln w="12700">
            <a:solidFill>
              <a:srgbClr val="CBD5E1"/>
            </a:solidFill>
            <a:prstDash val="solid"/>
          </a:ln>
        </p:spPr>
      </p:sp>
      <p:sp>
        <p:nvSpPr>
          <p:cNvPr id="30" name="Shape 24"/>
          <p:cNvSpPr/>
          <p:nvPr/>
        </p:nvSpPr>
        <p:spPr>
          <a:xfrm>
            <a:off x="9875520" y="2057400"/>
            <a:ext cx="1901952" cy="2834640"/>
          </a:xfrm>
          <a:prstGeom prst="roundRect">
            <a:avLst>
              <a:gd name="adj" fmla="val 3846"/>
            </a:avLst>
          </a:prstGeom>
          <a:solidFill>
            <a:srgbClr val="FFFFFF"/>
          </a:solidFill>
          <a:ln w="12700">
            <a:solidFill>
              <a:srgbClr val="E2E8F0"/>
            </a:solidFill>
            <a:prstDash val="solid"/>
          </a:ln>
        </p:spPr>
      </p:sp>
      <p:sp>
        <p:nvSpPr>
          <p:cNvPr id="31" name="Shape 25"/>
          <p:cNvSpPr/>
          <p:nvPr/>
        </p:nvSpPr>
        <p:spPr>
          <a:xfrm>
            <a:off x="10497312" y="2340864"/>
            <a:ext cx="658368" cy="658368"/>
          </a:xfrm>
          <a:prstGeom prst="ellipse">
            <a:avLst/>
          </a:prstGeom>
          <a:solidFill>
            <a:srgbClr val="F8FAFC"/>
          </a:solidFill>
          <a:ln w="12700">
            <a:solidFill>
              <a:srgbClr val="F8FAFC"/>
            </a:solidFill>
            <a:prstDash val="solid"/>
          </a:ln>
        </p:spPr>
      </p:sp>
      <p:pic>
        <p:nvPicPr>
          <p:cNvPr id="32"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0634472" y="2478024"/>
            <a:ext cx="310896" cy="310896"/>
          </a:xfrm>
          <a:prstGeom prst="rect">
            <a:avLst/>
          </a:prstGeom>
        </p:spPr>
      </p:pic>
      <p:sp>
        <p:nvSpPr>
          <p:cNvPr id="33" name="Text 26"/>
          <p:cNvSpPr/>
          <p:nvPr/>
        </p:nvSpPr>
        <p:spPr>
          <a:xfrm>
            <a:off x="10040112" y="3172968"/>
            <a:ext cx="1572768" cy="365760"/>
          </a:xfrm>
          <a:prstGeom prst="rect">
            <a:avLst/>
          </a:prstGeom>
          <a:noFill/>
          <a:ln/>
        </p:spPr>
        <p:txBody>
          <a:bodyPr wrap="square" lIns="0" tIns="0" rIns="0" bIns="0" rtlCol="0" anchor="ctr">
            <a:normAutofit/>
          </a:bodyPr>
          <a:lstStyle/>
          <a:p>
            <a:pPr marL="0" indent="0" algn="ctr">
              <a:buNone/>
            </a:pPr>
            <a:r>
              <a:rPr lang="en-US" sz="1310" b="1" dirty="0">
                <a:solidFill>
                  <a:srgbClr val="0F172A"/>
                </a:solidFill>
              </a:rPr>
              <a:t>5. Monitor</a:t>
            </a:r>
            <a:endParaRPr lang="en-US" sz="1310" dirty="0"/>
          </a:p>
        </p:txBody>
      </p:sp>
      <p:sp>
        <p:nvSpPr>
          <p:cNvPr id="34" name="Text 27"/>
          <p:cNvSpPr/>
          <p:nvPr/>
        </p:nvSpPr>
        <p:spPr>
          <a:xfrm>
            <a:off x="10076688" y="3712464"/>
            <a:ext cx="1499616" cy="804672"/>
          </a:xfrm>
          <a:prstGeom prst="rect">
            <a:avLst/>
          </a:prstGeom>
          <a:noFill/>
          <a:ln/>
        </p:spPr>
        <p:txBody>
          <a:bodyPr wrap="square" lIns="0" tIns="0" rIns="0" bIns="0" rtlCol="0" anchor="ctr">
            <a:normAutofit/>
          </a:bodyPr>
          <a:lstStyle/>
          <a:p>
            <a:pPr marL="0" indent="0" algn="ctr">
              <a:buNone/>
            </a:pPr>
            <a:r>
              <a:rPr lang="en-US" sz="1050" dirty="0">
                <a:solidFill>
                  <a:srgbClr val="334155"/>
                </a:solidFill>
              </a:rPr>
              <a:t>Audit, indikator, insiden, umpan balik, perbaikan.</a:t>
            </a:r>
            <a:endParaRPr lang="en-US" sz="1050" dirty="0"/>
          </a:p>
        </p:txBody>
      </p:sp>
      <p:sp>
        <p:nvSpPr>
          <p:cNvPr id="35" name="Shape 28"/>
          <p:cNvSpPr/>
          <p:nvPr/>
        </p:nvSpPr>
        <p:spPr>
          <a:xfrm>
            <a:off x="1874520" y="5266944"/>
            <a:ext cx="8412480" cy="475488"/>
          </a:xfrm>
          <a:prstGeom prst="roundRect">
            <a:avLst>
              <a:gd name="adj" fmla="val 15385"/>
            </a:avLst>
          </a:prstGeom>
          <a:solidFill>
            <a:srgbClr val="ECFEFF"/>
          </a:solidFill>
          <a:ln w="12700">
            <a:solidFill>
              <a:srgbClr val="ECFEFF"/>
            </a:solidFill>
            <a:prstDash val="solid"/>
          </a:ln>
        </p:spPr>
      </p:sp>
      <p:sp>
        <p:nvSpPr>
          <p:cNvPr id="36" name="Text 29"/>
          <p:cNvSpPr/>
          <p:nvPr/>
        </p:nvSpPr>
        <p:spPr>
          <a:xfrm>
            <a:off x="2103120" y="5404104"/>
            <a:ext cx="7955280" cy="164592"/>
          </a:xfrm>
          <a:prstGeom prst="rect">
            <a:avLst/>
          </a:prstGeom>
          <a:noFill/>
          <a:ln/>
        </p:spPr>
        <p:txBody>
          <a:bodyPr wrap="square" lIns="0" tIns="0" rIns="0" bIns="0" rtlCol="0" anchor="ctr"/>
          <a:lstStyle/>
          <a:p>
            <a:pPr marL="0" indent="0" algn="ctr">
              <a:buNone/>
            </a:pPr>
            <a:r>
              <a:rPr lang="en-US" sz="1150" b="1" dirty="0">
                <a:solidFill>
                  <a:srgbClr val="0E7490"/>
                </a:solidFill>
              </a:rPr>
              <a:t>Dokumentasikan hasil penilaian risiko dan tinjau ulang ketika proses, alat, atau kondisi kerja berubah.</a:t>
            </a:r>
            <a:endParaRPr lang="en-US" sz="1150" dirty="0"/>
          </a:p>
        </p:txBody>
      </p:sp>
      <p:sp>
        <p:nvSpPr>
          <p:cNvPr id="37" name="Slide Number Placeholder 0"/>
          <p:cNvSpPr>
            <a:spLocks noGrp="1"/>
          </p:cNvSpPr>
          <p:nvPr>
            <p:ph type="sldNum" sz="quarter" idx="4294967295"/>
          </p:nvPr>
        </p:nvSpPr>
        <p:spPr>
          <a:xfrm>
            <a:off x="11475720" y="6492240"/>
            <a:ext cx="320040"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64748B"/>
                </a:solidFill>
                <a:latin typeface="Arial"/>
                <a:ea typeface="Arial"/>
                <a:cs typeface="Arial"/>
              </a:defRPr>
            </a:lvl1pPr>
          </a:lstStyle>
          <a:p>
            <a:pPr algn="r"/>
            <a:fld id="{F7021451-1387-4CA6-816F-3879F97B5CBC}" type="slidenum">
              <a:rPr lang="en-US" b="0"/>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566928" y="347472"/>
            <a:ext cx="1417320" cy="310896"/>
          </a:xfrm>
          <a:prstGeom prst="roundRect">
            <a:avLst>
              <a:gd name="adj" fmla="val 23529"/>
            </a:avLst>
          </a:prstGeom>
          <a:solidFill>
            <a:srgbClr val="ECFEFF"/>
          </a:solidFill>
          <a:ln w="12700">
            <a:solidFill>
              <a:srgbClr val="ECFEFF"/>
            </a:solidFill>
            <a:prstDash val="solid"/>
          </a:ln>
        </p:spPr>
      </p:sp>
      <p:sp>
        <p:nvSpPr>
          <p:cNvPr id="3" name="Text 1"/>
          <p:cNvSpPr/>
          <p:nvPr/>
        </p:nvSpPr>
        <p:spPr>
          <a:xfrm>
            <a:off x="694944" y="429768"/>
            <a:ext cx="1170432" cy="128016"/>
          </a:xfrm>
          <a:prstGeom prst="rect">
            <a:avLst/>
          </a:prstGeom>
          <a:noFill/>
          <a:ln/>
        </p:spPr>
        <p:txBody>
          <a:bodyPr wrap="square" lIns="0" tIns="0" rIns="0" bIns="0" rtlCol="0" anchor="ctr"/>
          <a:lstStyle/>
          <a:p>
            <a:pPr marL="0" indent="0" algn="ctr">
              <a:buNone/>
            </a:pPr>
            <a:r>
              <a:rPr lang="en-US" sz="900" b="1" dirty="0">
                <a:solidFill>
                  <a:srgbClr val="0E7490"/>
                </a:solidFill>
                <a:latin typeface="Arial" pitchFamily="34" charset="0"/>
                <a:ea typeface="Arial" pitchFamily="34" charset="-122"/>
                <a:cs typeface="Arial" pitchFamily="34" charset="-120"/>
              </a:rPr>
              <a:t>MANAJEMEN RISIKO</a:t>
            </a:r>
            <a:endParaRPr lang="en-US" sz="900" dirty="0"/>
          </a:p>
        </p:txBody>
      </p:sp>
      <p:sp>
        <p:nvSpPr>
          <p:cNvPr id="4" name="Text 2"/>
          <p:cNvSpPr/>
          <p:nvPr/>
        </p:nvSpPr>
        <p:spPr>
          <a:xfrm>
            <a:off x="566928" y="777240"/>
            <a:ext cx="10972800" cy="566928"/>
          </a:xfrm>
          <a:prstGeom prst="rect">
            <a:avLst/>
          </a:prstGeom>
          <a:noFill/>
          <a:ln/>
        </p:spPr>
        <p:txBody>
          <a:bodyPr wrap="square" lIns="0" tIns="0" rIns="0" bIns="0" rtlCol="0" anchor="ctr">
            <a:normAutofit/>
          </a:bodyPr>
          <a:lstStyle/>
          <a:p>
            <a:pPr marL="0" indent="0">
              <a:buNone/>
            </a:pPr>
            <a:r>
              <a:rPr lang="en-US" sz="2700" b="1" dirty="0">
                <a:solidFill>
                  <a:srgbClr val="0F172A"/>
                </a:solidFill>
                <a:latin typeface="Arial" pitchFamily="34" charset="0"/>
                <a:ea typeface="Arial" pitchFamily="34" charset="-122"/>
                <a:cs typeface="Arial" pitchFamily="34" charset="-120"/>
              </a:rPr>
              <a:t>Hierarki Pengendalian Risiko</a:t>
            </a:r>
            <a:endParaRPr lang="en-US" sz="2700" dirty="0"/>
          </a:p>
        </p:txBody>
      </p:sp>
      <p:sp>
        <p:nvSpPr>
          <p:cNvPr id="5" name="Text 3"/>
          <p:cNvSpPr/>
          <p:nvPr/>
        </p:nvSpPr>
        <p:spPr>
          <a:xfrm>
            <a:off x="566928" y="1371600"/>
            <a:ext cx="10881360" cy="384048"/>
          </a:xfrm>
          <a:prstGeom prst="rect">
            <a:avLst/>
          </a:prstGeom>
          <a:noFill/>
          <a:ln/>
        </p:spPr>
        <p:txBody>
          <a:bodyPr wrap="square" lIns="0" tIns="0" rIns="0" bIns="0" rtlCol="0" anchor="ctr">
            <a:normAutofit/>
          </a:bodyPr>
          <a:lstStyle/>
          <a:p>
            <a:pPr marL="0" indent="0">
              <a:buNone/>
            </a:pPr>
            <a:r>
              <a:rPr lang="en-US" sz="1250" dirty="0">
                <a:solidFill>
                  <a:srgbClr val="64748B"/>
                </a:solidFill>
                <a:latin typeface="Arial" pitchFamily="34" charset="0"/>
                <a:ea typeface="Arial" pitchFamily="34" charset="-122"/>
                <a:cs typeface="Arial" pitchFamily="34" charset="-120"/>
              </a:rPr>
              <a:t>Semakin ke atas, kontrol umumnya semakin kuat karena tidak bergantung pada perilaku individu.</a:t>
            </a:r>
            <a:endParaRPr lang="en-US" sz="1250" dirty="0"/>
          </a:p>
        </p:txBody>
      </p:sp>
      <p:sp>
        <p:nvSpPr>
          <p:cNvPr id="6" name="Shape 4"/>
          <p:cNvSpPr/>
          <p:nvPr/>
        </p:nvSpPr>
        <p:spPr>
          <a:xfrm>
            <a:off x="3809848" y="1874520"/>
            <a:ext cx="4572000" cy="594360"/>
          </a:xfrm>
          <a:prstGeom prst="trapezoid">
            <a:avLst/>
          </a:prstGeom>
          <a:solidFill>
            <a:srgbClr val="14532D"/>
          </a:solidFill>
          <a:ln w="12700">
            <a:solidFill>
              <a:srgbClr val="14532D"/>
            </a:solidFill>
            <a:prstDash val="solid"/>
          </a:ln>
        </p:spPr>
      </p:sp>
      <p:sp>
        <p:nvSpPr>
          <p:cNvPr id="7" name="Text 5"/>
          <p:cNvSpPr/>
          <p:nvPr/>
        </p:nvSpPr>
        <p:spPr>
          <a:xfrm>
            <a:off x="4038448" y="1993392"/>
            <a:ext cx="1828800" cy="201168"/>
          </a:xfrm>
          <a:prstGeom prst="rect">
            <a:avLst/>
          </a:prstGeom>
          <a:noFill/>
          <a:ln/>
        </p:spPr>
        <p:txBody>
          <a:bodyPr wrap="square" lIns="0" tIns="0" rIns="0" bIns="0" rtlCol="0" anchor="ctr"/>
          <a:lstStyle/>
          <a:p>
            <a:pPr marL="0" indent="0">
              <a:buNone/>
            </a:pPr>
            <a:r>
              <a:rPr lang="en-US" sz="1280" b="1" dirty="0">
                <a:solidFill>
                  <a:srgbClr val="FFFFFF"/>
                </a:solidFill>
              </a:rPr>
              <a:t>1. ELIMINASI</a:t>
            </a:r>
            <a:endParaRPr lang="en-US" sz="1280" dirty="0"/>
          </a:p>
        </p:txBody>
      </p:sp>
      <p:sp>
        <p:nvSpPr>
          <p:cNvPr id="8" name="Text 6"/>
          <p:cNvSpPr/>
          <p:nvPr/>
        </p:nvSpPr>
        <p:spPr>
          <a:xfrm>
            <a:off x="5592928" y="1993392"/>
            <a:ext cx="2423160" cy="201168"/>
          </a:xfrm>
          <a:prstGeom prst="rect">
            <a:avLst/>
          </a:prstGeom>
          <a:noFill/>
          <a:ln/>
        </p:spPr>
        <p:txBody>
          <a:bodyPr wrap="square" lIns="0" tIns="0" rIns="0" bIns="0" rtlCol="0" anchor="ctr">
            <a:normAutofit/>
          </a:bodyPr>
          <a:lstStyle/>
          <a:p>
            <a:pPr marL="0" indent="0" algn="r">
              <a:buNone/>
            </a:pPr>
            <a:r>
              <a:rPr lang="en-US" sz="1080" dirty="0">
                <a:solidFill>
                  <a:srgbClr val="E2E8F0"/>
                </a:solidFill>
              </a:rPr>
              <a:t>Hilangkan sumber bahaya</a:t>
            </a:r>
            <a:endParaRPr lang="en-US" sz="1080" dirty="0"/>
          </a:p>
        </p:txBody>
      </p:sp>
      <p:sp>
        <p:nvSpPr>
          <p:cNvPr id="9" name="Shape 7"/>
          <p:cNvSpPr/>
          <p:nvPr/>
        </p:nvSpPr>
        <p:spPr>
          <a:xfrm>
            <a:off x="3284068" y="2596896"/>
            <a:ext cx="5623560" cy="594360"/>
          </a:xfrm>
          <a:prstGeom prst="trapezoid">
            <a:avLst/>
          </a:prstGeom>
          <a:solidFill>
            <a:srgbClr val="166534"/>
          </a:solidFill>
          <a:ln w="12700">
            <a:solidFill>
              <a:srgbClr val="166534"/>
            </a:solidFill>
            <a:prstDash val="solid"/>
          </a:ln>
        </p:spPr>
      </p:sp>
      <p:sp>
        <p:nvSpPr>
          <p:cNvPr id="10" name="Text 8"/>
          <p:cNvSpPr/>
          <p:nvPr/>
        </p:nvSpPr>
        <p:spPr>
          <a:xfrm>
            <a:off x="3512668" y="2715768"/>
            <a:ext cx="2249424" cy="201168"/>
          </a:xfrm>
          <a:prstGeom prst="rect">
            <a:avLst/>
          </a:prstGeom>
          <a:noFill/>
          <a:ln/>
        </p:spPr>
        <p:txBody>
          <a:bodyPr wrap="square" lIns="0" tIns="0" rIns="0" bIns="0" rtlCol="0" anchor="ctr"/>
          <a:lstStyle/>
          <a:p>
            <a:pPr marL="0" indent="0">
              <a:buNone/>
            </a:pPr>
            <a:r>
              <a:rPr lang="en-US" sz="1280" b="1" dirty="0">
                <a:solidFill>
                  <a:srgbClr val="FFFFFF"/>
                </a:solidFill>
              </a:rPr>
              <a:t>2. SUBSTITUSI</a:t>
            </a:r>
            <a:endParaRPr lang="en-US" sz="1280" dirty="0"/>
          </a:p>
        </p:txBody>
      </p:sp>
      <p:sp>
        <p:nvSpPr>
          <p:cNvPr id="11" name="Text 9"/>
          <p:cNvSpPr/>
          <p:nvPr/>
        </p:nvSpPr>
        <p:spPr>
          <a:xfrm>
            <a:off x="5477256" y="2715768"/>
            <a:ext cx="3022549" cy="201168"/>
          </a:xfrm>
          <a:prstGeom prst="rect">
            <a:avLst/>
          </a:prstGeom>
          <a:noFill/>
          <a:ln/>
        </p:spPr>
        <p:txBody>
          <a:bodyPr wrap="square" lIns="0" tIns="0" rIns="0" bIns="0" rtlCol="0" anchor="ctr">
            <a:normAutofit/>
          </a:bodyPr>
          <a:lstStyle/>
          <a:p>
            <a:pPr marL="0" indent="0" algn="r">
              <a:buNone/>
            </a:pPr>
            <a:r>
              <a:rPr lang="en-US" sz="1080" dirty="0">
                <a:solidFill>
                  <a:srgbClr val="E2E8F0"/>
                </a:solidFill>
              </a:rPr>
              <a:t>Ganti dengan pilihan yang lebih aman</a:t>
            </a:r>
            <a:endParaRPr lang="en-US" sz="1080" dirty="0"/>
          </a:p>
        </p:txBody>
      </p:sp>
      <p:sp>
        <p:nvSpPr>
          <p:cNvPr id="12" name="Shape 10"/>
          <p:cNvSpPr/>
          <p:nvPr/>
        </p:nvSpPr>
        <p:spPr>
          <a:xfrm>
            <a:off x="2758288" y="3319272"/>
            <a:ext cx="6675120" cy="594360"/>
          </a:xfrm>
          <a:prstGeom prst="trapezoid">
            <a:avLst/>
          </a:prstGeom>
          <a:solidFill>
            <a:srgbClr val="0E7490"/>
          </a:solidFill>
          <a:ln w="12700">
            <a:solidFill>
              <a:srgbClr val="0E7490"/>
            </a:solidFill>
            <a:prstDash val="solid"/>
          </a:ln>
        </p:spPr>
      </p:sp>
      <p:sp>
        <p:nvSpPr>
          <p:cNvPr id="13" name="Text 11"/>
          <p:cNvSpPr/>
          <p:nvPr/>
        </p:nvSpPr>
        <p:spPr>
          <a:xfrm>
            <a:off x="2986888" y="3438144"/>
            <a:ext cx="2670048" cy="201168"/>
          </a:xfrm>
          <a:prstGeom prst="rect">
            <a:avLst/>
          </a:prstGeom>
          <a:noFill/>
          <a:ln/>
        </p:spPr>
        <p:txBody>
          <a:bodyPr wrap="square" lIns="0" tIns="0" rIns="0" bIns="0" rtlCol="0" anchor="ctr"/>
          <a:lstStyle/>
          <a:p>
            <a:pPr marL="0" indent="0">
              <a:buNone/>
            </a:pPr>
            <a:r>
              <a:rPr lang="en-US" sz="1280" b="1" dirty="0">
                <a:solidFill>
                  <a:srgbClr val="FFFFFF"/>
                </a:solidFill>
              </a:rPr>
              <a:t>3. REKAYASA</a:t>
            </a:r>
            <a:endParaRPr lang="en-US" sz="1280" dirty="0"/>
          </a:p>
        </p:txBody>
      </p:sp>
      <p:sp>
        <p:nvSpPr>
          <p:cNvPr id="14" name="Text 12"/>
          <p:cNvSpPr/>
          <p:nvPr/>
        </p:nvSpPr>
        <p:spPr>
          <a:xfrm>
            <a:off x="5361584" y="3438144"/>
            <a:ext cx="3621938" cy="201168"/>
          </a:xfrm>
          <a:prstGeom prst="rect">
            <a:avLst/>
          </a:prstGeom>
          <a:noFill/>
          <a:ln/>
        </p:spPr>
        <p:txBody>
          <a:bodyPr wrap="square" lIns="0" tIns="0" rIns="0" bIns="0" rtlCol="0" anchor="ctr">
            <a:normAutofit/>
          </a:bodyPr>
          <a:lstStyle/>
          <a:p>
            <a:pPr marL="0" indent="0" algn="r">
              <a:buNone/>
            </a:pPr>
            <a:r>
              <a:rPr lang="en-US" sz="1080" dirty="0">
                <a:solidFill>
                  <a:srgbClr val="E2E8F0"/>
                </a:solidFill>
              </a:rPr>
              <a:t>Pisahkan orang dari bahaya dengan desain/alat</a:t>
            </a:r>
            <a:endParaRPr lang="en-US" sz="1080" dirty="0"/>
          </a:p>
        </p:txBody>
      </p:sp>
      <p:sp>
        <p:nvSpPr>
          <p:cNvPr id="15" name="Shape 13"/>
          <p:cNvSpPr/>
          <p:nvPr/>
        </p:nvSpPr>
        <p:spPr>
          <a:xfrm>
            <a:off x="2232508" y="4041648"/>
            <a:ext cx="7726680" cy="594360"/>
          </a:xfrm>
          <a:prstGeom prst="trapezoid">
            <a:avLst/>
          </a:prstGeom>
          <a:solidFill>
            <a:srgbClr val="1D4ED8"/>
          </a:solidFill>
          <a:ln w="12700">
            <a:solidFill>
              <a:srgbClr val="1D4ED8"/>
            </a:solidFill>
            <a:prstDash val="solid"/>
          </a:ln>
        </p:spPr>
      </p:sp>
      <p:sp>
        <p:nvSpPr>
          <p:cNvPr id="16" name="Text 14"/>
          <p:cNvSpPr/>
          <p:nvPr/>
        </p:nvSpPr>
        <p:spPr>
          <a:xfrm>
            <a:off x="2461108" y="4160520"/>
            <a:ext cx="3090672" cy="201168"/>
          </a:xfrm>
          <a:prstGeom prst="rect">
            <a:avLst/>
          </a:prstGeom>
          <a:noFill/>
          <a:ln/>
        </p:spPr>
        <p:txBody>
          <a:bodyPr wrap="square" lIns="0" tIns="0" rIns="0" bIns="0" rtlCol="0" anchor="ctr"/>
          <a:lstStyle/>
          <a:p>
            <a:pPr marL="0" indent="0">
              <a:buNone/>
            </a:pPr>
            <a:r>
              <a:rPr lang="en-US" sz="1280" b="1" dirty="0">
                <a:solidFill>
                  <a:srgbClr val="FFFFFF"/>
                </a:solidFill>
              </a:rPr>
              <a:t>4. ADMINISTRATIF</a:t>
            </a:r>
            <a:endParaRPr lang="en-US" sz="1280" dirty="0"/>
          </a:p>
        </p:txBody>
      </p:sp>
      <p:sp>
        <p:nvSpPr>
          <p:cNvPr id="17" name="Text 15"/>
          <p:cNvSpPr/>
          <p:nvPr/>
        </p:nvSpPr>
        <p:spPr>
          <a:xfrm>
            <a:off x="5245913" y="4160520"/>
            <a:ext cx="4221328" cy="201168"/>
          </a:xfrm>
          <a:prstGeom prst="rect">
            <a:avLst/>
          </a:prstGeom>
          <a:noFill/>
          <a:ln/>
        </p:spPr>
        <p:txBody>
          <a:bodyPr wrap="square" lIns="0" tIns="0" rIns="0" bIns="0" rtlCol="0" anchor="ctr">
            <a:normAutofit/>
          </a:bodyPr>
          <a:lstStyle/>
          <a:p>
            <a:pPr marL="0" indent="0" algn="r">
              <a:buNone/>
            </a:pPr>
            <a:r>
              <a:rPr lang="en-US" sz="1080" dirty="0">
                <a:solidFill>
                  <a:srgbClr val="E2E8F0"/>
                </a:solidFill>
              </a:rPr>
              <a:t>SOP, jadwal, pelatihan, tanda, supervisi</a:t>
            </a:r>
            <a:endParaRPr lang="en-US" sz="1080" dirty="0"/>
          </a:p>
        </p:txBody>
      </p:sp>
      <p:sp>
        <p:nvSpPr>
          <p:cNvPr id="18" name="Shape 16"/>
          <p:cNvSpPr/>
          <p:nvPr/>
        </p:nvSpPr>
        <p:spPr>
          <a:xfrm>
            <a:off x="1706728" y="4764024"/>
            <a:ext cx="8778240" cy="594360"/>
          </a:xfrm>
          <a:prstGeom prst="trapezoid">
            <a:avLst/>
          </a:prstGeom>
          <a:solidFill>
            <a:srgbClr val="7C3AED"/>
          </a:solidFill>
          <a:ln w="12700">
            <a:solidFill>
              <a:srgbClr val="7C3AED"/>
            </a:solidFill>
            <a:prstDash val="solid"/>
          </a:ln>
        </p:spPr>
      </p:sp>
      <p:sp>
        <p:nvSpPr>
          <p:cNvPr id="19" name="Text 17"/>
          <p:cNvSpPr/>
          <p:nvPr/>
        </p:nvSpPr>
        <p:spPr>
          <a:xfrm>
            <a:off x="1935328" y="4882896"/>
            <a:ext cx="3511296" cy="201168"/>
          </a:xfrm>
          <a:prstGeom prst="rect">
            <a:avLst/>
          </a:prstGeom>
          <a:noFill/>
          <a:ln/>
        </p:spPr>
        <p:txBody>
          <a:bodyPr wrap="square" lIns="0" tIns="0" rIns="0" bIns="0" rtlCol="0" anchor="ctr"/>
          <a:lstStyle/>
          <a:p>
            <a:pPr marL="0" indent="0">
              <a:buNone/>
            </a:pPr>
            <a:r>
              <a:rPr lang="en-US" sz="1280" b="1" dirty="0">
                <a:solidFill>
                  <a:srgbClr val="FFFFFF"/>
                </a:solidFill>
              </a:rPr>
              <a:t>5. APD</a:t>
            </a:r>
            <a:endParaRPr lang="en-US" sz="1280" dirty="0"/>
          </a:p>
        </p:txBody>
      </p:sp>
      <p:sp>
        <p:nvSpPr>
          <p:cNvPr id="20" name="Text 18"/>
          <p:cNvSpPr/>
          <p:nvPr/>
        </p:nvSpPr>
        <p:spPr>
          <a:xfrm>
            <a:off x="5130241" y="4882896"/>
            <a:ext cx="4820717" cy="201168"/>
          </a:xfrm>
          <a:prstGeom prst="rect">
            <a:avLst/>
          </a:prstGeom>
          <a:noFill/>
          <a:ln/>
        </p:spPr>
        <p:txBody>
          <a:bodyPr wrap="square" lIns="0" tIns="0" rIns="0" bIns="0" rtlCol="0" anchor="ctr">
            <a:normAutofit/>
          </a:bodyPr>
          <a:lstStyle/>
          <a:p>
            <a:pPr marL="0" indent="0" algn="r">
              <a:buNone/>
            </a:pPr>
            <a:r>
              <a:rPr lang="en-US" sz="1080" dirty="0">
                <a:solidFill>
                  <a:srgbClr val="E2E8F0"/>
                </a:solidFill>
              </a:rPr>
              <a:t>Melindungi individu ketika bahaya belum dapat dikendalikan penuh</a:t>
            </a:r>
            <a:endParaRPr lang="en-US" sz="1080" dirty="0"/>
          </a:p>
        </p:txBody>
      </p:sp>
      <p:sp>
        <p:nvSpPr>
          <p:cNvPr id="21" name="Text 19"/>
          <p:cNvSpPr/>
          <p:nvPr/>
        </p:nvSpPr>
        <p:spPr>
          <a:xfrm>
            <a:off x="1234440" y="5596128"/>
            <a:ext cx="9738360" cy="384048"/>
          </a:xfrm>
          <a:prstGeom prst="rect">
            <a:avLst/>
          </a:prstGeom>
          <a:noFill/>
          <a:ln/>
        </p:spPr>
        <p:txBody>
          <a:bodyPr wrap="square" lIns="0" tIns="0" rIns="0" bIns="0" rtlCol="0" anchor="ctr">
            <a:normAutofit/>
          </a:bodyPr>
          <a:lstStyle/>
          <a:p>
            <a:pPr marL="0" indent="0" algn="ctr">
              <a:buNone/>
            </a:pPr>
            <a:r>
              <a:rPr lang="en-US" sz="1280" dirty="0">
                <a:solidFill>
                  <a:srgbClr val="334155"/>
                </a:solidFill>
              </a:rPr>
              <a:t>Contoh: mengganti jarum biasa dengan safety-engineered device lebih kuat daripada sekadar “ingat lebih hati-hati”.</a:t>
            </a:r>
            <a:endParaRPr lang="en-US" sz="1280" dirty="0"/>
          </a:p>
        </p:txBody>
      </p:sp>
      <p:sp>
        <p:nvSpPr>
          <p:cNvPr id="22" name="Text 20"/>
          <p:cNvSpPr/>
          <p:nvPr/>
        </p:nvSpPr>
        <p:spPr>
          <a:xfrm>
            <a:off x="566928" y="6291072"/>
            <a:ext cx="10698480" cy="164592"/>
          </a:xfrm>
          <a:prstGeom prst="rect">
            <a:avLst/>
          </a:prstGeom>
          <a:noFill/>
          <a:ln/>
        </p:spPr>
        <p:txBody>
          <a:bodyPr wrap="square" lIns="0" tIns="0" rIns="0" bIns="0" rtlCol="0" anchor="ctr">
            <a:normAutofit/>
          </a:bodyPr>
          <a:lstStyle/>
          <a:p>
            <a:pPr marL="0" indent="0">
              <a:buNone/>
            </a:pPr>
            <a:r>
              <a:rPr lang="en-US" sz="730" i="1" dirty="0">
                <a:solidFill>
                  <a:srgbClr val="94A3B8"/>
                </a:solidFill>
                <a:latin typeface="Arial" pitchFamily="34" charset="0"/>
                <a:ea typeface="Arial" pitchFamily="34" charset="-122"/>
                <a:cs typeface="Arial" pitchFamily="34" charset="-120"/>
              </a:rPr>
              <a:t>Prinsip hierarchy of controls digunakan luas dalam K3; WHO/ILO mendorong pendekatan berlapis dan sistemik.</a:t>
            </a:r>
            <a:endParaRPr lang="en-US" sz="730" dirty="0"/>
          </a:p>
        </p:txBody>
      </p:sp>
      <p:sp>
        <p:nvSpPr>
          <p:cNvPr id="25" name="Slide Number Placeholder 0"/>
          <p:cNvSpPr>
            <a:spLocks noGrp="1"/>
          </p:cNvSpPr>
          <p:nvPr>
            <p:ph type="sldNum" sz="quarter" idx="4294967295"/>
          </p:nvPr>
        </p:nvSpPr>
        <p:spPr>
          <a:xfrm>
            <a:off x="11475720" y="6492240"/>
            <a:ext cx="320040"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64748B"/>
                </a:solidFill>
                <a:latin typeface="Arial"/>
                <a:ea typeface="Arial"/>
                <a:cs typeface="Arial"/>
              </a:defRPr>
            </a:lvl1pPr>
          </a:lstStyle>
          <a:p>
            <a:pPr algn="r"/>
            <a:fld id="{F7021451-1387-4CA6-816F-3879F97B5CBC}" type="slidenum">
              <a:rPr lang="en-US" b="0"/>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566928" y="347472"/>
            <a:ext cx="1417320" cy="310896"/>
          </a:xfrm>
          <a:prstGeom prst="roundRect">
            <a:avLst>
              <a:gd name="adj" fmla="val 23529"/>
            </a:avLst>
          </a:prstGeom>
          <a:solidFill>
            <a:srgbClr val="ECFEFF"/>
          </a:solidFill>
          <a:ln w="12700">
            <a:solidFill>
              <a:srgbClr val="ECFEFF"/>
            </a:solidFill>
            <a:prstDash val="solid"/>
          </a:ln>
        </p:spPr>
      </p:sp>
      <p:sp>
        <p:nvSpPr>
          <p:cNvPr id="3" name="Text 1"/>
          <p:cNvSpPr/>
          <p:nvPr/>
        </p:nvSpPr>
        <p:spPr>
          <a:xfrm>
            <a:off x="694944" y="429768"/>
            <a:ext cx="1170432" cy="128016"/>
          </a:xfrm>
          <a:prstGeom prst="rect">
            <a:avLst/>
          </a:prstGeom>
          <a:noFill/>
          <a:ln/>
        </p:spPr>
        <p:txBody>
          <a:bodyPr wrap="square" lIns="0" tIns="0" rIns="0" bIns="0" rtlCol="0" anchor="ctr"/>
          <a:lstStyle/>
          <a:p>
            <a:pPr marL="0" indent="0" algn="ctr">
              <a:buNone/>
            </a:pPr>
            <a:r>
              <a:rPr lang="en-US" sz="900" b="1" dirty="0">
                <a:solidFill>
                  <a:srgbClr val="0E7490"/>
                </a:solidFill>
                <a:latin typeface="Arial" pitchFamily="34" charset="0"/>
                <a:ea typeface="Arial" pitchFamily="34" charset="-122"/>
                <a:cs typeface="Arial" pitchFamily="34" charset="-120"/>
              </a:rPr>
              <a:t>MANAJEMEN RISIKO</a:t>
            </a:r>
            <a:endParaRPr lang="en-US" sz="900" dirty="0"/>
          </a:p>
        </p:txBody>
      </p:sp>
      <p:sp>
        <p:nvSpPr>
          <p:cNvPr id="4" name="Text 2"/>
          <p:cNvSpPr/>
          <p:nvPr/>
        </p:nvSpPr>
        <p:spPr>
          <a:xfrm>
            <a:off x="566928" y="777240"/>
            <a:ext cx="10972800" cy="566928"/>
          </a:xfrm>
          <a:prstGeom prst="rect">
            <a:avLst/>
          </a:prstGeom>
          <a:noFill/>
          <a:ln/>
        </p:spPr>
        <p:txBody>
          <a:bodyPr wrap="square" lIns="0" tIns="0" rIns="0" bIns="0" rtlCol="0" anchor="ctr">
            <a:normAutofit/>
          </a:bodyPr>
          <a:lstStyle/>
          <a:p>
            <a:pPr marL="0" indent="0">
              <a:buNone/>
            </a:pPr>
            <a:r>
              <a:rPr lang="en-US" sz="2700" b="1" dirty="0">
                <a:solidFill>
                  <a:srgbClr val="0F172A"/>
                </a:solidFill>
                <a:latin typeface="Arial" pitchFamily="34" charset="0"/>
                <a:ea typeface="Arial" pitchFamily="34" charset="-122"/>
                <a:cs typeface="Arial" pitchFamily="34" charset="-120"/>
              </a:rPr>
              <a:t>Pelaporan Insiden &amp; Near Miss</a:t>
            </a:r>
            <a:endParaRPr lang="en-US" sz="2700" dirty="0"/>
          </a:p>
        </p:txBody>
      </p:sp>
      <p:sp>
        <p:nvSpPr>
          <p:cNvPr id="5" name="Text 3"/>
          <p:cNvSpPr/>
          <p:nvPr/>
        </p:nvSpPr>
        <p:spPr>
          <a:xfrm>
            <a:off x="566928" y="1371600"/>
            <a:ext cx="10881360" cy="384048"/>
          </a:xfrm>
          <a:prstGeom prst="rect">
            <a:avLst/>
          </a:prstGeom>
          <a:noFill/>
          <a:ln/>
        </p:spPr>
        <p:txBody>
          <a:bodyPr wrap="square" lIns="0" tIns="0" rIns="0" bIns="0" rtlCol="0" anchor="ctr">
            <a:normAutofit/>
          </a:bodyPr>
          <a:lstStyle/>
          <a:p>
            <a:pPr marL="0" indent="0">
              <a:buNone/>
            </a:pPr>
            <a:r>
              <a:rPr lang="en-US" sz="1250" dirty="0">
                <a:solidFill>
                  <a:srgbClr val="64748B"/>
                </a:solidFill>
                <a:latin typeface="Arial" pitchFamily="34" charset="0"/>
                <a:ea typeface="Arial" pitchFamily="34" charset="-122"/>
                <a:cs typeface="Arial" pitchFamily="34" charset="-120"/>
              </a:rPr>
              <a:t>Pelaporan bukan mencari siapa yang salah, tetapi menemukan apa yang perlu diperbaiki sebelum kejadian berulang.</a:t>
            </a:r>
            <a:endParaRPr lang="en-US" sz="1250" dirty="0"/>
          </a:p>
        </p:txBody>
      </p:sp>
      <p:sp>
        <p:nvSpPr>
          <p:cNvPr id="6" name="Shape 4"/>
          <p:cNvSpPr/>
          <p:nvPr/>
        </p:nvSpPr>
        <p:spPr>
          <a:xfrm>
            <a:off x="1207008" y="2084832"/>
            <a:ext cx="658368" cy="658368"/>
          </a:xfrm>
          <a:prstGeom prst="ellipse">
            <a:avLst/>
          </a:prstGeom>
          <a:solidFill>
            <a:srgbClr val="F8FAFC"/>
          </a:solidFill>
          <a:ln w="12700">
            <a:solidFill>
              <a:srgbClr val="F8FAFC"/>
            </a:solidFill>
            <a:prstDash val="solid"/>
          </a:ln>
        </p:spPr>
      </p:sp>
      <p:pic>
        <p:nvPicPr>
          <p:cNvPr id="7"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44168" y="2221992"/>
            <a:ext cx="347472" cy="347472"/>
          </a:xfrm>
          <a:prstGeom prst="rect">
            <a:avLst/>
          </a:prstGeom>
        </p:spPr>
      </p:pic>
      <p:sp>
        <p:nvSpPr>
          <p:cNvPr id="8" name="Text 5"/>
          <p:cNvSpPr/>
          <p:nvPr/>
        </p:nvSpPr>
        <p:spPr>
          <a:xfrm>
            <a:off x="795528" y="2926080"/>
            <a:ext cx="1691640" cy="301752"/>
          </a:xfrm>
          <a:prstGeom prst="rect">
            <a:avLst/>
          </a:prstGeom>
          <a:noFill/>
          <a:ln/>
        </p:spPr>
        <p:txBody>
          <a:bodyPr wrap="square" lIns="0" tIns="0" rIns="0" bIns="0" rtlCol="0" anchor="ctr"/>
          <a:lstStyle/>
          <a:p>
            <a:pPr marL="0" indent="0" algn="ctr">
              <a:buNone/>
            </a:pPr>
            <a:r>
              <a:rPr lang="en-US" sz="1400" b="1" dirty="0">
                <a:solidFill>
                  <a:srgbClr val="0F172A"/>
                </a:solidFill>
              </a:rPr>
              <a:t>Kejadian</a:t>
            </a:r>
            <a:endParaRPr lang="en-US" sz="1400" dirty="0"/>
          </a:p>
        </p:txBody>
      </p:sp>
      <p:sp>
        <p:nvSpPr>
          <p:cNvPr id="9" name="Text 6"/>
          <p:cNvSpPr/>
          <p:nvPr/>
        </p:nvSpPr>
        <p:spPr>
          <a:xfrm>
            <a:off x="768096" y="3383280"/>
            <a:ext cx="1737360" cy="1078992"/>
          </a:xfrm>
          <a:prstGeom prst="rect">
            <a:avLst/>
          </a:prstGeom>
          <a:noFill/>
          <a:ln/>
        </p:spPr>
        <p:txBody>
          <a:bodyPr wrap="square" lIns="0" tIns="0" rIns="0" bIns="0" rtlCol="0" anchor="ctr">
            <a:normAutofit/>
          </a:bodyPr>
          <a:lstStyle/>
          <a:p>
            <a:pPr marL="0" indent="0" algn="ctr">
              <a:buNone/>
            </a:pPr>
            <a:r>
              <a:rPr lang="en-US" sz="1060" dirty="0">
                <a:solidFill>
                  <a:srgbClr val="334155"/>
                </a:solidFill>
              </a:rPr>
              <a:t>Cedera, pajanan, kekerasan, kerusakan alat, near miss.</a:t>
            </a:r>
            <a:endParaRPr lang="en-US" sz="1060" dirty="0"/>
          </a:p>
        </p:txBody>
      </p:sp>
      <p:sp>
        <p:nvSpPr>
          <p:cNvPr id="10" name="Shape 7"/>
          <p:cNvSpPr/>
          <p:nvPr/>
        </p:nvSpPr>
        <p:spPr>
          <a:xfrm>
            <a:off x="2468880" y="2907792"/>
            <a:ext cx="301752" cy="502920"/>
          </a:xfrm>
          <a:prstGeom prst="chevron">
            <a:avLst/>
          </a:prstGeom>
          <a:solidFill>
            <a:srgbClr val="CBD5E1"/>
          </a:solidFill>
          <a:ln w="12700">
            <a:solidFill>
              <a:srgbClr val="CBD5E1"/>
            </a:solidFill>
            <a:prstDash val="solid"/>
          </a:ln>
        </p:spPr>
      </p:sp>
      <p:sp>
        <p:nvSpPr>
          <p:cNvPr id="11" name="Shape 8"/>
          <p:cNvSpPr/>
          <p:nvPr/>
        </p:nvSpPr>
        <p:spPr>
          <a:xfrm>
            <a:off x="3538728" y="2084832"/>
            <a:ext cx="658368" cy="658368"/>
          </a:xfrm>
          <a:prstGeom prst="ellipse">
            <a:avLst/>
          </a:prstGeom>
          <a:solidFill>
            <a:srgbClr val="F8FAFC"/>
          </a:solidFill>
          <a:ln w="12700">
            <a:solidFill>
              <a:srgbClr val="F8FAFC"/>
            </a:solidFill>
            <a:prstDash val="solid"/>
          </a:ln>
        </p:spPr>
      </p:sp>
      <p:pic>
        <p:nvPicPr>
          <p:cNvPr id="12"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675888" y="2221992"/>
            <a:ext cx="347472" cy="347472"/>
          </a:xfrm>
          <a:prstGeom prst="rect">
            <a:avLst/>
          </a:prstGeom>
        </p:spPr>
      </p:pic>
      <p:sp>
        <p:nvSpPr>
          <p:cNvPr id="13" name="Text 9"/>
          <p:cNvSpPr/>
          <p:nvPr/>
        </p:nvSpPr>
        <p:spPr>
          <a:xfrm>
            <a:off x="3127248" y="2926080"/>
            <a:ext cx="1691640" cy="301752"/>
          </a:xfrm>
          <a:prstGeom prst="rect">
            <a:avLst/>
          </a:prstGeom>
          <a:noFill/>
          <a:ln/>
        </p:spPr>
        <p:txBody>
          <a:bodyPr wrap="square" lIns="0" tIns="0" rIns="0" bIns="0" rtlCol="0" anchor="ctr"/>
          <a:lstStyle/>
          <a:p>
            <a:pPr marL="0" indent="0" algn="ctr">
              <a:buNone/>
            </a:pPr>
            <a:r>
              <a:rPr lang="en-US" sz="1400" b="1" dirty="0">
                <a:solidFill>
                  <a:srgbClr val="0F172A"/>
                </a:solidFill>
              </a:rPr>
              <a:t>Amankan</a:t>
            </a:r>
            <a:endParaRPr lang="en-US" sz="1400" dirty="0"/>
          </a:p>
        </p:txBody>
      </p:sp>
      <p:sp>
        <p:nvSpPr>
          <p:cNvPr id="14" name="Text 10"/>
          <p:cNvSpPr/>
          <p:nvPr/>
        </p:nvSpPr>
        <p:spPr>
          <a:xfrm>
            <a:off x="3099816" y="3383280"/>
            <a:ext cx="1737360" cy="1078992"/>
          </a:xfrm>
          <a:prstGeom prst="rect">
            <a:avLst/>
          </a:prstGeom>
          <a:noFill/>
          <a:ln/>
        </p:spPr>
        <p:txBody>
          <a:bodyPr wrap="square" lIns="0" tIns="0" rIns="0" bIns="0" rtlCol="0" anchor="ctr">
            <a:normAutofit/>
          </a:bodyPr>
          <a:lstStyle/>
          <a:p>
            <a:pPr marL="0" indent="0" algn="ctr">
              <a:buNone/>
            </a:pPr>
            <a:r>
              <a:rPr lang="en-US" sz="1060" dirty="0">
                <a:solidFill>
                  <a:srgbClr val="334155"/>
                </a:solidFill>
              </a:rPr>
              <a:t>Tolong korban, kendalikan bahaya, hentikan proses bila perlu.</a:t>
            </a:r>
            <a:endParaRPr lang="en-US" sz="1060" dirty="0"/>
          </a:p>
        </p:txBody>
      </p:sp>
      <p:sp>
        <p:nvSpPr>
          <p:cNvPr id="15" name="Shape 11"/>
          <p:cNvSpPr/>
          <p:nvPr/>
        </p:nvSpPr>
        <p:spPr>
          <a:xfrm>
            <a:off x="4800600" y="2907792"/>
            <a:ext cx="301752" cy="502920"/>
          </a:xfrm>
          <a:prstGeom prst="chevron">
            <a:avLst/>
          </a:prstGeom>
          <a:solidFill>
            <a:srgbClr val="CBD5E1"/>
          </a:solidFill>
          <a:ln w="12700">
            <a:solidFill>
              <a:srgbClr val="CBD5E1"/>
            </a:solidFill>
            <a:prstDash val="solid"/>
          </a:ln>
        </p:spPr>
      </p:sp>
      <p:sp>
        <p:nvSpPr>
          <p:cNvPr id="16" name="Shape 12"/>
          <p:cNvSpPr/>
          <p:nvPr/>
        </p:nvSpPr>
        <p:spPr>
          <a:xfrm>
            <a:off x="5870448" y="2084832"/>
            <a:ext cx="658368" cy="658368"/>
          </a:xfrm>
          <a:prstGeom prst="ellipse">
            <a:avLst/>
          </a:prstGeom>
          <a:solidFill>
            <a:srgbClr val="F8FAFC"/>
          </a:solidFill>
          <a:ln w="12700">
            <a:solidFill>
              <a:srgbClr val="F8FAFC"/>
            </a:solidFill>
            <a:prstDash val="solid"/>
          </a:ln>
        </p:spPr>
      </p:sp>
      <p:pic>
        <p:nvPicPr>
          <p:cNvPr id="17"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007608" y="2221992"/>
            <a:ext cx="347472" cy="347472"/>
          </a:xfrm>
          <a:prstGeom prst="rect">
            <a:avLst/>
          </a:prstGeom>
        </p:spPr>
      </p:pic>
      <p:sp>
        <p:nvSpPr>
          <p:cNvPr id="18" name="Text 13"/>
          <p:cNvSpPr/>
          <p:nvPr/>
        </p:nvSpPr>
        <p:spPr>
          <a:xfrm>
            <a:off x="5458968" y="2926080"/>
            <a:ext cx="1691640" cy="301752"/>
          </a:xfrm>
          <a:prstGeom prst="rect">
            <a:avLst/>
          </a:prstGeom>
          <a:noFill/>
          <a:ln/>
        </p:spPr>
        <p:txBody>
          <a:bodyPr wrap="square" lIns="0" tIns="0" rIns="0" bIns="0" rtlCol="0" anchor="ctr"/>
          <a:lstStyle/>
          <a:p>
            <a:pPr marL="0" indent="0" algn="ctr">
              <a:buNone/>
            </a:pPr>
            <a:r>
              <a:rPr lang="en-US" sz="1400" b="1" dirty="0">
                <a:solidFill>
                  <a:srgbClr val="0F172A"/>
                </a:solidFill>
              </a:rPr>
              <a:t>Laporkan</a:t>
            </a:r>
            <a:endParaRPr lang="en-US" sz="1400" dirty="0"/>
          </a:p>
        </p:txBody>
      </p:sp>
      <p:sp>
        <p:nvSpPr>
          <p:cNvPr id="19" name="Text 14"/>
          <p:cNvSpPr/>
          <p:nvPr/>
        </p:nvSpPr>
        <p:spPr>
          <a:xfrm>
            <a:off x="5431536" y="3383280"/>
            <a:ext cx="1737360" cy="1078992"/>
          </a:xfrm>
          <a:prstGeom prst="rect">
            <a:avLst/>
          </a:prstGeom>
          <a:noFill/>
          <a:ln/>
        </p:spPr>
        <p:txBody>
          <a:bodyPr wrap="square" lIns="0" tIns="0" rIns="0" bIns="0" rtlCol="0" anchor="ctr">
            <a:normAutofit/>
          </a:bodyPr>
          <a:lstStyle/>
          <a:p>
            <a:pPr marL="0" indent="0" algn="ctr">
              <a:buNone/>
            </a:pPr>
            <a:r>
              <a:rPr lang="en-US" sz="1060" dirty="0">
                <a:solidFill>
                  <a:srgbClr val="334155"/>
                </a:solidFill>
              </a:rPr>
              <a:t>Gunakan formulir/sistem dan jalur eskalasi yang berlaku.</a:t>
            </a:r>
            <a:endParaRPr lang="en-US" sz="1060" dirty="0"/>
          </a:p>
        </p:txBody>
      </p:sp>
      <p:sp>
        <p:nvSpPr>
          <p:cNvPr id="20" name="Shape 15"/>
          <p:cNvSpPr/>
          <p:nvPr/>
        </p:nvSpPr>
        <p:spPr>
          <a:xfrm>
            <a:off x="7132320" y="2907792"/>
            <a:ext cx="301752" cy="502920"/>
          </a:xfrm>
          <a:prstGeom prst="chevron">
            <a:avLst/>
          </a:prstGeom>
          <a:solidFill>
            <a:srgbClr val="CBD5E1"/>
          </a:solidFill>
          <a:ln w="12700">
            <a:solidFill>
              <a:srgbClr val="CBD5E1"/>
            </a:solidFill>
            <a:prstDash val="solid"/>
          </a:ln>
        </p:spPr>
      </p:sp>
      <p:sp>
        <p:nvSpPr>
          <p:cNvPr id="21" name="Shape 16"/>
          <p:cNvSpPr/>
          <p:nvPr/>
        </p:nvSpPr>
        <p:spPr>
          <a:xfrm>
            <a:off x="8202168" y="2084832"/>
            <a:ext cx="658368" cy="658368"/>
          </a:xfrm>
          <a:prstGeom prst="ellipse">
            <a:avLst/>
          </a:prstGeom>
          <a:solidFill>
            <a:srgbClr val="F8FAFC"/>
          </a:solidFill>
          <a:ln w="12700">
            <a:solidFill>
              <a:srgbClr val="F8FAFC"/>
            </a:solidFill>
            <a:prstDash val="solid"/>
          </a:ln>
        </p:spPr>
      </p:sp>
      <p:pic>
        <p:nvPicPr>
          <p:cNvPr id="22"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339328" y="2221992"/>
            <a:ext cx="347472" cy="347472"/>
          </a:xfrm>
          <a:prstGeom prst="rect">
            <a:avLst/>
          </a:prstGeom>
        </p:spPr>
      </p:pic>
      <p:sp>
        <p:nvSpPr>
          <p:cNvPr id="23" name="Text 17"/>
          <p:cNvSpPr/>
          <p:nvPr/>
        </p:nvSpPr>
        <p:spPr>
          <a:xfrm>
            <a:off x="7790688" y="2926080"/>
            <a:ext cx="1691640" cy="301752"/>
          </a:xfrm>
          <a:prstGeom prst="rect">
            <a:avLst/>
          </a:prstGeom>
          <a:noFill/>
          <a:ln/>
        </p:spPr>
        <p:txBody>
          <a:bodyPr wrap="square" lIns="0" tIns="0" rIns="0" bIns="0" rtlCol="0" anchor="ctr"/>
          <a:lstStyle/>
          <a:p>
            <a:pPr marL="0" indent="0" algn="ctr">
              <a:buNone/>
            </a:pPr>
            <a:r>
              <a:rPr lang="en-US" sz="1400" b="1" dirty="0">
                <a:solidFill>
                  <a:srgbClr val="0F172A"/>
                </a:solidFill>
              </a:rPr>
              <a:t>Analisis</a:t>
            </a:r>
            <a:endParaRPr lang="en-US" sz="1400" dirty="0"/>
          </a:p>
        </p:txBody>
      </p:sp>
      <p:sp>
        <p:nvSpPr>
          <p:cNvPr id="24" name="Text 18"/>
          <p:cNvSpPr/>
          <p:nvPr/>
        </p:nvSpPr>
        <p:spPr>
          <a:xfrm>
            <a:off x="7763256" y="3383280"/>
            <a:ext cx="1737360" cy="1078992"/>
          </a:xfrm>
          <a:prstGeom prst="rect">
            <a:avLst/>
          </a:prstGeom>
          <a:noFill/>
          <a:ln/>
        </p:spPr>
        <p:txBody>
          <a:bodyPr wrap="square" lIns="0" tIns="0" rIns="0" bIns="0" rtlCol="0" anchor="ctr">
            <a:normAutofit/>
          </a:bodyPr>
          <a:lstStyle/>
          <a:p>
            <a:pPr marL="0" indent="0" algn="ctr">
              <a:buNone/>
            </a:pPr>
            <a:r>
              <a:rPr lang="en-US" sz="1060" dirty="0">
                <a:solidFill>
                  <a:srgbClr val="334155"/>
                </a:solidFill>
              </a:rPr>
              <a:t>Cari faktor sistem: alat, lingkungan, prosedur, komunikasi, staffing.</a:t>
            </a:r>
            <a:endParaRPr lang="en-US" sz="1060" dirty="0"/>
          </a:p>
        </p:txBody>
      </p:sp>
      <p:sp>
        <p:nvSpPr>
          <p:cNvPr id="25" name="Shape 19"/>
          <p:cNvSpPr/>
          <p:nvPr/>
        </p:nvSpPr>
        <p:spPr>
          <a:xfrm>
            <a:off x="9464040" y="2907792"/>
            <a:ext cx="301752" cy="502920"/>
          </a:xfrm>
          <a:prstGeom prst="chevron">
            <a:avLst/>
          </a:prstGeom>
          <a:solidFill>
            <a:srgbClr val="CBD5E1"/>
          </a:solidFill>
          <a:ln w="12700">
            <a:solidFill>
              <a:srgbClr val="CBD5E1"/>
            </a:solidFill>
            <a:prstDash val="solid"/>
          </a:ln>
        </p:spPr>
      </p:sp>
      <p:sp>
        <p:nvSpPr>
          <p:cNvPr id="26" name="Shape 20"/>
          <p:cNvSpPr/>
          <p:nvPr/>
        </p:nvSpPr>
        <p:spPr>
          <a:xfrm>
            <a:off x="10533888" y="2084832"/>
            <a:ext cx="658368" cy="658368"/>
          </a:xfrm>
          <a:prstGeom prst="ellipse">
            <a:avLst/>
          </a:prstGeom>
          <a:solidFill>
            <a:srgbClr val="F8FAFC"/>
          </a:solidFill>
          <a:ln w="12700">
            <a:solidFill>
              <a:srgbClr val="F8FAFC"/>
            </a:solidFill>
            <a:prstDash val="solid"/>
          </a:ln>
        </p:spPr>
      </p:sp>
      <p:pic>
        <p:nvPicPr>
          <p:cNvPr id="27"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0671048" y="2221992"/>
            <a:ext cx="347472" cy="347472"/>
          </a:xfrm>
          <a:prstGeom prst="rect">
            <a:avLst/>
          </a:prstGeom>
        </p:spPr>
      </p:pic>
      <p:sp>
        <p:nvSpPr>
          <p:cNvPr id="28" name="Text 21"/>
          <p:cNvSpPr/>
          <p:nvPr/>
        </p:nvSpPr>
        <p:spPr>
          <a:xfrm>
            <a:off x="10122408" y="2926080"/>
            <a:ext cx="1691640" cy="301752"/>
          </a:xfrm>
          <a:prstGeom prst="rect">
            <a:avLst/>
          </a:prstGeom>
          <a:noFill/>
          <a:ln/>
        </p:spPr>
        <p:txBody>
          <a:bodyPr wrap="square" lIns="0" tIns="0" rIns="0" bIns="0" rtlCol="0" anchor="ctr"/>
          <a:lstStyle/>
          <a:p>
            <a:pPr marL="0" indent="0" algn="ctr">
              <a:buNone/>
            </a:pPr>
            <a:r>
              <a:rPr lang="en-US" sz="1400" b="1" dirty="0">
                <a:solidFill>
                  <a:srgbClr val="0F172A"/>
                </a:solidFill>
              </a:rPr>
              <a:t>Perbaiki</a:t>
            </a:r>
            <a:endParaRPr lang="en-US" sz="1400" dirty="0"/>
          </a:p>
        </p:txBody>
      </p:sp>
      <p:sp>
        <p:nvSpPr>
          <p:cNvPr id="29" name="Text 22"/>
          <p:cNvSpPr/>
          <p:nvPr/>
        </p:nvSpPr>
        <p:spPr>
          <a:xfrm>
            <a:off x="10094976" y="3383280"/>
            <a:ext cx="1737360" cy="1078992"/>
          </a:xfrm>
          <a:prstGeom prst="rect">
            <a:avLst/>
          </a:prstGeom>
          <a:noFill/>
          <a:ln/>
        </p:spPr>
        <p:txBody>
          <a:bodyPr wrap="square" lIns="0" tIns="0" rIns="0" bIns="0" rtlCol="0" anchor="ctr">
            <a:normAutofit/>
          </a:bodyPr>
          <a:lstStyle/>
          <a:p>
            <a:pPr marL="0" indent="0" algn="ctr">
              <a:buNone/>
            </a:pPr>
            <a:r>
              <a:rPr lang="en-US" sz="1060" dirty="0">
                <a:solidFill>
                  <a:srgbClr val="334155"/>
                </a:solidFill>
              </a:rPr>
              <a:t>Tindakan korektif, umpan balik, monitoring efektivitas.</a:t>
            </a:r>
            <a:endParaRPr lang="en-US" sz="1060" dirty="0"/>
          </a:p>
        </p:txBody>
      </p:sp>
      <p:sp>
        <p:nvSpPr>
          <p:cNvPr id="30" name="Shape 23"/>
          <p:cNvSpPr/>
          <p:nvPr/>
        </p:nvSpPr>
        <p:spPr>
          <a:xfrm>
            <a:off x="1417320" y="4846320"/>
            <a:ext cx="9372600" cy="713232"/>
          </a:xfrm>
          <a:prstGeom prst="roundRect">
            <a:avLst>
              <a:gd name="adj" fmla="val 10256"/>
            </a:avLst>
          </a:prstGeom>
          <a:solidFill>
            <a:srgbClr val="D1FAE5"/>
          </a:solidFill>
          <a:ln w="12700">
            <a:solidFill>
              <a:srgbClr val="D1FAE5"/>
            </a:solidFill>
            <a:prstDash val="solid"/>
          </a:ln>
        </p:spPr>
      </p:sp>
      <p:sp>
        <p:nvSpPr>
          <p:cNvPr id="31" name="Text 24"/>
          <p:cNvSpPr/>
          <p:nvPr/>
        </p:nvSpPr>
        <p:spPr>
          <a:xfrm>
            <a:off x="1691640" y="5074920"/>
            <a:ext cx="8823960" cy="256032"/>
          </a:xfrm>
          <a:prstGeom prst="rect">
            <a:avLst/>
          </a:prstGeom>
          <a:noFill/>
          <a:ln/>
        </p:spPr>
        <p:txBody>
          <a:bodyPr wrap="square" lIns="0" tIns="0" rIns="0" bIns="0" rtlCol="0" anchor="ctr"/>
          <a:lstStyle/>
          <a:p>
            <a:pPr marL="0" indent="0" algn="ctr">
              <a:buNone/>
            </a:pPr>
            <a:r>
              <a:rPr lang="en-US" sz="1400" b="1" dirty="0">
                <a:solidFill>
                  <a:srgbClr val="166534"/>
                </a:solidFill>
              </a:rPr>
              <a:t>Budaya yang sehat: mudah melapor + respons adil + umpan balik + tindakan perbaikan.</a:t>
            </a:r>
            <a:endParaRPr lang="en-US" sz="1400" dirty="0"/>
          </a:p>
        </p:txBody>
      </p:sp>
      <p:sp>
        <p:nvSpPr>
          <p:cNvPr id="32" name="Slide Number Placeholder 0"/>
          <p:cNvSpPr>
            <a:spLocks noGrp="1"/>
          </p:cNvSpPr>
          <p:nvPr>
            <p:ph type="sldNum" sz="quarter" idx="4294967295"/>
          </p:nvPr>
        </p:nvSpPr>
        <p:spPr>
          <a:xfrm>
            <a:off x="11475720" y="6492240"/>
            <a:ext cx="320040"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64748B"/>
                </a:solidFill>
                <a:latin typeface="Arial"/>
                <a:ea typeface="Arial"/>
                <a:cs typeface="Arial"/>
              </a:defRPr>
            </a:lvl1pPr>
          </a:lstStyle>
          <a:p>
            <a:pPr algn="r"/>
            <a:fld id="{F7021451-1387-4CA6-816F-3879F97B5CBC}" type="slidenum">
              <a:rPr lang="en-US" b="0"/>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566928" y="347472"/>
            <a:ext cx="1417320" cy="310896"/>
          </a:xfrm>
          <a:prstGeom prst="roundRect">
            <a:avLst>
              <a:gd name="adj" fmla="val 23529"/>
            </a:avLst>
          </a:prstGeom>
          <a:solidFill>
            <a:srgbClr val="ECFEFF"/>
          </a:solidFill>
          <a:ln w="12700">
            <a:solidFill>
              <a:srgbClr val="ECFEFF"/>
            </a:solidFill>
            <a:prstDash val="solid"/>
          </a:ln>
        </p:spPr>
      </p:sp>
      <p:sp>
        <p:nvSpPr>
          <p:cNvPr id="3" name="Text 1"/>
          <p:cNvSpPr/>
          <p:nvPr/>
        </p:nvSpPr>
        <p:spPr>
          <a:xfrm>
            <a:off x="694944" y="429768"/>
            <a:ext cx="1170432" cy="128016"/>
          </a:xfrm>
          <a:prstGeom prst="rect">
            <a:avLst/>
          </a:prstGeom>
          <a:noFill/>
          <a:ln/>
        </p:spPr>
        <p:txBody>
          <a:bodyPr wrap="square" lIns="0" tIns="0" rIns="0" bIns="0" rtlCol="0" anchor="ctr"/>
          <a:lstStyle/>
          <a:p>
            <a:pPr marL="0" indent="0" algn="ctr">
              <a:buNone/>
            </a:pPr>
            <a:r>
              <a:rPr lang="en-US" sz="900" b="1" dirty="0">
                <a:solidFill>
                  <a:srgbClr val="0E7490"/>
                </a:solidFill>
                <a:latin typeface="Arial" pitchFamily="34" charset="0"/>
                <a:ea typeface="Arial" pitchFamily="34" charset="-122"/>
                <a:cs typeface="Arial" pitchFamily="34" charset="-120"/>
              </a:rPr>
              <a:t>MANAJEMEN RISIKO</a:t>
            </a:r>
            <a:endParaRPr lang="en-US" sz="900" dirty="0"/>
          </a:p>
        </p:txBody>
      </p:sp>
      <p:sp>
        <p:nvSpPr>
          <p:cNvPr id="4" name="Text 2"/>
          <p:cNvSpPr/>
          <p:nvPr/>
        </p:nvSpPr>
        <p:spPr>
          <a:xfrm>
            <a:off x="566928" y="777240"/>
            <a:ext cx="10972800" cy="566928"/>
          </a:xfrm>
          <a:prstGeom prst="rect">
            <a:avLst/>
          </a:prstGeom>
          <a:noFill/>
          <a:ln/>
        </p:spPr>
        <p:txBody>
          <a:bodyPr wrap="square" lIns="0" tIns="0" rIns="0" bIns="0" rtlCol="0" anchor="ctr">
            <a:normAutofit/>
          </a:bodyPr>
          <a:lstStyle/>
          <a:p>
            <a:pPr marL="0" indent="0">
              <a:buNone/>
            </a:pPr>
            <a:r>
              <a:rPr lang="en-US" sz="2700" b="1" dirty="0">
                <a:solidFill>
                  <a:srgbClr val="0F172A"/>
                </a:solidFill>
                <a:latin typeface="Arial" pitchFamily="34" charset="0"/>
                <a:ea typeface="Arial" pitchFamily="34" charset="-122"/>
                <a:cs typeface="Arial" pitchFamily="34" charset="-120"/>
              </a:rPr>
              <a:t>Kesiapsiagaan Darurat</a:t>
            </a:r>
            <a:endParaRPr lang="en-US" sz="2700" dirty="0"/>
          </a:p>
        </p:txBody>
      </p:sp>
      <p:sp>
        <p:nvSpPr>
          <p:cNvPr id="5" name="Text 3"/>
          <p:cNvSpPr/>
          <p:nvPr/>
        </p:nvSpPr>
        <p:spPr>
          <a:xfrm>
            <a:off x="566928" y="1371600"/>
            <a:ext cx="10881360" cy="384048"/>
          </a:xfrm>
          <a:prstGeom prst="rect">
            <a:avLst/>
          </a:prstGeom>
          <a:noFill/>
          <a:ln/>
        </p:spPr>
        <p:txBody>
          <a:bodyPr wrap="square" lIns="0" tIns="0" rIns="0" bIns="0" rtlCol="0" anchor="ctr">
            <a:normAutofit/>
          </a:bodyPr>
          <a:lstStyle/>
          <a:p>
            <a:pPr marL="0" indent="0">
              <a:buNone/>
            </a:pPr>
            <a:r>
              <a:rPr lang="en-US" sz="1250" dirty="0">
                <a:solidFill>
                  <a:srgbClr val="64748B"/>
                </a:solidFill>
                <a:latin typeface="Arial" pitchFamily="34" charset="0"/>
                <a:ea typeface="Arial" pitchFamily="34" charset="-122"/>
                <a:cs typeface="Arial" pitchFamily="34" charset="-120"/>
              </a:rPr>
              <a:t>Perawat harus mengenali respons awal dan jalur eskalasi untuk kejadian darurat di area kerjanya.</a:t>
            </a:r>
            <a:endParaRPr lang="en-US" sz="1250" dirty="0"/>
          </a:p>
        </p:txBody>
      </p:sp>
      <p:sp>
        <p:nvSpPr>
          <p:cNvPr id="6" name="Shape 4"/>
          <p:cNvSpPr/>
          <p:nvPr/>
        </p:nvSpPr>
        <p:spPr>
          <a:xfrm>
            <a:off x="777240" y="1883664"/>
            <a:ext cx="658368" cy="658368"/>
          </a:xfrm>
          <a:prstGeom prst="ellipse">
            <a:avLst/>
          </a:prstGeom>
          <a:solidFill>
            <a:srgbClr val="F8FAFC"/>
          </a:solidFill>
          <a:ln w="12700">
            <a:solidFill>
              <a:srgbClr val="F8FAFC"/>
            </a:solidFill>
            <a:prstDash val="solid"/>
          </a:ln>
        </p:spPr>
      </p:sp>
      <p:pic>
        <p:nvPicPr>
          <p:cNvPr id="7"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14400" y="2020824"/>
            <a:ext cx="274320" cy="274320"/>
          </a:xfrm>
          <a:prstGeom prst="rect">
            <a:avLst/>
          </a:prstGeom>
        </p:spPr>
      </p:pic>
      <p:sp>
        <p:nvSpPr>
          <p:cNvPr id="8" name="Text 5"/>
          <p:cNvSpPr/>
          <p:nvPr/>
        </p:nvSpPr>
        <p:spPr>
          <a:xfrm>
            <a:off x="1572768" y="1901952"/>
            <a:ext cx="1874520" cy="256032"/>
          </a:xfrm>
          <a:prstGeom prst="rect">
            <a:avLst/>
          </a:prstGeom>
          <a:noFill/>
          <a:ln/>
        </p:spPr>
        <p:txBody>
          <a:bodyPr wrap="square" lIns="0" tIns="0" rIns="0" bIns="0" rtlCol="0" anchor="ctr"/>
          <a:lstStyle/>
          <a:p>
            <a:pPr marL="0" indent="0">
              <a:buNone/>
            </a:pPr>
            <a:r>
              <a:rPr lang="en-US" sz="1380" b="1" dirty="0">
                <a:solidFill>
                  <a:srgbClr val="0F172A"/>
                </a:solidFill>
              </a:rPr>
              <a:t>Kebakaran</a:t>
            </a:r>
            <a:endParaRPr lang="en-US" sz="1380" dirty="0"/>
          </a:p>
        </p:txBody>
      </p:sp>
      <p:sp>
        <p:nvSpPr>
          <p:cNvPr id="9" name="Text 6"/>
          <p:cNvSpPr/>
          <p:nvPr/>
        </p:nvSpPr>
        <p:spPr>
          <a:xfrm>
            <a:off x="3319272" y="1874520"/>
            <a:ext cx="7635240" cy="402336"/>
          </a:xfrm>
          <a:prstGeom prst="rect">
            <a:avLst/>
          </a:prstGeom>
          <a:noFill/>
          <a:ln/>
        </p:spPr>
        <p:txBody>
          <a:bodyPr wrap="square" lIns="0" tIns="0" rIns="0" bIns="0" rtlCol="0" anchor="ctr">
            <a:normAutofit/>
          </a:bodyPr>
          <a:lstStyle/>
          <a:p>
            <a:pPr marL="0" indent="0">
              <a:buNone/>
            </a:pPr>
            <a:r>
              <a:rPr lang="en-US" sz="1190" dirty="0">
                <a:solidFill>
                  <a:srgbClr val="334155"/>
                </a:solidFill>
              </a:rPr>
              <a:t>Alarm • amankan pasien • ikuti jalur evakuasi • gunakan APAR bila terlatih</a:t>
            </a:r>
            <a:endParaRPr lang="en-US" sz="1190" dirty="0"/>
          </a:p>
        </p:txBody>
      </p:sp>
      <p:sp>
        <p:nvSpPr>
          <p:cNvPr id="10" name="Shape 7"/>
          <p:cNvSpPr/>
          <p:nvPr/>
        </p:nvSpPr>
        <p:spPr>
          <a:xfrm>
            <a:off x="777240" y="2688336"/>
            <a:ext cx="658368" cy="658368"/>
          </a:xfrm>
          <a:prstGeom prst="ellipse">
            <a:avLst/>
          </a:prstGeom>
          <a:solidFill>
            <a:srgbClr val="F8FAFC"/>
          </a:solidFill>
          <a:ln w="12700">
            <a:solidFill>
              <a:srgbClr val="F8FAFC"/>
            </a:solidFill>
            <a:prstDash val="solid"/>
          </a:ln>
        </p:spPr>
      </p:sp>
      <p:pic>
        <p:nvPicPr>
          <p:cNvPr id="11"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14400" y="2825496"/>
            <a:ext cx="274320" cy="274320"/>
          </a:xfrm>
          <a:prstGeom prst="rect">
            <a:avLst/>
          </a:prstGeom>
        </p:spPr>
      </p:pic>
      <p:sp>
        <p:nvSpPr>
          <p:cNvPr id="12" name="Text 8"/>
          <p:cNvSpPr/>
          <p:nvPr/>
        </p:nvSpPr>
        <p:spPr>
          <a:xfrm>
            <a:off x="1572768" y="2706624"/>
            <a:ext cx="1874520" cy="256032"/>
          </a:xfrm>
          <a:prstGeom prst="rect">
            <a:avLst/>
          </a:prstGeom>
          <a:noFill/>
          <a:ln/>
        </p:spPr>
        <p:txBody>
          <a:bodyPr wrap="square" lIns="0" tIns="0" rIns="0" bIns="0" rtlCol="0" anchor="ctr"/>
          <a:lstStyle/>
          <a:p>
            <a:pPr marL="0" indent="0">
              <a:buNone/>
            </a:pPr>
            <a:r>
              <a:rPr lang="en-US" sz="1380" b="1" dirty="0">
                <a:solidFill>
                  <a:srgbClr val="0F172A"/>
                </a:solidFill>
              </a:rPr>
              <a:t>Tumpahan bahan</a:t>
            </a:r>
            <a:endParaRPr lang="en-US" sz="1380" dirty="0"/>
          </a:p>
        </p:txBody>
      </p:sp>
      <p:sp>
        <p:nvSpPr>
          <p:cNvPr id="13" name="Text 9"/>
          <p:cNvSpPr/>
          <p:nvPr/>
        </p:nvSpPr>
        <p:spPr>
          <a:xfrm>
            <a:off x="3319272" y="2679192"/>
            <a:ext cx="7635240" cy="402336"/>
          </a:xfrm>
          <a:prstGeom prst="rect">
            <a:avLst/>
          </a:prstGeom>
          <a:noFill/>
          <a:ln/>
        </p:spPr>
        <p:txBody>
          <a:bodyPr wrap="square" lIns="0" tIns="0" rIns="0" bIns="0" rtlCol="0" anchor="ctr">
            <a:normAutofit/>
          </a:bodyPr>
          <a:lstStyle/>
          <a:p>
            <a:pPr marL="0" indent="0">
              <a:buNone/>
            </a:pPr>
            <a:r>
              <a:rPr lang="en-US" sz="1190" dirty="0">
                <a:solidFill>
                  <a:srgbClr val="334155"/>
                </a:solidFill>
              </a:rPr>
              <a:t>Isolasi area • spill kit • APD • pelaporan • dekontaminasi</a:t>
            </a:r>
            <a:endParaRPr lang="en-US" sz="1190" dirty="0"/>
          </a:p>
        </p:txBody>
      </p:sp>
      <p:sp>
        <p:nvSpPr>
          <p:cNvPr id="14" name="Shape 10"/>
          <p:cNvSpPr/>
          <p:nvPr/>
        </p:nvSpPr>
        <p:spPr>
          <a:xfrm>
            <a:off x="777240" y="3493008"/>
            <a:ext cx="658368" cy="658368"/>
          </a:xfrm>
          <a:prstGeom prst="ellipse">
            <a:avLst/>
          </a:prstGeom>
          <a:solidFill>
            <a:srgbClr val="F8FAFC"/>
          </a:solidFill>
          <a:ln w="12700">
            <a:solidFill>
              <a:srgbClr val="F8FAFC"/>
            </a:solidFill>
            <a:prstDash val="solid"/>
          </a:ln>
        </p:spPr>
      </p:sp>
      <p:pic>
        <p:nvPicPr>
          <p:cNvPr id="15"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14400" y="3630168"/>
            <a:ext cx="274320" cy="274320"/>
          </a:xfrm>
          <a:prstGeom prst="rect">
            <a:avLst/>
          </a:prstGeom>
        </p:spPr>
      </p:pic>
      <p:sp>
        <p:nvSpPr>
          <p:cNvPr id="16" name="Text 11"/>
          <p:cNvSpPr/>
          <p:nvPr/>
        </p:nvSpPr>
        <p:spPr>
          <a:xfrm>
            <a:off x="1572768" y="3511296"/>
            <a:ext cx="1874520" cy="256032"/>
          </a:xfrm>
          <a:prstGeom prst="rect">
            <a:avLst/>
          </a:prstGeom>
          <a:noFill/>
          <a:ln/>
        </p:spPr>
        <p:txBody>
          <a:bodyPr wrap="square" lIns="0" tIns="0" rIns="0" bIns="0" rtlCol="0" anchor="ctr"/>
          <a:lstStyle/>
          <a:p>
            <a:pPr marL="0" indent="0">
              <a:buNone/>
            </a:pPr>
            <a:r>
              <a:rPr lang="en-US" sz="1380" b="1" dirty="0">
                <a:solidFill>
                  <a:srgbClr val="0F172A"/>
                </a:solidFill>
              </a:rPr>
              <a:t>Gangguan listrik/alat</a:t>
            </a:r>
            <a:endParaRPr lang="en-US" sz="1380" dirty="0"/>
          </a:p>
        </p:txBody>
      </p:sp>
      <p:sp>
        <p:nvSpPr>
          <p:cNvPr id="17" name="Text 12"/>
          <p:cNvSpPr/>
          <p:nvPr/>
        </p:nvSpPr>
        <p:spPr>
          <a:xfrm>
            <a:off x="3319272" y="3483864"/>
            <a:ext cx="7635240" cy="402336"/>
          </a:xfrm>
          <a:prstGeom prst="rect">
            <a:avLst/>
          </a:prstGeom>
          <a:noFill/>
          <a:ln/>
        </p:spPr>
        <p:txBody>
          <a:bodyPr wrap="square" lIns="0" tIns="0" rIns="0" bIns="0" rtlCol="0" anchor="ctr">
            <a:normAutofit/>
          </a:bodyPr>
          <a:lstStyle/>
          <a:p>
            <a:pPr marL="0" indent="0">
              <a:buNone/>
            </a:pPr>
            <a:r>
              <a:rPr lang="en-US" sz="1190" dirty="0">
                <a:solidFill>
                  <a:srgbClr val="334155"/>
                </a:solidFill>
              </a:rPr>
              <a:t>Amankan pasien • hentikan alat bermasalah • gunakan sistem cadangan sesuai SOP</a:t>
            </a:r>
            <a:endParaRPr lang="en-US" sz="1190" dirty="0"/>
          </a:p>
        </p:txBody>
      </p:sp>
      <p:sp>
        <p:nvSpPr>
          <p:cNvPr id="18" name="Shape 13"/>
          <p:cNvSpPr/>
          <p:nvPr/>
        </p:nvSpPr>
        <p:spPr>
          <a:xfrm>
            <a:off x="777240" y="4297680"/>
            <a:ext cx="658368" cy="658368"/>
          </a:xfrm>
          <a:prstGeom prst="ellipse">
            <a:avLst/>
          </a:prstGeom>
          <a:solidFill>
            <a:srgbClr val="F8FAFC"/>
          </a:solidFill>
          <a:ln w="12700">
            <a:solidFill>
              <a:srgbClr val="F8FAFC"/>
            </a:solidFill>
            <a:prstDash val="solid"/>
          </a:ln>
        </p:spPr>
      </p:sp>
      <p:pic>
        <p:nvPicPr>
          <p:cNvPr id="19"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14400" y="4434840"/>
            <a:ext cx="274320" cy="274320"/>
          </a:xfrm>
          <a:prstGeom prst="rect">
            <a:avLst/>
          </a:prstGeom>
        </p:spPr>
      </p:pic>
      <p:sp>
        <p:nvSpPr>
          <p:cNvPr id="20" name="Text 14"/>
          <p:cNvSpPr/>
          <p:nvPr/>
        </p:nvSpPr>
        <p:spPr>
          <a:xfrm>
            <a:off x="1572768" y="4315968"/>
            <a:ext cx="1874520" cy="256032"/>
          </a:xfrm>
          <a:prstGeom prst="rect">
            <a:avLst/>
          </a:prstGeom>
          <a:noFill/>
          <a:ln/>
        </p:spPr>
        <p:txBody>
          <a:bodyPr wrap="square" lIns="0" tIns="0" rIns="0" bIns="0" rtlCol="0" anchor="ctr"/>
          <a:lstStyle/>
          <a:p>
            <a:pPr marL="0" indent="0">
              <a:buNone/>
            </a:pPr>
            <a:r>
              <a:rPr lang="en-US" sz="1380" b="1" dirty="0">
                <a:solidFill>
                  <a:srgbClr val="0F172A"/>
                </a:solidFill>
              </a:rPr>
              <a:t>Kekerasan</a:t>
            </a:r>
            <a:endParaRPr lang="en-US" sz="1380" dirty="0"/>
          </a:p>
        </p:txBody>
      </p:sp>
      <p:sp>
        <p:nvSpPr>
          <p:cNvPr id="21" name="Text 15"/>
          <p:cNvSpPr/>
          <p:nvPr/>
        </p:nvSpPr>
        <p:spPr>
          <a:xfrm>
            <a:off x="3319272" y="4288536"/>
            <a:ext cx="7635240" cy="402336"/>
          </a:xfrm>
          <a:prstGeom prst="rect">
            <a:avLst/>
          </a:prstGeom>
          <a:noFill/>
          <a:ln/>
        </p:spPr>
        <p:txBody>
          <a:bodyPr wrap="square" lIns="0" tIns="0" rIns="0" bIns="0" rtlCol="0" anchor="ctr">
            <a:normAutofit/>
          </a:bodyPr>
          <a:lstStyle/>
          <a:p>
            <a:pPr marL="0" indent="0">
              <a:buNone/>
            </a:pPr>
            <a:r>
              <a:rPr lang="en-US" sz="1190" dirty="0">
                <a:solidFill>
                  <a:srgbClr val="334155"/>
                </a:solidFill>
              </a:rPr>
              <a:t>Prioritaskan jarak aman • panggil bantuan • de-eskalasi • keamanan</a:t>
            </a:r>
            <a:endParaRPr lang="en-US" sz="1190" dirty="0"/>
          </a:p>
        </p:txBody>
      </p:sp>
      <p:sp>
        <p:nvSpPr>
          <p:cNvPr id="22" name="Shape 16"/>
          <p:cNvSpPr/>
          <p:nvPr/>
        </p:nvSpPr>
        <p:spPr>
          <a:xfrm>
            <a:off x="777240" y="5102352"/>
            <a:ext cx="658368" cy="658368"/>
          </a:xfrm>
          <a:prstGeom prst="ellipse">
            <a:avLst/>
          </a:prstGeom>
          <a:solidFill>
            <a:srgbClr val="F8FAFC"/>
          </a:solidFill>
          <a:ln w="12700">
            <a:solidFill>
              <a:srgbClr val="F8FAFC"/>
            </a:solidFill>
            <a:prstDash val="solid"/>
          </a:ln>
        </p:spPr>
      </p:sp>
      <p:pic>
        <p:nvPicPr>
          <p:cNvPr id="23"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914400" y="5239512"/>
            <a:ext cx="274320" cy="274320"/>
          </a:xfrm>
          <a:prstGeom prst="rect">
            <a:avLst/>
          </a:prstGeom>
        </p:spPr>
      </p:pic>
      <p:sp>
        <p:nvSpPr>
          <p:cNvPr id="24" name="Text 17"/>
          <p:cNvSpPr/>
          <p:nvPr/>
        </p:nvSpPr>
        <p:spPr>
          <a:xfrm>
            <a:off x="1572768" y="5120640"/>
            <a:ext cx="1874520" cy="256032"/>
          </a:xfrm>
          <a:prstGeom prst="rect">
            <a:avLst/>
          </a:prstGeom>
          <a:noFill/>
          <a:ln/>
        </p:spPr>
        <p:txBody>
          <a:bodyPr wrap="square" lIns="0" tIns="0" rIns="0" bIns="0" rtlCol="0" anchor="ctr"/>
          <a:lstStyle/>
          <a:p>
            <a:pPr marL="0" indent="0">
              <a:buNone/>
            </a:pPr>
            <a:r>
              <a:rPr lang="en-US" sz="1380" b="1" dirty="0">
                <a:solidFill>
                  <a:srgbClr val="0F172A"/>
                </a:solidFill>
              </a:rPr>
              <a:t>Bencana / surge</a:t>
            </a:r>
            <a:endParaRPr lang="en-US" sz="1380" dirty="0"/>
          </a:p>
        </p:txBody>
      </p:sp>
      <p:sp>
        <p:nvSpPr>
          <p:cNvPr id="25" name="Text 18"/>
          <p:cNvSpPr/>
          <p:nvPr/>
        </p:nvSpPr>
        <p:spPr>
          <a:xfrm>
            <a:off x="3319272" y="5093208"/>
            <a:ext cx="7635240" cy="402336"/>
          </a:xfrm>
          <a:prstGeom prst="rect">
            <a:avLst/>
          </a:prstGeom>
          <a:noFill/>
          <a:ln/>
        </p:spPr>
        <p:txBody>
          <a:bodyPr wrap="square" lIns="0" tIns="0" rIns="0" bIns="0" rtlCol="0" anchor="ctr">
            <a:normAutofit/>
          </a:bodyPr>
          <a:lstStyle/>
          <a:p>
            <a:pPr marL="0" indent="0">
              <a:buNone/>
            </a:pPr>
            <a:r>
              <a:rPr lang="en-US" sz="1190" dirty="0">
                <a:solidFill>
                  <a:srgbClr val="334155"/>
                </a:solidFill>
              </a:rPr>
              <a:t>Ikuti incident command, triage, komunikasi, dan rencana kontinjensi fasilitas</a:t>
            </a:r>
            <a:endParaRPr lang="en-US" sz="1190" dirty="0"/>
          </a:p>
        </p:txBody>
      </p:sp>
      <p:sp>
        <p:nvSpPr>
          <p:cNvPr id="26" name="Text 19"/>
          <p:cNvSpPr/>
          <p:nvPr/>
        </p:nvSpPr>
        <p:spPr>
          <a:xfrm>
            <a:off x="1078992" y="5907024"/>
            <a:ext cx="10058400" cy="292608"/>
          </a:xfrm>
          <a:prstGeom prst="rect">
            <a:avLst/>
          </a:prstGeom>
          <a:noFill/>
          <a:ln/>
        </p:spPr>
        <p:txBody>
          <a:bodyPr wrap="square" lIns="0" tIns="0" rIns="0" bIns="0" rtlCol="0" anchor="ctr"/>
          <a:lstStyle/>
          <a:p>
            <a:pPr marL="0" indent="0" algn="ctr">
              <a:buNone/>
            </a:pPr>
            <a:r>
              <a:rPr lang="en-US" sz="1250" b="1" dirty="0">
                <a:solidFill>
                  <a:srgbClr val="0E7490"/>
                </a:solidFill>
              </a:rPr>
              <a:t>Hafalkan: nomor/kode darurat • jalur evakuasi • titik kumpul • lokasi APAR • lokasi spill kit</a:t>
            </a:r>
            <a:endParaRPr lang="en-US" sz="1250" dirty="0"/>
          </a:p>
        </p:txBody>
      </p:sp>
      <p:sp>
        <p:nvSpPr>
          <p:cNvPr id="27" name="Slide Number Placeholder 0"/>
          <p:cNvSpPr>
            <a:spLocks noGrp="1"/>
          </p:cNvSpPr>
          <p:nvPr>
            <p:ph type="sldNum" sz="quarter" idx="4294967295"/>
          </p:nvPr>
        </p:nvSpPr>
        <p:spPr>
          <a:xfrm>
            <a:off x="11475720" y="6492240"/>
            <a:ext cx="320040"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64748B"/>
                </a:solidFill>
                <a:latin typeface="Arial"/>
                <a:ea typeface="Arial"/>
                <a:cs typeface="Arial"/>
              </a:defRPr>
            </a:lvl1pPr>
          </a:lstStyle>
          <a:p>
            <a:pPr algn="r"/>
            <a:fld id="{F7021451-1387-4CA6-816F-3879F97B5CBC}" type="slidenum">
              <a:rPr lang="en-US" b="0"/>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566928" y="347472"/>
            <a:ext cx="1417320" cy="310896"/>
          </a:xfrm>
          <a:prstGeom prst="roundRect">
            <a:avLst>
              <a:gd name="adj" fmla="val 23529"/>
            </a:avLst>
          </a:prstGeom>
          <a:solidFill>
            <a:srgbClr val="ECFEFF"/>
          </a:solidFill>
          <a:ln w="12700">
            <a:solidFill>
              <a:srgbClr val="ECFEFF"/>
            </a:solidFill>
            <a:prstDash val="solid"/>
          </a:ln>
        </p:spPr>
      </p:sp>
      <p:sp>
        <p:nvSpPr>
          <p:cNvPr id="3" name="Text 1"/>
          <p:cNvSpPr/>
          <p:nvPr/>
        </p:nvSpPr>
        <p:spPr>
          <a:xfrm>
            <a:off x="694944" y="429768"/>
            <a:ext cx="1170432" cy="128016"/>
          </a:xfrm>
          <a:prstGeom prst="rect">
            <a:avLst/>
          </a:prstGeom>
          <a:noFill/>
          <a:ln/>
        </p:spPr>
        <p:txBody>
          <a:bodyPr wrap="square" lIns="0" tIns="0" rIns="0" bIns="0" rtlCol="0" anchor="ctr"/>
          <a:lstStyle/>
          <a:p>
            <a:pPr marL="0" indent="0" algn="ctr">
              <a:buNone/>
            </a:pPr>
            <a:r>
              <a:rPr lang="en-US" sz="900" b="1" dirty="0">
                <a:solidFill>
                  <a:srgbClr val="0E7490"/>
                </a:solidFill>
                <a:latin typeface="Arial" pitchFamily="34" charset="0"/>
                <a:ea typeface="Arial" pitchFamily="34" charset="-122"/>
                <a:cs typeface="Arial" pitchFamily="34" charset="-120"/>
              </a:rPr>
              <a:t>KESEHATAN KERJA</a:t>
            </a:r>
            <a:endParaRPr lang="en-US" sz="900" dirty="0"/>
          </a:p>
        </p:txBody>
      </p:sp>
      <p:sp>
        <p:nvSpPr>
          <p:cNvPr id="4" name="Text 2"/>
          <p:cNvSpPr/>
          <p:nvPr/>
        </p:nvSpPr>
        <p:spPr>
          <a:xfrm>
            <a:off x="566928" y="777240"/>
            <a:ext cx="10972800" cy="566928"/>
          </a:xfrm>
          <a:prstGeom prst="rect">
            <a:avLst/>
          </a:prstGeom>
          <a:noFill/>
          <a:ln/>
        </p:spPr>
        <p:txBody>
          <a:bodyPr wrap="square" lIns="0" tIns="0" rIns="0" bIns="0" rtlCol="0" anchor="ctr">
            <a:normAutofit/>
          </a:bodyPr>
          <a:lstStyle/>
          <a:p>
            <a:pPr marL="0" indent="0">
              <a:buNone/>
            </a:pPr>
            <a:r>
              <a:rPr lang="en-US" sz="2700" b="1" dirty="0">
                <a:solidFill>
                  <a:srgbClr val="0F172A"/>
                </a:solidFill>
                <a:latin typeface="Arial" pitchFamily="34" charset="0"/>
                <a:ea typeface="Arial" pitchFamily="34" charset="-122"/>
                <a:cs typeface="Arial" pitchFamily="34" charset="-120"/>
              </a:rPr>
              <a:t>Program Kesehatan Kerja bagi Perawat</a:t>
            </a:r>
            <a:endParaRPr lang="en-US" sz="2700" dirty="0"/>
          </a:p>
        </p:txBody>
      </p:sp>
      <p:sp>
        <p:nvSpPr>
          <p:cNvPr id="5" name="Text 3"/>
          <p:cNvSpPr/>
          <p:nvPr/>
        </p:nvSpPr>
        <p:spPr>
          <a:xfrm>
            <a:off x="566928" y="1371600"/>
            <a:ext cx="10881360" cy="384048"/>
          </a:xfrm>
          <a:prstGeom prst="rect">
            <a:avLst/>
          </a:prstGeom>
          <a:noFill/>
          <a:ln/>
        </p:spPr>
        <p:txBody>
          <a:bodyPr wrap="square" lIns="0" tIns="0" rIns="0" bIns="0" rtlCol="0" anchor="ctr">
            <a:normAutofit/>
          </a:bodyPr>
          <a:lstStyle/>
          <a:p>
            <a:pPr marL="0" indent="0">
              <a:buNone/>
            </a:pPr>
            <a:r>
              <a:rPr lang="en-US" sz="1250" dirty="0">
                <a:solidFill>
                  <a:srgbClr val="64748B"/>
                </a:solidFill>
                <a:latin typeface="Arial" pitchFamily="34" charset="0"/>
                <a:ea typeface="Arial" pitchFamily="34" charset="-122"/>
                <a:cs typeface="Arial" pitchFamily="34" charset="-120"/>
              </a:rPr>
              <a:t>Kesehatan kerja tidak berhenti pada pencegahan kecelakaan; program juga menjaga kebugaran, imunitas, dan kemampuan bekerja dengan aman.</a:t>
            </a:r>
            <a:endParaRPr lang="en-US" sz="1250" dirty="0"/>
          </a:p>
        </p:txBody>
      </p:sp>
      <p:sp>
        <p:nvSpPr>
          <p:cNvPr id="6" name="Shape 4"/>
          <p:cNvSpPr/>
          <p:nvPr/>
        </p:nvSpPr>
        <p:spPr>
          <a:xfrm>
            <a:off x="694944" y="1847088"/>
            <a:ext cx="3447288" cy="1490472"/>
          </a:xfrm>
          <a:prstGeom prst="roundRect">
            <a:avLst>
              <a:gd name="adj" fmla="val 4908"/>
            </a:avLst>
          </a:prstGeom>
          <a:solidFill>
            <a:srgbClr val="FFFFFF"/>
          </a:solidFill>
          <a:ln w="10160">
            <a:solidFill>
              <a:srgbClr val="E5E7EB"/>
            </a:solidFill>
            <a:prstDash val="solid"/>
          </a:ln>
        </p:spPr>
      </p:sp>
      <p:sp>
        <p:nvSpPr>
          <p:cNvPr id="7" name="Shape 5"/>
          <p:cNvSpPr/>
          <p:nvPr/>
        </p:nvSpPr>
        <p:spPr>
          <a:xfrm>
            <a:off x="694944" y="1847088"/>
            <a:ext cx="73152" cy="1490472"/>
          </a:xfrm>
          <a:prstGeom prst="rect">
            <a:avLst/>
          </a:prstGeom>
          <a:solidFill>
            <a:srgbClr val="0E7490"/>
          </a:solidFill>
          <a:ln w="12700">
            <a:solidFill>
              <a:srgbClr val="0E7490"/>
            </a:solidFill>
            <a:prstDash val="solid"/>
          </a:ln>
        </p:spPr>
      </p:sp>
      <p:sp>
        <p:nvSpPr>
          <p:cNvPr id="8" name="Shape 6"/>
          <p:cNvSpPr/>
          <p:nvPr/>
        </p:nvSpPr>
        <p:spPr>
          <a:xfrm>
            <a:off x="896112" y="2048256"/>
            <a:ext cx="658368" cy="658368"/>
          </a:xfrm>
          <a:prstGeom prst="ellipse">
            <a:avLst/>
          </a:prstGeom>
          <a:solidFill>
            <a:srgbClr val="F8FAFC"/>
          </a:solidFill>
          <a:ln w="12700">
            <a:solidFill>
              <a:srgbClr val="F8FAFC"/>
            </a:solidFill>
            <a:prstDash val="solid"/>
          </a:ln>
        </p:spPr>
      </p:sp>
      <p:pic>
        <p:nvPicPr>
          <p:cNvPr id="9"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33272" y="2185416"/>
            <a:ext cx="329184" cy="329184"/>
          </a:xfrm>
          <a:prstGeom prst="rect">
            <a:avLst/>
          </a:prstGeom>
        </p:spPr>
      </p:pic>
      <p:sp>
        <p:nvSpPr>
          <p:cNvPr id="10" name="Text 7"/>
          <p:cNvSpPr/>
          <p:nvPr/>
        </p:nvSpPr>
        <p:spPr>
          <a:xfrm>
            <a:off x="1682496" y="2075688"/>
            <a:ext cx="2240280" cy="292608"/>
          </a:xfrm>
          <a:prstGeom prst="rect">
            <a:avLst/>
          </a:prstGeom>
          <a:noFill/>
          <a:ln/>
        </p:spPr>
        <p:txBody>
          <a:bodyPr wrap="square" lIns="0" tIns="0" rIns="0" bIns="0" rtlCol="0" anchor="ctr">
            <a:normAutofit/>
          </a:bodyPr>
          <a:lstStyle/>
          <a:p>
            <a:pPr marL="0" indent="0">
              <a:buNone/>
            </a:pPr>
            <a:r>
              <a:rPr lang="en-US" sz="1350" b="1" dirty="0">
                <a:solidFill>
                  <a:srgbClr val="0F172A"/>
                </a:solidFill>
                <a:latin typeface="Arial" pitchFamily="34" charset="0"/>
                <a:ea typeface="Arial" pitchFamily="34" charset="-122"/>
                <a:cs typeface="Arial" pitchFamily="34" charset="-120"/>
              </a:rPr>
              <a:t>Imunisasi berbasis risiko</a:t>
            </a:r>
            <a:endParaRPr lang="en-US" sz="1350" dirty="0"/>
          </a:p>
        </p:txBody>
      </p:sp>
      <p:sp>
        <p:nvSpPr>
          <p:cNvPr id="11" name="Text 8"/>
          <p:cNvSpPr/>
          <p:nvPr/>
        </p:nvSpPr>
        <p:spPr>
          <a:xfrm>
            <a:off x="950976" y="2596896"/>
            <a:ext cx="2935224" cy="557784"/>
          </a:xfrm>
          <a:prstGeom prst="rect">
            <a:avLst/>
          </a:prstGeom>
          <a:noFill/>
          <a:ln/>
        </p:spPr>
        <p:txBody>
          <a:bodyPr wrap="square" lIns="0" tIns="0" rIns="0" bIns="0" rtlCol="0" anchor="t">
            <a:normAutofit/>
          </a:bodyPr>
          <a:lstStyle/>
          <a:p>
            <a:pPr marL="0" indent="0">
              <a:buNone/>
            </a:pPr>
            <a:r>
              <a:rPr lang="en-US" sz="1080" dirty="0">
                <a:solidFill>
                  <a:srgbClr val="334155"/>
                </a:solidFill>
                <a:latin typeface="Arial" pitchFamily="34" charset="0"/>
                <a:ea typeface="Arial" pitchFamily="34" charset="-122"/>
                <a:cs typeface="Arial" pitchFamily="34" charset="-120"/>
              </a:rPr>
              <a:t>Sesuai paparan pekerjaan dan kebijakan fasilitas.</a:t>
            </a:r>
            <a:endParaRPr lang="en-US" sz="1080" dirty="0"/>
          </a:p>
        </p:txBody>
      </p:sp>
      <p:sp>
        <p:nvSpPr>
          <p:cNvPr id="12" name="Shape 9"/>
          <p:cNvSpPr/>
          <p:nvPr/>
        </p:nvSpPr>
        <p:spPr>
          <a:xfrm>
            <a:off x="4507992" y="1847088"/>
            <a:ext cx="3447288" cy="1490472"/>
          </a:xfrm>
          <a:prstGeom prst="roundRect">
            <a:avLst>
              <a:gd name="adj" fmla="val 4908"/>
            </a:avLst>
          </a:prstGeom>
          <a:solidFill>
            <a:srgbClr val="FFFFFF"/>
          </a:solidFill>
          <a:ln w="10160">
            <a:solidFill>
              <a:srgbClr val="E5E7EB"/>
            </a:solidFill>
            <a:prstDash val="solid"/>
          </a:ln>
        </p:spPr>
      </p:sp>
      <p:sp>
        <p:nvSpPr>
          <p:cNvPr id="13" name="Shape 10"/>
          <p:cNvSpPr/>
          <p:nvPr/>
        </p:nvSpPr>
        <p:spPr>
          <a:xfrm>
            <a:off x="4507992" y="1847088"/>
            <a:ext cx="73152" cy="1490472"/>
          </a:xfrm>
          <a:prstGeom prst="rect">
            <a:avLst/>
          </a:prstGeom>
          <a:solidFill>
            <a:srgbClr val="2563EB"/>
          </a:solidFill>
          <a:ln w="12700">
            <a:solidFill>
              <a:srgbClr val="2563EB"/>
            </a:solidFill>
            <a:prstDash val="solid"/>
          </a:ln>
        </p:spPr>
      </p:sp>
      <p:sp>
        <p:nvSpPr>
          <p:cNvPr id="14" name="Shape 11"/>
          <p:cNvSpPr/>
          <p:nvPr/>
        </p:nvSpPr>
        <p:spPr>
          <a:xfrm>
            <a:off x="4709160" y="2048256"/>
            <a:ext cx="658368" cy="658368"/>
          </a:xfrm>
          <a:prstGeom prst="ellipse">
            <a:avLst/>
          </a:prstGeom>
          <a:solidFill>
            <a:srgbClr val="F8FAFC"/>
          </a:solidFill>
          <a:ln w="12700">
            <a:solidFill>
              <a:srgbClr val="F8FAFC"/>
            </a:solidFill>
            <a:prstDash val="solid"/>
          </a:ln>
        </p:spPr>
      </p:sp>
      <p:pic>
        <p:nvPicPr>
          <p:cNvPr id="15"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846320" y="2185416"/>
            <a:ext cx="329184" cy="329184"/>
          </a:xfrm>
          <a:prstGeom prst="rect">
            <a:avLst/>
          </a:prstGeom>
        </p:spPr>
      </p:pic>
      <p:sp>
        <p:nvSpPr>
          <p:cNvPr id="16" name="Text 12"/>
          <p:cNvSpPr/>
          <p:nvPr/>
        </p:nvSpPr>
        <p:spPr>
          <a:xfrm>
            <a:off x="5495544" y="2075688"/>
            <a:ext cx="2240280" cy="292608"/>
          </a:xfrm>
          <a:prstGeom prst="rect">
            <a:avLst/>
          </a:prstGeom>
          <a:noFill/>
          <a:ln/>
        </p:spPr>
        <p:txBody>
          <a:bodyPr wrap="square" lIns="0" tIns="0" rIns="0" bIns="0" rtlCol="0" anchor="ctr">
            <a:normAutofit/>
          </a:bodyPr>
          <a:lstStyle/>
          <a:p>
            <a:pPr marL="0" indent="0">
              <a:buNone/>
            </a:pPr>
            <a:r>
              <a:rPr lang="en-US" sz="1350" b="1" dirty="0">
                <a:solidFill>
                  <a:srgbClr val="0F172A"/>
                </a:solidFill>
                <a:latin typeface="Arial" pitchFamily="34" charset="0"/>
                <a:ea typeface="Arial" pitchFamily="34" charset="-122"/>
                <a:cs typeface="Arial" pitchFamily="34" charset="-120"/>
              </a:rPr>
              <a:t>Pemeriksaan &amp; surveilans</a:t>
            </a:r>
            <a:endParaRPr lang="en-US" sz="1350" dirty="0"/>
          </a:p>
        </p:txBody>
      </p:sp>
      <p:sp>
        <p:nvSpPr>
          <p:cNvPr id="17" name="Text 13"/>
          <p:cNvSpPr/>
          <p:nvPr/>
        </p:nvSpPr>
        <p:spPr>
          <a:xfrm>
            <a:off x="4764024" y="2596896"/>
            <a:ext cx="2935224" cy="557784"/>
          </a:xfrm>
          <a:prstGeom prst="rect">
            <a:avLst/>
          </a:prstGeom>
          <a:noFill/>
          <a:ln/>
        </p:spPr>
        <p:txBody>
          <a:bodyPr wrap="square" lIns="0" tIns="0" rIns="0" bIns="0" rtlCol="0" anchor="t">
            <a:normAutofit/>
          </a:bodyPr>
          <a:lstStyle/>
          <a:p>
            <a:pPr marL="0" indent="0">
              <a:buNone/>
            </a:pPr>
            <a:r>
              <a:rPr lang="en-US" sz="1080" dirty="0">
                <a:solidFill>
                  <a:srgbClr val="334155"/>
                </a:solidFill>
                <a:latin typeface="Arial" pitchFamily="34" charset="0"/>
                <a:ea typeface="Arial" pitchFamily="34" charset="-122"/>
                <a:cs typeface="Arial" pitchFamily="34" charset="-120"/>
              </a:rPr>
              <a:t>Pemantauan kesehatan terkait pajanan atau risiko tertentu.</a:t>
            </a:r>
            <a:endParaRPr lang="en-US" sz="1080" dirty="0"/>
          </a:p>
        </p:txBody>
      </p:sp>
      <p:sp>
        <p:nvSpPr>
          <p:cNvPr id="18" name="Shape 14"/>
          <p:cNvSpPr/>
          <p:nvPr/>
        </p:nvSpPr>
        <p:spPr>
          <a:xfrm>
            <a:off x="8321040" y="1847088"/>
            <a:ext cx="3447288" cy="1490472"/>
          </a:xfrm>
          <a:prstGeom prst="roundRect">
            <a:avLst>
              <a:gd name="adj" fmla="val 4908"/>
            </a:avLst>
          </a:prstGeom>
          <a:solidFill>
            <a:srgbClr val="FFFFFF"/>
          </a:solidFill>
          <a:ln w="10160">
            <a:solidFill>
              <a:srgbClr val="E5E7EB"/>
            </a:solidFill>
            <a:prstDash val="solid"/>
          </a:ln>
        </p:spPr>
      </p:sp>
      <p:sp>
        <p:nvSpPr>
          <p:cNvPr id="19" name="Shape 15"/>
          <p:cNvSpPr/>
          <p:nvPr/>
        </p:nvSpPr>
        <p:spPr>
          <a:xfrm>
            <a:off x="8321040" y="1847088"/>
            <a:ext cx="73152" cy="1490472"/>
          </a:xfrm>
          <a:prstGeom prst="rect">
            <a:avLst/>
          </a:prstGeom>
          <a:solidFill>
            <a:srgbClr val="059669"/>
          </a:solidFill>
          <a:ln w="12700">
            <a:solidFill>
              <a:srgbClr val="059669"/>
            </a:solidFill>
            <a:prstDash val="solid"/>
          </a:ln>
        </p:spPr>
      </p:sp>
      <p:sp>
        <p:nvSpPr>
          <p:cNvPr id="20" name="Shape 16"/>
          <p:cNvSpPr/>
          <p:nvPr/>
        </p:nvSpPr>
        <p:spPr>
          <a:xfrm>
            <a:off x="8522208" y="2048256"/>
            <a:ext cx="658368" cy="658368"/>
          </a:xfrm>
          <a:prstGeom prst="ellipse">
            <a:avLst/>
          </a:prstGeom>
          <a:solidFill>
            <a:srgbClr val="F8FAFC"/>
          </a:solidFill>
          <a:ln w="12700">
            <a:solidFill>
              <a:srgbClr val="F8FAFC"/>
            </a:solidFill>
            <a:prstDash val="solid"/>
          </a:ln>
        </p:spPr>
      </p:sp>
      <p:pic>
        <p:nvPicPr>
          <p:cNvPr id="21"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659368" y="2185416"/>
            <a:ext cx="329184" cy="329184"/>
          </a:xfrm>
          <a:prstGeom prst="rect">
            <a:avLst/>
          </a:prstGeom>
        </p:spPr>
      </p:pic>
      <p:sp>
        <p:nvSpPr>
          <p:cNvPr id="22" name="Text 17"/>
          <p:cNvSpPr/>
          <p:nvPr/>
        </p:nvSpPr>
        <p:spPr>
          <a:xfrm>
            <a:off x="9308592" y="2075688"/>
            <a:ext cx="2240280" cy="292608"/>
          </a:xfrm>
          <a:prstGeom prst="rect">
            <a:avLst/>
          </a:prstGeom>
          <a:noFill/>
          <a:ln/>
        </p:spPr>
        <p:txBody>
          <a:bodyPr wrap="square" lIns="0" tIns="0" rIns="0" bIns="0" rtlCol="0" anchor="ctr">
            <a:normAutofit/>
          </a:bodyPr>
          <a:lstStyle/>
          <a:p>
            <a:pPr marL="0" indent="0">
              <a:buNone/>
            </a:pPr>
            <a:r>
              <a:rPr lang="en-US" sz="1350" b="1" dirty="0">
                <a:solidFill>
                  <a:srgbClr val="0F172A"/>
                </a:solidFill>
                <a:latin typeface="Arial" pitchFamily="34" charset="0"/>
                <a:ea typeface="Arial" pitchFamily="34" charset="-122"/>
                <a:cs typeface="Arial" pitchFamily="34" charset="-120"/>
              </a:rPr>
              <a:t>Pascapajanan</a:t>
            </a:r>
            <a:endParaRPr lang="en-US" sz="1350" dirty="0"/>
          </a:p>
        </p:txBody>
      </p:sp>
      <p:sp>
        <p:nvSpPr>
          <p:cNvPr id="23" name="Text 18"/>
          <p:cNvSpPr/>
          <p:nvPr/>
        </p:nvSpPr>
        <p:spPr>
          <a:xfrm>
            <a:off x="8577072" y="2596896"/>
            <a:ext cx="2935224" cy="557784"/>
          </a:xfrm>
          <a:prstGeom prst="rect">
            <a:avLst/>
          </a:prstGeom>
          <a:noFill/>
          <a:ln/>
        </p:spPr>
        <p:txBody>
          <a:bodyPr wrap="square" lIns="0" tIns="0" rIns="0" bIns="0" rtlCol="0" anchor="t">
            <a:normAutofit/>
          </a:bodyPr>
          <a:lstStyle/>
          <a:p>
            <a:pPr marL="0" indent="0">
              <a:buNone/>
            </a:pPr>
            <a:r>
              <a:rPr lang="en-US" sz="1080" dirty="0">
                <a:solidFill>
                  <a:srgbClr val="334155"/>
                </a:solidFill>
                <a:latin typeface="Arial" pitchFamily="34" charset="0"/>
                <a:ea typeface="Arial" pitchFamily="34" charset="-122"/>
                <a:cs typeface="Arial" pitchFamily="34" charset="-120"/>
              </a:rPr>
              <a:t>Akses cepat terhadap evaluasi, konseling, terapi, dan follow-up.</a:t>
            </a:r>
            <a:endParaRPr lang="en-US" sz="1080" dirty="0"/>
          </a:p>
        </p:txBody>
      </p:sp>
      <p:sp>
        <p:nvSpPr>
          <p:cNvPr id="24" name="Shape 19"/>
          <p:cNvSpPr/>
          <p:nvPr/>
        </p:nvSpPr>
        <p:spPr>
          <a:xfrm>
            <a:off x="694944" y="3694176"/>
            <a:ext cx="3447288" cy="1490472"/>
          </a:xfrm>
          <a:prstGeom prst="roundRect">
            <a:avLst>
              <a:gd name="adj" fmla="val 4908"/>
            </a:avLst>
          </a:prstGeom>
          <a:solidFill>
            <a:srgbClr val="FFFFFF"/>
          </a:solidFill>
          <a:ln w="10160">
            <a:solidFill>
              <a:srgbClr val="E5E7EB"/>
            </a:solidFill>
            <a:prstDash val="solid"/>
          </a:ln>
        </p:spPr>
      </p:sp>
      <p:sp>
        <p:nvSpPr>
          <p:cNvPr id="25" name="Shape 20"/>
          <p:cNvSpPr/>
          <p:nvPr/>
        </p:nvSpPr>
        <p:spPr>
          <a:xfrm>
            <a:off x="694944" y="3694176"/>
            <a:ext cx="73152" cy="1490472"/>
          </a:xfrm>
          <a:prstGeom prst="rect">
            <a:avLst/>
          </a:prstGeom>
          <a:solidFill>
            <a:srgbClr val="7C3AED"/>
          </a:solidFill>
          <a:ln w="12700">
            <a:solidFill>
              <a:srgbClr val="7C3AED"/>
            </a:solidFill>
            <a:prstDash val="solid"/>
          </a:ln>
        </p:spPr>
      </p:sp>
      <p:sp>
        <p:nvSpPr>
          <p:cNvPr id="26" name="Shape 21"/>
          <p:cNvSpPr/>
          <p:nvPr/>
        </p:nvSpPr>
        <p:spPr>
          <a:xfrm>
            <a:off x="896112" y="3895344"/>
            <a:ext cx="658368" cy="658368"/>
          </a:xfrm>
          <a:prstGeom prst="ellipse">
            <a:avLst/>
          </a:prstGeom>
          <a:solidFill>
            <a:srgbClr val="F8FAFC"/>
          </a:solidFill>
          <a:ln w="12700">
            <a:solidFill>
              <a:srgbClr val="F8FAFC"/>
            </a:solidFill>
            <a:prstDash val="solid"/>
          </a:ln>
        </p:spPr>
      </p:sp>
      <p:pic>
        <p:nvPicPr>
          <p:cNvPr id="27"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033272" y="4032504"/>
            <a:ext cx="329184" cy="329184"/>
          </a:xfrm>
          <a:prstGeom prst="rect">
            <a:avLst/>
          </a:prstGeom>
        </p:spPr>
      </p:pic>
      <p:sp>
        <p:nvSpPr>
          <p:cNvPr id="28" name="Text 22"/>
          <p:cNvSpPr/>
          <p:nvPr/>
        </p:nvSpPr>
        <p:spPr>
          <a:xfrm>
            <a:off x="1682496" y="3922776"/>
            <a:ext cx="2240280" cy="292608"/>
          </a:xfrm>
          <a:prstGeom prst="rect">
            <a:avLst/>
          </a:prstGeom>
          <a:noFill/>
          <a:ln/>
        </p:spPr>
        <p:txBody>
          <a:bodyPr wrap="square" lIns="0" tIns="0" rIns="0" bIns="0" rtlCol="0" anchor="ctr">
            <a:normAutofit/>
          </a:bodyPr>
          <a:lstStyle/>
          <a:p>
            <a:pPr marL="0" indent="0">
              <a:buNone/>
            </a:pPr>
            <a:r>
              <a:rPr lang="en-US" sz="1350" b="1" dirty="0">
                <a:solidFill>
                  <a:srgbClr val="0F172A"/>
                </a:solidFill>
                <a:latin typeface="Arial" pitchFamily="34" charset="0"/>
                <a:ea typeface="Arial" pitchFamily="34" charset="-122"/>
                <a:cs typeface="Arial" pitchFamily="34" charset="-120"/>
              </a:rPr>
              <a:t>Kesehatan mental</a:t>
            </a:r>
            <a:endParaRPr lang="en-US" sz="1350" dirty="0"/>
          </a:p>
        </p:txBody>
      </p:sp>
      <p:sp>
        <p:nvSpPr>
          <p:cNvPr id="29" name="Text 23"/>
          <p:cNvSpPr/>
          <p:nvPr/>
        </p:nvSpPr>
        <p:spPr>
          <a:xfrm>
            <a:off x="950976" y="4443984"/>
            <a:ext cx="2935224" cy="557784"/>
          </a:xfrm>
          <a:prstGeom prst="rect">
            <a:avLst/>
          </a:prstGeom>
          <a:noFill/>
          <a:ln/>
        </p:spPr>
        <p:txBody>
          <a:bodyPr wrap="square" lIns="0" tIns="0" rIns="0" bIns="0" rtlCol="0" anchor="t">
            <a:normAutofit/>
          </a:bodyPr>
          <a:lstStyle/>
          <a:p>
            <a:pPr marL="0" indent="0">
              <a:buNone/>
            </a:pPr>
            <a:r>
              <a:rPr lang="en-US" sz="1080" dirty="0">
                <a:solidFill>
                  <a:srgbClr val="334155"/>
                </a:solidFill>
                <a:latin typeface="Arial" pitchFamily="34" charset="0"/>
                <a:ea typeface="Arial" pitchFamily="34" charset="-122"/>
                <a:cs typeface="Arial" pitchFamily="34" charset="-120"/>
              </a:rPr>
              <a:t>Dukungan psikososial, peer support, akses bantuan profesional.</a:t>
            </a:r>
            <a:endParaRPr lang="en-US" sz="1080" dirty="0"/>
          </a:p>
        </p:txBody>
      </p:sp>
      <p:sp>
        <p:nvSpPr>
          <p:cNvPr id="30" name="Shape 24"/>
          <p:cNvSpPr/>
          <p:nvPr/>
        </p:nvSpPr>
        <p:spPr>
          <a:xfrm>
            <a:off x="4507992" y="3694176"/>
            <a:ext cx="3447288" cy="1490472"/>
          </a:xfrm>
          <a:prstGeom prst="roundRect">
            <a:avLst>
              <a:gd name="adj" fmla="val 4908"/>
            </a:avLst>
          </a:prstGeom>
          <a:solidFill>
            <a:srgbClr val="FFFFFF"/>
          </a:solidFill>
          <a:ln w="10160">
            <a:solidFill>
              <a:srgbClr val="E5E7EB"/>
            </a:solidFill>
            <a:prstDash val="solid"/>
          </a:ln>
        </p:spPr>
      </p:sp>
      <p:sp>
        <p:nvSpPr>
          <p:cNvPr id="31" name="Shape 25"/>
          <p:cNvSpPr/>
          <p:nvPr/>
        </p:nvSpPr>
        <p:spPr>
          <a:xfrm>
            <a:off x="4507992" y="3694176"/>
            <a:ext cx="73152" cy="1490472"/>
          </a:xfrm>
          <a:prstGeom prst="rect">
            <a:avLst/>
          </a:prstGeom>
          <a:solidFill>
            <a:srgbClr val="D97706"/>
          </a:solidFill>
          <a:ln w="12700">
            <a:solidFill>
              <a:srgbClr val="D97706"/>
            </a:solidFill>
            <a:prstDash val="solid"/>
          </a:ln>
        </p:spPr>
      </p:sp>
      <p:sp>
        <p:nvSpPr>
          <p:cNvPr id="32" name="Shape 26"/>
          <p:cNvSpPr/>
          <p:nvPr/>
        </p:nvSpPr>
        <p:spPr>
          <a:xfrm>
            <a:off x="4709160" y="3895344"/>
            <a:ext cx="658368" cy="658368"/>
          </a:xfrm>
          <a:prstGeom prst="ellipse">
            <a:avLst/>
          </a:prstGeom>
          <a:solidFill>
            <a:srgbClr val="F8FAFC"/>
          </a:solidFill>
          <a:ln w="12700">
            <a:solidFill>
              <a:srgbClr val="F8FAFC"/>
            </a:solidFill>
            <a:prstDash val="solid"/>
          </a:ln>
        </p:spPr>
      </p:sp>
      <p:pic>
        <p:nvPicPr>
          <p:cNvPr id="33"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846320" y="4032504"/>
            <a:ext cx="329184" cy="329184"/>
          </a:xfrm>
          <a:prstGeom prst="rect">
            <a:avLst/>
          </a:prstGeom>
        </p:spPr>
      </p:pic>
      <p:sp>
        <p:nvSpPr>
          <p:cNvPr id="34" name="Text 27"/>
          <p:cNvSpPr/>
          <p:nvPr/>
        </p:nvSpPr>
        <p:spPr>
          <a:xfrm>
            <a:off x="5495544" y="3922776"/>
            <a:ext cx="2240280" cy="292608"/>
          </a:xfrm>
          <a:prstGeom prst="rect">
            <a:avLst/>
          </a:prstGeom>
          <a:noFill/>
          <a:ln/>
        </p:spPr>
        <p:txBody>
          <a:bodyPr wrap="square" lIns="0" tIns="0" rIns="0" bIns="0" rtlCol="0" anchor="ctr">
            <a:normAutofit/>
          </a:bodyPr>
          <a:lstStyle/>
          <a:p>
            <a:pPr marL="0" indent="0">
              <a:buNone/>
            </a:pPr>
            <a:r>
              <a:rPr lang="en-US" sz="1350" b="1" dirty="0">
                <a:solidFill>
                  <a:srgbClr val="0F172A"/>
                </a:solidFill>
                <a:latin typeface="Arial" pitchFamily="34" charset="0"/>
                <a:ea typeface="Arial" pitchFamily="34" charset="-122"/>
                <a:cs typeface="Arial" pitchFamily="34" charset="-120"/>
              </a:rPr>
              <a:t>Return-to-work</a:t>
            </a:r>
            <a:endParaRPr lang="en-US" sz="1350" dirty="0"/>
          </a:p>
        </p:txBody>
      </p:sp>
      <p:sp>
        <p:nvSpPr>
          <p:cNvPr id="35" name="Text 28"/>
          <p:cNvSpPr/>
          <p:nvPr/>
        </p:nvSpPr>
        <p:spPr>
          <a:xfrm>
            <a:off x="4764024" y="4443984"/>
            <a:ext cx="2935224" cy="557784"/>
          </a:xfrm>
          <a:prstGeom prst="rect">
            <a:avLst/>
          </a:prstGeom>
          <a:noFill/>
          <a:ln/>
        </p:spPr>
        <p:txBody>
          <a:bodyPr wrap="square" lIns="0" tIns="0" rIns="0" bIns="0" rtlCol="0" anchor="t">
            <a:normAutofit/>
          </a:bodyPr>
          <a:lstStyle/>
          <a:p>
            <a:pPr marL="0" indent="0">
              <a:buNone/>
            </a:pPr>
            <a:r>
              <a:rPr lang="en-US" sz="1080" dirty="0">
                <a:solidFill>
                  <a:srgbClr val="334155"/>
                </a:solidFill>
                <a:latin typeface="Arial" pitchFamily="34" charset="0"/>
                <a:ea typeface="Arial" pitchFamily="34" charset="-122"/>
                <a:cs typeface="Arial" pitchFamily="34" charset="-120"/>
              </a:rPr>
              <a:t>Penyesuaian kerja setelah sakit/cedera berdasarkan kemampuan dan risiko.</a:t>
            </a:r>
            <a:endParaRPr lang="en-US" sz="1080" dirty="0"/>
          </a:p>
        </p:txBody>
      </p:sp>
      <p:sp>
        <p:nvSpPr>
          <p:cNvPr id="36" name="Shape 29"/>
          <p:cNvSpPr/>
          <p:nvPr/>
        </p:nvSpPr>
        <p:spPr>
          <a:xfrm>
            <a:off x="8321040" y="3694176"/>
            <a:ext cx="3447288" cy="1490472"/>
          </a:xfrm>
          <a:prstGeom prst="roundRect">
            <a:avLst>
              <a:gd name="adj" fmla="val 4908"/>
            </a:avLst>
          </a:prstGeom>
          <a:solidFill>
            <a:srgbClr val="FFFFFF"/>
          </a:solidFill>
          <a:ln w="10160">
            <a:solidFill>
              <a:srgbClr val="E5E7EB"/>
            </a:solidFill>
            <a:prstDash val="solid"/>
          </a:ln>
        </p:spPr>
      </p:sp>
      <p:sp>
        <p:nvSpPr>
          <p:cNvPr id="37" name="Shape 30"/>
          <p:cNvSpPr/>
          <p:nvPr/>
        </p:nvSpPr>
        <p:spPr>
          <a:xfrm>
            <a:off x="8321040" y="3694176"/>
            <a:ext cx="73152" cy="1490472"/>
          </a:xfrm>
          <a:prstGeom prst="rect">
            <a:avLst/>
          </a:prstGeom>
          <a:solidFill>
            <a:srgbClr val="0F172A"/>
          </a:solidFill>
          <a:ln w="12700">
            <a:solidFill>
              <a:srgbClr val="0F172A"/>
            </a:solidFill>
            <a:prstDash val="solid"/>
          </a:ln>
        </p:spPr>
      </p:sp>
      <p:sp>
        <p:nvSpPr>
          <p:cNvPr id="38" name="Shape 31"/>
          <p:cNvSpPr/>
          <p:nvPr/>
        </p:nvSpPr>
        <p:spPr>
          <a:xfrm>
            <a:off x="8522208" y="3895344"/>
            <a:ext cx="658368" cy="658368"/>
          </a:xfrm>
          <a:prstGeom prst="ellipse">
            <a:avLst/>
          </a:prstGeom>
          <a:solidFill>
            <a:srgbClr val="F8FAFC"/>
          </a:solidFill>
          <a:ln w="12700">
            <a:solidFill>
              <a:srgbClr val="F8FAFC"/>
            </a:solidFill>
            <a:prstDash val="solid"/>
          </a:ln>
        </p:spPr>
      </p:sp>
      <p:pic>
        <p:nvPicPr>
          <p:cNvPr id="39"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8659368" y="4032504"/>
            <a:ext cx="329184" cy="329184"/>
          </a:xfrm>
          <a:prstGeom prst="rect">
            <a:avLst/>
          </a:prstGeom>
        </p:spPr>
      </p:pic>
      <p:sp>
        <p:nvSpPr>
          <p:cNvPr id="40" name="Text 32"/>
          <p:cNvSpPr/>
          <p:nvPr/>
        </p:nvSpPr>
        <p:spPr>
          <a:xfrm>
            <a:off x="9308592" y="3922776"/>
            <a:ext cx="2240280" cy="292608"/>
          </a:xfrm>
          <a:prstGeom prst="rect">
            <a:avLst/>
          </a:prstGeom>
          <a:noFill/>
          <a:ln/>
        </p:spPr>
        <p:txBody>
          <a:bodyPr wrap="square" lIns="0" tIns="0" rIns="0" bIns="0" rtlCol="0" anchor="ctr">
            <a:normAutofit/>
          </a:bodyPr>
          <a:lstStyle/>
          <a:p>
            <a:pPr marL="0" indent="0">
              <a:buNone/>
            </a:pPr>
            <a:r>
              <a:rPr lang="en-US" sz="1350" b="1" dirty="0">
                <a:solidFill>
                  <a:srgbClr val="0F172A"/>
                </a:solidFill>
                <a:latin typeface="Arial" pitchFamily="34" charset="0"/>
                <a:ea typeface="Arial" pitchFamily="34" charset="-122"/>
                <a:cs typeface="Arial" pitchFamily="34" charset="-120"/>
              </a:rPr>
              <a:t>Edukasi berkelanjutan</a:t>
            </a:r>
            <a:endParaRPr lang="en-US" sz="1350" dirty="0"/>
          </a:p>
        </p:txBody>
      </p:sp>
      <p:sp>
        <p:nvSpPr>
          <p:cNvPr id="41" name="Text 33"/>
          <p:cNvSpPr/>
          <p:nvPr/>
        </p:nvSpPr>
        <p:spPr>
          <a:xfrm>
            <a:off x="8577072" y="4443984"/>
            <a:ext cx="2935224" cy="557784"/>
          </a:xfrm>
          <a:prstGeom prst="rect">
            <a:avLst/>
          </a:prstGeom>
          <a:noFill/>
          <a:ln/>
        </p:spPr>
        <p:txBody>
          <a:bodyPr wrap="square" lIns="0" tIns="0" rIns="0" bIns="0" rtlCol="0" anchor="t">
            <a:normAutofit/>
          </a:bodyPr>
          <a:lstStyle/>
          <a:p>
            <a:pPr marL="0" indent="0">
              <a:buNone/>
            </a:pPr>
            <a:r>
              <a:rPr lang="en-US" sz="1080" dirty="0">
                <a:solidFill>
                  <a:srgbClr val="334155"/>
                </a:solidFill>
                <a:latin typeface="Arial" pitchFamily="34" charset="0"/>
                <a:ea typeface="Arial" pitchFamily="34" charset="-122"/>
                <a:cs typeface="Arial" pitchFamily="34" charset="-120"/>
              </a:rPr>
              <a:t>Refresh K3, simulasi darurat, update SOP, latihan penggunaan alat.</a:t>
            </a:r>
            <a:endParaRPr lang="en-US" sz="1080" dirty="0"/>
          </a:p>
        </p:txBody>
      </p:sp>
      <p:sp>
        <p:nvSpPr>
          <p:cNvPr id="42" name="Slide Number Placeholder 0"/>
          <p:cNvSpPr>
            <a:spLocks noGrp="1"/>
          </p:cNvSpPr>
          <p:nvPr>
            <p:ph type="sldNum" sz="quarter" idx="4294967295"/>
          </p:nvPr>
        </p:nvSpPr>
        <p:spPr>
          <a:xfrm>
            <a:off x="11475720" y="6492240"/>
            <a:ext cx="320040"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64748B"/>
                </a:solidFill>
                <a:latin typeface="Arial"/>
                <a:ea typeface="Arial"/>
                <a:cs typeface="Arial"/>
              </a:defRPr>
            </a:lvl1pPr>
          </a:lstStyle>
          <a:p>
            <a:pPr algn="r"/>
            <a:fld id="{F7021451-1387-4CA6-816F-3879F97B5CBC}" type="slidenum">
              <a:rPr lang="en-US" b="0"/>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566928" y="347472"/>
            <a:ext cx="1417320" cy="310896"/>
          </a:xfrm>
          <a:prstGeom prst="roundRect">
            <a:avLst>
              <a:gd name="adj" fmla="val 23529"/>
            </a:avLst>
          </a:prstGeom>
          <a:solidFill>
            <a:srgbClr val="ECFEFF"/>
          </a:solidFill>
          <a:ln w="12700">
            <a:solidFill>
              <a:srgbClr val="ECFEFF"/>
            </a:solidFill>
            <a:prstDash val="solid"/>
          </a:ln>
        </p:spPr>
      </p:sp>
      <p:sp>
        <p:nvSpPr>
          <p:cNvPr id="3" name="Text 1"/>
          <p:cNvSpPr/>
          <p:nvPr/>
        </p:nvSpPr>
        <p:spPr>
          <a:xfrm>
            <a:off x="694944" y="429768"/>
            <a:ext cx="1170432" cy="128016"/>
          </a:xfrm>
          <a:prstGeom prst="rect">
            <a:avLst/>
          </a:prstGeom>
          <a:noFill/>
          <a:ln/>
        </p:spPr>
        <p:txBody>
          <a:bodyPr wrap="square" lIns="0" tIns="0" rIns="0" bIns="0" rtlCol="0" anchor="ctr"/>
          <a:lstStyle/>
          <a:p>
            <a:pPr marL="0" indent="0" algn="ctr">
              <a:buNone/>
            </a:pPr>
            <a:r>
              <a:rPr lang="en-US" sz="900" b="1" dirty="0">
                <a:solidFill>
                  <a:srgbClr val="0E7490"/>
                </a:solidFill>
                <a:latin typeface="Arial" pitchFamily="34" charset="0"/>
                <a:ea typeface="Arial" pitchFamily="34" charset="-122"/>
                <a:cs typeface="Arial" pitchFamily="34" charset="-120"/>
              </a:rPr>
              <a:t>TUJUAN &amp; MANFAAT</a:t>
            </a:r>
            <a:endParaRPr lang="en-US" sz="900" dirty="0"/>
          </a:p>
        </p:txBody>
      </p:sp>
      <p:sp>
        <p:nvSpPr>
          <p:cNvPr id="4" name="Text 2"/>
          <p:cNvSpPr/>
          <p:nvPr/>
        </p:nvSpPr>
        <p:spPr>
          <a:xfrm>
            <a:off x="566928" y="777240"/>
            <a:ext cx="10972800" cy="566928"/>
          </a:xfrm>
          <a:prstGeom prst="rect">
            <a:avLst/>
          </a:prstGeom>
          <a:noFill/>
          <a:ln/>
        </p:spPr>
        <p:txBody>
          <a:bodyPr wrap="square" lIns="0" tIns="0" rIns="0" bIns="0" rtlCol="0" anchor="ctr">
            <a:normAutofit/>
          </a:bodyPr>
          <a:lstStyle/>
          <a:p>
            <a:pPr marL="0" indent="0">
              <a:buNone/>
            </a:pPr>
            <a:r>
              <a:rPr lang="en-US" sz="2700" b="1" dirty="0">
                <a:solidFill>
                  <a:srgbClr val="0F172A"/>
                </a:solidFill>
                <a:latin typeface="Arial" pitchFamily="34" charset="0"/>
                <a:ea typeface="Arial" pitchFamily="34" charset="-122"/>
                <a:cs typeface="Arial" pitchFamily="34" charset="-120"/>
              </a:rPr>
              <a:t>Tujuan &amp; Manfaat K3 dalam Keperawatan</a:t>
            </a:r>
            <a:endParaRPr lang="en-US" sz="2700" dirty="0"/>
          </a:p>
        </p:txBody>
      </p:sp>
      <p:sp>
        <p:nvSpPr>
          <p:cNvPr id="5" name="Text 3"/>
          <p:cNvSpPr/>
          <p:nvPr/>
        </p:nvSpPr>
        <p:spPr>
          <a:xfrm>
            <a:off x="566928" y="1371600"/>
            <a:ext cx="10881360" cy="384048"/>
          </a:xfrm>
          <a:prstGeom prst="rect">
            <a:avLst/>
          </a:prstGeom>
          <a:noFill/>
          <a:ln/>
        </p:spPr>
        <p:txBody>
          <a:bodyPr wrap="square" lIns="0" tIns="0" rIns="0" bIns="0" rtlCol="0" anchor="ctr">
            <a:normAutofit/>
          </a:bodyPr>
          <a:lstStyle/>
          <a:p>
            <a:pPr marL="0" indent="0">
              <a:buNone/>
            </a:pPr>
            <a:r>
              <a:rPr lang="en-US" sz="1250" dirty="0">
                <a:solidFill>
                  <a:srgbClr val="64748B"/>
                </a:solidFill>
                <a:latin typeface="Arial" pitchFamily="34" charset="0"/>
                <a:ea typeface="Arial" pitchFamily="34" charset="-122"/>
                <a:cs typeface="Arial" pitchFamily="34" charset="-120"/>
              </a:rPr>
              <a:t>K3 yang baik menghasilkan perlindungan individu sekaligus memperkuat mutu layanan dan ketahanan organisasi.</a:t>
            </a:r>
            <a:endParaRPr lang="en-US" sz="1250" dirty="0"/>
          </a:p>
        </p:txBody>
      </p:sp>
      <p:sp>
        <p:nvSpPr>
          <p:cNvPr id="6" name="Shape 4"/>
          <p:cNvSpPr/>
          <p:nvPr/>
        </p:nvSpPr>
        <p:spPr>
          <a:xfrm>
            <a:off x="713232" y="1847088"/>
            <a:ext cx="5257800" cy="3730752"/>
          </a:xfrm>
          <a:prstGeom prst="roundRect">
            <a:avLst>
              <a:gd name="adj" fmla="val 1961"/>
            </a:avLst>
          </a:prstGeom>
          <a:solidFill>
            <a:srgbClr val="ECFEFF"/>
          </a:solidFill>
          <a:ln w="12700">
            <a:solidFill>
              <a:srgbClr val="A5F3FC"/>
            </a:solidFill>
            <a:prstDash val="solid"/>
          </a:ln>
        </p:spPr>
      </p:sp>
      <p:sp>
        <p:nvSpPr>
          <p:cNvPr id="7" name="Shape 5"/>
          <p:cNvSpPr/>
          <p:nvPr/>
        </p:nvSpPr>
        <p:spPr>
          <a:xfrm>
            <a:off x="1060704" y="2157984"/>
            <a:ext cx="658368" cy="658368"/>
          </a:xfrm>
          <a:prstGeom prst="ellipse">
            <a:avLst/>
          </a:prstGeom>
          <a:solidFill>
            <a:srgbClr val="FFFFFF"/>
          </a:solidFill>
          <a:ln w="12700">
            <a:solidFill>
              <a:srgbClr val="FFFFFF"/>
            </a:solidFill>
            <a:prstDash val="solid"/>
          </a:ln>
        </p:spPr>
      </p:sp>
      <p:pic>
        <p:nvPicPr>
          <p:cNvPr id="8"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97864" y="2295144"/>
            <a:ext cx="384048" cy="384048"/>
          </a:xfrm>
          <a:prstGeom prst="rect">
            <a:avLst/>
          </a:prstGeom>
        </p:spPr>
      </p:pic>
      <p:sp>
        <p:nvSpPr>
          <p:cNvPr id="9" name="Text 6"/>
          <p:cNvSpPr/>
          <p:nvPr/>
        </p:nvSpPr>
        <p:spPr>
          <a:xfrm>
            <a:off x="1920240" y="2221992"/>
            <a:ext cx="1371600" cy="292608"/>
          </a:xfrm>
          <a:prstGeom prst="rect">
            <a:avLst/>
          </a:prstGeom>
          <a:noFill/>
          <a:ln/>
        </p:spPr>
        <p:txBody>
          <a:bodyPr wrap="square" lIns="0" tIns="0" rIns="0" bIns="0" rtlCol="0" anchor="ctr"/>
          <a:lstStyle/>
          <a:p>
            <a:pPr marL="0" indent="0">
              <a:buNone/>
            </a:pPr>
            <a:r>
              <a:rPr lang="en-US" sz="1800" b="1" dirty="0">
                <a:solidFill>
                  <a:srgbClr val="0F172A"/>
                </a:solidFill>
              </a:rPr>
              <a:t>TUJUAN</a:t>
            </a:r>
            <a:endParaRPr lang="en-US" sz="1800" dirty="0"/>
          </a:p>
        </p:txBody>
      </p:sp>
      <p:sp>
        <p:nvSpPr>
          <p:cNvPr id="10" name="Text 7"/>
          <p:cNvSpPr/>
          <p:nvPr/>
        </p:nvSpPr>
        <p:spPr>
          <a:xfrm>
            <a:off x="1097280" y="2907792"/>
            <a:ext cx="4434840" cy="2057400"/>
          </a:xfrm>
          <a:prstGeom prst="rect">
            <a:avLst/>
          </a:prstGeom>
          <a:noFill/>
          <a:ln/>
        </p:spPr>
        <p:txBody>
          <a:bodyPr wrap="square" lIns="381" tIns="381" rIns="381" bIns="381" rtlCol="0" anchor="ctr">
            <a:normAutofit/>
          </a:bodyPr>
          <a:lstStyle/>
          <a:p>
            <a:pPr marL="203200" indent="-203200">
              <a:buSzPct val="100000"/>
              <a:buChar char="•"/>
            </a:pPr>
            <a:r>
              <a:rPr lang="en-US" sz="1340" dirty="0">
                <a:solidFill>
                  <a:srgbClr val="334155"/>
                </a:solidFill>
                <a:latin typeface="Arial" pitchFamily="34" charset="0"/>
                <a:ea typeface="Arial" pitchFamily="34" charset="-122"/>
                <a:cs typeface="Arial" pitchFamily="34" charset="-120"/>
              </a:rPr>
              <a:t>Mencegah cedera dan penyakit akibat kerja.</a:t>
            </a:r>
            <a:endParaRPr lang="en-US" sz="1340" dirty="0"/>
          </a:p>
          <a:p>
            <a:pPr marL="203200" indent="-203200">
              <a:buSzPct val="100000"/>
              <a:buChar char="•"/>
            </a:pPr>
            <a:r>
              <a:rPr lang="en-US" sz="1340" dirty="0">
                <a:solidFill>
                  <a:srgbClr val="334155"/>
                </a:solidFill>
                <a:latin typeface="Arial" pitchFamily="34" charset="0"/>
                <a:ea typeface="Arial" pitchFamily="34" charset="-122"/>
                <a:cs typeface="Arial" pitchFamily="34" charset="-120"/>
              </a:rPr>
              <a:t>Mengendalikan pajanan dan kondisi tidak aman.</a:t>
            </a:r>
            <a:endParaRPr lang="en-US" sz="1340" dirty="0"/>
          </a:p>
          <a:p>
            <a:pPr marL="203200" indent="-203200">
              <a:buSzPct val="100000"/>
              <a:buChar char="•"/>
            </a:pPr>
            <a:r>
              <a:rPr lang="en-US" sz="1340" dirty="0">
                <a:solidFill>
                  <a:srgbClr val="334155"/>
                </a:solidFill>
                <a:latin typeface="Arial" pitchFamily="34" charset="0"/>
                <a:ea typeface="Arial" pitchFamily="34" charset="-122"/>
                <a:cs typeface="Arial" pitchFamily="34" charset="-120"/>
              </a:rPr>
              <a:t>Menjaga kemampuan perawat memberikan asuhan secara aman.</a:t>
            </a:r>
            <a:endParaRPr lang="en-US" sz="1340" dirty="0"/>
          </a:p>
          <a:p>
            <a:pPr marL="203200" indent="-203200">
              <a:buSzPct val="100000"/>
              <a:buChar char="•"/>
            </a:pPr>
            <a:r>
              <a:rPr lang="en-US" sz="1340" dirty="0">
                <a:solidFill>
                  <a:srgbClr val="334155"/>
                </a:solidFill>
                <a:latin typeface="Arial" pitchFamily="34" charset="0"/>
                <a:ea typeface="Arial" pitchFamily="34" charset="-122"/>
                <a:cs typeface="Arial" pitchFamily="34" charset="-120"/>
              </a:rPr>
              <a:t>Membangun budaya keselamatan dan kepatuhan.</a:t>
            </a:r>
            <a:endParaRPr lang="en-US" sz="1340" dirty="0"/>
          </a:p>
          <a:p>
            <a:pPr marL="203200" indent="-203200">
              <a:buSzPct val="100000"/>
              <a:buChar char="•"/>
            </a:pPr>
            <a:r>
              <a:rPr lang="en-US" sz="1340" dirty="0">
                <a:solidFill>
                  <a:srgbClr val="334155"/>
                </a:solidFill>
                <a:latin typeface="Arial" pitchFamily="34" charset="0"/>
                <a:ea typeface="Arial" pitchFamily="34" charset="-122"/>
                <a:cs typeface="Arial" pitchFamily="34" charset="-120"/>
              </a:rPr>
              <a:t>Mendukung kontinuitas pelayanan.</a:t>
            </a:r>
            <a:endParaRPr lang="en-US" sz="1340" dirty="0"/>
          </a:p>
        </p:txBody>
      </p:sp>
      <p:sp>
        <p:nvSpPr>
          <p:cNvPr id="11" name="Shape 8"/>
          <p:cNvSpPr/>
          <p:nvPr/>
        </p:nvSpPr>
        <p:spPr>
          <a:xfrm>
            <a:off x="6236208" y="1847088"/>
            <a:ext cx="5257800" cy="3730752"/>
          </a:xfrm>
          <a:prstGeom prst="roundRect">
            <a:avLst>
              <a:gd name="adj" fmla="val 1961"/>
            </a:avLst>
          </a:prstGeom>
          <a:solidFill>
            <a:srgbClr val="D1FAE5"/>
          </a:solidFill>
          <a:ln w="12700">
            <a:solidFill>
              <a:srgbClr val="A7F3D0"/>
            </a:solidFill>
            <a:prstDash val="solid"/>
          </a:ln>
        </p:spPr>
      </p:sp>
      <p:sp>
        <p:nvSpPr>
          <p:cNvPr id="12" name="Shape 9"/>
          <p:cNvSpPr/>
          <p:nvPr/>
        </p:nvSpPr>
        <p:spPr>
          <a:xfrm>
            <a:off x="6583680" y="2157984"/>
            <a:ext cx="658368" cy="658368"/>
          </a:xfrm>
          <a:prstGeom prst="ellipse">
            <a:avLst/>
          </a:prstGeom>
          <a:solidFill>
            <a:srgbClr val="FFFFFF"/>
          </a:solidFill>
          <a:ln w="12700">
            <a:solidFill>
              <a:srgbClr val="FFFFFF"/>
            </a:solidFill>
            <a:prstDash val="solid"/>
          </a:ln>
        </p:spPr>
      </p:sp>
      <p:pic>
        <p:nvPicPr>
          <p:cNvPr id="13"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720840" y="2295144"/>
            <a:ext cx="384048" cy="384048"/>
          </a:xfrm>
          <a:prstGeom prst="rect">
            <a:avLst/>
          </a:prstGeom>
        </p:spPr>
      </p:pic>
      <p:sp>
        <p:nvSpPr>
          <p:cNvPr id="14" name="Text 10"/>
          <p:cNvSpPr/>
          <p:nvPr/>
        </p:nvSpPr>
        <p:spPr>
          <a:xfrm>
            <a:off x="7452360" y="2221992"/>
            <a:ext cx="1737360" cy="292608"/>
          </a:xfrm>
          <a:prstGeom prst="rect">
            <a:avLst/>
          </a:prstGeom>
          <a:noFill/>
          <a:ln/>
        </p:spPr>
        <p:txBody>
          <a:bodyPr wrap="square" lIns="0" tIns="0" rIns="0" bIns="0" rtlCol="0" anchor="ctr"/>
          <a:lstStyle/>
          <a:p>
            <a:pPr marL="0" indent="0">
              <a:buNone/>
            </a:pPr>
            <a:r>
              <a:rPr lang="en-US" sz="1800" b="1" dirty="0">
                <a:solidFill>
                  <a:srgbClr val="0F172A"/>
                </a:solidFill>
              </a:rPr>
              <a:t>MANFAAT</a:t>
            </a:r>
            <a:endParaRPr lang="en-US" sz="1800" dirty="0"/>
          </a:p>
        </p:txBody>
      </p:sp>
      <p:sp>
        <p:nvSpPr>
          <p:cNvPr id="15" name="Text 11"/>
          <p:cNvSpPr/>
          <p:nvPr/>
        </p:nvSpPr>
        <p:spPr>
          <a:xfrm>
            <a:off x="6629400" y="2907792"/>
            <a:ext cx="4434840" cy="2057400"/>
          </a:xfrm>
          <a:prstGeom prst="rect">
            <a:avLst/>
          </a:prstGeom>
          <a:noFill/>
          <a:ln/>
        </p:spPr>
        <p:txBody>
          <a:bodyPr wrap="square" lIns="381" tIns="381" rIns="381" bIns="381" rtlCol="0" anchor="ctr">
            <a:normAutofit/>
          </a:bodyPr>
          <a:lstStyle/>
          <a:p>
            <a:pPr marL="203200" indent="-203200">
              <a:buSzPct val="100000"/>
              <a:buChar char="•"/>
            </a:pPr>
            <a:r>
              <a:rPr lang="en-US" sz="1340" dirty="0">
                <a:solidFill>
                  <a:srgbClr val="334155"/>
                </a:solidFill>
                <a:latin typeface="Arial" pitchFamily="34" charset="0"/>
                <a:ea typeface="Arial" pitchFamily="34" charset="-122"/>
                <a:cs typeface="Arial" pitchFamily="34" charset="-120"/>
              </a:rPr>
              <a:t>Perawat lebih terlindungi dan sehat.</a:t>
            </a:r>
            <a:endParaRPr lang="en-US" sz="1340" dirty="0"/>
          </a:p>
          <a:p>
            <a:pPr marL="203200" indent="-203200">
              <a:buSzPct val="100000"/>
              <a:buChar char="•"/>
            </a:pPr>
            <a:r>
              <a:rPr lang="en-US" sz="1340" dirty="0">
                <a:solidFill>
                  <a:srgbClr val="334155"/>
                </a:solidFill>
                <a:latin typeface="Arial" pitchFamily="34" charset="0"/>
                <a:ea typeface="Arial" pitchFamily="34" charset="-122"/>
                <a:cs typeface="Arial" pitchFamily="34" charset="-120"/>
              </a:rPr>
              <a:t>Risiko kesalahan akibat kelelahan/paparan dapat ditekan.</a:t>
            </a:r>
            <a:endParaRPr lang="en-US" sz="1340" dirty="0"/>
          </a:p>
          <a:p>
            <a:pPr marL="203200" indent="-203200">
              <a:buSzPct val="100000"/>
              <a:buChar char="•"/>
            </a:pPr>
            <a:r>
              <a:rPr lang="en-US" sz="1340" dirty="0">
                <a:solidFill>
                  <a:srgbClr val="334155"/>
                </a:solidFill>
                <a:latin typeface="Arial" pitchFamily="34" charset="0"/>
                <a:ea typeface="Arial" pitchFamily="34" charset="-122"/>
                <a:cs typeface="Arial" pitchFamily="34" charset="-120"/>
              </a:rPr>
              <a:t>Pasien mendapat pelayanan yang lebih aman.</a:t>
            </a:r>
            <a:endParaRPr lang="en-US" sz="1340" dirty="0"/>
          </a:p>
          <a:p>
            <a:pPr marL="203200" indent="-203200">
              <a:buSzPct val="100000"/>
              <a:buChar char="•"/>
            </a:pPr>
            <a:r>
              <a:rPr lang="en-US" sz="1340" dirty="0">
                <a:solidFill>
                  <a:srgbClr val="334155"/>
                </a:solidFill>
                <a:latin typeface="Arial" pitchFamily="34" charset="0"/>
                <a:ea typeface="Arial" pitchFamily="34" charset="-122"/>
                <a:cs typeface="Arial" pitchFamily="34" charset="-120"/>
              </a:rPr>
              <a:t>Absensi, gangguan operasional, dan biaya insiden dapat dikurangi.</a:t>
            </a:r>
            <a:endParaRPr lang="en-US" sz="1340" dirty="0"/>
          </a:p>
          <a:p>
            <a:pPr marL="203200" indent="-203200">
              <a:buSzPct val="100000"/>
              <a:buChar char="•"/>
            </a:pPr>
            <a:r>
              <a:rPr lang="en-US" sz="1340" dirty="0">
                <a:solidFill>
                  <a:srgbClr val="334155"/>
                </a:solidFill>
                <a:latin typeface="Arial" pitchFamily="34" charset="0"/>
                <a:ea typeface="Arial" pitchFamily="34" charset="-122"/>
                <a:cs typeface="Arial" pitchFamily="34" charset="-120"/>
              </a:rPr>
              <a:t>Kepercayaan dan mutu organisasi meningkat.</a:t>
            </a:r>
            <a:endParaRPr lang="en-US" sz="1340" dirty="0"/>
          </a:p>
        </p:txBody>
      </p:sp>
      <p:sp>
        <p:nvSpPr>
          <p:cNvPr id="16" name="Text 12"/>
          <p:cNvSpPr/>
          <p:nvPr/>
        </p:nvSpPr>
        <p:spPr>
          <a:xfrm>
            <a:off x="566928" y="6291072"/>
            <a:ext cx="10698480" cy="164592"/>
          </a:xfrm>
          <a:prstGeom prst="rect">
            <a:avLst/>
          </a:prstGeom>
          <a:noFill/>
          <a:ln/>
        </p:spPr>
        <p:txBody>
          <a:bodyPr wrap="square" lIns="0" tIns="0" rIns="0" bIns="0" rtlCol="0" anchor="ctr">
            <a:normAutofit/>
          </a:bodyPr>
          <a:lstStyle/>
          <a:p>
            <a:pPr marL="0" indent="0">
              <a:buNone/>
            </a:pPr>
            <a:r>
              <a:rPr lang="en-US" sz="730" i="1" dirty="0">
                <a:solidFill>
                  <a:srgbClr val="94A3B8"/>
                </a:solidFill>
                <a:latin typeface="Arial" pitchFamily="34" charset="0"/>
                <a:ea typeface="Arial" pitchFamily="34" charset="-122"/>
                <a:cs typeface="Arial" pitchFamily="34" charset="-120"/>
              </a:rPr>
              <a:t>WHO/ILO: program K3 tenaga kesehatan dapat mencegah penyakit/cedera kerja dan mendukung kualitas serta keselamatan pelayanan.</a:t>
            </a:r>
            <a:endParaRPr lang="en-US" sz="730" dirty="0"/>
          </a:p>
        </p:txBody>
      </p:sp>
      <p:sp>
        <p:nvSpPr>
          <p:cNvPr id="25" name="Slide Number Placeholder 0"/>
          <p:cNvSpPr>
            <a:spLocks noGrp="1"/>
          </p:cNvSpPr>
          <p:nvPr>
            <p:ph type="sldNum" sz="quarter" idx="4294967295"/>
          </p:nvPr>
        </p:nvSpPr>
        <p:spPr>
          <a:xfrm>
            <a:off x="11475720" y="6492240"/>
            <a:ext cx="320040"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64748B"/>
                </a:solidFill>
                <a:latin typeface="Arial"/>
                <a:ea typeface="Arial"/>
                <a:cs typeface="Arial"/>
              </a:defRPr>
            </a:lvl1pPr>
          </a:lstStyle>
          <a:p>
            <a:pPr algn="r"/>
            <a:fld id="{F7021451-1387-4CA6-816F-3879F97B5CBC}" type="slidenum">
              <a:rPr lang="en-US" b="0"/>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566928" y="347472"/>
            <a:ext cx="1417320" cy="310896"/>
          </a:xfrm>
          <a:prstGeom prst="roundRect">
            <a:avLst>
              <a:gd name="adj" fmla="val 23529"/>
            </a:avLst>
          </a:prstGeom>
          <a:solidFill>
            <a:srgbClr val="ECFEFF"/>
          </a:solidFill>
          <a:ln w="12700">
            <a:solidFill>
              <a:srgbClr val="ECFEFF"/>
            </a:solidFill>
            <a:prstDash val="solid"/>
          </a:ln>
        </p:spPr>
      </p:sp>
      <p:sp>
        <p:nvSpPr>
          <p:cNvPr id="3" name="Text 1"/>
          <p:cNvSpPr/>
          <p:nvPr/>
        </p:nvSpPr>
        <p:spPr>
          <a:xfrm>
            <a:off x="694944" y="429768"/>
            <a:ext cx="1170432" cy="128016"/>
          </a:xfrm>
          <a:prstGeom prst="rect">
            <a:avLst/>
          </a:prstGeom>
          <a:noFill/>
          <a:ln/>
        </p:spPr>
        <p:txBody>
          <a:bodyPr wrap="square" lIns="0" tIns="0" rIns="0" bIns="0" rtlCol="0" anchor="ctr"/>
          <a:lstStyle/>
          <a:p>
            <a:pPr marL="0" indent="0" algn="ctr">
              <a:buNone/>
            </a:pPr>
            <a:r>
              <a:rPr lang="en-US" sz="900" b="1" dirty="0">
                <a:solidFill>
                  <a:srgbClr val="0E7490"/>
                </a:solidFill>
                <a:latin typeface="Arial" pitchFamily="34" charset="0"/>
                <a:ea typeface="Arial" pitchFamily="34" charset="-122"/>
                <a:cs typeface="Arial" pitchFamily="34" charset="-120"/>
              </a:rPr>
              <a:t>ETIKA</a:t>
            </a:r>
            <a:endParaRPr lang="en-US" sz="900" dirty="0"/>
          </a:p>
        </p:txBody>
      </p:sp>
      <p:sp>
        <p:nvSpPr>
          <p:cNvPr id="4" name="Text 2"/>
          <p:cNvSpPr/>
          <p:nvPr/>
        </p:nvSpPr>
        <p:spPr>
          <a:xfrm>
            <a:off x="566928" y="777240"/>
            <a:ext cx="10972800" cy="566928"/>
          </a:xfrm>
          <a:prstGeom prst="rect">
            <a:avLst/>
          </a:prstGeom>
          <a:noFill/>
          <a:ln/>
        </p:spPr>
        <p:txBody>
          <a:bodyPr wrap="square" lIns="0" tIns="0" rIns="0" bIns="0" rtlCol="0" anchor="ctr">
            <a:normAutofit/>
          </a:bodyPr>
          <a:lstStyle/>
          <a:p>
            <a:pPr marL="0" indent="0">
              <a:buNone/>
            </a:pPr>
            <a:r>
              <a:rPr lang="en-US" sz="2700" b="1" dirty="0">
                <a:solidFill>
                  <a:srgbClr val="0F172A"/>
                </a:solidFill>
                <a:latin typeface="Arial" pitchFamily="34" charset="0"/>
                <a:ea typeface="Arial" pitchFamily="34" charset="-122"/>
                <a:cs typeface="Arial" pitchFamily="34" charset="-120"/>
              </a:rPr>
              <a:t>Etika K3 dalam Keperawatan</a:t>
            </a:r>
            <a:endParaRPr lang="en-US" sz="2700" dirty="0"/>
          </a:p>
        </p:txBody>
      </p:sp>
      <p:sp>
        <p:nvSpPr>
          <p:cNvPr id="5" name="Text 3"/>
          <p:cNvSpPr/>
          <p:nvPr/>
        </p:nvSpPr>
        <p:spPr>
          <a:xfrm>
            <a:off x="566928" y="1371600"/>
            <a:ext cx="10881360" cy="384048"/>
          </a:xfrm>
          <a:prstGeom prst="rect">
            <a:avLst/>
          </a:prstGeom>
          <a:noFill/>
          <a:ln/>
        </p:spPr>
        <p:txBody>
          <a:bodyPr wrap="square" lIns="0" tIns="0" rIns="0" bIns="0" rtlCol="0" anchor="ctr">
            <a:normAutofit/>
          </a:bodyPr>
          <a:lstStyle/>
          <a:p>
            <a:pPr marL="0" indent="0">
              <a:buNone/>
            </a:pPr>
            <a:r>
              <a:rPr lang="en-US" sz="1250" dirty="0">
                <a:solidFill>
                  <a:srgbClr val="64748B"/>
                </a:solidFill>
                <a:latin typeface="Arial" pitchFamily="34" charset="0"/>
                <a:ea typeface="Arial" pitchFamily="34" charset="-122"/>
                <a:cs typeface="Arial" pitchFamily="34" charset="-120"/>
              </a:rPr>
              <a:t>Keputusan K3 bukan hanya teknis. Perawat perlu mempertimbangkan keselamatan, hak pasien, tanggung jawab profesional, dan keadilan.</a:t>
            </a:r>
            <a:endParaRPr lang="en-US" sz="1250" dirty="0"/>
          </a:p>
        </p:txBody>
      </p:sp>
      <p:sp>
        <p:nvSpPr>
          <p:cNvPr id="6" name="Shape 4"/>
          <p:cNvSpPr/>
          <p:nvPr/>
        </p:nvSpPr>
        <p:spPr>
          <a:xfrm>
            <a:off x="676656" y="1874520"/>
            <a:ext cx="3493008" cy="1517904"/>
          </a:xfrm>
          <a:prstGeom prst="roundRect">
            <a:avLst>
              <a:gd name="adj" fmla="val 4819"/>
            </a:avLst>
          </a:prstGeom>
          <a:solidFill>
            <a:srgbClr val="FFFFFF"/>
          </a:solidFill>
          <a:ln w="12700">
            <a:solidFill>
              <a:srgbClr val="E2E8F0"/>
            </a:solidFill>
            <a:prstDash val="solid"/>
          </a:ln>
        </p:spPr>
      </p:sp>
      <p:sp>
        <p:nvSpPr>
          <p:cNvPr id="7" name="Shape 5"/>
          <p:cNvSpPr/>
          <p:nvPr/>
        </p:nvSpPr>
        <p:spPr>
          <a:xfrm>
            <a:off x="877824" y="2130552"/>
            <a:ext cx="566928" cy="566928"/>
          </a:xfrm>
          <a:prstGeom prst="ellipse">
            <a:avLst/>
          </a:prstGeom>
          <a:solidFill>
            <a:srgbClr val="DC2626"/>
          </a:solidFill>
          <a:ln w="12700">
            <a:solidFill>
              <a:srgbClr val="DC2626"/>
            </a:solidFill>
            <a:prstDash val="solid"/>
          </a:ln>
        </p:spPr>
      </p:sp>
      <p:sp>
        <p:nvSpPr>
          <p:cNvPr id="8" name="Text 6"/>
          <p:cNvSpPr/>
          <p:nvPr/>
        </p:nvSpPr>
        <p:spPr>
          <a:xfrm>
            <a:off x="877824" y="2313432"/>
            <a:ext cx="566928" cy="146304"/>
          </a:xfrm>
          <a:prstGeom prst="rect">
            <a:avLst/>
          </a:prstGeom>
          <a:noFill/>
          <a:ln/>
        </p:spPr>
        <p:txBody>
          <a:bodyPr wrap="square" lIns="0" tIns="0" rIns="0" bIns="0" rtlCol="0" anchor="ctr"/>
          <a:lstStyle/>
          <a:p>
            <a:pPr marL="0" indent="0" algn="ctr">
              <a:buNone/>
            </a:pPr>
            <a:r>
              <a:rPr lang="en-US" sz="1050" b="1" dirty="0">
                <a:solidFill>
                  <a:srgbClr val="FFFFFF"/>
                </a:solidFill>
              </a:rPr>
              <a:t>1</a:t>
            </a:r>
            <a:endParaRPr lang="en-US" sz="1050" dirty="0"/>
          </a:p>
        </p:txBody>
      </p:sp>
      <p:sp>
        <p:nvSpPr>
          <p:cNvPr id="9" name="Text 7"/>
          <p:cNvSpPr/>
          <p:nvPr/>
        </p:nvSpPr>
        <p:spPr>
          <a:xfrm>
            <a:off x="1609344" y="2084832"/>
            <a:ext cx="2249424" cy="310896"/>
          </a:xfrm>
          <a:prstGeom prst="rect">
            <a:avLst/>
          </a:prstGeom>
          <a:noFill/>
          <a:ln/>
        </p:spPr>
        <p:txBody>
          <a:bodyPr wrap="square" lIns="0" tIns="0" rIns="0" bIns="0" rtlCol="0" anchor="ctr">
            <a:normAutofit/>
          </a:bodyPr>
          <a:lstStyle/>
          <a:p>
            <a:pPr marL="0" indent="0">
              <a:buNone/>
            </a:pPr>
            <a:r>
              <a:rPr lang="en-US" sz="1350" b="1" dirty="0">
                <a:solidFill>
                  <a:srgbClr val="0F172A"/>
                </a:solidFill>
              </a:rPr>
              <a:t>Nonmaleficence</a:t>
            </a:r>
            <a:endParaRPr lang="en-US" sz="1350" dirty="0"/>
          </a:p>
        </p:txBody>
      </p:sp>
      <p:sp>
        <p:nvSpPr>
          <p:cNvPr id="10" name="Text 8"/>
          <p:cNvSpPr/>
          <p:nvPr/>
        </p:nvSpPr>
        <p:spPr>
          <a:xfrm>
            <a:off x="1609344" y="2505456"/>
            <a:ext cx="2249424" cy="603504"/>
          </a:xfrm>
          <a:prstGeom prst="rect">
            <a:avLst/>
          </a:prstGeom>
          <a:noFill/>
          <a:ln/>
        </p:spPr>
        <p:txBody>
          <a:bodyPr wrap="square" lIns="0" tIns="0" rIns="0" bIns="0" rtlCol="0" anchor="ctr">
            <a:normAutofit/>
          </a:bodyPr>
          <a:lstStyle/>
          <a:p>
            <a:pPr marL="0" indent="0">
              <a:buNone/>
            </a:pPr>
            <a:r>
              <a:rPr lang="en-US" sz="1090" dirty="0">
                <a:solidFill>
                  <a:srgbClr val="334155"/>
                </a:solidFill>
              </a:rPr>
              <a:t>Jangan menimbulkan bahaya pada diri, pasien, atau orang lain.</a:t>
            </a:r>
            <a:endParaRPr lang="en-US" sz="1090" dirty="0"/>
          </a:p>
        </p:txBody>
      </p:sp>
      <p:sp>
        <p:nvSpPr>
          <p:cNvPr id="11" name="Shape 9"/>
          <p:cNvSpPr/>
          <p:nvPr/>
        </p:nvSpPr>
        <p:spPr>
          <a:xfrm>
            <a:off x="4498848" y="1874520"/>
            <a:ext cx="3493008" cy="1517904"/>
          </a:xfrm>
          <a:prstGeom prst="roundRect">
            <a:avLst>
              <a:gd name="adj" fmla="val 4819"/>
            </a:avLst>
          </a:prstGeom>
          <a:solidFill>
            <a:srgbClr val="FFFFFF"/>
          </a:solidFill>
          <a:ln w="12700">
            <a:solidFill>
              <a:srgbClr val="E2E8F0"/>
            </a:solidFill>
            <a:prstDash val="solid"/>
          </a:ln>
        </p:spPr>
      </p:sp>
      <p:sp>
        <p:nvSpPr>
          <p:cNvPr id="12" name="Shape 10"/>
          <p:cNvSpPr/>
          <p:nvPr/>
        </p:nvSpPr>
        <p:spPr>
          <a:xfrm>
            <a:off x="4700016" y="2130552"/>
            <a:ext cx="566928" cy="566928"/>
          </a:xfrm>
          <a:prstGeom prst="ellipse">
            <a:avLst/>
          </a:prstGeom>
          <a:solidFill>
            <a:srgbClr val="059669"/>
          </a:solidFill>
          <a:ln w="12700">
            <a:solidFill>
              <a:srgbClr val="059669"/>
            </a:solidFill>
            <a:prstDash val="solid"/>
          </a:ln>
        </p:spPr>
      </p:sp>
      <p:sp>
        <p:nvSpPr>
          <p:cNvPr id="13" name="Text 11"/>
          <p:cNvSpPr/>
          <p:nvPr/>
        </p:nvSpPr>
        <p:spPr>
          <a:xfrm>
            <a:off x="4700016" y="2313432"/>
            <a:ext cx="566928" cy="146304"/>
          </a:xfrm>
          <a:prstGeom prst="rect">
            <a:avLst/>
          </a:prstGeom>
          <a:noFill/>
          <a:ln/>
        </p:spPr>
        <p:txBody>
          <a:bodyPr wrap="square" lIns="0" tIns="0" rIns="0" bIns="0" rtlCol="0" anchor="ctr"/>
          <a:lstStyle/>
          <a:p>
            <a:pPr marL="0" indent="0" algn="ctr">
              <a:buNone/>
            </a:pPr>
            <a:r>
              <a:rPr lang="en-US" sz="1050" b="1" dirty="0">
                <a:solidFill>
                  <a:srgbClr val="FFFFFF"/>
                </a:solidFill>
              </a:rPr>
              <a:t>2</a:t>
            </a:r>
            <a:endParaRPr lang="en-US" sz="1050" dirty="0"/>
          </a:p>
        </p:txBody>
      </p:sp>
      <p:sp>
        <p:nvSpPr>
          <p:cNvPr id="14" name="Text 12"/>
          <p:cNvSpPr/>
          <p:nvPr/>
        </p:nvSpPr>
        <p:spPr>
          <a:xfrm>
            <a:off x="5431536" y="2084832"/>
            <a:ext cx="2249424" cy="310896"/>
          </a:xfrm>
          <a:prstGeom prst="rect">
            <a:avLst/>
          </a:prstGeom>
          <a:noFill/>
          <a:ln/>
        </p:spPr>
        <p:txBody>
          <a:bodyPr wrap="square" lIns="0" tIns="0" rIns="0" bIns="0" rtlCol="0" anchor="ctr">
            <a:normAutofit/>
          </a:bodyPr>
          <a:lstStyle/>
          <a:p>
            <a:pPr marL="0" indent="0">
              <a:buNone/>
            </a:pPr>
            <a:r>
              <a:rPr lang="en-US" sz="1350" b="1" dirty="0">
                <a:solidFill>
                  <a:srgbClr val="0F172A"/>
                </a:solidFill>
              </a:rPr>
              <a:t>Beneficence</a:t>
            </a:r>
            <a:endParaRPr lang="en-US" sz="1350" dirty="0"/>
          </a:p>
        </p:txBody>
      </p:sp>
      <p:sp>
        <p:nvSpPr>
          <p:cNvPr id="15" name="Text 13"/>
          <p:cNvSpPr/>
          <p:nvPr/>
        </p:nvSpPr>
        <p:spPr>
          <a:xfrm>
            <a:off x="5431536" y="2505456"/>
            <a:ext cx="2249424" cy="603504"/>
          </a:xfrm>
          <a:prstGeom prst="rect">
            <a:avLst/>
          </a:prstGeom>
          <a:noFill/>
          <a:ln/>
        </p:spPr>
        <p:txBody>
          <a:bodyPr wrap="square" lIns="0" tIns="0" rIns="0" bIns="0" rtlCol="0" anchor="ctr">
            <a:normAutofit/>
          </a:bodyPr>
          <a:lstStyle/>
          <a:p>
            <a:pPr marL="0" indent="0">
              <a:buNone/>
            </a:pPr>
            <a:r>
              <a:rPr lang="en-US" sz="1090" dirty="0">
                <a:solidFill>
                  <a:srgbClr val="334155"/>
                </a:solidFill>
              </a:rPr>
              <a:t>Pilih tindakan yang memberi manfaat keselamatan terbesar.</a:t>
            </a:r>
            <a:endParaRPr lang="en-US" sz="1090" dirty="0"/>
          </a:p>
        </p:txBody>
      </p:sp>
      <p:sp>
        <p:nvSpPr>
          <p:cNvPr id="16" name="Shape 14"/>
          <p:cNvSpPr/>
          <p:nvPr/>
        </p:nvSpPr>
        <p:spPr>
          <a:xfrm>
            <a:off x="8321040" y="1874520"/>
            <a:ext cx="3493008" cy="1517904"/>
          </a:xfrm>
          <a:prstGeom prst="roundRect">
            <a:avLst>
              <a:gd name="adj" fmla="val 4819"/>
            </a:avLst>
          </a:prstGeom>
          <a:solidFill>
            <a:srgbClr val="FFFFFF"/>
          </a:solidFill>
          <a:ln w="12700">
            <a:solidFill>
              <a:srgbClr val="E2E8F0"/>
            </a:solidFill>
            <a:prstDash val="solid"/>
          </a:ln>
        </p:spPr>
      </p:sp>
      <p:sp>
        <p:nvSpPr>
          <p:cNvPr id="17" name="Shape 15"/>
          <p:cNvSpPr/>
          <p:nvPr/>
        </p:nvSpPr>
        <p:spPr>
          <a:xfrm>
            <a:off x="8522208" y="2130552"/>
            <a:ext cx="566928" cy="566928"/>
          </a:xfrm>
          <a:prstGeom prst="ellipse">
            <a:avLst/>
          </a:prstGeom>
          <a:solidFill>
            <a:srgbClr val="2563EB"/>
          </a:solidFill>
          <a:ln w="12700">
            <a:solidFill>
              <a:srgbClr val="2563EB"/>
            </a:solidFill>
            <a:prstDash val="solid"/>
          </a:ln>
        </p:spPr>
      </p:sp>
      <p:sp>
        <p:nvSpPr>
          <p:cNvPr id="18" name="Text 16"/>
          <p:cNvSpPr/>
          <p:nvPr/>
        </p:nvSpPr>
        <p:spPr>
          <a:xfrm>
            <a:off x="8522208" y="2313432"/>
            <a:ext cx="566928" cy="146304"/>
          </a:xfrm>
          <a:prstGeom prst="rect">
            <a:avLst/>
          </a:prstGeom>
          <a:noFill/>
          <a:ln/>
        </p:spPr>
        <p:txBody>
          <a:bodyPr wrap="square" lIns="0" tIns="0" rIns="0" bIns="0" rtlCol="0" anchor="ctr"/>
          <a:lstStyle/>
          <a:p>
            <a:pPr marL="0" indent="0" algn="ctr">
              <a:buNone/>
            </a:pPr>
            <a:r>
              <a:rPr lang="en-US" sz="1050" b="1" dirty="0">
                <a:solidFill>
                  <a:srgbClr val="FFFFFF"/>
                </a:solidFill>
              </a:rPr>
              <a:t>3</a:t>
            </a:r>
            <a:endParaRPr lang="en-US" sz="1050" dirty="0"/>
          </a:p>
        </p:txBody>
      </p:sp>
      <p:sp>
        <p:nvSpPr>
          <p:cNvPr id="19" name="Text 17"/>
          <p:cNvSpPr/>
          <p:nvPr/>
        </p:nvSpPr>
        <p:spPr>
          <a:xfrm>
            <a:off x="9253728" y="2084832"/>
            <a:ext cx="2249424" cy="310896"/>
          </a:xfrm>
          <a:prstGeom prst="rect">
            <a:avLst/>
          </a:prstGeom>
          <a:noFill/>
          <a:ln/>
        </p:spPr>
        <p:txBody>
          <a:bodyPr wrap="square" lIns="0" tIns="0" rIns="0" bIns="0" rtlCol="0" anchor="ctr">
            <a:normAutofit/>
          </a:bodyPr>
          <a:lstStyle/>
          <a:p>
            <a:pPr marL="0" indent="0">
              <a:buNone/>
            </a:pPr>
            <a:r>
              <a:rPr lang="en-US" sz="1350" b="1" dirty="0">
                <a:solidFill>
                  <a:srgbClr val="0F172A"/>
                </a:solidFill>
              </a:rPr>
              <a:t>Autonomy</a:t>
            </a:r>
            <a:endParaRPr lang="en-US" sz="1350" dirty="0"/>
          </a:p>
        </p:txBody>
      </p:sp>
      <p:sp>
        <p:nvSpPr>
          <p:cNvPr id="20" name="Text 18"/>
          <p:cNvSpPr/>
          <p:nvPr/>
        </p:nvSpPr>
        <p:spPr>
          <a:xfrm>
            <a:off x="9253728" y="2505456"/>
            <a:ext cx="2249424" cy="603504"/>
          </a:xfrm>
          <a:prstGeom prst="rect">
            <a:avLst/>
          </a:prstGeom>
          <a:noFill/>
          <a:ln/>
        </p:spPr>
        <p:txBody>
          <a:bodyPr wrap="square" lIns="0" tIns="0" rIns="0" bIns="0" rtlCol="0" anchor="ctr">
            <a:normAutofit/>
          </a:bodyPr>
          <a:lstStyle/>
          <a:p>
            <a:pPr marL="0" indent="0">
              <a:buNone/>
            </a:pPr>
            <a:r>
              <a:rPr lang="en-US" sz="1090" dirty="0">
                <a:solidFill>
                  <a:srgbClr val="334155"/>
                </a:solidFill>
              </a:rPr>
              <a:t>Hormati informasi, persetujuan, dan pilihan pasien selama tetap aman.</a:t>
            </a:r>
            <a:endParaRPr lang="en-US" sz="1090" dirty="0"/>
          </a:p>
        </p:txBody>
      </p:sp>
      <p:sp>
        <p:nvSpPr>
          <p:cNvPr id="21" name="Shape 19"/>
          <p:cNvSpPr/>
          <p:nvPr/>
        </p:nvSpPr>
        <p:spPr>
          <a:xfrm>
            <a:off x="676656" y="3721608"/>
            <a:ext cx="3493008" cy="1517904"/>
          </a:xfrm>
          <a:prstGeom prst="roundRect">
            <a:avLst>
              <a:gd name="adj" fmla="val 4819"/>
            </a:avLst>
          </a:prstGeom>
          <a:solidFill>
            <a:srgbClr val="FFFFFF"/>
          </a:solidFill>
          <a:ln w="12700">
            <a:solidFill>
              <a:srgbClr val="E2E8F0"/>
            </a:solidFill>
            <a:prstDash val="solid"/>
          </a:ln>
        </p:spPr>
      </p:sp>
      <p:sp>
        <p:nvSpPr>
          <p:cNvPr id="22" name="Shape 20"/>
          <p:cNvSpPr/>
          <p:nvPr/>
        </p:nvSpPr>
        <p:spPr>
          <a:xfrm>
            <a:off x="877824" y="3977640"/>
            <a:ext cx="566928" cy="566928"/>
          </a:xfrm>
          <a:prstGeom prst="ellipse">
            <a:avLst/>
          </a:prstGeom>
          <a:solidFill>
            <a:srgbClr val="7C3AED"/>
          </a:solidFill>
          <a:ln w="12700">
            <a:solidFill>
              <a:srgbClr val="7C3AED"/>
            </a:solidFill>
            <a:prstDash val="solid"/>
          </a:ln>
        </p:spPr>
      </p:sp>
      <p:sp>
        <p:nvSpPr>
          <p:cNvPr id="23" name="Text 21"/>
          <p:cNvSpPr/>
          <p:nvPr/>
        </p:nvSpPr>
        <p:spPr>
          <a:xfrm>
            <a:off x="877824" y="4160520"/>
            <a:ext cx="566928" cy="146304"/>
          </a:xfrm>
          <a:prstGeom prst="rect">
            <a:avLst/>
          </a:prstGeom>
          <a:noFill/>
          <a:ln/>
        </p:spPr>
        <p:txBody>
          <a:bodyPr wrap="square" lIns="0" tIns="0" rIns="0" bIns="0" rtlCol="0" anchor="ctr"/>
          <a:lstStyle/>
          <a:p>
            <a:pPr marL="0" indent="0" algn="ctr">
              <a:buNone/>
            </a:pPr>
            <a:r>
              <a:rPr lang="en-US" sz="1050" b="1" dirty="0">
                <a:solidFill>
                  <a:srgbClr val="FFFFFF"/>
                </a:solidFill>
              </a:rPr>
              <a:t>4</a:t>
            </a:r>
            <a:endParaRPr lang="en-US" sz="1050" dirty="0"/>
          </a:p>
        </p:txBody>
      </p:sp>
      <p:sp>
        <p:nvSpPr>
          <p:cNvPr id="24" name="Text 22"/>
          <p:cNvSpPr/>
          <p:nvPr/>
        </p:nvSpPr>
        <p:spPr>
          <a:xfrm>
            <a:off x="1609344" y="3931920"/>
            <a:ext cx="2249424" cy="310896"/>
          </a:xfrm>
          <a:prstGeom prst="rect">
            <a:avLst/>
          </a:prstGeom>
          <a:noFill/>
          <a:ln/>
        </p:spPr>
        <p:txBody>
          <a:bodyPr wrap="square" lIns="0" tIns="0" rIns="0" bIns="0" rtlCol="0" anchor="ctr">
            <a:normAutofit/>
          </a:bodyPr>
          <a:lstStyle/>
          <a:p>
            <a:pPr marL="0" indent="0">
              <a:buNone/>
            </a:pPr>
            <a:r>
              <a:rPr lang="en-US" sz="1350" b="1" dirty="0">
                <a:solidFill>
                  <a:srgbClr val="0F172A"/>
                </a:solidFill>
              </a:rPr>
              <a:t>Justice</a:t>
            </a:r>
            <a:endParaRPr lang="en-US" sz="1350" dirty="0"/>
          </a:p>
        </p:txBody>
      </p:sp>
      <p:sp>
        <p:nvSpPr>
          <p:cNvPr id="25" name="Text 23"/>
          <p:cNvSpPr/>
          <p:nvPr/>
        </p:nvSpPr>
        <p:spPr>
          <a:xfrm>
            <a:off x="1609344" y="4352544"/>
            <a:ext cx="2249424" cy="603504"/>
          </a:xfrm>
          <a:prstGeom prst="rect">
            <a:avLst/>
          </a:prstGeom>
          <a:noFill/>
          <a:ln/>
        </p:spPr>
        <p:txBody>
          <a:bodyPr wrap="square" lIns="0" tIns="0" rIns="0" bIns="0" rtlCol="0" anchor="ctr">
            <a:normAutofit/>
          </a:bodyPr>
          <a:lstStyle/>
          <a:p>
            <a:pPr marL="0" indent="0">
              <a:buNone/>
            </a:pPr>
            <a:r>
              <a:rPr lang="en-US" sz="1090" dirty="0">
                <a:solidFill>
                  <a:srgbClr val="334155"/>
                </a:solidFill>
              </a:rPr>
              <a:t>Perlindungan K3 harus adil untuk semua pekerja dan pasien.</a:t>
            </a:r>
            <a:endParaRPr lang="en-US" sz="1090" dirty="0"/>
          </a:p>
        </p:txBody>
      </p:sp>
      <p:sp>
        <p:nvSpPr>
          <p:cNvPr id="26" name="Shape 24"/>
          <p:cNvSpPr/>
          <p:nvPr/>
        </p:nvSpPr>
        <p:spPr>
          <a:xfrm>
            <a:off x="4498848" y="3721608"/>
            <a:ext cx="3493008" cy="1517904"/>
          </a:xfrm>
          <a:prstGeom prst="roundRect">
            <a:avLst>
              <a:gd name="adj" fmla="val 4819"/>
            </a:avLst>
          </a:prstGeom>
          <a:solidFill>
            <a:srgbClr val="FFFFFF"/>
          </a:solidFill>
          <a:ln w="12700">
            <a:solidFill>
              <a:srgbClr val="E2E8F0"/>
            </a:solidFill>
            <a:prstDash val="solid"/>
          </a:ln>
        </p:spPr>
      </p:sp>
      <p:sp>
        <p:nvSpPr>
          <p:cNvPr id="27" name="Shape 25"/>
          <p:cNvSpPr/>
          <p:nvPr/>
        </p:nvSpPr>
        <p:spPr>
          <a:xfrm>
            <a:off x="4700016" y="3977640"/>
            <a:ext cx="566928" cy="566928"/>
          </a:xfrm>
          <a:prstGeom prst="ellipse">
            <a:avLst/>
          </a:prstGeom>
          <a:solidFill>
            <a:srgbClr val="0E7490"/>
          </a:solidFill>
          <a:ln w="12700">
            <a:solidFill>
              <a:srgbClr val="0E7490"/>
            </a:solidFill>
            <a:prstDash val="solid"/>
          </a:ln>
        </p:spPr>
      </p:sp>
      <p:sp>
        <p:nvSpPr>
          <p:cNvPr id="28" name="Text 26"/>
          <p:cNvSpPr/>
          <p:nvPr/>
        </p:nvSpPr>
        <p:spPr>
          <a:xfrm>
            <a:off x="4700016" y="4160520"/>
            <a:ext cx="566928" cy="146304"/>
          </a:xfrm>
          <a:prstGeom prst="rect">
            <a:avLst/>
          </a:prstGeom>
          <a:noFill/>
          <a:ln/>
        </p:spPr>
        <p:txBody>
          <a:bodyPr wrap="square" lIns="0" tIns="0" rIns="0" bIns="0" rtlCol="0" anchor="ctr"/>
          <a:lstStyle/>
          <a:p>
            <a:pPr marL="0" indent="0" algn="ctr">
              <a:buNone/>
            </a:pPr>
            <a:r>
              <a:rPr lang="en-US" sz="1050" b="1" dirty="0">
                <a:solidFill>
                  <a:srgbClr val="FFFFFF"/>
                </a:solidFill>
              </a:rPr>
              <a:t>5</a:t>
            </a:r>
            <a:endParaRPr lang="en-US" sz="1050" dirty="0"/>
          </a:p>
        </p:txBody>
      </p:sp>
      <p:sp>
        <p:nvSpPr>
          <p:cNvPr id="29" name="Text 27"/>
          <p:cNvSpPr/>
          <p:nvPr/>
        </p:nvSpPr>
        <p:spPr>
          <a:xfrm>
            <a:off x="5431536" y="3931920"/>
            <a:ext cx="2249424" cy="310896"/>
          </a:xfrm>
          <a:prstGeom prst="rect">
            <a:avLst/>
          </a:prstGeom>
          <a:noFill/>
          <a:ln/>
        </p:spPr>
        <p:txBody>
          <a:bodyPr wrap="square" lIns="0" tIns="0" rIns="0" bIns="0" rtlCol="0" anchor="ctr">
            <a:normAutofit/>
          </a:bodyPr>
          <a:lstStyle/>
          <a:p>
            <a:pPr marL="0" indent="0">
              <a:buNone/>
            </a:pPr>
            <a:r>
              <a:rPr lang="en-US" sz="1350" b="1" dirty="0">
                <a:solidFill>
                  <a:srgbClr val="0F172A"/>
                </a:solidFill>
              </a:rPr>
              <a:t>Accountability</a:t>
            </a:r>
            <a:endParaRPr lang="en-US" sz="1350" dirty="0"/>
          </a:p>
        </p:txBody>
      </p:sp>
      <p:sp>
        <p:nvSpPr>
          <p:cNvPr id="30" name="Text 28"/>
          <p:cNvSpPr/>
          <p:nvPr/>
        </p:nvSpPr>
        <p:spPr>
          <a:xfrm>
            <a:off x="5431536" y="4352544"/>
            <a:ext cx="2249424" cy="603504"/>
          </a:xfrm>
          <a:prstGeom prst="rect">
            <a:avLst/>
          </a:prstGeom>
          <a:noFill/>
          <a:ln/>
        </p:spPr>
        <p:txBody>
          <a:bodyPr wrap="square" lIns="0" tIns="0" rIns="0" bIns="0" rtlCol="0" anchor="ctr">
            <a:normAutofit/>
          </a:bodyPr>
          <a:lstStyle/>
          <a:p>
            <a:pPr marL="0" indent="0">
              <a:buNone/>
            </a:pPr>
            <a:r>
              <a:rPr lang="en-US" sz="1090" dirty="0">
                <a:solidFill>
                  <a:srgbClr val="334155"/>
                </a:solidFill>
              </a:rPr>
              <a:t>Ikuti standar, dokumentasikan, laporkan, dan bertanggung jawab atas tindakan.</a:t>
            </a:r>
            <a:endParaRPr lang="en-US" sz="1090" dirty="0"/>
          </a:p>
        </p:txBody>
      </p:sp>
      <p:sp>
        <p:nvSpPr>
          <p:cNvPr id="31" name="Shape 29"/>
          <p:cNvSpPr/>
          <p:nvPr/>
        </p:nvSpPr>
        <p:spPr>
          <a:xfrm>
            <a:off x="8321040" y="3721608"/>
            <a:ext cx="3493008" cy="1517904"/>
          </a:xfrm>
          <a:prstGeom prst="roundRect">
            <a:avLst>
              <a:gd name="adj" fmla="val 4819"/>
            </a:avLst>
          </a:prstGeom>
          <a:solidFill>
            <a:srgbClr val="FFFFFF"/>
          </a:solidFill>
          <a:ln w="12700">
            <a:solidFill>
              <a:srgbClr val="E2E8F0"/>
            </a:solidFill>
            <a:prstDash val="solid"/>
          </a:ln>
        </p:spPr>
      </p:sp>
      <p:sp>
        <p:nvSpPr>
          <p:cNvPr id="32" name="Shape 30"/>
          <p:cNvSpPr/>
          <p:nvPr/>
        </p:nvSpPr>
        <p:spPr>
          <a:xfrm>
            <a:off x="8522208" y="3977640"/>
            <a:ext cx="566928" cy="566928"/>
          </a:xfrm>
          <a:prstGeom prst="ellipse">
            <a:avLst/>
          </a:prstGeom>
          <a:solidFill>
            <a:srgbClr val="D97706"/>
          </a:solidFill>
          <a:ln w="12700">
            <a:solidFill>
              <a:srgbClr val="D97706"/>
            </a:solidFill>
            <a:prstDash val="solid"/>
          </a:ln>
        </p:spPr>
      </p:sp>
      <p:sp>
        <p:nvSpPr>
          <p:cNvPr id="33" name="Text 31"/>
          <p:cNvSpPr/>
          <p:nvPr/>
        </p:nvSpPr>
        <p:spPr>
          <a:xfrm>
            <a:off x="8522208" y="4160520"/>
            <a:ext cx="566928" cy="146304"/>
          </a:xfrm>
          <a:prstGeom prst="rect">
            <a:avLst/>
          </a:prstGeom>
          <a:noFill/>
          <a:ln/>
        </p:spPr>
        <p:txBody>
          <a:bodyPr wrap="square" lIns="0" tIns="0" rIns="0" bIns="0" rtlCol="0" anchor="ctr"/>
          <a:lstStyle/>
          <a:p>
            <a:pPr marL="0" indent="0" algn="ctr">
              <a:buNone/>
            </a:pPr>
            <a:r>
              <a:rPr lang="en-US" sz="1050" b="1" dirty="0">
                <a:solidFill>
                  <a:srgbClr val="FFFFFF"/>
                </a:solidFill>
              </a:rPr>
              <a:t>6</a:t>
            </a:r>
            <a:endParaRPr lang="en-US" sz="1050" dirty="0"/>
          </a:p>
        </p:txBody>
      </p:sp>
      <p:sp>
        <p:nvSpPr>
          <p:cNvPr id="34" name="Text 32"/>
          <p:cNvSpPr/>
          <p:nvPr/>
        </p:nvSpPr>
        <p:spPr>
          <a:xfrm>
            <a:off x="9253728" y="3931920"/>
            <a:ext cx="2249424" cy="310896"/>
          </a:xfrm>
          <a:prstGeom prst="rect">
            <a:avLst/>
          </a:prstGeom>
          <a:noFill/>
          <a:ln/>
        </p:spPr>
        <p:txBody>
          <a:bodyPr wrap="square" lIns="0" tIns="0" rIns="0" bIns="0" rtlCol="0" anchor="ctr">
            <a:normAutofit/>
          </a:bodyPr>
          <a:lstStyle/>
          <a:p>
            <a:pPr marL="0" indent="0">
              <a:buNone/>
            </a:pPr>
            <a:r>
              <a:rPr lang="en-US" sz="1350" b="1" dirty="0">
                <a:solidFill>
                  <a:srgbClr val="0F172A"/>
                </a:solidFill>
              </a:rPr>
              <a:t>Confidentiality</a:t>
            </a:r>
            <a:endParaRPr lang="en-US" sz="1350" dirty="0"/>
          </a:p>
        </p:txBody>
      </p:sp>
      <p:sp>
        <p:nvSpPr>
          <p:cNvPr id="35" name="Text 33"/>
          <p:cNvSpPr/>
          <p:nvPr/>
        </p:nvSpPr>
        <p:spPr>
          <a:xfrm>
            <a:off x="9253728" y="4352544"/>
            <a:ext cx="2249424" cy="603504"/>
          </a:xfrm>
          <a:prstGeom prst="rect">
            <a:avLst/>
          </a:prstGeom>
          <a:noFill/>
          <a:ln/>
        </p:spPr>
        <p:txBody>
          <a:bodyPr wrap="square" lIns="0" tIns="0" rIns="0" bIns="0" rtlCol="0" anchor="ctr">
            <a:normAutofit/>
          </a:bodyPr>
          <a:lstStyle/>
          <a:p>
            <a:pPr marL="0" indent="0">
              <a:buNone/>
            </a:pPr>
            <a:r>
              <a:rPr lang="en-US" sz="1090" dirty="0">
                <a:solidFill>
                  <a:srgbClr val="334155"/>
                </a:solidFill>
              </a:rPr>
              <a:t>Jaga kerahasiaan informasi kesehatan pekerja/pasien saat pelaporan dan tindak lanjut.</a:t>
            </a:r>
            <a:endParaRPr lang="en-US" sz="1090" dirty="0"/>
          </a:p>
        </p:txBody>
      </p:sp>
      <p:sp>
        <p:nvSpPr>
          <p:cNvPr id="36" name="Slide Number Placeholder 0"/>
          <p:cNvSpPr>
            <a:spLocks noGrp="1"/>
          </p:cNvSpPr>
          <p:nvPr>
            <p:ph type="sldNum" sz="quarter" idx="4294967295"/>
          </p:nvPr>
        </p:nvSpPr>
        <p:spPr>
          <a:xfrm>
            <a:off x="11475720" y="6492240"/>
            <a:ext cx="320040"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64748B"/>
                </a:solidFill>
                <a:latin typeface="Arial"/>
                <a:ea typeface="Arial"/>
                <a:cs typeface="Arial"/>
              </a:defRPr>
            </a:lvl1pPr>
          </a:lstStyle>
          <a:p>
            <a:pPr algn="r"/>
            <a:fld id="{F7021451-1387-4CA6-816F-3879F97B5CBC}" type="slidenum">
              <a:rPr lang="en-US" b="0"/>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hape 0"/>
          <p:cNvSpPr/>
          <p:nvPr/>
        </p:nvSpPr>
        <p:spPr>
          <a:xfrm>
            <a:off x="566928" y="347472"/>
            <a:ext cx="1417320" cy="310896"/>
          </a:xfrm>
          <a:prstGeom prst="roundRect">
            <a:avLst>
              <a:gd name="adj" fmla="val 23529"/>
            </a:avLst>
          </a:prstGeom>
          <a:solidFill>
            <a:srgbClr val="ECFEFF"/>
          </a:solidFill>
          <a:ln w="12700">
            <a:solidFill>
              <a:srgbClr val="ECFEFF"/>
            </a:solidFill>
            <a:prstDash val="solid"/>
          </a:ln>
        </p:spPr>
      </p:sp>
      <p:sp>
        <p:nvSpPr>
          <p:cNvPr id="3" name="Text 1"/>
          <p:cNvSpPr/>
          <p:nvPr/>
        </p:nvSpPr>
        <p:spPr>
          <a:xfrm>
            <a:off x="694944" y="429768"/>
            <a:ext cx="1170432" cy="128016"/>
          </a:xfrm>
          <a:prstGeom prst="rect">
            <a:avLst/>
          </a:prstGeom>
          <a:noFill/>
          <a:ln/>
        </p:spPr>
        <p:txBody>
          <a:bodyPr wrap="square" lIns="0" tIns="0" rIns="0" bIns="0" rtlCol="0" anchor="ctr"/>
          <a:lstStyle/>
          <a:p>
            <a:pPr marL="0" indent="0" algn="ctr">
              <a:buNone/>
            </a:pPr>
            <a:r>
              <a:rPr lang="en-US" sz="900" b="1" dirty="0">
                <a:solidFill>
                  <a:srgbClr val="0E7490"/>
                </a:solidFill>
                <a:latin typeface="Arial" pitchFamily="34" charset="0"/>
                <a:ea typeface="Arial" pitchFamily="34" charset="-122"/>
                <a:cs typeface="Arial" pitchFamily="34" charset="-120"/>
              </a:rPr>
              <a:t>ETIKA</a:t>
            </a:r>
            <a:endParaRPr lang="en-US" sz="900" dirty="0"/>
          </a:p>
        </p:txBody>
      </p:sp>
      <p:sp>
        <p:nvSpPr>
          <p:cNvPr id="4" name="Text 2"/>
          <p:cNvSpPr/>
          <p:nvPr/>
        </p:nvSpPr>
        <p:spPr>
          <a:xfrm>
            <a:off x="566928" y="777240"/>
            <a:ext cx="10972800" cy="566928"/>
          </a:xfrm>
          <a:prstGeom prst="rect">
            <a:avLst/>
          </a:prstGeom>
          <a:noFill/>
          <a:ln/>
        </p:spPr>
        <p:txBody>
          <a:bodyPr wrap="square" lIns="0" tIns="0" rIns="0" bIns="0" rtlCol="0" anchor="ctr">
            <a:normAutofit/>
          </a:bodyPr>
          <a:lstStyle/>
          <a:p>
            <a:pPr marL="0" indent="0">
              <a:buNone/>
            </a:pPr>
            <a:r>
              <a:rPr lang="en-US" sz="2700" b="1" dirty="0">
                <a:solidFill>
                  <a:srgbClr val="0F172A"/>
                </a:solidFill>
                <a:latin typeface="Arial" pitchFamily="34" charset="0"/>
                <a:ea typeface="Arial" pitchFamily="34" charset="-122"/>
                <a:cs typeface="Arial" pitchFamily="34" charset="-120"/>
              </a:rPr>
              <a:t>Dilema Etik K3: Apa yang Dilakukan?</a:t>
            </a:r>
            <a:endParaRPr lang="en-US" sz="2700" dirty="0"/>
          </a:p>
        </p:txBody>
      </p:sp>
      <p:sp>
        <p:nvSpPr>
          <p:cNvPr id="5" name="Text 3"/>
          <p:cNvSpPr/>
          <p:nvPr/>
        </p:nvSpPr>
        <p:spPr>
          <a:xfrm>
            <a:off x="566928" y="1371600"/>
            <a:ext cx="10881360" cy="384048"/>
          </a:xfrm>
          <a:prstGeom prst="rect">
            <a:avLst/>
          </a:prstGeom>
          <a:noFill/>
          <a:ln/>
        </p:spPr>
        <p:txBody>
          <a:bodyPr wrap="square" lIns="0" tIns="0" rIns="0" bIns="0" rtlCol="0" anchor="ctr">
            <a:normAutofit/>
          </a:bodyPr>
          <a:lstStyle/>
          <a:p>
            <a:pPr marL="0" indent="0">
              <a:buNone/>
            </a:pPr>
            <a:r>
              <a:rPr lang="en-US" sz="1250" dirty="0">
                <a:solidFill>
                  <a:srgbClr val="64748B"/>
                </a:solidFill>
                <a:latin typeface="Arial" pitchFamily="34" charset="0"/>
                <a:ea typeface="Arial" pitchFamily="34" charset="-122"/>
                <a:cs typeface="Arial" pitchFamily="34" charset="-120"/>
              </a:rPr>
              <a:t>Latihan refleksi: keseimbangan antara kebutuhan pelayanan, keselamatan pekerja, dan keselamatan pasien.</a:t>
            </a:r>
            <a:endParaRPr lang="en-US" sz="1250" dirty="0"/>
          </a:p>
        </p:txBody>
      </p:sp>
      <p:sp>
        <p:nvSpPr>
          <p:cNvPr id="6" name="Shape 4"/>
          <p:cNvSpPr/>
          <p:nvPr/>
        </p:nvSpPr>
        <p:spPr>
          <a:xfrm>
            <a:off x="713232" y="1847088"/>
            <a:ext cx="4846320" cy="3584448"/>
          </a:xfrm>
          <a:prstGeom prst="roundRect">
            <a:avLst>
              <a:gd name="adj" fmla="val 2041"/>
            </a:avLst>
          </a:prstGeom>
          <a:solidFill>
            <a:srgbClr val="FFF7ED"/>
          </a:solidFill>
          <a:ln w="12700">
            <a:solidFill>
              <a:srgbClr val="FED7AA"/>
            </a:solidFill>
            <a:prstDash val="solid"/>
          </a:ln>
        </p:spPr>
      </p:sp>
      <p:sp>
        <p:nvSpPr>
          <p:cNvPr id="7" name="Shape 5"/>
          <p:cNvSpPr/>
          <p:nvPr/>
        </p:nvSpPr>
        <p:spPr>
          <a:xfrm>
            <a:off x="1042416" y="2176272"/>
            <a:ext cx="658368" cy="658368"/>
          </a:xfrm>
          <a:prstGeom prst="ellipse">
            <a:avLst/>
          </a:prstGeom>
          <a:solidFill>
            <a:srgbClr val="FFFFFF"/>
          </a:solidFill>
          <a:ln w="12700">
            <a:solidFill>
              <a:srgbClr val="FFFFFF"/>
            </a:solidFill>
            <a:prstDash val="solid"/>
          </a:ln>
        </p:spPr>
      </p:sp>
      <p:pic>
        <p:nvPicPr>
          <p:cNvPr id="8"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79576" y="2313432"/>
            <a:ext cx="384048" cy="384048"/>
          </a:xfrm>
          <a:prstGeom prst="rect">
            <a:avLst/>
          </a:prstGeom>
        </p:spPr>
      </p:pic>
      <p:sp>
        <p:nvSpPr>
          <p:cNvPr id="9" name="Text 6"/>
          <p:cNvSpPr/>
          <p:nvPr/>
        </p:nvSpPr>
        <p:spPr>
          <a:xfrm>
            <a:off x="1883664" y="2240280"/>
            <a:ext cx="1463040" cy="274320"/>
          </a:xfrm>
          <a:prstGeom prst="rect">
            <a:avLst/>
          </a:prstGeom>
          <a:noFill/>
          <a:ln/>
        </p:spPr>
        <p:txBody>
          <a:bodyPr wrap="square" lIns="0" tIns="0" rIns="0" bIns="0" rtlCol="0" anchor="ctr"/>
          <a:lstStyle/>
          <a:p>
            <a:pPr marL="0" indent="0">
              <a:buNone/>
            </a:pPr>
            <a:r>
              <a:rPr lang="en-US" sz="1700" b="1" dirty="0">
                <a:solidFill>
                  <a:srgbClr val="0F172A"/>
                </a:solidFill>
              </a:rPr>
              <a:t>SKENARIO</a:t>
            </a:r>
            <a:endParaRPr lang="en-US" sz="1700" dirty="0"/>
          </a:p>
        </p:txBody>
      </p:sp>
      <p:sp>
        <p:nvSpPr>
          <p:cNvPr id="10" name="Text 7"/>
          <p:cNvSpPr/>
          <p:nvPr/>
        </p:nvSpPr>
        <p:spPr>
          <a:xfrm>
            <a:off x="1060704" y="2926080"/>
            <a:ext cx="4160520" cy="1581912"/>
          </a:xfrm>
          <a:prstGeom prst="rect">
            <a:avLst/>
          </a:prstGeom>
          <a:noFill/>
          <a:ln/>
        </p:spPr>
        <p:txBody>
          <a:bodyPr wrap="square" lIns="0" tIns="0" rIns="0" bIns="0" rtlCol="0" anchor="ctr">
            <a:normAutofit/>
          </a:bodyPr>
          <a:lstStyle/>
          <a:p>
            <a:pPr marL="0" indent="0">
              <a:buNone/>
            </a:pPr>
            <a:r>
              <a:rPr lang="en-US" sz="1420" dirty="0">
                <a:solidFill>
                  <a:srgbClr val="334155"/>
                </a:solidFill>
              </a:rPr>
              <a:t>Seorang perawat telah bekerja melewati durasi shift normal karena kekurangan staf. Ia diminta melanjutkan tugas dan menyiapkan obat berisiko tinggi untuk beberapa pasien sekaligus. Perawat merasa sangat lelah dan khawatir melakukan kesalahan.</a:t>
            </a:r>
            <a:endParaRPr lang="en-US" sz="1420" dirty="0"/>
          </a:p>
        </p:txBody>
      </p:sp>
      <p:sp>
        <p:nvSpPr>
          <p:cNvPr id="11" name="Text 8"/>
          <p:cNvSpPr/>
          <p:nvPr/>
        </p:nvSpPr>
        <p:spPr>
          <a:xfrm>
            <a:off x="1078992" y="4773168"/>
            <a:ext cx="4096512" cy="320040"/>
          </a:xfrm>
          <a:prstGeom prst="rect">
            <a:avLst/>
          </a:prstGeom>
          <a:noFill/>
          <a:ln/>
        </p:spPr>
        <p:txBody>
          <a:bodyPr wrap="square" lIns="0" tIns="0" rIns="0" bIns="0" rtlCol="0" anchor="ctr"/>
          <a:lstStyle/>
          <a:p>
            <a:pPr marL="0" indent="0" algn="ctr">
              <a:buNone/>
            </a:pPr>
            <a:r>
              <a:rPr lang="en-US" sz="1500" b="1" dirty="0">
                <a:solidFill>
                  <a:srgbClr val="D97706"/>
                </a:solidFill>
              </a:rPr>
              <a:t>Apa tindakan yang paling aman dan etis?</a:t>
            </a:r>
            <a:endParaRPr lang="en-US" sz="1500" dirty="0"/>
          </a:p>
        </p:txBody>
      </p:sp>
      <p:sp>
        <p:nvSpPr>
          <p:cNvPr id="12" name="Shape 9"/>
          <p:cNvSpPr/>
          <p:nvPr/>
        </p:nvSpPr>
        <p:spPr>
          <a:xfrm>
            <a:off x="5925312" y="1847088"/>
            <a:ext cx="5349240" cy="3584448"/>
          </a:xfrm>
          <a:prstGeom prst="roundRect">
            <a:avLst>
              <a:gd name="adj" fmla="val 2041"/>
            </a:avLst>
          </a:prstGeom>
          <a:solidFill>
            <a:srgbClr val="ECFEFF"/>
          </a:solidFill>
          <a:ln w="12700">
            <a:solidFill>
              <a:srgbClr val="A5F3FC"/>
            </a:solidFill>
            <a:prstDash val="solid"/>
          </a:ln>
        </p:spPr>
      </p:sp>
      <p:sp>
        <p:nvSpPr>
          <p:cNvPr id="13" name="Text 10"/>
          <p:cNvSpPr/>
          <p:nvPr/>
        </p:nvSpPr>
        <p:spPr>
          <a:xfrm>
            <a:off x="6309360" y="2221992"/>
            <a:ext cx="2423160" cy="310896"/>
          </a:xfrm>
          <a:prstGeom prst="rect">
            <a:avLst/>
          </a:prstGeom>
          <a:noFill/>
          <a:ln/>
        </p:spPr>
        <p:txBody>
          <a:bodyPr wrap="square" lIns="0" tIns="0" rIns="0" bIns="0" rtlCol="0" anchor="ctr"/>
          <a:lstStyle/>
          <a:p>
            <a:pPr marL="0" indent="0">
              <a:buNone/>
            </a:pPr>
            <a:r>
              <a:rPr lang="en-US" sz="1700" b="1" dirty="0">
                <a:solidFill>
                  <a:srgbClr val="0F172A"/>
                </a:solidFill>
              </a:rPr>
              <a:t>LANGKAH REFLEKTIF</a:t>
            </a:r>
            <a:endParaRPr lang="en-US" sz="1700" dirty="0"/>
          </a:p>
        </p:txBody>
      </p:sp>
      <p:sp>
        <p:nvSpPr>
          <p:cNvPr id="14" name="Text 11"/>
          <p:cNvSpPr/>
          <p:nvPr/>
        </p:nvSpPr>
        <p:spPr>
          <a:xfrm>
            <a:off x="6309360" y="2834640"/>
            <a:ext cx="4526280" cy="2121408"/>
          </a:xfrm>
          <a:prstGeom prst="rect">
            <a:avLst/>
          </a:prstGeom>
          <a:noFill/>
          <a:ln/>
        </p:spPr>
        <p:txBody>
          <a:bodyPr wrap="square" lIns="381" tIns="381" rIns="381" bIns="381" rtlCol="0" anchor="ctr">
            <a:normAutofit/>
          </a:bodyPr>
          <a:lstStyle/>
          <a:p>
            <a:pPr marL="203200" indent="-203200">
              <a:buSzPct val="100000"/>
              <a:buChar char="•"/>
            </a:pPr>
            <a:r>
              <a:rPr lang="en-US" sz="1250" dirty="0">
                <a:solidFill>
                  <a:srgbClr val="334155"/>
                </a:solidFill>
                <a:latin typeface="Arial" pitchFamily="34" charset="0"/>
                <a:ea typeface="Arial" pitchFamily="34" charset="-122"/>
                <a:cs typeface="Arial" pitchFamily="34" charset="-120"/>
              </a:rPr>
              <a:t>Akui kelelahan sebagai risiko K3 dan keselamatan pasien.</a:t>
            </a:r>
            <a:endParaRPr lang="en-US" sz="1250" dirty="0"/>
          </a:p>
          <a:p>
            <a:pPr marL="203200" indent="-203200">
              <a:buSzPct val="100000"/>
              <a:buChar char="•"/>
            </a:pPr>
            <a:r>
              <a:rPr lang="en-US" sz="1250" dirty="0">
                <a:solidFill>
                  <a:srgbClr val="334155"/>
                </a:solidFill>
                <a:latin typeface="Arial" pitchFamily="34" charset="0"/>
                <a:ea typeface="Arial" pitchFamily="34" charset="-122"/>
                <a:cs typeface="Arial" pitchFamily="34" charset="-120"/>
              </a:rPr>
              <a:t>Komunikasikan kondisi secara profesional kepada penanggung jawab/supervisor.</a:t>
            </a:r>
            <a:endParaRPr lang="en-US" sz="1250" dirty="0"/>
          </a:p>
          <a:p>
            <a:pPr marL="203200" indent="-203200">
              <a:buSzPct val="100000"/>
              <a:buChar char="•"/>
            </a:pPr>
            <a:r>
              <a:rPr lang="en-US" sz="1250" dirty="0">
                <a:solidFill>
                  <a:srgbClr val="334155"/>
                </a:solidFill>
                <a:latin typeface="Arial" pitchFamily="34" charset="0"/>
                <a:ea typeface="Arial" pitchFamily="34" charset="-122"/>
                <a:cs typeface="Arial" pitchFamily="34" charset="-120"/>
              </a:rPr>
              <a:t>Minta redistribusi tugas atau dukungan sebelum tindakan berisiko tinggi.</a:t>
            </a:r>
            <a:endParaRPr lang="en-US" sz="1250" dirty="0"/>
          </a:p>
          <a:p>
            <a:pPr marL="203200" indent="-203200">
              <a:buSzPct val="100000"/>
              <a:buChar char="•"/>
            </a:pPr>
            <a:r>
              <a:rPr lang="en-US" sz="1250" dirty="0">
                <a:solidFill>
                  <a:srgbClr val="334155"/>
                </a:solidFill>
                <a:latin typeface="Arial" pitchFamily="34" charset="0"/>
                <a:ea typeface="Arial" pitchFamily="34" charset="-122"/>
                <a:cs typeface="Arial" pitchFamily="34" charset="-120"/>
              </a:rPr>
              <a:t>Gunakan double-check/independent verification sesuai SOP.</a:t>
            </a:r>
            <a:endParaRPr lang="en-US" sz="1250" dirty="0"/>
          </a:p>
          <a:p>
            <a:pPr marL="203200" indent="-203200">
              <a:buSzPct val="100000"/>
              <a:buChar char="•"/>
            </a:pPr>
            <a:r>
              <a:rPr lang="en-US" sz="1250" dirty="0">
                <a:solidFill>
                  <a:srgbClr val="334155"/>
                </a:solidFill>
                <a:latin typeface="Arial" pitchFamily="34" charset="0"/>
                <a:ea typeface="Arial" pitchFamily="34" charset="-122"/>
                <a:cs typeface="Arial" pitchFamily="34" charset="-120"/>
              </a:rPr>
              <a:t>Dokumentasikan dan eskalasi kondisi kerja tidak aman melalui jalur yang tersedia.</a:t>
            </a:r>
            <a:endParaRPr lang="en-US" sz="1250" dirty="0"/>
          </a:p>
        </p:txBody>
      </p:sp>
      <p:sp>
        <p:nvSpPr>
          <p:cNvPr id="15" name="Text 12"/>
          <p:cNvSpPr/>
          <p:nvPr/>
        </p:nvSpPr>
        <p:spPr>
          <a:xfrm>
            <a:off x="1463040" y="5760720"/>
            <a:ext cx="9326880" cy="310896"/>
          </a:xfrm>
          <a:prstGeom prst="rect">
            <a:avLst/>
          </a:prstGeom>
          <a:noFill/>
          <a:ln/>
        </p:spPr>
        <p:txBody>
          <a:bodyPr wrap="square" lIns="0" tIns="0" rIns="0" bIns="0" rtlCol="0" anchor="ctr"/>
          <a:lstStyle/>
          <a:p>
            <a:pPr marL="0" indent="0" algn="ctr">
              <a:buNone/>
            </a:pPr>
            <a:r>
              <a:rPr lang="en-US" sz="1360" b="1" dirty="0">
                <a:solidFill>
                  <a:srgbClr val="0E7490"/>
                </a:solidFill>
              </a:rPr>
              <a:t>Prinsip: jangan menormalisasi kondisi tidak aman hanya karena “sudah biasa”.</a:t>
            </a:r>
            <a:endParaRPr lang="en-US" sz="1360" dirty="0"/>
          </a:p>
        </p:txBody>
      </p:sp>
      <p:sp>
        <p:nvSpPr>
          <p:cNvPr id="25" name="Slide Number Placeholder 0"/>
          <p:cNvSpPr>
            <a:spLocks noGrp="1"/>
          </p:cNvSpPr>
          <p:nvPr>
            <p:ph type="sldNum" sz="quarter" idx="4294967295"/>
          </p:nvPr>
        </p:nvSpPr>
        <p:spPr>
          <a:xfrm>
            <a:off x="11475720" y="6492240"/>
            <a:ext cx="320040"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64748B"/>
                </a:solidFill>
                <a:latin typeface="Arial"/>
                <a:ea typeface="Arial"/>
                <a:cs typeface="Arial"/>
              </a:defRPr>
            </a:lvl1pPr>
          </a:lstStyle>
          <a:p>
            <a:pPr algn="r"/>
            <a:fld id="{F7021451-1387-4CA6-816F-3879F97B5CBC}" type="slidenum">
              <a:rPr lang="en-US" b="0"/>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Shape 0"/>
          <p:cNvSpPr/>
          <p:nvPr/>
        </p:nvSpPr>
        <p:spPr>
          <a:xfrm>
            <a:off x="566928" y="347472"/>
            <a:ext cx="1417320" cy="310896"/>
          </a:xfrm>
          <a:prstGeom prst="roundRect">
            <a:avLst>
              <a:gd name="adj" fmla="val 23529"/>
            </a:avLst>
          </a:prstGeom>
          <a:solidFill>
            <a:srgbClr val="ECFEFF"/>
          </a:solidFill>
          <a:ln w="12700">
            <a:solidFill>
              <a:srgbClr val="ECFEFF"/>
            </a:solidFill>
            <a:prstDash val="solid"/>
          </a:ln>
        </p:spPr>
      </p:sp>
      <p:sp>
        <p:nvSpPr>
          <p:cNvPr id="3" name="Text 1"/>
          <p:cNvSpPr/>
          <p:nvPr/>
        </p:nvSpPr>
        <p:spPr>
          <a:xfrm>
            <a:off x="694944" y="429768"/>
            <a:ext cx="1170432" cy="128016"/>
          </a:xfrm>
          <a:prstGeom prst="rect">
            <a:avLst/>
          </a:prstGeom>
          <a:noFill/>
          <a:ln/>
        </p:spPr>
        <p:txBody>
          <a:bodyPr wrap="square" lIns="0" tIns="0" rIns="0" bIns="0" rtlCol="0" anchor="ctr"/>
          <a:lstStyle/>
          <a:p>
            <a:pPr marL="0" indent="0" algn="ctr">
              <a:buNone/>
            </a:pPr>
            <a:r>
              <a:rPr lang="en-US" sz="900" b="1" dirty="0">
                <a:solidFill>
                  <a:srgbClr val="0E7490"/>
                </a:solidFill>
                <a:latin typeface="Arial" pitchFamily="34" charset="0"/>
                <a:ea typeface="Arial" pitchFamily="34" charset="-122"/>
                <a:cs typeface="Arial" pitchFamily="34" charset="-120"/>
              </a:rPr>
              <a:t>PENUTUP</a:t>
            </a:r>
            <a:endParaRPr lang="en-US" sz="900" dirty="0"/>
          </a:p>
        </p:txBody>
      </p:sp>
      <p:sp>
        <p:nvSpPr>
          <p:cNvPr id="4" name="Text 2"/>
          <p:cNvSpPr/>
          <p:nvPr/>
        </p:nvSpPr>
        <p:spPr>
          <a:xfrm>
            <a:off x="566928" y="777240"/>
            <a:ext cx="10972800" cy="566928"/>
          </a:xfrm>
          <a:prstGeom prst="rect">
            <a:avLst/>
          </a:prstGeom>
          <a:noFill/>
          <a:ln/>
        </p:spPr>
        <p:txBody>
          <a:bodyPr wrap="square" lIns="0" tIns="0" rIns="0" bIns="0" rtlCol="0" anchor="ctr">
            <a:normAutofit/>
          </a:bodyPr>
          <a:lstStyle/>
          <a:p>
            <a:pPr marL="0" indent="0">
              <a:buNone/>
            </a:pPr>
            <a:r>
              <a:rPr lang="en-US" sz="2700" b="1" dirty="0">
                <a:solidFill>
                  <a:srgbClr val="0F172A"/>
                </a:solidFill>
                <a:latin typeface="Arial" pitchFamily="34" charset="0"/>
                <a:ea typeface="Arial" pitchFamily="34" charset="-122"/>
                <a:cs typeface="Arial" pitchFamily="34" charset="-120"/>
              </a:rPr>
              <a:t>Referensi Utama &amp; Pesan Penutup</a:t>
            </a:r>
            <a:endParaRPr lang="en-US" sz="2700" dirty="0"/>
          </a:p>
        </p:txBody>
      </p:sp>
      <p:sp>
        <p:nvSpPr>
          <p:cNvPr id="5" name="Text 3"/>
          <p:cNvSpPr/>
          <p:nvPr/>
        </p:nvSpPr>
        <p:spPr>
          <a:xfrm>
            <a:off x="566928" y="1371600"/>
            <a:ext cx="10881360" cy="384048"/>
          </a:xfrm>
          <a:prstGeom prst="rect">
            <a:avLst/>
          </a:prstGeom>
          <a:noFill/>
          <a:ln/>
        </p:spPr>
        <p:txBody>
          <a:bodyPr wrap="square" lIns="0" tIns="0" rIns="0" bIns="0" rtlCol="0" anchor="ctr">
            <a:normAutofit/>
          </a:bodyPr>
          <a:lstStyle/>
          <a:p>
            <a:pPr marL="0" indent="0">
              <a:buNone/>
            </a:pPr>
            <a:r>
              <a:rPr lang="en-US" sz="1250" dirty="0">
                <a:solidFill>
                  <a:srgbClr val="64748B"/>
                </a:solidFill>
                <a:latin typeface="Arial" pitchFamily="34" charset="0"/>
                <a:ea typeface="Arial" pitchFamily="34" charset="-122"/>
                <a:cs typeface="Arial" pitchFamily="34" charset="-120"/>
              </a:rPr>
              <a:t>Gunakan regulasi dan SOP fasilitas terbaru ketika menerapkan materi ini di lapangan.</a:t>
            </a:r>
            <a:endParaRPr lang="en-US" sz="1250" dirty="0"/>
          </a:p>
        </p:txBody>
      </p:sp>
      <p:sp>
        <p:nvSpPr>
          <p:cNvPr id="6" name="Shape 4"/>
          <p:cNvSpPr/>
          <p:nvPr/>
        </p:nvSpPr>
        <p:spPr>
          <a:xfrm>
            <a:off x="713232" y="1847088"/>
            <a:ext cx="5577840" cy="3858768"/>
          </a:xfrm>
          <a:prstGeom prst="roundRect">
            <a:avLst>
              <a:gd name="adj" fmla="val 1896"/>
            </a:avLst>
          </a:prstGeom>
          <a:solidFill>
            <a:srgbClr val="FFFFFF"/>
          </a:solidFill>
          <a:ln w="12700">
            <a:solidFill>
              <a:srgbClr val="E2E8F0"/>
            </a:solidFill>
            <a:prstDash val="solid"/>
          </a:ln>
        </p:spPr>
      </p:sp>
      <p:sp>
        <p:nvSpPr>
          <p:cNvPr id="7" name="Text 5"/>
          <p:cNvSpPr/>
          <p:nvPr/>
        </p:nvSpPr>
        <p:spPr>
          <a:xfrm>
            <a:off x="1078992" y="2148840"/>
            <a:ext cx="2423160" cy="320040"/>
          </a:xfrm>
          <a:prstGeom prst="rect">
            <a:avLst/>
          </a:prstGeom>
          <a:noFill/>
          <a:ln/>
        </p:spPr>
        <p:txBody>
          <a:bodyPr wrap="square" lIns="0" tIns="0" rIns="0" bIns="0" rtlCol="0" anchor="ctr"/>
          <a:lstStyle/>
          <a:p>
            <a:pPr marL="0" indent="0">
              <a:buNone/>
            </a:pPr>
            <a:r>
              <a:rPr lang="en-US" sz="1800" b="1" dirty="0">
                <a:solidFill>
                  <a:srgbClr val="0F172A"/>
                </a:solidFill>
              </a:rPr>
              <a:t>Referensi utama</a:t>
            </a:r>
            <a:endParaRPr lang="en-US" sz="1800" dirty="0"/>
          </a:p>
        </p:txBody>
      </p:sp>
      <p:sp>
        <p:nvSpPr>
          <p:cNvPr id="8" name="Text 6"/>
          <p:cNvSpPr/>
          <p:nvPr/>
        </p:nvSpPr>
        <p:spPr>
          <a:xfrm>
            <a:off x="1060704" y="2761488"/>
            <a:ext cx="4828032" cy="2578608"/>
          </a:xfrm>
          <a:prstGeom prst="rect">
            <a:avLst/>
          </a:prstGeom>
          <a:noFill/>
          <a:ln/>
        </p:spPr>
        <p:txBody>
          <a:bodyPr wrap="square" lIns="381" tIns="381" rIns="381" bIns="381" rtlCol="0" anchor="ctr">
            <a:normAutofit/>
          </a:bodyPr>
          <a:lstStyle/>
          <a:p>
            <a:pPr marL="203200" indent="-203200">
              <a:buSzPct val="100000"/>
              <a:buChar char="•"/>
            </a:pPr>
            <a:r>
              <a:rPr lang="en-US" sz="1080" dirty="0">
                <a:solidFill>
                  <a:srgbClr val="334155"/>
                </a:solidFill>
                <a:latin typeface="Arial" pitchFamily="34" charset="0"/>
                <a:ea typeface="Arial" pitchFamily="34" charset="-122"/>
                <a:cs typeface="Arial" pitchFamily="34" charset="-120"/>
              </a:rPr>
              <a:t>WHO. Occupational hazards in the health sector. Training/e-tool, 2025.</a:t>
            </a:r>
            <a:endParaRPr lang="en-US" sz="1080" dirty="0"/>
          </a:p>
          <a:p>
            <a:pPr marL="203200" indent="-203200">
              <a:buSzPct val="100000"/>
              <a:buChar char="•"/>
            </a:pPr>
            <a:r>
              <a:rPr lang="en-US" sz="1080" dirty="0">
                <a:solidFill>
                  <a:srgbClr val="334155"/>
                </a:solidFill>
                <a:latin typeface="Arial" pitchFamily="34" charset="0"/>
                <a:ea typeface="Arial" pitchFamily="34" charset="-122"/>
                <a:cs typeface="Arial" pitchFamily="34" charset="-120"/>
              </a:rPr>
              <a:t>WHO &amp; ILO. Caring for those who care: Guide for occupational health and safety programmes for health workers, 2022.</a:t>
            </a:r>
            <a:endParaRPr lang="en-US" sz="1080" dirty="0"/>
          </a:p>
          <a:p>
            <a:pPr marL="203200" indent="-203200">
              <a:buSzPct val="100000"/>
              <a:buChar char="•"/>
            </a:pPr>
            <a:r>
              <a:rPr lang="en-US" sz="1080" dirty="0">
                <a:solidFill>
                  <a:srgbClr val="334155"/>
                </a:solidFill>
                <a:latin typeface="Arial" pitchFamily="34" charset="0"/>
                <a:ea typeface="Arial" pitchFamily="34" charset="-122"/>
                <a:cs typeface="Arial" pitchFamily="34" charset="-120"/>
              </a:rPr>
              <a:t>Undang-Undang Republik Indonesia No. 1 Tahun 1970 tentang Keselamatan Kerja.</a:t>
            </a:r>
            <a:endParaRPr lang="en-US" sz="1080" dirty="0"/>
          </a:p>
          <a:p>
            <a:pPr marL="203200" indent="-203200">
              <a:buSzPct val="100000"/>
              <a:buChar char="•"/>
            </a:pPr>
            <a:r>
              <a:rPr lang="en-US" sz="1080" dirty="0">
                <a:solidFill>
                  <a:srgbClr val="334155"/>
                </a:solidFill>
                <a:latin typeface="Arial" pitchFamily="34" charset="0"/>
                <a:ea typeface="Arial" pitchFamily="34" charset="-122"/>
                <a:cs typeface="Arial" pitchFamily="34" charset="-120"/>
              </a:rPr>
              <a:t>Undang-Undang Republik Indonesia No. 17 Tahun 2023 tentang Kesehatan.</a:t>
            </a:r>
            <a:endParaRPr lang="en-US" sz="1080" dirty="0"/>
          </a:p>
          <a:p>
            <a:pPr marL="203200" indent="-203200">
              <a:buSzPct val="100000"/>
              <a:buChar char="•"/>
            </a:pPr>
            <a:r>
              <a:rPr lang="en-US" sz="1080" dirty="0">
                <a:solidFill>
                  <a:srgbClr val="334155"/>
                </a:solidFill>
                <a:latin typeface="Arial" pitchFamily="34" charset="0"/>
                <a:ea typeface="Arial" pitchFamily="34" charset="-122"/>
                <a:cs typeface="Arial" pitchFamily="34" charset="-120"/>
              </a:rPr>
              <a:t>Peraturan Pemerintah No. 28 Tahun 2024 tentang Peraturan Pelaksanaan UU No. 17 Tahun 2023.</a:t>
            </a:r>
            <a:endParaRPr lang="en-US" sz="1080" dirty="0"/>
          </a:p>
          <a:p>
            <a:pPr marL="203200" indent="-203200">
              <a:buSzPct val="100000"/>
              <a:buChar char="•"/>
            </a:pPr>
            <a:r>
              <a:rPr lang="en-US" sz="1080" dirty="0">
                <a:solidFill>
                  <a:srgbClr val="334155"/>
                </a:solidFill>
                <a:latin typeface="Arial" pitchFamily="34" charset="0"/>
                <a:ea typeface="Arial" pitchFamily="34" charset="-122"/>
                <a:cs typeface="Arial" pitchFamily="34" charset="-120"/>
              </a:rPr>
              <a:t>Permenkes RI No. 66 Tahun 2016 tentang Keselamatan dan Kesehatan Kerja Rumah Sakit (status JDIH BPK: berlaku, Sep 2026).</a:t>
            </a:r>
            <a:endParaRPr lang="en-US" sz="1080" dirty="0"/>
          </a:p>
        </p:txBody>
      </p:sp>
      <p:sp>
        <p:nvSpPr>
          <p:cNvPr id="9" name="Shape 7"/>
          <p:cNvSpPr/>
          <p:nvPr/>
        </p:nvSpPr>
        <p:spPr>
          <a:xfrm>
            <a:off x="6656832" y="1847088"/>
            <a:ext cx="4828032" cy="3858768"/>
          </a:xfrm>
          <a:prstGeom prst="roundRect">
            <a:avLst>
              <a:gd name="adj" fmla="val 1896"/>
            </a:avLst>
          </a:prstGeom>
          <a:solidFill>
            <a:schemeClr val="dk1">
              <a:alpha val="50000"/>
            </a:schemeClr>
          </a:solidFill>
          <a:ln>
            <a:noFill/>
          </a:ln>
        </p:spPr>
        <p:style>
          <a:lnRef idx="0">
            <a:scrgbClr r="0" g="0" b="0"/>
          </a:lnRef>
          <a:fillRef idx="0">
            <a:scrgbClr r="0" g="0" b="0"/>
          </a:fillRef>
          <a:effectRef idx="0">
            <a:scrgbClr r="0" g="0" b="0"/>
          </a:effectRef>
          <a:fontRef idx="minor">
            <a:schemeClr val="lt1"/>
          </a:fontRef>
        </p:style>
      </p:sp>
      <p:pic>
        <p:nvPicPr>
          <p:cNvPr id="10"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380476" y="2308860"/>
            <a:ext cx="1371600" cy="1371600"/>
          </a:xfrm>
          <a:prstGeom prst="rect">
            <a:avLst/>
          </a:prstGeom>
        </p:spPr>
      </p:pic>
      <p:sp>
        <p:nvSpPr>
          <p:cNvPr id="11" name="Text 8"/>
          <p:cNvSpPr/>
          <p:nvPr/>
        </p:nvSpPr>
        <p:spPr>
          <a:xfrm>
            <a:off x="7168896" y="4096512"/>
            <a:ext cx="3794760" cy="384048"/>
          </a:xfrm>
          <a:prstGeom prst="rect">
            <a:avLst/>
          </a:prstGeom>
          <a:noFill/>
          <a:ln/>
        </p:spPr>
        <p:txBody>
          <a:bodyPr wrap="square" lIns="0" tIns="0" rIns="0" bIns="0" rtlCol="0" anchor="ctr">
            <a:normAutofit/>
          </a:bodyPr>
          <a:lstStyle/>
          <a:p>
            <a:pPr marL="0" indent="0" algn="ctr">
              <a:buNone/>
            </a:pPr>
            <a:r>
              <a:rPr lang="en-US" sz="2100" b="1" dirty="0">
                <a:solidFill>
                  <a:srgbClr val="FFFFFF"/>
                </a:solidFill>
              </a:rPr>
              <a:t>K3 bukan tambahan pekerjaan.</a:t>
            </a:r>
            <a:endParaRPr lang="en-US" sz="2100" dirty="0"/>
          </a:p>
        </p:txBody>
      </p:sp>
      <p:sp>
        <p:nvSpPr>
          <p:cNvPr id="12" name="Text 9"/>
          <p:cNvSpPr/>
          <p:nvPr/>
        </p:nvSpPr>
        <p:spPr>
          <a:xfrm>
            <a:off x="7150608" y="4608576"/>
            <a:ext cx="3840480" cy="676656"/>
          </a:xfrm>
          <a:prstGeom prst="rect">
            <a:avLst/>
          </a:prstGeom>
          <a:noFill/>
          <a:ln/>
        </p:spPr>
        <p:txBody>
          <a:bodyPr wrap="square" lIns="0" tIns="0" rIns="0" bIns="0" rtlCol="0" anchor="ctr">
            <a:normAutofit/>
          </a:bodyPr>
          <a:lstStyle/>
          <a:p>
            <a:pPr marL="0" indent="0" algn="ctr">
              <a:buNone/>
            </a:pPr>
            <a:r>
              <a:rPr lang="en-US" sz="1550" dirty="0">
                <a:solidFill>
                  <a:srgbClr val="CFFAFE"/>
                </a:solidFill>
              </a:rPr>
              <a:t>K3 adalah cara kerja yang aman, profesional, dan beretika.</a:t>
            </a:r>
            <a:endParaRPr lang="en-US" sz="1550" dirty="0"/>
          </a:p>
        </p:txBody>
      </p:sp>
      <p:sp>
        <p:nvSpPr>
          <p:cNvPr id="13" name="Text 10"/>
          <p:cNvSpPr/>
          <p:nvPr/>
        </p:nvSpPr>
        <p:spPr>
          <a:xfrm>
            <a:off x="7699248" y="5358384"/>
            <a:ext cx="2743200" cy="274320"/>
          </a:xfrm>
          <a:prstGeom prst="rect">
            <a:avLst/>
          </a:prstGeom>
          <a:noFill/>
          <a:ln/>
        </p:spPr>
        <p:txBody>
          <a:bodyPr wrap="square" lIns="0" tIns="0" rIns="0" bIns="0" rtlCol="0" anchor="ctr"/>
          <a:lstStyle/>
          <a:p>
            <a:pPr marL="0" indent="0" algn="ctr">
              <a:buNone/>
            </a:pPr>
            <a:r>
              <a:rPr lang="en-US" sz="1100" b="1" dirty="0">
                <a:solidFill>
                  <a:srgbClr val="94A3B8"/>
                </a:solidFill>
              </a:rPr>
              <a:t>TERIMA KASIH</a:t>
            </a:r>
            <a:endParaRPr lang="en-US" sz="1100" dirty="0"/>
          </a:p>
        </p:txBody>
      </p:sp>
      <p:sp>
        <p:nvSpPr>
          <p:cNvPr id="25" name="Slide Number Placeholder 0"/>
          <p:cNvSpPr>
            <a:spLocks noGrp="1"/>
          </p:cNvSpPr>
          <p:nvPr>
            <p:ph type="sldNum" sz="quarter" idx="4294967295"/>
          </p:nvPr>
        </p:nvSpPr>
        <p:spPr>
          <a:xfrm>
            <a:off x="11475720" y="6492240"/>
            <a:ext cx="320040"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64748B"/>
                </a:solidFill>
                <a:latin typeface="Arial"/>
                <a:ea typeface="Arial"/>
                <a:cs typeface="Arial"/>
              </a:defRPr>
            </a:lvl1pPr>
          </a:lstStyle>
          <a:p>
            <a:pPr algn="r"/>
            <a:fld id="{F7021451-1387-4CA6-816F-3879F97B5CBC}" type="slidenum">
              <a:rPr lang="en-US" b="0"/>
              <a:t>30</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TotalTime>
  <Words>3163</Words>
  <Application>Microsoft Office PowerPoint</Application>
  <PresentationFormat>Widescreen</PresentationFormat>
  <Paragraphs>528</Paragraphs>
  <Slides>30</Slides>
  <Notes>30</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30</vt:i4>
      </vt:variant>
    </vt:vector>
  </HeadingPairs>
  <TitlesOfParts>
    <vt:vector size="32"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K3 dalam Keperawatan: Ruang Lingkup, Pentingnya, Tujuan, Manfaat &amp; Etika</dc:title>
  <dc:subject>K3 dalam Keperawatan</dc:subject>
  <dc:creator>Anoa</dc:creator>
  <cp:lastModifiedBy>.</cp:lastModifiedBy>
  <cp:revision>2</cp:revision>
  <dcterms:created xsi:type="dcterms:W3CDTF">2026-09-23T00:23:03Z</dcterms:created>
  <dcterms:modified xsi:type="dcterms:W3CDTF">2026-09-23T00:35:40Z</dcterms:modified>
</cp:coreProperties>
</file>