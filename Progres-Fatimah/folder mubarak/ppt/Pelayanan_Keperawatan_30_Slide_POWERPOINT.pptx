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25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9.xml.rels" ContentType="application/vnd.openxmlformats-package.relationship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68FC8D9-F00E-4555-871E-8E9675A2F61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5319F4-F521-403A-AE42-823A706BFB2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B3D471-7C7A-4306-BF9C-2A32FE122C9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CA77ED-E908-4492-9A49-546398C1564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F53347-CEE8-4E85-AB73-8E608493881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506909-8E53-43BB-A8AD-833AABF5009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4FFA4B-E7F7-4B6C-86C8-B9C3916CDB7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0DE011-A6AD-4F2B-830B-E9E42C5E428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14C8C6-F693-435F-B96C-3967005ACF3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E2BF3F-7731-49D2-B10F-41883A235F8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7ADBE0-823E-4FE5-A586-98DBF586BF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C63F43-96F1-43F1-9B34-37DE68346114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49EB5B-4746-4C58-8E98-D3FF65F7078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3D07C1-6DD8-459A-AB27-556328B6F7B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912839-2002-413D-91FD-E54854FD04B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61F6B3-CCAB-4ACF-BBE8-4292DE405F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60E403-752D-410B-8522-D605A7E5131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5D2F55-6687-4041-AB6A-8AE332CD758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442D63-0C20-4240-A53E-8CC1C44363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082E8B-F05E-4201-A5D0-B265025BBC7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FFABA0-9303-4B46-9E99-C5B69652D61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1CFFB8-848F-4523-A570-52AD8D858BA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9C348-DEED-459F-92EB-722325E9C0C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DF993E-725C-4E67-ABED-5D976C2F628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5539A-D204-419F-BA34-88C8B0EB2C2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44FEC42-FC77-47B6-91A0-1E8D75E1E5D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472DD-9239-4ED4-9050-09352CB2454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B481A7-3FDC-4B07-909D-43205A5036D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2213A7-A1A2-49C4-BD28-3CCF41FB27D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BF092F-1911-461E-8ED4-6722B80A30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DFDF18-AF04-4F79-8A89-377F3640A6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12191400" cy="118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" name="Text 1"/>
          <p:cNvSpPr/>
          <p:nvPr/>
        </p:nvSpPr>
        <p:spPr>
          <a:xfrm>
            <a:off x="502920" y="6519600"/>
            <a:ext cx="76806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Pelayanan Keperawatan • Sistem Pelayanan Kesehatan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 2"/>
          <p:cNvSpPr/>
          <p:nvPr/>
        </p:nvSpPr>
        <p:spPr>
          <a:xfrm>
            <a:off x="11064240" y="6492240"/>
            <a:ext cx="6397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endParaRPr b="0" lang="en-US" sz="85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DE885C-5994-4221-83EA-09CE6C4C7F0E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3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3447"/>
          </a:solidFill>
          <a:ln w="12700">
            <a:solidFill>
              <a:srgbClr val="0d34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1"/>
          <p:cNvSpPr/>
          <p:nvPr/>
        </p:nvSpPr>
        <p:spPr>
          <a:xfrm rot="600000">
            <a:off x="8229240" y="182520"/>
            <a:ext cx="3657240" cy="36572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 rot="12000000">
            <a:off x="8732520" y="3155040"/>
            <a:ext cx="2971440" cy="297144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22a3b5">
              <a:alpha val="55000"/>
            </a:srgbClr>
          </a:solidFill>
          <a:ln w="12700">
            <a:solidFill>
              <a:srgbClr val="22a3b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713160" y="777240"/>
            <a:ext cx="1874160" cy="392760"/>
          </a:xfrm>
          <a:prstGeom prst="roundRect">
            <a:avLst>
              <a:gd name="adj" fmla="val 11628"/>
            </a:avLst>
          </a:prstGeom>
          <a:solidFill>
            <a:srgbClr val="e8f5f0">
              <a:alpha val="95000"/>
            </a:srgbClr>
          </a:solidFill>
          <a:ln w="12700">
            <a:solidFill>
              <a:srgbClr val="e8f5f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877680" y="887040"/>
            <a:ext cx="15084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80" strike="noStrike" u="none">
                <a:solidFill>
                  <a:srgbClr val="0d6178"/>
                </a:solidFill>
                <a:effectLst/>
                <a:uFillTx/>
                <a:latin typeface="Aptos"/>
              </a:rPr>
              <a:t>MATERI KEPERAWATAN</a:t>
            </a:r>
            <a:endParaRPr b="0" lang="en-US" sz="98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713160" y="1508760"/>
            <a:ext cx="7223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Pelayanan Keperawatan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dalam Sistem Pelayanan Kesehatan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731520" y="3090600"/>
            <a:ext cx="68576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50" strike="noStrike" u="none">
                <a:solidFill>
                  <a:srgbClr val="d7eef3"/>
                </a:solidFill>
                <a:effectLst/>
                <a:uFillTx/>
                <a:latin typeface="Aptos"/>
              </a:rPr>
              <a:t>Fokus: Sistem Klien • Tingkatan Pelayanan Kesehatan</a:t>
            </a:r>
            <a:endParaRPr b="0" lang="en-US" sz="15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7"/>
          <p:cNvSpPr/>
          <p:nvPr/>
        </p:nvSpPr>
        <p:spPr>
          <a:xfrm>
            <a:off x="731520" y="3776400"/>
            <a:ext cx="3566160" cy="360"/>
          </a:xfrm>
          <a:prstGeom prst="line">
            <a:avLst/>
          </a:prstGeom>
          <a:ln w="31750">
            <a:solidFill>
              <a:srgbClr val="7dd3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8"/>
          <p:cNvSpPr/>
          <p:nvPr/>
        </p:nvSpPr>
        <p:spPr>
          <a:xfrm>
            <a:off x="731520" y="4005000"/>
            <a:ext cx="3291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bfdce3"/>
                </a:solidFill>
                <a:effectLst/>
                <a:uFillTx/>
                <a:latin typeface="Aptos"/>
              </a:rPr>
              <a:t>Bahan presentasi • 30 slide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9"/>
          <p:cNvSpPr/>
          <p:nvPr/>
        </p:nvSpPr>
        <p:spPr>
          <a:xfrm>
            <a:off x="8641080" y="1417320"/>
            <a:ext cx="959760" cy="95976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0"/>
          <p:cNvSpPr/>
          <p:nvPr/>
        </p:nvSpPr>
        <p:spPr>
          <a:xfrm>
            <a:off x="8714160" y="1517760"/>
            <a:ext cx="813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K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1"/>
          <p:cNvSpPr/>
          <p:nvPr/>
        </p:nvSpPr>
        <p:spPr>
          <a:xfrm>
            <a:off x="9921240" y="2560320"/>
            <a:ext cx="959760" cy="959760"/>
          </a:xfrm>
          <a:prstGeom prst="ellipse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2"/>
          <p:cNvSpPr/>
          <p:nvPr/>
        </p:nvSpPr>
        <p:spPr>
          <a:xfrm>
            <a:off x="9994320" y="2660760"/>
            <a:ext cx="813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3"/>
          <p:cNvSpPr/>
          <p:nvPr/>
        </p:nvSpPr>
        <p:spPr>
          <a:xfrm>
            <a:off x="8366760" y="3749040"/>
            <a:ext cx="959760" cy="959760"/>
          </a:xfrm>
          <a:prstGeom prst="ellipse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4"/>
          <p:cNvSpPr/>
          <p:nvPr/>
        </p:nvSpPr>
        <p:spPr>
          <a:xfrm>
            <a:off x="8439840" y="3849480"/>
            <a:ext cx="813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5"/>
          <p:cNvSpPr/>
          <p:nvPr/>
        </p:nvSpPr>
        <p:spPr>
          <a:xfrm>
            <a:off x="9372600" y="2148840"/>
            <a:ext cx="749520" cy="530280"/>
          </a:xfrm>
          <a:prstGeom prst="line">
            <a:avLst/>
          </a:prstGeom>
          <a:ln w="25400">
            <a:solidFill>
              <a:srgbClr val="a7d9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6"/>
          <p:cNvSpPr/>
          <p:nvPr/>
        </p:nvSpPr>
        <p:spPr>
          <a:xfrm flipH="1">
            <a:off x="9144000" y="3337560"/>
            <a:ext cx="640080" cy="502920"/>
          </a:xfrm>
          <a:prstGeom prst="line">
            <a:avLst/>
          </a:prstGeom>
          <a:ln w="25400">
            <a:solidFill>
              <a:srgbClr val="a7d9e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7"/>
          <p:cNvSpPr/>
          <p:nvPr/>
        </p:nvSpPr>
        <p:spPr>
          <a:xfrm>
            <a:off x="8394120" y="238644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9f2f0"/>
                </a:solidFill>
                <a:effectLst/>
                <a:uFillTx/>
                <a:latin typeface="Aptos"/>
              </a:rPr>
              <a:t>Klien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8"/>
          <p:cNvSpPr/>
          <p:nvPr/>
        </p:nvSpPr>
        <p:spPr>
          <a:xfrm>
            <a:off x="9655920" y="352944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9f2f0"/>
                </a:solidFill>
                <a:effectLst/>
                <a:uFillTx/>
                <a:latin typeface="Aptos"/>
              </a:rPr>
              <a:t>Sistem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9"/>
          <p:cNvSpPr/>
          <p:nvPr/>
        </p:nvSpPr>
        <p:spPr>
          <a:xfrm>
            <a:off x="8138160" y="4736520"/>
            <a:ext cx="1425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d9f2f0"/>
                </a:solidFill>
                <a:effectLst/>
                <a:uFillTx/>
                <a:latin typeface="Aptos"/>
              </a:rPr>
              <a:t>Pelayanan</a:t>
            </a:r>
            <a:endParaRPr b="0" lang="en-US" sz="105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sldNum" idx="5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CEEDA0-D6BE-4DB6-9E71-869A59FECEE7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1</a:t>
            </a:fld>
            <a:endParaRPr b="0" lang="en-US" sz="85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PENGANTAR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Tujuan Pembelajaran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Setelah pembelajaran, mahasiswa diharapkan mampu: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5"/>
          <p:cNvSpPr/>
          <p:nvPr/>
        </p:nvSpPr>
        <p:spPr>
          <a:xfrm>
            <a:off x="713160" y="1481400"/>
            <a:ext cx="347436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6"/>
          <p:cNvSpPr/>
          <p:nvPr/>
        </p:nvSpPr>
        <p:spPr>
          <a:xfrm>
            <a:off x="713160" y="1481400"/>
            <a:ext cx="63720" cy="16455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7"/>
          <p:cNvSpPr/>
          <p:nvPr/>
        </p:nvSpPr>
        <p:spPr>
          <a:xfrm>
            <a:off x="877680" y="16185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1. Memahami sistem klien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8"/>
          <p:cNvSpPr/>
          <p:nvPr/>
        </p:nvSpPr>
        <p:spPr>
          <a:xfrm>
            <a:off x="896040" y="2030040"/>
            <a:ext cx="3126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Menjelaskan konsep sistem klien.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Mengidentifikasi individu, keluarga, kelompok, dan komunitas sebagai klien.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9"/>
          <p:cNvSpPr/>
          <p:nvPr/>
        </p:nvSpPr>
        <p:spPr>
          <a:xfrm>
            <a:off x="4370760" y="1481400"/>
            <a:ext cx="347436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0"/>
          <p:cNvSpPr/>
          <p:nvPr/>
        </p:nvSpPr>
        <p:spPr>
          <a:xfrm>
            <a:off x="4370760" y="1481400"/>
            <a:ext cx="63720" cy="16455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535280" y="16185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2. Menganalisis layanan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553640" y="2030040"/>
            <a:ext cx="3126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Membedakan pelayanan primer, sekunder, dan tersier.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Menghubungkan kebutuhan klien dengan tingkat layanan.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3"/>
          <p:cNvSpPr/>
          <p:nvPr/>
        </p:nvSpPr>
        <p:spPr>
          <a:xfrm>
            <a:off x="8028360" y="1481400"/>
            <a:ext cx="3474360" cy="16455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4"/>
          <p:cNvSpPr/>
          <p:nvPr/>
        </p:nvSpPr>
        <p:spPr>
          <a:xfrm>
            <a:off x="8028360" y="1481400"/>
            <a:ext cx="63720" cy="164556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8192880" y="1618560"/>
            <a:ext cx="3163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3. Menentukan peran perawat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8211240" y="2030040"/>
            <a:ext cx="312696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Menjelaskan peran perawat pada setiap tingkat layanan.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Memahami rujukan dan kesinambungan asuhan.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7"/>
          <p:cNvSpPr/>
          <p:nvPr/>
        </p:nvSpPr>
        <p:spPr>
          <a:xfrm>
            <a:off x="2057400" y="397764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2148840" y="4105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Sistem Klien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2148840" y="441648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Siapa yang dilayani?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0"/>
          <p:cNvSpPr/>
          <p:nvPr/>
        </p:nvSpPr>
        <p:spPr>
          <a:xfrm>
            <a:off x="4270320" y="4242960"/>
            <a:ext cx="54828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1"/>
          <p:cNvSpPr/>
          <p:nvPr/>
        </p:nvSpPr>
        <p:spPr>
          <a:xfrm>
            <a:off x="5029200" y="397764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5120640" y="4105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Kebutuhan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5120640" y="441648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Apa masalahnya?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4"/>
          <p:cNvSpPr/>
          <p:nvPr/>
        </p:nvSpPr>
        <p:spPr>
          <a:xfrm>
            <a:off x="7242120" y="4242960"/>
            <a:ext cx="54828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5"/>
          <p:cNvSpPr/>
          <p:nvPr/>
        </p:nvSpPr>
        <p:spPr>
          <a:xfrm>
            <a:off x="8001000" y="3977640"/>
            <a:ext cx="2011320" cy="959760"/>
          </a:xfrm>
          <a:prstGeom prst="roundRect">
            <a:avLst>
              <a:gd name="adj" fmla="val 5714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8092440" y="41058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Tingkat Layanan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8092440" y="4416480"/>
            <a:ext cx="1828440" cy="44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Di mana ditangani?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28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9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Inti pembelajaran: kebutuhan klien menentukan jenis intervensi, tingkat layanan, serta pola koordinasi keperawatan.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sldNum" idx="6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69ECB2-59A5-48C8-8EBB-6E5C0103310E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2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PENGANTAR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Peta Konsep Materi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Hubungan antara klien, kebutuhan, pelayanan, dan hasil asuhan.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5"/>
          <p:cNvSpPr/>
          <p:nvPr/>
        </p:nvSpPr>
        <p:spPr>
          <a:xfrm>
            <a:off x="777240" y="1920240"/>
            <a:ext cx="2102760" cy="1096920"/>
          </a:xfrm>
          <a:prstGeom prst="roundRect">
            <a:avLst>
              <a:gd name="adj" fmla="val 5000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6"/>
          <p:cNvSpPr/>
          <p:nvPr/>
        </p:nvSpPr>
        <p:spPr>
          <a:xfrm>
            <a:off x="868680" y="2048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Sistem Klien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7"/>
          <p:cNvSpPr/>
          <p:nvPr/>
        </p:nvSpPr>
        <p:spPr>
          <a:xfrm>
            <a:off x="868680" y="2359080"/>
            <a:ext cx="1919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Individu • Keluarga • Kelompok • Komunitas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8"/>
          <p:cNvSpPr/>
          <p:nvPr/>
        </p:nvSpPr>
        <p:spPr>
          <a:xfrm>
            <a:off x="2971800" y="2267640"/>
            <a:ext cx="5025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9"/>
          <p:cNvSpPr/>
          <p:nvPr/>
        </p:nvSpPr>
        <p:spPr>
          <a:xfrm>
            <a:off x="3566160" y="1920240"/>
            <a:ext cx="2102760" cy="1096920"/>
          </a:xfrm>
          <a:prstGeom prst="roundRect">
            <a:avLst>
              <a:gd name="adj" fmla="val 5000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0"/>
          <p:cNvSpPr/>
          <p:nvPr/>
        </p:nvSpPr>
        <p:spPr>
          <a:xfrm>
            <a:off x="3657600" y="2048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Kebutuhan Kesehatan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1"/>
          <p:cNvSpPr/>
          <p:nvPr/>
        </p:nvSpPr>
        <p:spPr>
          <a:xfrm>
            <a:off x="3657600" y="2359080"/>
            <a:ext cx="1919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Promotif • Preventif • Kuratif • Rehabilitatif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2"/>
          <p:cNvSpPr/>
          <p:nvPr/>
        </p:nvSpPr>
        <p:spPr>
          <a:xfrm>
            <a:off x="5760720" y="2267640"/>
            <a:ext cx="5025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3"/>
          <p:cNvSpPr/>
          <p:nvPr/>
        </p:nvSpPr>
        <p:spPr>
          <a:xfrm>
            <a:off x="6355080" y="1920240"/>
            <a:ext cx="2102760" cy="109692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6446520" y="2048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Tingkatan Layanan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5"/>
          <p:cNvSpPr/>
          <p:nvPr/>
        </p:nvSpPr>
        <p:spPr>
          <a:xfrm>
            <a:off x="6446520" y="2359080"/>
            <a:ext cx="1919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Primer • Sekunder • Tersier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8549640" y="2267640"/>
            <a:ext cx="50256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7"/>
          <p:cNvSpPr/>
          <p:nvPr/>
        </p:nvSpPr>
        <p:spPr>
          <a:xfrm>
            <a:off x="9144000" y="1920240"/>
            <a:ext cx="2102760" cy="1096920"/>
          </a:xfrm>
          <a:prstGeom prst="roundRect">
            <a:avLst>
              <a:gd name="adj" fmla="val 5000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8"/>
          <p:cNvSpPr/>
          <p:nvPr/>
        </p:nvSpPr>
        <p:spPr>
          <a:xfrm>
            <a:off x="9235440" y="20484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Hasil Asuhan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9"/>
          <p:cNvSpPr/>
          <p:nvPr/>
        </p:nvSpPr>
        <p:spPr>
          <a:xfrm>
            <a:off x="9235440" y="2359080"/>
            <a:ext cx="19198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Aman • Efektif • Terkoordinasi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0"/>
          <p:cNvSpPr/>
          <p:nvPr/>
        </p:nvSpPr>
        <p:spPr>
          <a:xfrm flipH="1">
            <a:off x="1828800" y="3246120"/>
            <a:ext cx="8366760" cy="1051560"/>
          </a:xfrm>
          <a:prstGeom prst="line">
            <a:avLst/>
          </a:prstGeom>
          <a:ln w="2286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1"/>
          <p:cNvSpPr/>
          <p:nvPr/>
        </p:nvSpPr>
        <p:spPr>
          <a:xfrm>
            <a:off x="2743200" y="4361760"/>
            <a:ext cx="65833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Umpan balik: hasil asuhan menjadi dasar evaluasi dan perencanaan berikutnya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1"/>
          <p:cNvSpPr>
            <a:spLocks noGrp="1"/>
          </p:cNvSpPr>
          <p:nvPr>
            <p:ph type="sldNum" idx="7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101618-809E-4872-8490-6E7478CCBA47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3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DASAR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Pelayanan Keperawatan dalam Sistem Kesehatan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Keperawatan hadir pada seluruh rentang layanan kesehatan.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5"/>
          <p:cNvSpPr/>
          <p:nvPr/>
        </p:nvSpPr>
        <p:spPr>
          <a:xfrm>
            <a:off x="685800" y="1508760"/>
            <a:ext cx="5348880" cy="36115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6"/>
          <p:cNvSpPr/>
          <p:nvPr/>
        </p:nvSpPr>
        <p:spPr>
          <a:xfrm>
            <a:off x="685800" y="1508760"/>
            <a:ext cx="63720" cy="361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7"/>
          <p:cNvSpPr/>
          <p:nvPr/>
        </p:nvSpPr>
        <p:spPr>
          <a:xfrm>
            <a:off x="850320" y="1645920"/>
            <a:ext cx="5037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Karakteristik pelayanan keperawatan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8"/>
          <p:cNvSpPr/>
          <p:nvPr/>
        </p:nvSpPr>
        <p:spPr>
          <a:xfrm>
            <a:off x="868680" y="2057400"/>
            <a:ext cx="500148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Berpusat pada kebutuhan klien.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Bersifat komprehensif: biologis, psikologis, sosial, spiritual, dan budaya.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Menggunakan proses keperawatan sebagai kerangka kerja.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Mendorong kemandirian klien dan keselamatan pasien.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Berkolaborasi dengan tenaga kesehatan lain.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9"/>
          <p:cNvSpPr/>
          <p:nvPr/>
        </p:nvSpPr>
        <p:spPr>
          <a:xfrm>
            <a:off x="6245280" y="1508760"/>
            <a:ext cx="5257440" cy="3611520"/>
          </a:xfrm>
          <a:prstGeom prst="roundRect">
            <a:avLst>
              <a:gd name="adj" fmla="val 2025"/>
            </a:avLst>
          </a:prstGeom>
          <a:solidFill>
            <a:srgbClr val="fbfdfc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10"/>
          <p:cNvSpPr/>
          <p:nvPr/>
        </p:nvSpPr>
        <p:spPr>
          <a:xfrm>
            <a:off x="6245280" y="1508760"/>
            <a:ext cx="63720" cy="36115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1"/>
          <p:cNvSpPr/>
          <p:nvPr/>
        </p:nvSpPr>
        <p:spPr>
          <a:xfrm>
            <a:off x="6409800" y="1645920"/>
            <a:ext cx="4946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Posisi perawat dalam sistem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2"/>
          <p:cNvSpPr/>
          <p:nvPr/>
        </p:nvSpPr>
        <p:spPr>
          <a:xfrm>
            <a:off x="6428160" y="2057400"/>
            <a:ext cx="491004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Pemberi asuhan langsung.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Edukator dan promotor kesehatan.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Koordinator serta penghubung rujukan.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Advokat klien dan keluarga.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Pengelola layanan dan peningkatan mutu.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4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Pelayanan keperawatan tidak berdiri sendiri; kualitas asuhan dipengaruhi oleh sistem kesehatan, sumber daya, dan jejaring rujukan.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sldNum" idx="8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579A3D-EE53-48FF-93EB-DFA2AB2A741D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4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DASAR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Posisi Keperawatan dalam Alur Pelayanan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Perawat menjembatani kebutuhan klien dengan sumber daya kesehatan.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5"/>
          <p:cNvSpPr/>
          <p:nvPr/>
        </p:nvSpPr>
        <p:spPr>
          <a:xfrm>
            <a:off x="777240" y="1965960"/>
            <a:ext cx="1874160" cy="1023840"/>
          </a:xfrm>
          <a:prstGeom prst="roundRect">
            <a:avLst>
              <a:gd name="adj" fmla="val 5357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6"/>
          <p:cNvSpPr/>
          <p:nvPr/>
        </p:nvSpPr>
        <p:spPr>
          <a:xfrm>
            <a:off x="868680" y="20941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Klien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7"/>
          <p:cNvSpPr/>
          <p:nvPr/>
        </p:nvSpPr>
        <p:spPr>
          <a:xfrm>
            <a:off x="868680" y="2404800"/>
            <a:ext cx="1691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Keluhan • risiko • kebutuhan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8"/>
          <p:cNvSpPr/>
          <p:nvPr/>
        </p:nvSpPr>
        <p:spPr>
          <a:xfrm>
            <a:off x="2761560" y="2286000"/>
            <a:ext cx="5299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9"/>
          <p:cNvSpPr/>
          <p:nvPr/>
        </p:nvSpPr>
        <p:spPr>
          <a:xfrm>
            <a:off x="3401640" y="1965960"/>
            <a:ext cx="1874160" cy="1023840"/>
          </a:xfrm>
          <a:prstGeom prst="roundRect">
            <a:avLst>
              <a:gd name="adj" fmla="val 5357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0"/>
          <p:cNvSpPr/>
          <p:nvPr/>
        </p:nvSpPr>
        <p:spPr>
          <a:xfrm>
            <a:off x="3493080" y="20941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Pengkajian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1"/>
          <p:cNvSpPr/>
          <p:nvPr/>
        </p:nvSpPr>
        <p:spPr>
          <a:xfrm>
            <a:off x="3493080" y="2404800"/>
            <a:ext cx="1691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Data subjektif + objektif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2"/>
          <p:cNvSpPr/>
          <p:nvPr/>
        </p:nvSpPr>
        <p:spPr>
          <a:xfrm>
            <a:off x="5385960" y="2286000"/>
            <a:ext cx="5299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3"/>
          <p:cNvSpPr/>
          <p:nvPr/>
        </p:nvSpPr>
        <p:spPr>
          <a:xfrm>
            <a:off x="6026040" y="1965960"/>
            <a:ext cx="1874160" cy="1023840"/>
          </a:xfrm>
          <a:prstGeom prst="roundRect">
            <a:avLst>
              <a:gd name="adj" fmla="val 5357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4"/>
          <p:cNvSpPr/>
          <p:nvPr/>
        </p:nvSpPr>
        <p:spPr>
          <a:xfrm>
            <a:off x="6117480" y="20941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Keputusan Klinis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5"/>
          <p:cNvSpPr/>
          <p:nvPr/>
        </p:nvSpPr>
        <p:spPr>
          <a:xfrm>
            <a:off x="6117480" y="2404800"/>
            <a:ext cx="1691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Prioritas + intervensi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6"/>
          <p:cNvSpPr/>
          <p:nvPr/>
        </p:nvSpPr>
        <p:spPr>
          <a:xfrm>
            <a:off x="8010000" y="2286000"/>
            <a:ext cx="5299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7"/>
          <p:cNvSpPr/>
          <p:nvPr/>
        </p:nvSpPr>
        <p:spPr>
          <a:xfrm>
            <a:off x="8650080" y="1965960"/>
            <a:ext cx="1874160" cy="1023840"/>
          </a:xfrm>
          <a:prstGeom prst="roundRect">
            <a:avLst>
              <a:gd name="adj" fmla="val 5357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8"/>
          <p:cNvSpPr/>
          <p:nvPr/>
        </p:nvSpPr>
        <p:spPr>
          <a:xfrm>
            <a:off x="8741520" y="2094120"/>
            <a:ext cx="1691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Layanan/Rujukan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9"/>
          <p:cNvSpPr/>
          <p:nvPr/>
        </p:nvSpPr>
        <p:spPr>
          <a:xfrm>
            <a:off x="8741520" y="2404800"/>
            <a:ext cx="1691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Primer • sekunder • tersier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0"/>
          <p:cNvSpPr/>
          <p:nvPr/>
        </p:nvSpPr>
        <p:spPr>
          <a:xfrm flipH="1">
            <a:off x="4114800" y="3246120"/>
            <a:ext cx="5486400" cy="1051560"/>
          </a:xfrm>
          <a:prstGeom prst="line">
            <a:avLst/>
          </a:prstGeom>
          <a:ln w="2286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1"/>
          <p:cNvSpPr/>
          <p:nvPr/>
        </p:nvSpPr>
        <p:spPr>
          <a:xfrm>
            <a:off x="4160520" y="4389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Evaluasi dan tindak lanjut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2"/>
          <p:cNvSpPr/>
          <p:nvPr/>
        </p:nvSpPr>
        <p:spPr>
          <a:xfrm>
            <a:off x="3364920" y="4864680"/>
            <a:ext cx="5440320" cy="86832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3"/>
          <p:cNvSpPr/>
          <p:nvPr/>
        </p:nvSpPr>
        <p:spPr>
          <a:xfrm>
            <a:off x="3364920" y="4864680"/>
            <a:ext cx="63720" cy="868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4"/>
          <p:cNvSpPr/>
          <p:nvPr/>
        </p:nvSpPr>
        <p:spPr>
          <a:xfrm>
            <a:off x="3529440" y="5001840"/>
            <a:ext cx="51292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Peran kunci perawat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5"/>
          <p:cNvSpPr/>
          <p:nvPr/>
        </p:nvSpPr>
        <p:spPr>
          <a:xfrm>
            <a:off x="3547800" y="5413320"/>
            <a:ext cx="5092920" cy="1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0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Memantau perubahan kondisi, memastikan komunikasi antarunit, dan menjaga kesinambungan asuhan.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sldNum" idx="9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CD84F6-92F2-41B1-BFA8-01862B6DDCA1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Apa yang Dimaksud Sistem Klien?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Klien dipandang sebagai sistem terbuka yang terus berinteraksi dengan lingkungan.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5"/>
          <p:cNvSpPr/>
          <p:nvPr/>
        </p:nvSpPr>
        <p:spPr>
          <a:xfrm>
            <a:off x="4251960" y="1828800"/>
            <a:ext cx="3657240" cy="2514240"/>
          </a:xfrm>
          <a:prstGeom prst="ellipse">
            <a:avLst/>
          </a:prstGeom>
          <a:solidFill>
            <a:srgbClr val="e6f4f8"/>
          </a:solidFill>
          <a:ln w="254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6"/>
          <p:cNvSpPr/>
          <p:nvPr/>
        </p:nvSpPr>
        <p:spPr>
          <a:xfrm>
            <a:off x="4846320" y="248724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SISTEM KLIEN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7"/>
          <p:cNvSpPr/>
          <p:nvPr/>
        </p:nvSpPr>
        <p:spPr>
          <a:xfrm>
            <a:off x="4800600" y="295344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dinamis • terbuka • adaptif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8"/>
          <p:cNvSpPr/>
          <p:nvPr/>
        </p:nvSpPr>
        <p:spPr>
          <a:xfrm>
            <a:off x="777240" y="166428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9"/>
          <p:cNvSpPr/>
          <p:nvPr/>
        </p:nvSpPr>
        <p:spPr>
          <a:xfrm>
            <a:off x="868680" y="179208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0"/>
          <p:cNvSpPr/>
          <p:nvPr/>
        </p:nvSpPr>
        <p:spPr>
          <a:xfrm>
            <a:off x="868680" y="2103120"/>
            <a:ext cx="2148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Informasi, stresor, kebutuhan, sumber daya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1"/>
          <p:cNvSpPr/>
          <p:nvPr/>
        </p:nvSpPr>
        <p:spPr>
          <a:xfrm>
            <a:off x="3246120" y="1993320"/>
            <a:ext cx="6397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2"/>
          <p:cNvSpPr/>
          <p:nvPr/>
        </p:nvSpPr>
        <p:spPr>
          <a:xfrm>
            <a:off x="9006840" y="1664280"/>
            <a:ext cx="2331360" cy="1005480"/>
          </a:xfrm>
          <a:prstGeom prst="roundRect">
            <a:avLst>
              <a:gd name="adj" fmla="val 5455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9098280" y="179208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Output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9098280" y="2103120"/>
            <a:ext cx="214848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Respons, perilaku, status kesehatan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5"/>
          <p:cNvSpPr/>
          <p:nvPr/>
        </p:nvSpPr>
        <p:spPr>
          <a:xfrm>
            <a:off x="8183880" y="1993320"/>
            <a:ext cx="63972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6"/>
          <p:cNvSpPr/>
          <p:nvPr/>
        </p:nvSpPr>
        <p:spPr>
          <a:xfrm flipH="1">
            <a:off x="1920240" y="3154680"/>
            <a:ext cx="8275320" cy="1508760"/>
          </a:xfrm>
          <a:prstGeom prst="line">
            <a:avLst/>
          </a:prstGeom>
          <a:ln w="2159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7"/>
          <p:cNvSpPr/>
          <p:nvPr/>
        </p:nvSpPr>
        <p:spPr>
          <a:xfrm>
            <a:off x="4343400" y="4736520"/>
            <a:ext cx="3520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Feedback / umpan balik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8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9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Perawat menilai bukan hanya penyakit, tetapi juga pola respons klien terhadap lingkungan dan perubahan kondisi.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1"/>
          <p:cNvSpPr>
            <a:spLocks noGrp="1"/>
          </p:cNvSpPr>
          <p:nvPr>
            <p:ph type="sldNum" idx="10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845055-2A5F-4EBA-9854-11E1689F023A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Komponen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Empat komponen utama yang perlu dipahami saat memberikan asuhan.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5"/>
          <p:cNvSpPr/>
          <p:nvPr/>
        </p:nvSpPr>
        <p:spPr>
          <a:xfrm>
            <a:off x="685800" y="1508760"/>
            <a:ext cx="2559960" cy="3611520"/>
          </a:xfrm>
          <a:prstGeom prst="roundRect">
            <a:avLst>
              <a:gd name="adj" fmla="val 2857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685800" y="1508760"/>
            <a:ext cx="63720" cy="36115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850320" y="1645920"/>
            <a:ext cx="224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868680" y="2057400"/>
            <a:ext cx="221256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Masalah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Stresor fisik/psikososial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Informasi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Dukungan dan sumber daya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3429000" y="1508760"/>
            <a:ext cx="2559960" cy="3611520"/>
          </a:xfrm>
          <a:prstGeom prst="roundRect">
            <a:avLst>
              <a:gd name="adj" fmla="val 2857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0"/>
          <p:cNvSpPr/>
          <p:nvPr/>
        </p:nvSpPr>
        <p:spPr>
          <a:xfrm>
            <a:off x="3429000" y="1508760"/>
            <a:ext cx="63720" cy="36115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3593520" y="1645920"/>
            <a:ext cx="224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Proses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3611880" y="2057400"/>
            <a:ext cx="221256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Persepsi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Koping dan adaptasi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Pengambilan keputusan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Interaksi dengan tenaga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13"/>
          <p:cNvSpPr/>
          <p:nvPr/>
        </p:nvSpPr>
        <p:spPr>
          <a:xfrm>
            <a:off x="6172200" y="1508760"/>
            <a:ext cx="2559960" cy="3611520"/>
          </a:xfrm>
          <a:prstGeom prst="roundRect">
            <a:avLst>
              <a:gd name="adj" fmla="val 2857"/>
            </a:avLst>
          </a:prstGeom>
          <a:solidFill>
            <a:srgbClr val="fff4e6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4"/>
          <p:cNvSpPr/>
          <p:nvPr/>
        </p:nvSpPr>
        <p:spPr>
          <a:xfrm>
            <a:off x="6172200" y="1508760"/>
            <a:ext cx="63720" cy="3611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6336720" y="1645920"/>
            <a:ext cx="224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Output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6355080" y="2057400"/>
            <a:ext cx="221256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Perubahan status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Perilaku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Kepuasan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Kemampuan mandiri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8915400" y="1508760"/>
            <a:ext cx="2559960" cy="3611520"/>
          </a:xfrm>
          <a:prstGeom prst="roundRect">
            <a:avLst>
              <a:gd name="adj" fmla="val 2857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8"/>
          <p:cNvSpPr/>
          <p:nvPr/>
        </p:nvSpPr>
        <p:spPr>
          <a:xfrm>
            <a:off x="8915400" y="1508760"/>
            <a:ext cx="63720" cy="361152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9"/>
          <p:cNvSpPr/>
          <p:nvPr/>
        </p:nvSpPr>
        <p:spPr>
          <a:xfrm>
            <a:off x="9079920" y="1645920"/>
            <a:ext cx="2248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Feedback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9098280" y="2057400"/>
            <a:ext cx="2212560" cy="29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Respons terhadap intervensi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Perubahan kebutuhan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Hasil evaluasi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Rencana lanjutan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21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22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Pengkajian yang baik harus menangkap hubungan antar-komponen, bukan sekadar daftar masalah.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1"/>
          <p:cNvSpPr>
            <a:spLocks noGrp="1"/>
          </p:cNvSpPr>
          <p:nvPr>
            <p:ph type="sldNum" idx="11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3ED632-36C6-4BC0-8786-6EC922DE6DA4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Individu sebagai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Fokus pada respons unik seseorang terhadap masalah kesehatan dan kehidupannya.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5"/>
          <p:cNvSpPr/>
          <p:nvPr/>
        </p:nvSpPr>
        <p:spPr>
          <a:xfrm>
            <a:off x="960120" y="1572840"/>
            <a:ext cx="868320" cy="8683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6"/>
          <p:cNvSpPr/>
          <p:nvPr/>
        </p:nvSpPr>
        <p:spPr>
          <a:xfrm>
            <a:off x="1033200" y="1673280"/>
            <a:ext cx="722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BIO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960120" y="2724840"/>
            <a:ext cx="868320" cy="8683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8"/>
          <p:cNvSpPr/>
          <p:nvPr/>
        </p:nvSpPr>
        <p:spPr>
          <a:xfrm>
            <a:off x="1033200" y="2825640"/>
            <a:ext cx="722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PSI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960120" y="3877200"/>
            <a:ext cx="868320" cy="868320"/>
          </a:xfrm>
          <a:prstGeom prst="ellipse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1033200" y="3977640"/>
            <a:ext cx="722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SOS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1"/>
          <p:cNvSpPr/>
          <p:nvPr/>
        </p:nvSpPr>
        <p:spPr>
          <a:xfrm>
            <a:off x="960120" y="5029200"/>
            <a:ext cx="868320" cy="868320"/>
          </a:xfrm>
          <a:prstGeom prst="ellipse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1033200" y="5129640"/>
            <a:ext cx="722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SPI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2057400" y="1417320"/>
            <a:ext cx="3794400" cy="987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14"/>
          <p:cNvSpPr/>
          <p:nvPr/>
        </p:nvSpPr>
        <p:spPr>
          <a:xfrm>
            <a:off x="2057400" y="1417320"/>
            <a:ext cx="63720" cy="9871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5"/>
          <p:cNvSpPr/>
          <p:nvPr/>
        </p:nvSpPr>
        <p:spPr>
          <a:xfrm>
            <a:off x="2221920" y="1554480"/>
            <a:ext cx="3483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Biologis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6"/>
          <p:cNvSpPr/>
          <p:nvPr/>
        </p:nvSpPr>
        <p:spPr>
          <a:xfrm>
            <a:off x="2240280" y="1965960"/>
            <a:ext cx="344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Gejala, fungsi tubuh, nyeri, nutrisi, mobilitas, tidur.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7"/>
          <p:cNvSpPr/>
          <p:nvPr/>
        </p:nvSpPr>
        <p:spPr>
          <a:xfrm>
            <a:off x="2057400" y="2578680"/>
            <a:ext cx="3794400" cy="987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2057400" y="2578680"/>
            <a:ext cx="63720" cy="987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2221920" y="2715840"/>
            <a:ext cx="3483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Psikologis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2240280" y="3127320"/>
            <a:ext cx="344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Emosi, persepsi penyakit, kecemasan, motivasi, koping.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1"/>
          <p:cNvSpPr/>
          <p:nvPr/>
        </p:nvSpPr>
        <p:spPr>
          <a:xfrm>
            <a:off x="2057400" y="3740040"/>
            <a:ext cx="3794400" cy="987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2"/>
          <p:cNvSpPr/>
          <p:nvPr/>
        </p:nvSpPr>
        <p:spPr>
          <a:xfrm>
            <a:off x="2057400" y="3740040"/>
            <a:ext cx="63720" cy="9871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3"/>
          <p:cNvSpPr/>
          <p:nvPr/>
        </p:nvSpPr>
        <p:spPr>
          <a:xfrm>
            <a:off x="2221920" y="3877200"/>
            <a:ext cx="3483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Sosial &amp; budaya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4"/>
          <p:cNvSpPr/>
          <p:nvPr/>
        </p:nvSpPr>
        <p:spPr>
          <a:xfrm>
            <a:off x="2240280" y="4288680"/>
            <a:ext cx="344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Peran keluarga, pekerjaan, nilai, kebiasaan, dukungan sosial.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25"/>
          <p:cNvSpPr/>
          <p:nvPr/>
        </p:nvSpPr>
        <p:spPr>
          <a:xfrm>
            <a:off x="2057400" y="4901040"/>
            <a:ext cx="3794400" cy="98712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6"/>
          <p:cNvSpPr/>
          <p:nvPr/>
        </p:nvSpPr>
        <p:spPr>
          <a:xfrm>
            <a:off x="2057400" y="4901040"/>
            <a:ext cx="63720" cy="98712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7"/>
          <p:cNvSpPr/>
          <p:nvPr/>
        </p:nvSpPr>
        <p:spPr>
          <a:xfrm>
            <a:off x="2221920" y="5038200"/>
            <a:ext cx="34833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Spiritual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8"/>
          <p:cNvSpPr/>
          <p:nvPr/>
        </p:nvSpPr>
        <p:spPr>
          <a:xfrm>
            <a:off x="2240280" y="5449680"/>
            <a:ext cx="3447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Makna sakit, harapan, keyakinan, sumber kekuatan pribadi.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9"/>
          <p:cNvSpPr/>
          <p:nvPr/>
        </p:nvSpPr>
        <p:spPr>
          <a:xfrm>
            <a:off x="6537960" y="1572840"/>
            <a:ext cx="4617360" cy="4461840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0"/>
          <p:cNvSpPr/>
          <p:nvPr/>
        </p:nvSpPr>
        <p:spPr>
          <a:xfrm>
            <a:off x="6537960" y="1572840"/>
            <a:ext cx="63720" cy="446184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1"/>
          <p:cNvSpPr/>
          <p:nvPr/>
        </p:nvSpPr>
        <p:spPr>
          <a:xfrm>
            <a:off x="6702480" y="1710000"/>
            <a:ext cx="4306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Implikasi keperawatan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32"/>
          <p:cNvSpPr/>
          <p:nvPr/>
        </p:nvSpPr>
        <p:spPr>
          <a:xfrm>
            <a:off x="6720840" y="2121480"/>
            <a:ext cx="4269960" cy="378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Gunakan pendekatan holistik.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Hormati preferensi dan nilai klien.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Libatkan klien dalam keputusan asuhan.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Identifikasi kemampuan self-care.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Sesuaikan edukasi dengan literasi kesehatan.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Evaluasi perubahan respons dari waktu ke waktu.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sldNum" idx="12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E4ADEEE-8093-44F8-A129-7CB9FB09403E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Keluarga sebagai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Perubahan kesehatan satu anggota dapat memengaruhi seluruh keluarga.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5"/>
          <p:cNvSpPr/>
          <p:nvPr/>
        </p:nvSpPr>
        <p:spPr>
          <a:xfrm>
            <a:off x="4956120" y="2030040"/>
            <a:ext cx="2239920" cy="2239920"/>
          </a:xfrm>
          <a:prstGeom prst="ellipse">
            <a:avLst/>
          </a:prstGeom>
          <a:solidFill>
            <a:srgbClr val="e6f4f8"/>
          </a:solidFill>
          <a:ln w="254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6"/>
          <p:cNvSpPr/>
          <p:nvPr/>
        </p:nvSpPr>
        <p:spPr>
          <a:xfrm>
            <a:off x="5257800" y="2807280"/>
            <a:ext cx="1645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KELUARGA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7"/>
          <p:cNvSpPr/>
          <p:nvPr/>
        </p:nvSpPr>
        <p:spPr>
          <a:xfrm>
            <a:off x="914400" y="1417320"/>
            <a:ext cx="2559960" cy="1023840"/>
          </a:xfrm>
          <a:prstGeom prst="roundRect">
            <a:avLst>
              <a:gd name="adj" fmla="val 5357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8"/>
          <p:cNvSpPr/>
          <p:nvPr/>
        </p:nvSpPr>
        <p:spPr>
          <a:xfrm>
            <a:off x="1005840" y="1545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9"/>
          <p:cNvSpPr/>
          <p:nvPr/>
        </p:nvSpPr>
        <p:spPr>
          <a:xfrm>
            <a:off x="1005840" y="1856160"/>
            <a:ext cx="23770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Pembagian tugas dan tanggung jawab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0"/>
          <p:cNvSpPr/>
          <p:nvPr/>
        </p:nvSpPr>
        <p:spPr>
          <a:xfrm>
            <a:off x="914400" y="4160520"/>
            <a:ext cx="2559960" cy="1023840"/>
          </a:xfrm>
          <a:prstGeom prst="roundRect">
            <a:avLst>
              <a:gd name="adj" fmla="val 5357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1"/>
          <p:cNvSpPr/>
          <p:nvPr/>
        </p:nvSpPr>
        <p:spPr>
          <a:xfrm>
            <a:off x="1005840" y="4288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Komunikasi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2"/>
          <p:cNvSpPr/>
          <p:nvPr/>
        </p:nvSpPr>
        <p:spPr>
          <a:xfrm>
            <a:off x="1005840" y="4599360"/>
            <a:ext cx="23770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Cara keluarga bertukar informasi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3"/>
          <p:cNvSpPr/>
          <p:nvPr/>
        </p:nvSpPr>
        <p:spPr>
          <a:xfrm>
            <a:off x="8732520" y="1417320"/>
            <a:ext cx="2559960" cy="1023840"/>
          </a:xfrm>
          <a:prstGeom prst="roundRect">
            <a:avLst>
              <a:gd name="adj" fmla="val 5357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4"/>
          <p:cNvSpPr/>
          <p:nvPr/>
        </p:nvSpPr>
        <p:spPr>
          <a:xfrm>
            <a:off x="8823960" y="15454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Dukungan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5"/>
          <p:cNvSpPr/>
          <p:nvPr/>
        </p:nvSpPr>
        <p:spPr>
          <a:xfrm>
            <a:off x="8823960" y="1856160"/>
            <a:ext cx="23770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Emosional, finansial, praktis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6"/>
          <p:cNvSpPr/>
          <p:nvPr/>
        </p:nvSpPr>
        <p:spPr>
          <a:xfrm>
            <a:off x="8732520" y="4160520"/>
            <a:ext cx="2559960" cy="1023840"/>
          </a:xfrm>
          <a:prstGeom prst="roundRect">
            <a:avLst>
              <a:gd name="adj" fmla="val 5357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17"/>
          <p:cNvSpPr/>
          <p:nvPr/>
        </p:nvSpPr>
        <p:spPr>
          <a:xfrm>
            <a:off x="8823960" y="42886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Koping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18"/>
          <p:cNvSpPr/>
          <p:nvPr/>
        </p:nvSpPr>
        <p:spPr>
          <a:xfrm>
            <a:off x="8823960" y="4599360"/>
            <a:ext cx="23770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Cara menghadapi perubahan/stres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9"/>
          <p:cNvSpPr/>
          <p:nvPr/>
        </p:nvSpPr>
        <p:spPr>
          <a:xfrm>
            <a:off x="3474720" y="1920240"/>
            <a:ext cx="1444680" cy="97812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0"/>
          <p:cNvSpPr/>
          <p:nvPr/>
        </p:nvSpPr>
        <p:spPr>
          <a:xfrm flipV="1">
            <a:off x="3474720" y="3995640"/>
            <a:ext cx="1444680" cy="66780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1"/>
          <p:cNvSpPr/>
          <p:nvPr/>
        </p:nvSpPr>
        <p:spPr>
          <a:xfrm flipH="1">
            <a:off x="7287480" y="1920240"/>
            <a:ext cx="1445040" cy="97812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2"/>
          <p:cNvSpPr/>
          <p:nvPr/>
        </p:nvSpPr>
        <p:spPr>
          <a:xfrm flipH="1" flipV="1">
            <a:off x="7287480" y="3995640"/>
            <a:ext cx="1445040" cy="667800"/>
          </a:xfrm>
          <a:prstGeom prst="line">
            <a:avLst/>
          </a:prstGeom>
          <a:ln w="1905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23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24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Perawat dapat menggunakan keluarga sebagai sumber dukungan sekaligus sasaran edukasi dan intervensi.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1"/>
          <p:cNvSpPr>
            <a:spLocks noGrp="1"/>
          </p:cNvSpPr>
          <p:nvPr>
            <p:ph type="sldNum" idx="13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C83E998-280B-4C95-AE1E-B4729B1E8F6D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Kelompok sebagai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Kelompok memiliki tujuan, pola interaksi, dan kebutuhan kesehatan yang sama atau terkait.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5"/>
          <p:cNvSpPr/>
          <p:nvPr/>
        </p:nvSpPr>
        <p:spPr>
          <a:xfrm>
            <a:off x="713160" y="1481400"/>
            <a:ext cx="3337200" cy="4251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713160" y="1481400"/>
            <a:ext cx="63720" cy="425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877680" y="161856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Contoh kelompok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896040" y="2030040"/>
            <a:ext cx="2989800" cy="35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Kelompok ibu hamil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Kelompok lansia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Kelompok pasien diabetes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Kelompok pekerja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Kelompok dukungan penyakit kronis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4407480" y="1481400"/>
            <a:ext cx="3337200" cy="4251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4407480" y="1481400"/>
            <a:ext cx="63720" cy="425160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4572000" y="161856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Fokus pengkajian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4590360" y="2030040"/>
            <a:ext cx="2989800" cy="35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Karakteristik anggota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Tujuan dan norma kelompok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Pola komunikasi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Risiko kesehatan bersama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Sumber daya dan dukungan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8101440" y="1481400"/>
            <a:ext cx="3337200" cy="42516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>
            <a:off x="8101440" y="1481400"/>
            <a:ext cx="63720" cy="425160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8266320" y="161856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Intervensi perawat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8284320" y="2030040"/>
            <a:ext cx="2989800" cy="357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Pendidikan kelompok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Skrining dan pemantauan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Pemberdayaan peer support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Modifikasi perilaku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Evaluasi hasil bersama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17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18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Pendekatan kelompok efisien untuk promosi kesehatan, pencegahan penyakit, dan dukungan self-management.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1"/>
          <p:cNvSpPr>
            <a:spLocks noGrp="1"/>
          </p:cNvSpPr>
          <p:nvPr>
            <p:ph type="sldNum" idx="14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DDD5E3-1290-4C44-BE9F-54F60A309095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Komunitas sebagai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Unit analisisnya adalah populasi, lingkungan, dan sumber daya wilayah.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5"/>
          <p:cNvSpPr/>
          <p:nvPr/>
        </p:nvSpPr>
        <p:spPr>
          <a:xfrm>
            <a:off x="685800" y="1481400"/>
            <a:ext cx="3520080" cy="4297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685800" y="1481400"/>
            <a:ext cx="63720" cy="429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850320" y="1618560"/>
            <a:ext cx="3209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Data yang dikaji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868680" y="2030040"/>
            <a:ext cx="3172680" cy="36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Demografi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Masalah kesehatan dominan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Perilaku dan faktor risiko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Kondisi lingkungan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Akses layanan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Sumber daya komunitas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>
            <a:off x="4846320" y="1828800"/>
            <a:ext cx="2468520" cy="2468520"/>
          </a:xfrm>
          <a:prstGeom prst="ellipse">
            <a:avLst/>
          </a:prstGeom>
          <a:solidFill>
            <a:srgbClr val="e8f5f0"/>
          </a:solidFill>
          <a:ln w="2286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5193720" y="2715840"/>
            <a:ext cx="1782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KOMUNITAS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102280" y="3099960"/>
            <a:ext cx="1965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Populasi + lingkungan + layanan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2"/>
          <p:cNvSpPr/>
          <p:nvPr/>
        </p:nvSpPr>
        <p:spPr>
          <a:xfrm>
            <a:off x="4297680" y="1298520"/>
            <a:ext cx="548280" cy="5482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3"/>
          <p:cNvSpPr/>
          <p:nvPr/>
        </p:nvSpPr>
        <p:spPr>
          <a:xfrm>
            <a:off x="4370760" y="139896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14"/>
          <p:cNvSpPr/>
          <p:nvPr/>
        </p:nvSpPr>
        <p:spPr>
          <a:xfrm>
            <a:off x="6931080" y="1371600"/>
            <a:ext cx="548280" cy="5482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7004160" y="147204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16"/>
          <p:cNvSpPr/>
          <p:nvPr/>
        </p:nvSpPr>
        <p:spPr>
          <a:xfrm>
            <a:off x="4297680" y="4160520"/>
            <a:ext cx="548280" cy="548280"/>
          </a:xfrm>
          <a:prstGeom prst="ellipse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7"/>
          <p:cNvSpPr/>
          <p:nvPr/>
        </p:nvSpPr>
        <p:spPr>
          <a:xfrm>
            <a:off x="4370760" y="426096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6931080" y="4114800"/>
            <a:ext cx="548280" cy="548280"/>
          </a:xfrm>
          <a:prstGeom prst="ellipse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9"/>
          <p:cNvSpPr/>
          <p:nvPr/>
        </p:nvSpPr>
        <p:spPr>
          <a:xfrm>
            <a:off x="7004160" y="4215240"/>
            <a:ext cx="402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20"/>
          <p:cNvSpPr/>
          <p:nvPr/>
        </p:nvSpPr>
        <p:spPr>
          <a:xfrm>
            <a:off x="7955280" y="1481400"/>
            <a:ext cx="3520080" cy="4297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1"/>
          <p:cNvSpPr/>
          <p:nvPr/>
        </p:nvSpPr>
        <p:spPr>
          <a:xfrm>
            <a:off x="7955280" y="1481400"/>
            <a:ext cx="63720" cy="42973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8119800" y="1618560"/>
            <a:ext cx="3209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Peran perawat komunitas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3"/>
          <p:cNvSpPr/>
          <p:nvPr/>
        </p:nvSpPr>
        <p:spPr>
          <a:xfrm>
            <a:off x="8138160" y="2030040"/>
            <a:ext cx="3172680" cy="36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Surveilans sederhana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Promosi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Pencegahan dan skrining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Kolaborasi lintas sektor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Rujukan dan tindak lanjut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Evaluasi program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Num" idx="15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85AF9C-3548-4121-8172-5463A4823A43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Lingkungan Memengaruhi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Lingkungan dapat menjadi sumber dukungan maupun stresor.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822960" y="1664280"/>
            <a:ext cx="2468520" cy="3520080"/>
          </a:xfrm>
          <a:prstGeom prst="roundRect">
            <a:avLst>
              <a:gd name="adj" fmla="val 2963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6"/>
          <p:cNvSpPr/>
          <p:nvPr/>
        </p:nvSpPr>
        <p:spPr>
          <a:xfrm>
            <a:off x="822960" y="1664280"/>
            <a:ext cx="63720" cy="35200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987480" y="1801440"/>
            <a:ext cx="215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Fisik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8"/>
          <p:cNvSpPr/>
          <p:nvPr/>
        </p:nvSpPr>
        <p:spPr>
          <a:xfrm>
            <a:off x="1005840" y="2212920"/>
            <a:ext cx="2121120" cy="28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Hunian, kebersihan, keamanan, akses transportasi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9"/>
          <p:cNvSpPr/>
          <p:nvPr/>
        </p:nvSpPr>
        <p:spPr>
          <a:xfrm>
            <a:off x="3611880" y="1664280"/>
            <a:ext cx="2468520" cy="3520080"/>
          </a:xfrm>
          <a:prstGeom prst="roundRect">
            <a:avLst>
              <a:gd name="adj" fmla="val 2963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10"/>
          <p:cNvSpPr/>
          <p:nvPr/>
        </p:nvSpPr>
        <p:spPr>
          <a:xfrm>
            <a:off x="3611880" y="1664280"/>
            <a:ext cx="63720" cy="352008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1"/>
          <p:cNvSpPr/>
          <p:nvPr/>
        </p:nvSpPr>
        <p:spPr>
          <a:xfrm>
            <a:off x="3776400" y="1801440"/>
            <a:ext cx="215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Sosial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3794760" y="2212920"/>
            <a:ext cx="2121120" cy="28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Keluarga, teman, jejaring, stigma, dukungan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3"/>
          <p:cNvSpPr/>
          <p:nvPr/>
        </p:nvSpPr>
        <p:spPr>
          <a:xfrm>
            <a:off x="6400800" y="1664280"/>
            <a:ext cx="2468520" cy="3520080"/>
          </a:xfrm>
          <a:prstGeom prst="roundRect">
            <a:avLst>
              <a:gd name="adj" fmla="val 2963"/>
            </a:avLst>
          </a:prstGeom>
          <a:solidFill>
            <a:srgbClr val="fff4e6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6400800" y="1664280"/>
            <a:ext cx="63720" cy="3520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6565320" y="1801440"/>
            <a:ext cx="215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Ekonomi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6583680" y="2212920"/>
            <a:ext cx="2121120" cy="28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Pendapatan, pembiayaan, pekerjaan, akses obat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9189720" y="1664280"/>
            <a:ext cx="2468520" cy="3520080"/>
          </a:xfrm>
          <a:prstGeom prst="roundRect">
            <a:avLst>
              <a:gd name="adj" fmla="val 2963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8"/>
          <p:cNvSpPr/>
          <p:nvPr/>
        </p:nvSpPr>
        <p:spPr>
          <a:xfrm>
            <a:off x="9189720" y="1664280"/>
            <a:ext cx="63720" cy="352008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9"/>
          <p:cNvSpPr/>
          <p:nvPr/>
        </p:nvSpPr>
        <p:spPr>
          <a:xfrm>
            <a:off x="9354240" y="1801440"/>
            <a:ext cx="2157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Budaya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20"/>
          <p:cNvSpPr/>
          <p:nvPr/>
        </p:nvSpPr>
        <p:spPr>
          <a:xfrm>
            <a:off x="9372600" y="2212920"/>
            <a:ext cx="2121120" cy="284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Nilai, kepercayaan, bahasa, kebiasaan kesehatan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21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22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Intervensi yang efektif harus mempertimbangkan kemampuan klien beradaptasi dengan kondisi lingkungannya.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laceHolder 1"/>
          <p:cNvSpPr>
            <a:spLocks noGrp="1"/>
          </p:cNvSpPr>
          <p:nvPr>
            <p:ph type="sldNum" idx="16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74620-BEDD-4B69-9C5F-4F397AAF2458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Model Input–Proses–Output–Feedback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Cara sederhana memahami respons klien sebagai suatu sistem.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Shape 5"/>
          <p:cNvSpPr/>
          <p:nvPr/>
        </p:nvSpPr>
        <p:spPr>
          <a:xfrm>
            <a:off x="685800" y="2057400"/>
            <a:ext cx="2331360" cy="1234080"/>
          </a:xfrm>
          <a:prstGeom prst="roundRect">
            <a:avLst>
              <a:gd name="adj" fmla="val 444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777240" y="2185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INPUT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777240" y="2496240"/>
            <a:ext cx="2148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Keluhan, stresor, kebutuhan, sumber daya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8"/>
          <p:cNvSpPr/>
          <p:nvPr/>
        </p:nvSpPr>
        <p:spPr>
          <a:xfrm>
            <a:off x="3108960" y="2441520"/>
            <a:ext cx="59400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3794760" y="2057400"/>
            <a:ext cx="2331360" cy="1234080"/>
          </a:xfrm>
          <a:prstGeom prst="roundRect">
            <a:avLst>
              <a:gd name="adj" fmla="val 4444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3886200" y="2185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PROSES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3886200" y="2496240"/>
            <a:ext cx="2148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Persepsi, koping, adaptasi, keputusan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12"/>
          <p:cNvSpPr/>
          <p:nvPr/>
        </p:nvSpPr>
        <p:spPr>
          <a:xfrm>
            <a:off x="6217920" y="2441520"/>
            <a:ext cx="59400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13"/>
          <p:cNvSpPr/>
          <p:nvPr/>
        </p:nvSpPr>
        <p:spPr>
          <a:xfrm>
            <a:off x="6903720" y="2057400"/>
            <a:ext cx="2331360" cy="1234080"/>
          </a:xfrm>
          <a:prstGeom prst="roundRect">
            <a:avLst>
              <a:gd name="adj" fmla="val 4444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4"/>
          <p:cNvSpPr/>
          <p:nvPr/>
        </p:nvSpPr>
        <p:spPr>
          <a:xfrm>
            <a:off x="6995160" y="218556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OUTPUT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5"/>
          <p:cNvSpPr/>
          <p:nvPr/>
        </p:nvSpPr>
        <p:spPr>
          <a:xfrm>
            <a:off x="6995160" y="2496240"/>
            <a:ext cx="214848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Respons kesehatan dan perilaku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6"/>
          <p:cNvSpPr/>
          <p:nvPr/>
        </p:nvSpPr>
        <p:spPr>
          <a:xfrm>
            <a:off x="9326880" y="2441520"/>
            <a:ext cx="59400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17"/>
          <p:cNvSpPr/>
          <p:nvPr/>
        </p:nvSpPr>
        <p:spPr>
          <a:xfrm>
            <a:off x="10012680" y="2057400"/>
            <a:ext cx="1554120" cy="1234080"/>
          </a:xfrm>
          <a:prstGeom prst="roundRect">
            <a:avLst>
              <a:gd name="adj" fmla="val 4444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8"/>
          <p:cNvSpPr/>
          <p:nvPr/>
        </p:nvSpPr>
        <p:spPr>
          <a:xfrm>
            <a:off x="10104120" y="218556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HASIL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9"/>
          <p:cNvSpPr/>
          <p:nvPr/>
        </p:nvSpPr>
        <p:spPr>
          <a:xfrm>
            <a:off x="10104120" y="2496240"/>
            <a:ext cx="137124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Stabil / membaik / memburuk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20"/>
          <p:cNvSpPr/>
          <p:nvPr/>
        </p:nvSpPr>
        <p:spPr>
          <a:xfrm flipH="1">
            <a:off x="3291840" y="3657600"/>
            <a:ext cx="7498080" cy="1298160"/>
          </a:xfrm>
          <a:prstGeom prst="line">
            <a:avLst/>
          </a:prstGeom>
          <a:ln w="2286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21"/>
          <p:cNvSpPr/>
          <p:nvPr/>
        </p:nvSpPr>
        <p:spPr>
          <a:xfrm>
            <a:off x="3474720" y="4883040"/>
            <a:ext cx="6309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FEEDBACK: evaluasi hasil → penyesuaian rencana asuhan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22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3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Model ini membantu perawat melihat hubungan sebab–respons dan menentukan kapan intervensi perlu diubah atau dirujuk.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1"/>
          <p:cNvSpPr>
            <a:spLocks noGrp="1"/>
          </p:cNvSpPr>
          <p:nvPr>
            <p:ph type="sldNum" idx="17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EB61FF-C667-4E91-B55A-8B9B6B022A18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Pengkajian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Pengkajian mencakup kondisi, respons, sumber daya, dan risiko.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5"/>
          <p:cNvSpPr/>
          <p:nvPr/>
        </p:nvSpPr>
        <p:spPr>
          <a:xfrm>
            <a:off x="868680" y="1536120"/>
            <a:ext cx="658080" cy="6580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6"/>
          <p:cNvSpPr/>
          <p:nvPr/>
        </p:nvSpPr>
        <p:spPr>
          <a:xfrm>
            <a:off x="987480" y="16459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7"/>
          <p:cNvSpPr/>
          <p:nvPr/>
        </p:nvSpPr>
        <p:spPr>
          <a:xfrm>
            <a:off x="1691640" y="16185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Identifikasi masalah utama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8"/>
          <p:cNvSpPr/>
          <p:nvPr/>
        </p:nvSpPr>
        <p:spPr>
          <a:xfrm>
            <a:off x="868680" y="2468880"/>
            <a:ext cx="658080" cy="658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9"/>
          <p:cNvSpPr/>
          <p:nvPr/>
        </p:nvSpPr>
        <p:spPr>
          <a:xfrm>
            <a:off x="987480" y="257868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10"/>
          <p:cNvSpPr/>
          <p:nvPr/>
        </p:nvSpPr>
        <p:spPr>
          <a:xfrm>
            <a:off x="1691640" y="255132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Nilai respons klien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11"/>
          <p:cNvSpPr/>
          <p:nvPr/>
        </p:nvSpPr>
        <p:spPr>
          <a:xfrm>
            <a:off x="868680" y="3401640"/>
            <a:ext cx="658080" cy="658080"/>
          </a:xfrm>
          <a:prstGeom prst="ellipse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2"/>
          <p:cNvSpPr/>
          <p:nvPr/>
        </p:nvSpPr>
        <p:spPr>
          <a:xfrm>
            <a:off x="987480" y="351144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3"/>
          <p:cNvSpPr/>
          <p:nvPr/>
        </p:nvSpPr>
        <p:spPr>
          <a:xfrm>
            <a:off x="1691640" y="348372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Identifikasi faktor lingkungan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4"/>
          <p:cNvSpPr/>
          <p:nvPr/>
        </p:nvSpPr>
        <p:spPr>
          <a:xfrm>
            <a:off x="868680" y="4334400"/>
            <a:ext cx="658080" cy="658080"/>
          </a:xfrm>
          <a:prstGeom prst="ellipse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5"/>
          <p:cNvSpPr/>
          <p:nvPr/>
        </p:nvSpPr>
        <p:spPr>
          <a:xfrm>
            <a:off x="987480" y="444384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6"/>
          <p:cNvSpPr/>
          <p:nvPr/>
        </p:nvSpPr>
        <p:spPr>
          <a:xfrm>
            <a:off x="1691640" y="441648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Petakan sumber daya &amp; dukungan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7"/>
          <p:cNvSpPr/>
          <p:nvPr/>
        </p:nvSpPr>
        <p:spPr>
          <a:xfrm>
            <a:off x="868680" y="5266800"/>
            <a:ext cx="658080" cy="658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8"/>
          <p:cNvSpPr/>
          <p:nvPr/>
        </p:nvSpPr>
        <p:spPr>
          <a:xfrm>
            <a:off x="987480" y="537660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9"/>
          <p:cNvSpPr/>
          <p:nvPr/>
        </p:nvSpPr>
        <p:spPr>
          <a:xfrm>
            <a:off x="1691640" y="534924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Tentukan kebutuhan tindak lanjut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20"/>
          <p:cNvSpPr/>
          <p:nvPr/>
        </p:nvSpPr>
        <p:spPr>
          <a:xfrm>
            <a:off x="5074920" y="1536120"/>
            <a:ext cx="59889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21"/>
          <p:cNvSpPr/>
          <p:nvPr/>
        </p:nvSpPr>
        <p:spPr>
          <a:xfrm>
            <a:off x="5074920" y="1536120"/>
            <a:ext cx="63720" cy="448020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2"/>
          <p:cNvSpPr/>
          <p:nvPr/>
        </p:nvSpPr>
        <p:spPr>
          <a:xfrm>
            <a:off x="5239440" y="1673280"/>
            <a:ext cx="5677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Pertanyaan panduan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3"/>
          <p:cNvSpPr/>
          <p:nvPr/>
        </p:nvSpPr>
        <p:spPr>
          <a:xfrm>
            <a:off x="5257800" y="2084760"/>
            <a:ext cx="5641560" cy="38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Apa masalah kesehatan yang paling prioritas?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Bagaimana klien memahami kondisinya?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Apa kemampuan dan hambatan self-care?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Siapa yang dapat membantu klien?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Apakah ada tanda bahaya atau kebutuhan rujukan?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Apa hasil yang diharapkan bersama klien?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Num" idx="18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F459CC-B0D6-4C4C-9B42-BDB399017A75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Kebutuhan Klien sebagai Dasar Prioritas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Prioritas ditentukan oleh urgensi, keselamatan, fungsi, dan kemampuan klien.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5"/>
          <p:cNvSpPr/>
          <p:nvPr/>
        </p:nvSpPr>
        <p:spPr>
          <a:xfrm>
            <a:off x="1143000" y="1417320"/>
            <a:ext cx="9875160" cy="840960"/>
          </a:xfrm>
          <a:prstGeom prst="roundRect">
            <a:avLst>
              <a:gd name="adj" fmla="val 5435"/>
            </a:avLst>
          </a:prstGeom>
          <a:solidFill>
            <a:srgbClr val="fdecef"/>
          </a:solidFill>
          <a:ln w="15240">
            <a:solidFill>
              <a:srgbClr val="b23a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6"/>
          <p:cNvSpPr/>
          <p:nvPr/>
        </p:nvSpPr>
        <p:spPr>
          <a:xfrm>
            <a:off x="1371600" y="157284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Keselamatan &amp; fisiologis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7"/>
          <p:cNvSpPr/>
          <p:nvPr/>
        </p:nvSpPr>
        <p:spPr>
          <a:xfrm>
            <a:off x="4480560" y="1563480"/>
            <a:ext cx="6263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Airway, breathing, circulation, nyeri akut, nutrisi, eliminasi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8"/>
          <p:cNvSpPr/>
          <p:nvPr/>
        </p:nvSpPr>
        <p:spPr>
          <a:xfrm>
            <a:off x="1645920" y="2532960"/>
            <a:ext cx="8869320" cy="840960"/>
          </a:xfrm>
          <a:prstGeom prst="roundRect">
            <a:avLst>
              <a:gd name="adj" fmla="val 5435"/>
            </a:avLst>
          </a:prstGeom>
          <a:solidFill>
            <a:srgbClr val="fff4e6"/>
          </a:solidFill>
          <a:ln w="1524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9"/>
          <p:cNvSpPr/>
          <p:nvPr/>
        </p:nvSpPr>
        <p:spPr>
          <a:xfrm>
            <a:off x="1874520" y="268848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Stabilitas &amp; perlindungan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0"/>
          <p:cNvSpPr/>
          <p:nvPr/>
        </p:nvSpPr>
        <p:spPr>
          <a:xfrm>
            <a:off x="4983480" y="2679120"/>
            <a:ext cx="5257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Risiko jatuh, infeksi, keamanan obat, lingkungan aman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Shape 11"/>
          <p:cNvSpPr/>
          <p:nvPr/>
        </p:nvSpPr>
        <p:spPr>
          <a:xfrm>
            <a:off x="2148840" y="3648600"/>
            <a:ext cx="7863480" cy="840960"/>
          </a:xfrm>
          <a:prstGeom prst="roundRect">
            <a:avLst>
              <a:gd name="adj" fmla="val 5435"/>
            </a:avLst>
          </a:prstGeom>
          <a:solidFill>
            <a:srgbClr val="e6f4f8"/>
          </a:solidFill>
          <a:ln w="1524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2"/>
          <p:cNvSpPr/>
          <p:nvPr/>
        </p:nvSpPr>
        <p:spPr>
          <a:xfrm>
            <a:off x="2377440" y="380376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Psikososial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3"/>
          <p:cNvSpPr/>
          <p:nvPr/>
        </p:nvSpPr>
        <p:spPr>
          <a:xfrm>
            <a:off x="5486400" y="3794760"/>
            <a:ext cx="42516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Dukungan, kecemasan, peran keluarga, komunikasi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4"/>
          <p:cNvSpPr/>
          <p:nvPr/>
        </p:nvSpPr>
        <p:spPr>
          <a:xfrm>
            <a:off x="2651760" y="4763880"/>
            <a:ext cx="6857640" cy="840960"/>
          </a:xfrm>
          <a:prstGeom prst="roundRect">
            <a:avLst>
              <a:gd name="adj" fmla="val 5435"/>
            </a:avLst>
          </a:prstGeom>
          <a:solidFill>
            <a:srgbClr val="e8f5f0"/>
          </a:solidFill>
          <a:ln w="1524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5"/>
          <p:cNvSpPr/>
          <p:nvPr/>
        </p:nvSpPr>
        <p:spPr>
          <a:xfrm>
            <a:off x="2880360" y="4919400"/>
            <a:ext cx="2925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Kemandirian &amp; aktualisasi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6"/>
          <p:cNvSpPr/>
          <p:nvPr/>
        </p:nvSpPr>
        <p:spPr>
          <a:xfrm>
            <a:off x="5989320" y="4910400"/>
            <a:ext cx="3245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Self-care, rehabilitasi, tujuan hidup, kualitas hidup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7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8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Semakin tinggi risiko terhadap keselamatan dan fungsi vital, semakin tinggi prioritas intervensinya.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PlaceHolder 1"/>
          <p:cNvSpPr>
            <a:spLocks noGrp="1"/>
          </p:cNvSpPr>
          <p:nvPr>
            <p:ph type="sldNum" idx="19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C34ACF-A964-4B2F-BF40-67FBD1D1F768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Sistem Klien dan Proses Keperawatan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Proses keperawatan memberi struktur untuk mengelola kebutuhan klien.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5"/>
          <p:cNvSpPr/>
          <p:nvPr/>
        </p:nvSpPr>
        <p:spPr>
          <a:xfrm>
            <a:off x="640080" y="1920240"/>
            <a:ext cx="1938240" cy="2422800"/>
          </a:xfrm>
          <a:prstGeom prst="roundRect">
            <a:avLst>
              <a:gd name="adj" fmla="val 2830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6"/>
          <p:cNvSpPr/>
          <p:nvPr/>
        </p:nvSpPr>
        <p:spPr>
          <a:xfrm>
            <a:off x="1289160" y="1536120"/>
            <a:ext cx="639720" cy="6397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7"/>
          <p:cNvSpPr/>
          <p:nvPr/>
        </p:nvSpPr>
        <p:spPr>
          <a:xfrm>
            <a:off x="1426320" y="1673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"/>
          <p:cNvSpPr/>
          <p:nvPr/>
        </p:nvSpPr>
        <p:spPr>
          <a:xfrm>
            <a:off x="786240" y="233172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Pengkajian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9"/>
          <p:cNvSpPr/>
          <p:nvPr/>
        </p:nvSpPr>
        <p:spPr>
          <a:xfrm>
            <a:off x="822960" y="2971800"/>
            <a:ext cx="1572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Kumpulkan data sistem klien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0"/>
          <p:cNvSpPr/>
          <p:nvPr/>
        </p:nvSpPr>
        <p:spPr>
          <a:xfrm>
            <a:off x="2597040" y="2788920"/>
            <a:ext cx="292320" cy="30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1"/>
          <p:cNvSpPr/>
          <p:nvPr/>
        </p:nvSpPr>
        <p:spPr>
          <a:xfrm>
            <a:off x="2944440" y="1920240"/>
            <a:ext cx="1938240" cy="2422800"/>
          </a:xfrm>
          <a:prstGeom prst="roundRect">
            <a:avLst>
              <a:gd name="adj" fmla="val 2830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12"/>
          <p:cNvSpPr/>
          <p:nvPr/>
        </p:nvSpPr>
        <p:spPr>
          <a:xfrm>
            <a:off x="3593520" y="1536120"/>
            <a:ext cx="639720" cy="6397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13"/>
          <p:cNvSpPr/>
          <p:nvPr/>
        </p:nvSpPr>
        <p:spPr>
          <a:xfrm>
            <a:off x="3730680" y="1673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4"/>
          <p:cNvSpPr/>
          <p:nvPr/>
        </p:nvSpPr>
        <p:spPr>
          <a:xfrm>
            <a:off x="3090600" y="233172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Diagnosis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3127320" y="2971800"/>
            <a:ext cx="1572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Identifikasi respons/masalah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16"/>
          <p:cNvSpPr/>
          <p:nvPr/>
        </p:nvSpPr>
        <p:spPr>
          <a:xfrm>
            <a:off x="4901040" y="2788920"/>
            <a:ext cx="292320" cy="30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7"/>
          <p:cNvSpPr/>
          <p:nvPr/>
        </p:nvSpPr>
        <p:spPr>
          <a:xfrm>
            <a:off x="5248800" y="1920240"/>
            <a:ext cx="1938240" cy="2422800"/>
          </a:xfrm>
          <a:prstGeom prst="roundRect">
            <a:avLst>
              <a:gd name="adj" fmla="val 2830"/>
            </a:avLst>
          </a:prstGeom>
          <a:solidFill>
            <a:srgbClr val="fff4e6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8"/>
          <p:cNvSpPr/>
          <p:nvPr/>
        </p:nvSpPr>
        <p:spPr>
          <a:xfrm>
            <a:off x="5897880" y="1536120"/>
            <a:ext cx="639720" cy="6397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9"/>
          <p:cNvSpPr/>
          <p:nvPr/>
        </p:nvSpPr>
        <p:spPr>
          <a:xfrm>
            <a:off x="6035040" y="1673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0"/>
          <p:cNvSpPr/>
          <p:nvPr/>
        </p:nvSpPr>
        <p:spPr>
          <a:xfrm>
            <a:off x="5394960" y="233172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Perencanaan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21"/>
          <p:cNvSpPr/>
          <p:nvPr/>
        </p:nvSpPr>
        <p:spPr>
          <a:xfrm>
            <a:off x="5431680" y="2971800"/>
            <a:ext cx="1572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Tentukan tujuan dan prioritas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22"/>
          <p:cNvSpPr/>
          <p:nvPr/>
        </p:nvSpPr>
        <p:spPr>
          <a:xfrm>
            <a:off x="7205400" y="2788920"/>
            <a:ext cx="292320" cy="30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23"/>
          <p:cNvSpPr/>
          <p:nvPr/>
        </p:nvSpPr>
        <p:spPr>
          <a:xfrm>
            <a:off x="7552800" y="1920240"/>
            <a:ext cx="1938240" cy="2422800"/>
          </a:xfrm>
          <a:prstGeom prst="roundRect">
            <a:avLst>
              <a:gd name="adj" fmla="val 2830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4"/>
          <p:cNvSpPr/>
          <p:nvPr/>
        </p:nvSpPr>
        <p:spPr>
          <a:xfrm>
            <a:off x="8202240" y="1536120"/>
            <a:ext cx="639720" cy="6397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5"/>
          <p:cNvSpPr/>
          <p:nvPr/>
        </p:nvSpPr>
        <p:spPr>
          <a:xfrm>
            <a:off x="8339400" y="1673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6"/>
          <p:cNvSpPr/>
          <p:nvPr/>
        </p:nvSpPr>
        <p:spPr>
          <a:xfrm>
            <a:off x="7699320" y="233172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Implementasi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7"/>
          <p:cNvSpPr/>
          <p:nvPr/>
        </p:nvSpPr>
        <p:spPr>
          <a:xfrm>
            <a:off x="7735680" y="2971800"/>
            <a:ext cx="1572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Lakukan intervensi/kolaborasi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28"/>
          <p:cNvSpPr/>
          <p:nvPr/>
        </p:nvSpPr>
        <p:spPr>
          <a:xfrm>
            <a:off x="9509760" y="2788920"/>
            <a:ext cx="292320" cy="3013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4748b">
              <a:alpha val="85000"/>
            </a:srgbClr>
          </a:solidFill>
          <a:ln w="12700">
            <a:solidFill>
              <a:srgbClr val="64748b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29"/>
          <p:cNvSpPr/>
          <p:nvPr/>
        </p:nvSpPr>
        <p:spPr>
          <a:xfrm>
            <a:off x="9857160" y="1920240"/>
            <a:ext cx="1938240" cy="2422800"/>
          </a:xfrm>
          <a:prstGeom prst="roundRect">
            <a:avLst>
              <a:gd name="adj" fmla="val 2830"/>
            </a:avLst>
          </a:prstGeom>
          <a:solidFill>
            <a:srgbClr val="fdece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0"/>
          <p:cNvSpPr/>
          <p:nvPr/>
        </p:nvSpPr>
        <p:spPr>
          <a:xfrm>
            <a:off x="10506600" y="1536120"/>
            <a:ext cx="639720" cy="63972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1"/>
          <p:cNvSpPr/>
          <p:nvPr/>
        </p:nvSpPr>
        <p:spPr>
          <a:xfrm>
            <a:off x="10643760" y="167328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2"/>
          <p:cNvSpPr/>
          <p:nvPr/>
        </p:nvSpPr>
        <p:spPr>
          <a:xfrm>
            <a:off x="10003680" y="2331720"/>
            <a:ext cx="1645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Evaluasi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33"/>
          <p:cNvSpPr/>
          <p:nvPr/>
        </p:nvSpPr>
        <p:spPr>
          <a:xfrm>
            <a:off x="10040040" y="2971800"/>
            <a:ext cx="1572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Nilai hasil dan feedback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Shape 34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35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Tahap evaluasi menghasilkan feedback yang dapat membawa perawat kembali ke pengkajian dan perencanaan.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1"/>
          <p:cNvSpPr>
            <a:spLocks noGrp="1"/>
          </p:cNvSpPr>
          <p:nvPr>
            <p:ph type="sldNum" idx="20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31B1CB-C54C-4408-8BA5-ECEEC22380E4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Hubungan Terapeutik Mendukung Sistem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Keterlibatan klien meningkatkan kualitas keputusan dan kepatuhan terhadap rencana asuhan.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5"/>
          <p:cNvSpPr/>
          <p:nvPr/>
        </p:nvSpPr>
        <p:spPr>
          <a:xfrm>
            <a:off x="777240" y="1508760"/>
            <a:ext cx="3337200" cy="4434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6"/>
          <p:cNvSpPr/>
          <p:nvPr/>
        </p:nvSpPr>
        <p:spPr>
          <a:xfrm>
            <a:off x="777240" y="1508760"/>
            <a:ext cx="63720" cy="44344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7"/>
          <p:cNvSpPr/>
          <p:nvPr/>
        </p:nvSpPr>
        <p:spPr>
          <a:xfrm>
            <a:off x="941760" y="164592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Prinsip komunikasi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8"/>
          <p:cNvSpPr/>
          <p:nvPr/>
        </p:nvSpPr>
        <p:spPr>
          <a:xfrm>
            <a:off x="960120" y="2057400"/>
            <a:ext cx="2989800" cy="37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Empati dan menghargai martabat.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Bahasa sederhana dan jelas.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Mendengar aktif.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Mengonfirmasi pemahaman.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Menjaga privasi dan kerahasiaan.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9"/>
          <p:cNvSpPr/>
          <p:nvPr/>
        </p:nvSpPr>
        <p:spPr>
          <a:xfrm>
            <a:off x="4434840" y="1508760"/>
            <a:ext cx="3337200" cy="4434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10"/>
          <p:cNvSpPr/>
          <p:nvPr/>
        </p:nvSpPr>
        <p:spPr>
          <a:xfrm>
            <a:off x="4434840" y="1508760"/>
            <a:ext cx="63720" cy="443448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11"/>
          <p:cNvSpPr/>
          <p:nvPr/>
        </p:nvSpPr>
        <p:spPr>
          <a:xfrm>
            <a:off x="4599360" y="164592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Shared decision-making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2"/>
          <p:cNvSpPr/>
          <p:nvPr/>
        </p:nvSpPr>
        <p:spPr>
          <a:xfrm>
            <a:off x="4617720" y="2057400"/>
            <a:ext cx="2989800" cy="37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Jelaskan pilihan yang tersedia.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Bahas manfaat dan risiko.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Pertimbangkan nilai/preferensi klien.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Tentukan tujuan bersama.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Dokumentasikan keputusan.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3"/>
          <p:cNvSpPr/>
          <p:nvPr/>
        </p:nvSpPr>
        <p:spPr>
          <a:xfrm>
            <a:off x="8092440" y="1508760"/>
            <a:ext cx="3337200" cy="44344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8092440" y="1508760"/>
            <a:ext cx="63720" cy="443448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5"/>
          <p:cNvSpPr/>
          <p:nvPr/>
        </p:nvSpPr>
        <p:spPr>
          <a:xfrm>
            <a:off x="8256960" y="1645920"/>
            <a:ext cx="3026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Hasil yang diharapkan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6"/>
          <p:cNvSpPr/>
          <p:nvPr/>
        </p:nvSpPr>
        <p:spPr>
          <a:xfrm>
            <a:off x="8275320" y="2057400"/>
            <a:ext cx="2989800" cy="37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Klien merasa didengar.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Keputusan lebih realistis.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Self-care meningkat.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Kesalahan komunikasi berkurang.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Kontinuitas asuhan lebih baik.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1"/>
          <p:cNvSpPr>
            <a:spLocks noGrp="1"/>
          </p:cNvSpPr>
          <p:nvPr>
            <p:ph type="sldNum" idx="21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8E4C5B-3053-49D4-932E-3B88F1BDF6B7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SISTEM KLIEN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Kesinambungan dan Koordinasi Asuhan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Perpindahan antarunit atau tingkat layanan harus tetap menjaga informasi dan rencana asuhan.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5"/>
          <p:cNvSpPr/>
          <p:nvPr/>
        </p:nvSpPr>
        <p:spPr>
          <a:xfrm>
            <a:off x="777240" y="1920240"/>
            <a:ext cx="2331360" cy="1023840"/>
          </a:xfrm>
          <a:prstGeom prst="roundRect">
            <a:avLst>
              <a:gd name="adj" fmla="val 5357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6"/>
          <p:cNvSpPr/>
          <p:nvPr/>
        </p:nvSpPr>
        <p:spPr>
          <a:xfrm>
            <a:off x="868680" y="20484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Asuhan Awal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7"/>
          <p:cNvSpPr/>
          <p:nvPr/>
        </p:nvSpPr>
        <p:spPr>
          <a:xfrm>
            <a:off x="868680" y="2359080"/>
            <a:ext cx="2148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Pengkajian + stabilisasi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Shape 8"/>
          <p:cNvSpPr/>
          <p:nvPr/>
        </p:nvSpPr>
        <p:spPr>
          <a:xfrm>
            <a:off x="3246120" y="2240280"/>
            <a:ext cx="56664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9"/>
          <p:cNvSpPr/>
          <p:nvPr/>
        </p:nvSpPr>
        <p:spPr>
          <a:xfrm>
            <a:off x="3950280" y="1920240"/>
            <a:ext cx="2331360" cy="1023840"/>
          </a:xfrm>
          <a:prstGeom prst="roundRect">
            <a:avLst>
              <a:gd name="adj" fmla="val 5357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0"/>
          <p:cNvSpPr/>
          <p:nvPr/>
        </p:nvSpPr>
        <p:spPr>
          <a:xfrm>
            <a:off x="4041720" y="20484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Komunikasi Klinis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1"/>
          <p:cNvSpPr/>
          <p:nvPr/>
        </p:nvSpPr>
        <p:spPr>
          <a:xfrm>
            <a:off x="4041720" y="2359080"/>
            <a:ext cx="2148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Ringkas kondisi + prioritas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12"/>
          <p:cNvSpPr/>
          <p:nvPr/>
        </p:nvSpPr>
        <p:spPr>
          <a:xfrm>
            <a:off x="6419160" y="2240280"/>
            <a:ext cx="56664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13"/>
          <p:cNvSpPr/>
          <p:nvPr/>
        </p:nvSpPr>
        <p:spPr>
          <a:xfrm>
            <a:off x="7123320" y="1920240"/>
            <a:ext cx="2331360" cy="1023840"/>
          </a:xfrm>
          <a:prstGeom prst="roundRect">
            <a:avLst>
              <a:gd name="adj" fmla="val 5357"/>
            </a:avLst>
          </a:prstGeom>
          <a:solidFill>
            <a:srgbClr val="fff4e6"/>
          </a:solidFill>
          <a:ln w="12700">
            <a:solidFill>
              <a:srgbClr val="fff4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4"/>
          <p:cNvSpPr/>
          <p:nvPr/>
        </p:nvSpPr>
        <p:spPr>
          <a:xfrm>
            <a:off x="7214760" y="2048400"/>
            <a:ext cx="2148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Rujukan/Transfer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5"/>
          <p:cNvSpPr/>
          <p:nvPr/>
        </p:nvSpPr>
        <p:spPr>
          <a:xfrm>
            <a:off x="7214760" y="2359080"/>
            <a:ext cx="2148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Tujuan + kebutuhan lanjutan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16"/>
          <p:cNvSpPr/>
          <p:nvPr/>
        </p:nvSpPr>
        <p:spPr>
          <a:xfrm>
            <a:off x="9592200" y="2240280"/>
            <a:ext cx="56664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7"/>
          <p:cNvSpPr/>
          <p:nvPr/>
        </p:nvSpPr>
        <p:spPr>
          <a:xfrm>
            <a:off x="10268640" y="1920240"/>
            <a:ext cx="1188360" cy="1023840"/>
          </a:xfrm>
          <a:prstGeom prst="roundRect">
            <a:avLst>
              <a:gd name="adj" fmla="val 5357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8"/>
          <p:cNvSpPr/>
          <p:nvPr/>
        </p:nvSpPr>
        <p:spPr>
          <a:xfrm>
            <a:off x="10360080" y="204840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Follow-up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9"/>
          <p:cNvSpPr/>
          <p:nvPr/>
        </p:nvSpPr>
        <p:spPr>
          <a:xfrm>
            <a:off x="10360080" y="2359080"/>
            <a:ext cx="10054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Hasil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20"/>
          <p:cNvSpPr/>
          <p:nvPr/>
        </p:nvSpPr>
        <p:spPr>
          <a:xfrm>
            <a:off x="1143000" y="3794760"/>
            <a:ext cx="4800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21"/>
          <p:cNvSpPr/>
          <p:nvPr/>
        </p:nvSpPr>
        <p:spPr>
          <a:xfrm>
            <a:off x="1143000" y="3794760"/>
            <a:ext cx="63720" cy="141696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22"/>
          <p:cNvSpPr/>
          <p:nvPr/>
        </p:nvSpPr>
        <p:spPr>
          <a:xfrm>
            <a:off x="1307520" y="3931920"/>
            <a:ext cx="4489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Yang harus ikut “berpindah” bersama klien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3"/>
          <p:cNvSpPr/>
          <p:nvPr/>
        </p:nvSpPr>
        <p:spPr>
          <a:xfrm>
            <a:off x="1325880" y="4343400"/>
            <a:ext cx="4452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Informasi kondisi terkini, terapi yang telah diberikan, risiko, kebutuhan keperawatan, edukasi, dan rencana tindak lanjut.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24"/>
          <p:cNvSpPr/>
          <p:nvPr/>
        </p:nvSpPr>
        <p:spPr>
          <a:xfrm>
            <a:off x="6263640" y="3794760"/>
            <a:ext cx="4800240" cy="141696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25"/>
          <p:cNvSpPr/>
          <p:nvPr/>
        </p:nvSpPr>
        <p:spPr>
          <a:xfrm>
            <a:off x="6263640" y="3794760"/>
            <a:ext cx="63720" cy="141696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6"/>
          <p:cNvSpPr/>
          <p:nvPr/>
        </p:nvSpPr>
        <p:spPr>
          <a:xfrm>
            <a:off x="6428160" y="3931920"/>
            <a:ext cx="44892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Tujuan koordinasi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7"/>
          <p:cNvSpPr/>
          <p:nvPr/>
        </p:nvSpPr>
        <p:spPr>
          <a:xfrm>
            <a:off x="6446520" y="4343400"/>
            <a:ext cx="4452840" cy="74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Mencegah duplikasi, keterlambatan, kehilangan informasi, dan kesenjangan pelayanan.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sldNum" idx="22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D155C8-C77A-4F3E-A8A8-B3926A98F53E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Tingkatan Pelayanan Kesehatan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Secara umum layanan dibedakan berdasarkan kompleksitas kebutuhan dan sumber daya.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5"/>
          <p:cNvSpPr/>
          <p:nvPr/>
        </p:nvSpPr>
        <p:spPr>
          <a:xfrm>
            <a:off x="777240" y="1481400"/>
            <a:ext cx="3382920" cy="4388760"/>
          </a:xfrm>
          <a:prstGeom prst="roundRect">
            <a:avLst>
              <a:gd name="adj" fmla="val 2162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6"/>
          <p:cNvSpPr/>
          <p:nvPr/>
        </p:nvSpPr>
        <p:spPr>
          <a:xfrm>
            <a:off x="777240" y="1481400"/>
            <a:ext cx="63720" cy="4388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7"/>
          <p:cNvSpPr/>
          <p:nvPr/>
        </p:nvSpPr>
        <p:spPr>
          <a:xfrm>
            <a:off x="941760" y="161856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Pelayanan Primer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8"/>
          <p:cNvSpPr/>
          <p:nvPr/>
        </p:nvSpPr>
        <p:spPr>
          <a:xfrm>
            <a:off x="960120" y="2030040"/>
            <a:ext cx="3035520" cy="37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Kontak pertama, mudah diakses, fokus promosi, pencegahan, masalah umum, tindak lanjut.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9"/>
          <p:cNvSpPr/>
          <p:nvPr/>
        </p:nvSpPr>
        <p:spPr>
          <a:xfrm>
            <a:off x="4407480" y="1481400"/>
            <a:ext cx="3382920" cy="4388760"/>
          </a:xfrm>
          <a:prstGeom prst="roundRect">
            <a:avLst>
              <a:gd name="adj" fmla="val 2162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10"/>
          <p:cNvSpPr/>
          <p:nvPr/>
        </p:nvSpPr>
        <p:spPr>
          <a:xfrm>
            <a:off x="4407480" y="1481400"/>
            <a:ext cx="63720" cy="438876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11"/>
          <p:cNvSpPr/>
          <p:nvPr/>
        </p:nvSpPr>
        <p:spPr>
          <a:xfrm>
            <a:off x="4572000" y="161856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Pelayanan Sekunder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2"/>
          <p:cNvSpPr/>
          <p:nvPr/>
        </p:nvSpPr>
        <p:spPr>
          <a:xfrm>
            <a:off x="4590360" y="2030040"/>
            <a:ext cx="3035520" cy="37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Layanan lanjutan oleh tenaga spesialis untuk masalah yang memerlukan evaluasi dan terapi lebih kompleks.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3"/>
          <p:cNvSpPr/>
          <p:nvPr/>
        </p:nvSpPr>
        <p:spPr>
          <a:xfrm>
            <a:off x="8037720" y="1481400"/>
            <a:ext cx="3382920" cy="4388760"/>
          </a:xfrm>
          <a:prstGeom prst="roundRect">
            <a:avLst>
              <a:gd name="adj" fmla="val 2162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Shape 14"/>
          <p:cNvSpPr/>
          <p:nvPr/>
        </p:nvSpPr>
        <p:spPr>
          <a:xfrm>
            <a:off x="8037720" y="1481400"/>
            <a:ext cx="63720" cy="438876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5"/>
          <p:cNvSpPr/>
          <p:nvPr/>
        </p:nvSpPr>
        <p:spPr>
          <a:xfrm>
            <a:off x="8202240" y="1618560"/>
            <a:ext cx="3071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Pelayanan Tersier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16"/>
          <p:cNvSpPr/>
          <p:nvPr/>
        </p:nvSpPr>
        <p:spPr>
          <a:xfrm>
            <a:off x="8220600" y="2030040"/>
            <a:ext cx="3035520" cy="371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Layanan sangat spesialistik dengan teknologi, keahlian, atau fasilitas tingkat lanjut.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17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8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Tidak semua klien harus langsung ke layanan tertinggi; pemilihan tingkat layanan harus sesuai kebutuhan klinis dan sistem rujukan.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PlaceHolder 1"/>
          <p:cNvSpPr>
            <a:spLocks noGrp="1"/>
          </p:cNvSpPr>
          <p:nvPr>
            <p:ph type="sldNum" idx="23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53C4E0-E9CB-4498-A52E-2FB6CD81C0CE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Pelayanan Kesehatan Primer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Menjadi pintu masuk utama dan dekat dengan kehidupan sehari-hari klien.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5"/>
          <p:cNvSpPr/>
          <p:nvPr/>
        </p:nvSpPr>
        <p:spPr>
          <a:xfrm>
            <a:off x="777240" y="1463040"/>
            <a:ext cx="50745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6"/>
          <p:cNvSpPr/>
          <p:nvPr/>
        </p:nvSpPr>
        <p:spPr>
          <a:xfrm>
            <a:off x="777240" y="1463040"/>
            <a:ext cx="63720" cy="4480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7"/>
          <p:cNvSpPr/>
          <p:nvPr/>
        </p:nvSpPr>
        <p:spPr>
          <a:xfrm>
            <a:off x="94176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Karakteristik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8"/>
          <p:cNvSpPr/>
          <p:nvPr/>
        </p:nvSpPr>
        <p:spPr>
          <a:xfrm>
            <a:off x="960120" y="2011680"/>
            <a:ext cx="4727160" cy="38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Akses dekat dan mudah.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Menangani kebutuhan kesehatan umum.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Menekankan promosi dan pencegahan.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Kontinuitas untuk penyakit kronis stabil.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Mengidentifikasi kondisi yang perlu dirujuk.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9"/>
          <p:cNvSpPr/>
          <p:nvPr/>
        </p:nvSpPr>
        <p:spPr>
          <a:xfrm>
            <a:off x="6217920" y="1463040"/>
            <a:ext cx="5074560" cy="1919880"/>
          </a:xfrm>
          <a:prstGeom prst="roundRect">
            <a:avLst>
              <a:gd name="adj" fmla="val 3810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0"/>
          <p:cNvSpPr/>
          <p:nvPr/>
        </p:nvSpPr>
        <p:spPr>
          <a:xfrm>
            <a:off x="6217920" y="1463040"/>
            <a:ext cx="63720" cy="1919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1"/>
          <p:cNvSpPr/>
          <p:nvPr/>
        </p:nvSpPr>
        <p:spPr>
          <a:xfrm>
            <a:off x="638244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Contoh layanan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2"/>
          <p:cNvSpPr/>
          <p:nvPr/>
        </p:nvSpPr>
        <p:spPr>
          <a:xfrm>
            <a:off x="6400800" y="2011680"/>
            <a:ext cx="47271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Puskesmas, klinik primer, praktik tenaga kesehatan, layanan kesehatan sekolah/komunitas.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13"/>
          <p:cNvSpPr/>
          <p:nvPr/>
        </p:nvSpPr>
        <p:spPr>
          <a:xfrm>
            <a:off x="6217920" y="3611880"/>
            <a:ext cx="5074560" cy="2331360"/>
          </a:xfrm>
          <a:prstGeom prst="roundRect">
            <a:avLst>
              <a:gd name="adj" fmla="val 3137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14"/>
          <p:cNvSpPr/>
          <p:nvPr/>
        </p:nvSpPr>
        <p:spPr>
          <a:xfrm>
            <a:off x="6217920" y="3611880"/>
            <a:ext cx="63720" cy="233136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5"/>
          <p:cNvSpPr/>
          <p:nvPr/>
        </p:nvSpPr>
        <p:spPr>
          <a:xfrm>
            <a:off x="6382440" y="374904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Target hasil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16"/>
          <p:cNvSpPr/>
          <p:nvPr/>
        </p:nvSpPr>
        <p:spPr>
          <a:xfrm>
            <a:off x="6400800" y="4160520"/>
            <a:ext cx="472716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Masalah umum tertangani.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Risiko kesehatan menurun.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Klien memahami self-care.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Rujukan dilakukan tepat waktu.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sldNum" idx="24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643515-5CDA-440B-BCB7-3569CA7D496D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Peran Perawat pada Pelayanan Primer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Perawat berperan kuat dalam pencegahan, edukasi, dan manajemen penyakit kronis.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5"/>
          <p:cNvSpPr/>
          <p:nvPr/>
        </p:nvSpPr>
        <p:spPr>
          <a:xfrm>
            <a:off x="731520" y="1645920"/>
            <a:ext cx="2541600" cy="3337200"/>
          </a:xfrm>
          <a:prstGeom prst="roundRect">
            <a:avLst>
              <a:gd name="adj" fmla="val 2878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6"/>
          <p:cNvSpPr/>
          <p:nvPr/>
        </p:nvSpPr>
        <p:spPr>
          <a:xfrm>
            <a:off x="731520" y="1645920"/>
            <a:ext cx="63720" cy="33372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7"/>
          <p:cNvSpPr/>
          <p:nvPr/>
        </p:nvSpPr>
        <p:spPr>
          <a:xfrm>
            <a:off x="896040" y="1783080"/>
            <a:ext cx="2230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Promotor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8"/>
          <p:cNvSpPr/>
          <p:nvPr/>
        </p:nvSpPr>
        <p:spPr>
          <a:xfrm>
            <a:off x="914400" y="2194560"/>
            <a:ext cx="2194200" cy="26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Edukasi gaya hidup sehat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9"/>
          <p:cNvSpPr/>
          <p:nvPr/>
        </p:nvSpPr>
        <p:spPr>
          <a:xfrm>
            <a:off x="3566160" y="1645920"/>
            <a:ext cx="2541600" cy="3337200"/>
          </a:xfrm>
          <a:prstGeom prst="roundRect">
            <a:avLst>
              <a:gd name="adj" fmla="val 2878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0"/>
          <p:cNvSpPr/>
          <p:nvPr/>
        </p:nvSpPr>
        <p:spPr>
          <a:xfrm>
            <a:off x="3566160" y="1645920"/>
            <a:ext cx="63720" cy="333720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1"/>
          <p:cNvSpPr/>
          <p:nvPr/>
        </p:nvSpPr>
        <p:spPr>
          <a:xfrm>
            <a:off x="3730680" y="1783080"/>
            <a:ext cx="2230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Preventor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12"/>
          <p:cNvSpPr/>
          <p:nvPr/>
        </p:nvSpPr>
        <p:spPr>
          <a:xfrm>
            <a:off x="3749040" y="2194560"/>
            <a:ext cx="2194200" cy="26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Skrining &amp; deteksi risiko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3"/>
          <p:cNvSpPr/>
          <p:nvPr/>
        </p:nvSpPr>
        <p:spPr>
          <a:xfrm>
            <a:off x="6400800" y="1645920"/>
            <a:ext cx="2541600" cy="3337200"/>
          </a:xfrm>
          <a:prstGeom prst="roundRect">
            <a:avLst>
              <a:gd name="adj" fmla="val 2878"/>
            </a:avLst>
          </a:prstGeom>
          <a:solidFill>
            <a:srgbClr val="fff4e6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4"/>
          <p:cNvSpPr/>
          <p:nvPr/>
        </p:nvSpPr>
        <p:spPr>
          <a:xfrm>
            <a:off x="6400800" y="1645920"/>
            <a:ext cx="63720" cy="333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5"/>
          <p:cNvSpPr/>
          <p:nvPr/>
        </p:nvSpPr>
        <p:spPr>
          <a:xfrm>
            <a:off x="6565320" y="1783080"/>
            <a:ext cx="2230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Care Provider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6"/>
          <p:cNvSpPr/>
          <p:nvPr/>
        </p:nvSpPr>
        <p:spPr>
          <a:xfrm>
            <a:off x="6583680" y="2194560"/>
            <a:ext cx="2194200" cy="26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Asuhan masalah umum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7"/>
          <p:cNvSpPr/>
          <p:nvPr/>
        </p:nvSpPr>
        <p:spPr>
          <a:xfrm>
            <a:off x="9235440" y="1645920"/>
            <a:ext cx="2541600" cy="3337200"/>
          </a:xfrm>
          <a:prstGeom prst="roundRect">
            <a:avLst>
              <a:gd name="adj" fmla="val 2878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18"/>
          <p:cNvSpPr/>
          <p:nvPr/>
        </p:nvSpPr>
        <p:spPr>
          <a:xfrm>
            <a:off x="9235440" y="1645920"/>
            <a:ext cx="63720" cy="333720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9"/>
          <p:cNvSpPr/>
          <p:nvPr/>
        </p:nvSpPr>
        <p:spPr>
          <a:xfrm>
            <a:off x="9399960" y="1783080"/>
            <a:ext cx="22309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Coordinator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20"/>
          <p:cNvSpPr/>
          <p:nvPr/>
        </p:nvSpPr>
        <p:spPr>
          <a:xfrm>
            <a:off x="9418320" y="2194560"/>
            <a:ext cx="2194200" cy="26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Rujukan &amp; follow-up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21"/>
          <p:cNvSpPr/>
          <p:nvPr/>
        </p:nvSpPr>
        <p:spPr>
          <a:xfrm>
            <a:off x="2057400" y="5257800"/>
            <a:ext cx="809208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2"/>
          <p:cNvSpPr/>
          <p:nvPr/>
        </p:nvSpPr>
        <p:spPr>
          <a:xfrm>
            <a:off x="2057400" y="5257800"/>
            <a:ext cx="63720" cy="712800"/>
          </a:xfrm>
          <a:prstGeom prst="rect">
            <a:avLst/>
          </a:prstGeom>
          <a:solidFill>
            <a:srgbClr val="12324a"/>
          </a:solidFill>
          <a:ln w="12700">
            <a:solidFill>
              <a:srgbClr val="123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3"/>
          <p:cNvSpPr/>
          <p:nvPr/>
        </p:nvSpPr>
        <p:spPr>
          <a:xfrm>
            <a:off x="2221920" y="5394960"/>
            <a:ext cx="7781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Contoh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4"/>
          <p:cNvSpPr/>
          <p:nvPr/>
        </p:nvSpPr>
        <p:spPr>
          <a:xfrm>
            <a:off x="2240280" y="5806440"/>
            <a:ext cx="7744680" cy="3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250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Pemantauan tekanan darah, edukasi diabetes, perawatan luka sederhana, konseling berhenti merokok, pemantauan ibu dan anak.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PlaceHolder 1"/>
          <p:cNvSpPr>
            <a:spLocks noGrp="1"/>
          </p:cNvSpPr>
          <p:nvPr>
            <p:ph type="sldNum" idx="25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1345A3-A076-4AA3-9317-B6FD0EF60CA9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Pelayanan Kesehatan Sekunder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Digunakan ketika masalah memerlukan keahlian spesialis atau pemeriksaan lanjutan.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5"/>
          <p:cNvSpPr/>
          <p:nvPr/>
        </p:nvSpPr>
        <p:spPr>
          <a:xfrm>
            <a:off x="777240" y="1463040"/>
            <a:ext cx="50745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6"/>
          <p:cNvSpPr/>
          <p:nvPr/>
        </p:nvSpPr>
        <p:spPr>
          <a:xfrm>
            <a:off x="777240" y="1463040"/>
            <a:ext cx="63720" cy="448020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7"/>
          <p:cNvSpPr/>
          <p:nvPr/>
        </p:nvSpPr>
        <p:spPr>
          <a:xfrm>
            <a:off x="94176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Karakteristik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8"/>
          <p:cNvSpPr/>
          <p:nvPr/>
        </p:nvSpPr>
        <p:spPr>
          <a:xfrm>
            <a:off x="960120" y="2011680"/>
            <a:ext cx="4727160" cy="38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Biasanya menerima rujukan dari layanan primer.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Melibatkan dokter/tenaga kesehatan spesialis.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Memerlukan pemeriksaan diagnostik lebih lanjut.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Menangani kondisi akut atau kronis yang lebih kompleks.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Dapat memerlukan rawat jalan atau rawat inap.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9"/>
          <p:cNvSpPr/>
          <p:nvPr/>
        </p:nvSpPr>
        <p:spPr>
          <a:xfrm>
            <a:off x="6217920" y="1463040"/>
            <a:ext cx="5074560" cy="1919880"/>
          </a:xfrm>
          <a:prstGeom prst="roundRect">
            <a:avLst>
              <a:gd name="adj" fmla="val 3810"/>
            </a:avLst>
          </a:prstGeom>
          <a:solidFill>
            <a:srgbClr val="e8f5f0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10"/>
          <p:cNvSpPr/>
          <p:nvPr/>
        </p:nvSpPr>
        <p:spPr>
          <a:xfrm>
            <a:off x="6217920" y="1463040"/>
            <a:ext cx="63720" cy="191988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11"/>
          <p:cNvSpPr/>
          <p:nvPr/>
        </p:nvSpPr>
        <p:spPr>
          <a:xfrm>
            <a:off x="638244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Contoh layanan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2"/>
          <p:cNvSpPr/>
          <p:nvPr/>
        </p:nvSpPr>
        <p:spPr>
          <a:xfrm>
            <a:off x="6400800" y="2011680"/>
            <a:ext cx="47271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Klinik spesialis, rumah sakit rujukan, layanan bedah umum, penyakit dalam, anak, kebidanan, dan bidang spesialis lain.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3"/>
          <p:cNvSpPr/>
          <p:nvPr/>
        </p:nvSpPr>
        <p:spPr>
          <a:xfrm>
            <a:off x="6217920" y="3611880"/>
            <a:ext cx="5074560" cy="2331360"/>
          </a:xfrm>
          <a:prstGeom prst="roundRect">
            <a:avLst>
              <a:gd name="adj" fmla="val 3137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14"/>
          <p:cNvSpPr/>
          <p:nvPr/>
        </p:nvSpPr>
        <p:spPr>
          <a:xfrm>
            <a:off x="6217920" y="3611880"/>
            <a:ext cx="63720" cy="2331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5"/>
          <p:cNvSpPr/>
          <p:nvPr/>
        </p:nvSpPr>
        <p:spPr>
          <a:xfrm>
            <a:off x="6382440" y="374904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Fokus keperawatan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6"/>
          <p:cNvSpPr/>
          <p:nvPr/>
        </p:nvSpPr>
        <p:spPr>
          <a:xfrm>
            <a:off x="6400800" y="4160520"/>
            <a:ext cx="472716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Pemantauan ketat.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Persiapan pemeriksaan/tindakan.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Manajemen terapi dan efek samping.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Perencanaan pulang.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1"/>
          <p:cNvSpPr>
            <a:spLocks noGrp="1"/>
          </p:cNvSpPr>
          <p:nvPr>
            <p:ph type="sldNum" idx="26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D0608-0EA3-45F2-9913-A195FA38BF84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Peran Perawat pada Pelayanan Sekunder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Kompleksitas asuhan meningkat sehingga koordinasi dan keselamatan menjadi sangat penting.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5"/>
          <p:cNvSpPr/>
          <p:nvPr/>
        </p:nvSpPr>
        <p:spPr>
          <a:xfrm>
            <a:off x="777240" y="1508760"/>
            <a:ext cx="3245760" cy="42973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6"/>
          <p:cNvSpPr/>
          <p:nvPr/>
        </p:nvSpPr>
        <p:spPr>
          <a:xfrm>
            <a:off x="777240" y="1508760"/>
            <a:ext cx="63720" cy="42973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7"/>
          <p:cNvSpPr/>
          <p:nvPr/>
        </p:nvSpPr>
        <p:spPr>
          <a:xfrm>
            <a:off x="941760" y="1645920"/>
            <a:ext cx="293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Clinical care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8"/>
          <p:cNvSpPr/>
          <p:nvPr/>
        </p:nvSpPr>
        <p:spPr>
          <a:xfrm>
            <a:off x="960120" y="2057400"/>
            <a:ext cx="2898360" cy="36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Monitoring tanda vital dan perubahan klinis.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Manajemen obat dan terapi.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Perawatan sebelum/sesudah tindakan.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Pencegahan komplikasi.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Shape 9"/>
          <p:cNvSpPr/>
          <p:nvPr/>
        </p:nvSpPr>
        <p:spPr>
          <a:xfrm>
            <a:off x="4462200" y="1508760"/>
            <a:ext cx="3245760" cy="42973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10"/>
          <p:cNvSpPr/>
          <p:nvPr/>
        </p:nvSpPr>
        <p:spPr>
          <a:xfrm>
            <a:off x="4462200" y="1508760"/>
            <a:ext cx="63720" cy="42973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11"/>
          <p:cNvSpPr/>
          <p:nvPr/>
        </p:nvSpPr>
        <p:spPr>
          <a:xfrm>
            <a:off x="4626720" y="1645920"/>
            <a:ext cx="293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Safety &amp; coordination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2"/>
          <p:cNvSpPr/>
          <p:nvPr/>
        </p:nvSpPr>
        <p:spPr>
          <a:xfrm>
            <a:off x="4645080" y="2057400"/>
            <a:ext cx="2898360" cy="36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Serah terima terstruktur.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Kolaborasi interprofesional.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Identifikasi risiko pasien.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Koordinasi pemeriksaan dan rujukan.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13"/>
          <p:cNvSpPr/>
          <p:nvPr/>
        </p:nvSpPr>
        <p:spPr>
          <a:xfrm>
            <a:off x="8147160" y="1508760"/>
            <a:ext cx="3245760" cy="42973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14"/>
          <p:cNvSpPr/>
          <p:nvPr/>
        </p:nvSpPr>
        <p:spPr>
          <a:xfrm>
            <a:off x="8147160" y="1508760"/>
            <a:ext cx="63720" cy="429732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15"/>
          <p:cNvSpPr/>
          <p:nvPr/>
        </p:nvSpPr>
        <p:spPr>
          <a:xfrm>
            <a:off x="8312040" y="1645920"/>
            <a:ext cx="293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Discharge planning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6"/>
          <p:cNvSpPr/>
          <p:nvPr/>
        </p:nvSpPr>
        <p:spPr>
          <a:xfrm>
            <a:off x="8330040" y="2057400"/>
            <a:ext cx="2898360" cy="362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Edukasi pulang.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Rekonsiliasi informasi obat.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Tanda bahaya.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Jadwal kontrol dan follow-up.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sldNum" idx="27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7ACA21-29A4-427E-933F-1971CCFCD6C5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Pelayanan Kesehatan Tersier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Untuk kondisi sangat kompleks yang memerlukan keahlian, teknologi, dan fasilitas tingkat lanjut.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5"/>
          <p:cNvSpPr/>
          <p:nvPr/>
        </p:nvSpPr>
        <p:spPr>
          <a:xfrm>
            <a:off x="777240" y="1463040"/>
            <a:ext cx="5074560" cy="448020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6"/>
          <p:cNvSpPr/>
          <p:nvPr/>
        </p:nvSpPr>
        <p:spPr>
          <a:xfrm>
            <a:off x="777240" y="1463040"/>
            <a:ext cx="63720" cy="448020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7"/>
          <p:cNvSpPr/>
          <p:nvPr/>
        </p:nvSpPr>
        <p:spPr>
          <a:xfrm>
            <a:off x="94176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Karakteristik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8"/>
          <p:cNvSpPr/>
          <p:nvPr/>
        </p:nvSpPr>
        <p:spPr>
          <a:xfrm>
            <a:off x="960120" y="2011680"/>
            <a:ext cx="4727160" cy="38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Layanan subspesialis/sangat spesialistik.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Teknologi diagnostik dan terapeutik lebih canggih.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Kasus berisiko tinggi atau jarang.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Dapat melibatkan tim multidisiplin besar.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Sering menjadi pusat rujukan.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9"/>
          <p:cNvSpPr/>
          <p:nvPr/>
        </p:nvSpPr>
        <p:spPr>
          <a:xfrm>
            <a:off x="6217920" y="1463040"/>
            <a:ext cx="5074560" cy="1919880"/>
          </a:xfrm>
          <a:prstGeom prst="roundRect">
            <a:avLst>
              <a:gd name="adj" fmla="val 3810"/>
            </a:avLst>
          </a:prstGeom>
          <a:solidFill>
            <a:srgbClr val="f0ec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10"/>
          <p:cNvSpPr/>
          <p:nvPr/>
        </p:nvSpPr>
        <p:spPr>
          <a:xfrm>
            <a:off x="6217920" y="1463040"/>
            <a:ext cx="63720" cy="1919880"/>
          </a:xfrm>
          <a:prstGeom prst="rect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11"/>
          <p:cNvSpPr/>
          <p:nvPr/>
        </p:nvSpPr>
        <p:spPr>
          <a:xfrm>
            <a:off x="6382440" y="160020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Contoh layanan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2"/>
          <p:cNvSpPr/>
          <p:nvPr/>
        </p:nvSpPr>
        <p:spPr>
          <a:xfrm>
            <a:off x="6400800" y="2011680"/>
            <a:ext cx="4727160" cy="12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Perawatan intensif tertentu, bedah kompleks, layanan kanker komprehensif, transplantasi, pusat trauma atau layanan subspesialistik lain.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Shape 13"/>
          <p:cNvSpPr/>
          <p:nvPr/>
        </p:nvSpPr>
        <p:spPr>
          <a:xfrm>
            <a:off x="6217920" y="3611880"/>
            <a:ext cx="5074560" cy="2331360"/>
          </a:xfrm>
          <a:prstGeom prst="roundRect">
            <a:avLst>
              <a:gd name="adj" fmla="val 3137"/>
            </a:avLst>
          </a:prstGeom>
          <a:solidFill>
            <a:srgbClr val="e6f4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14"/>
          <p:cNvSpPr/>
          <p:nvPr/>
        </p:nvSpPr>
        <p:spPr>
          <a:xfrm>
            <a:off x="6217920" y="3611880"/>
            <a:ext cx="63720" cy="23313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15"/>
          <p:cNvSpPr/>
          <p:nvPr/>
        </p:nvSpPr>
        <p:spPr>
          <a:xfrm>
            <a:off x="6382440" y="3749040"/>
            <a:ext cx="4763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Tujuan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16"/>
          <p:cNvSpPr/>
          <p:nvPr/>
        </p:nvSpPr>
        <p:spPr>
          <a:xfrm>
            <a:off x="6400800" y="4160520"/>
            <a:ext cx="4727160" cy="165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Memberikan terapi definitif/lanjutan, mencegah komplikasi berat, dan mengembalikan klien ke tingkat layanan yang sesuai setelah stabil.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PlaceHolder 1"/>
          <p:cNvSpPr>
            <a:spLocks noGrp="1"/>
          </p:cNvSpPr>
          <p:nvPr>
            <p:ph type="sldNum" idx="28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F00498-A8E1-4701-89D8-FA9081D26896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TINGKAT LAYANAN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Peran Perawat pada Pelayanan Tersier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Asuhan menuntut kompetensi klinis tinggi, komunikasi akurat, dan pengelolaan risiko.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5"/>
          <p:cNvSpPr/>
          <p:nvPr/>
        </p:nvSpPr>
        <p:spPr>
          <a:xfrm>
            <a:off x="1051560" y="1417320"/>
            <a:ext cx="10103760" cy="69444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6"/>
          <p:cNvSpPr/>
          <p:nvPr/>
        </p:nvSpPr>
        <p:spPr>
          <a:xfrm>
            <a:off x="1280160" y="16002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Monitoring intensif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3520440" y="1554480"/>
            <a:ext cx="726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Mendeteksi perubahan kondisi sedini mungkin.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8"/>
          <p:cNvSpPr/>
          <p:nvPr/>
        </p:nvSpPr>
        <p:spPr>
          <a:xfrm>
            <a:off x="1051560" y="2331720"/>
            <a:ext cx="10103760" cy="694440"/>
          </a:xfrm>
          <a:prstGeom prst="roundRect">
            <a:avLst>
              <a:gd name="adj" fmla="val 5263"/>
            </a:avLst>
          </a:prstGeom>
          <a:solidFill>
            <a:srgbClr val="f0ecf8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9"/>
          <p:cNvSpPr/>
          <p:nvPr/>
        </p:nvSpPr>
        <p:spPr>
          <a:xfrm>
            <a:off x="1280160" y="25146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Teknologi klinis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0"/>
          <p:cNvSpPr/>
          <p:nvPr/>
        </p:nvSpPr>
        <p:spPr>
          <a:xfrm>
            <a:off x="3520440" y="2468880"/>
            <a:ext cx="726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Mengoperasikan/monitor alat sesuai kewenangan dan prosedur.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Shape 11"/>
          <p:cNvSpPr/>
          <p:nvPr/>
        </p:nvSpPr>
        <p:spPr>
          <a:xfrm>
            <a:off x="1051560" y="3246120"/>
            <a:ext cx="10103760" cy="69444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2"/>
          <p:cNvSpPr/>
          <p:nvPr/>
        </p:nvSpPr>
        <p:spPr>
          <a:xfrm>
            <a:off x="1280160" y="34290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Keselamatan pasien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13"/>
          <p:cNvSpPr/>
          <p:nvPr/>
        </p:nvSpPr>
        <p:spPr>
          <a:xfrm>
            <a:off x="3520440" y="3383280"/>
            <a:ext cx="726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Mencegah medication error, infeksi, cedera, dan komplikasi.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4"/>
          <p:cNvSpPr/>
          <p:nvPr/>
        </p:nvSpPr>
        <p:spPr>
          <a:xfrm>
            <a:off x="1051560" y="4160520"/>
            <a:ext cx="10103760" cy="694440"/>
          </a:xfrm>
          <a:prstGeom prst="roundRect">
            <a:avLst>
              <a:gd name="adj" fmla="val 5263"/>
            </a:avLst>
          </a:prstGeom>
          <a:solidFill>
            <a:srgbClr val="f0ecf8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5"/>
          <p:cNvSpPr/>
          <p:nvPr/>
        </p:nvSpPr>
        <p:spPr>
          <a:xfrm>
            <a:off x="1280160" y="43434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Kolaborasi kompleks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6"/>
          <p:cNvSpPr/>
          <p:nvPr/>
        </p:nvSpPr>
        <p:spPr>
          <a:xfrm>
            <a:off x="3520440" y="4297680"/>
            <a:ext cx="726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Berkomunikasi dengan banyak disiplin dan unit.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7"/>
          <p:cNvSpPr/>
          <p:nvPr/>
        </p:nvSpPr>
        <p:spPr>
          <a:xfrm>
            <a:off x="1051560" y="5074920"/>
            <a:ext cx="10103760" cy="694440"/>
          </a:xfrm>
          <a:prstGeom prst="roundRect">
            <a:avLst>
              <a:gd name="adj" fmla="val 5263"/>
            </a:avLst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18"/>
          <p:cNvSpPr/>
          <p:nvPr/>
        </p:nvSpPr>
        <p:spPr>
          <a:xfrm>
            <a:off x="1280160" y="5257800"/>
            <a:ext cx="2057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2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Dukungan keluarga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9"/>
          <p:cNvSpPr/>
          <p:nvPr/>
        </p:nvSpPr>
        <p:spPr>
          <a:xfrm>
            <a:off x="3520440" y="5212080"/>
            <a:ext cx="7269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8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Menjelaskan kondisi, rencana, dan kebutuhan perawatan lanjutan.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20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21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Setelah kondisi stabil, transisi kembali ke layanan sekunder/primer diperlukan untuk kesinambungan dan efisiensi asuhan.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1"/>
          <p:cNvSpPr>
            <a:spLocks noGrp="1"/>
          </p:cNvSpPr>
          <p:nvPr>
            <p:ph type="sldNum" idx="29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E77B08-645B-4B2E-ADEE-2C07CB38CE21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RUJUKAN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Sistem Rujukan dan Alur Klien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Rujukan menghubungkan tingkat layanan agar klien memperoleh pelayanan sesuai kebutuhan.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5"/>
          <p:cNvSpPr/>
          <p:nvPr/>
        </p:nvSpPr>
        <p:spPr>
          <a:xfrm>
            <a:off x="749880" y="2030040"/>
            <a:ext cx="2194200" cy="1096920"/>
          </a:xfrm>
          <a:prstGeom prst="roundRect">
            <a:avLst>
              <a:gd name="adj" fmla="val 5000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6"/>
          <p:cNvSpPr/>
          <p:nvPr/>
        </p:nvSpPr>
        <p:spPr>
          <a:xfrm>
            <a:off x="841320" y="2157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PRIMER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7"/>
          <p:cNvSpPr/>
          <p:nvPr/>
        </p:nvSpPr>
        <p:spPr>
          <a:xfrm>
            <a:off x="841320" y="2468880"/>
            <a:ext cx="2011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Kontak pertama dan masalah umum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8"/>
          <p:cNvSpPr/>
          <p:nvPr/>
        </p:nvSpPr>
        <p:spPr>
          <a:xfrm>
            <a:off x="3063240" y="2350080"/>
            <a:ext cx="7311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9"/>
          <p:cNvSpPr/>
          <p:nvPr/>
        </p:nvSpPr>
        <p:spPr>
          <a:xfrm>
            <a:off x="3931920" y="2030040"/>
            <a:ext cx="2194200" cy="1096920"/>
          </a:xfrm>
          <a:prstGeom prst="roundRect">
            <a:avLst>
              <a:gd name="adj" fmla="val 5000"/>
            </a:avLst>
          </a:prstGeom>
          <a:solidFill>
            <a:srgbClr val="e8f5f0"/>
          </a:solidFill>
          <a:ln w="12700">
            <a:solidFill>
              <a:srgbClr val="e8f5f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0"/>
          <p:cNvSpPr/>
          <p:nvPr/>
        </p:nvSpPr>
        <p:spPr>
          <a:xfrm>
            <a:off x="4023360" y="2157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SEKUNDER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1"/>
          <p:cNvSpPr/>
          <p:nvPr/>
        </p:nvSpPr>
        <p:spPr>
          <a:xfrm>
            <a:off x="4023360" y="2468880"/>
            <a:ext cx="2011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Spesialis dan evaluasi lanjut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Shape 12"/>
          <p:cNvSpPr/>
          <p:nvPr/>
        </p:nvSpPr>
        <p:spPr>
          <a:xfrm>
            <a:off x="6245280" y="2350080"/>
            <a:ext cx="731160" cy="4111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0e7490">
              <a:alpha val="85000"/>
            </a:srgbClr>
          </a:solidFill>
          <a:ln w="12700">
            <a:solidFill>
              <a:srgbClr val="0e749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3"/>
          <p:cNvSpPr/>
          <p:nvPr/>
        </p:nvSpPr>
        <p:spPr>
          <a:xfrm>
            <a:off x="7113960" y="2030040"/>
            <a:ext cx="2194200" cy="1096920"/>
          </a:xfrm>
          <a:prstGeom prst="roundRect">
            <a:avLst>
              <a:gd name="adj" fmla="val 5000"/>
            </a:avLst>
          </a:prstGeom>
          <a:solidFill>
            <a:srgbClr val="f0ecf8"/>
          </a:solidFill>
          <a:ln w="12700">
            <a:solidFill>
              <a:srgbClr val="f0ec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4"/>
          <p:cNvSpPr/>
          <p:nvPr/>
        </p:nvSpPr>
        <p:spPr>
          <a:xfrm>
            <a:off x="7205400" y="215784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TERSIER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Text 15"/>
          <p:cNvSpPr/>
          <p:nvPr/>
        </p:nvSpPr>
        <p:spPr>
          <a:xfrm>
            <a:off x="7205400" y="2468880"/>
            <a:ext cx="201132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Subspesialis dan layanan kompleks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Shape 16"/>
          <p:cNvSpPr/>
          <p:nvPr/>
        </p:nvSpPr>
        <p:spPr>
          <a:xfrm flipH="1">
            <a:off x="2011680" y="3383280"/>
            <a:ext cx="6217920" cy="1325880"/>
          </a:xfrm>
          <a:prstGeom prst="line">
            <a:avLst/>
          </a:prstGeom>
          <a:ln w="21590">
            <a:solidFill>
              <a:srgbClr val="64748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7"/>
          <p:cNvSpPr/>
          <p:nvPr/>
        </p:nvSpPr>
        <p:spPr>
          <a:xfrm>
            <a:off x="4160520" y="4773240"/>
            <a:ext cx="35200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Rujuk balik setelah stabil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18"/>
          <p:cNvSpPr/>
          <p:nvPr/>
        </p:nvSpPr>
        <p:spPr>
          <a:xfrm>
            <a:off x="9646920" y="1691640"/>
            <a:ext cx="1874160" cy="3565800"/>
          </a:xfrm>
          <a:prstGeom prst="roundRect">
            <a:avLst>
              <a:gd name="adj" fmla="val 3902"/>
            </a:avLst>
          </a:prstGeom>
          <a:solidFill>
            <a:srgbClr val="fff4e6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9"/>
          <p:cNvSpPr/>
          <p:nvPr/>
        </p:nvSpPr>
        <p:spPr>
          <a:xfrm>
            <a:off x="9646920" y="1691640"/>
            <a:ext cx="63720" cy="356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20"/>
          <p:cNvSpPr/>
          <p:nvPr/>
        </p:nvSpPr>
        <p:spPr>
          <a:xfrm>
            <a:off x="9811440" y="1828800"/>
            <a:ext cx="1563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Prinsip rujukan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21"/>
          <p:cNvSpPr/>
          <p:nvPr/>
        </p:nvSpPr>
        <p:spPr>
          <a:xfrm>
            <a:off x="9829800" y="2240280"/>
            <a:ext cx="1526760" cy="288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Tepat indikasi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Tepat waktu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Informasi lengkap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Transport aman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Follow-up jelas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1"/>
          <p:cNvSpPr>
            <a:spLocks noGrp="1"/>
          </p:cNvSpPr>
          <p:nvPr>
            <p:ph type="sldNum" idx="30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7B13EE-7730-4B8A-BF0B-44A0C2BECBAB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INTEGRASI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Jenis Upaya Kesehatan di Setiap Tingkat Layanan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Promotif, preventif, kuratif, dan rehabilitatif saling melengkapi.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Shape 5"/>
          <p:cNvSpPr/>
          <p:nvPr/>
        </p:nvSpPr>
        <p:spPr>
          <a:xfrm>
            <a:off x="777240" y="1508760"/>
            <a:ext cx="1828440" cy="804240"/>
          </a:xfrm>
          <a:prstGeom prst="rect">
            <a:avLst/>
          </a:prstGeom>
          <a:solidFill>
            <a:srgbClr val="1232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6"/>
          <p:cNvSpPr/>
          <p:nvPr/>
        </p:nvSpPr>
        <p:spPr>
          <a:xfrm>
            <a:off x="850320" y="1764720"/>
            <a:ext cx="1682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Upaya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7"/>
          <p:cNvSpPr/>
          <p:nvPr/>
        </p:nvSpPr>
        <p:spPr>
          <a:xfrm>
            <a:off x="2606040" y="1508760"/>
            <a:ext cx="2925720" cy="804240"/>
          </a:xfrm>
          <a:prstGeom prst="rect">
            <a:avLst/>
          </a:prstGeom>
          <a:solidFill>
            <a:srgbClr val="1232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8"/>
          <p:cNvSpPr/>
          <p:nvPr/>
        </p:nvSpPr>
        <p:spPr>
          <a:xfrm>
            <a:off x="2679120" y="1764720"/>
            <a:ext cx="2779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Primer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9"/>
          <p:cNvSpPr/>
          <p:nvPr/>
        </p:nvSpPr>
        <p:spPr>
          <a:xfrm>
            <a:off x="5532120" y="1508760"/>
            <a:ext cx="2925720" cy="804240"/>
          </a:xfrm>
          <a:prstGeom prst="rect">
            <a:avLst/>
          </a:prstGeom>
          <a:solidFill>
            <a:srgbClr val="1232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10"/>
          <p:cNvSpPr/>
          <p:nvPr/>
        </p:nvSpPr>
        <p:spPr>
          <a:xfrm>
            <a:off x="5605200" y="1764720"/>
            <a:ext cx="2779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Sekunder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11"/>
          <p:cNvSpPr/>
          <p:nvPr/>
        </p:nvSpPr>
        <p:spPr>
          <a:xfrm>
            <a:off x="8458200" y="1508760"/>
            <a:ext cx="2925720" cy="804240"/>
          </a:xfrm>
          <a:prstGeom prst="rect">
            <a:avLst/>
          </a:prstGeom>
          <a:solidFill>
            <a:srgbClr val="12324a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12"/>
          <p:cNvSpPr/>
          <p:nvPr/>
        </p:nvSpPr>
        <p:spPr>
          <a:xfrm>
            <a:off x="8531280" y="1764720"/>
            <a:ext cx="2779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Tersier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13"/>
          <p:cNvSpPr/>
          <p:nvPr/>
        </p:nvSpPr>
        <p:spPr>
          <a:xfrm>
            <a:off x="777240" y="2313360"/>
            <a:ext cx="1828440" cy="804240"/>
          </a:xfrm>
          <a:prstGeom prst="rect">
            <a:avLst/>
          </a:prstGeom>
          <a:solidFill>
            <a:srgbClr val="eaf1f5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14"/>
          <p:cNvSpPr/>
          <p:nvPr/>
        </p:nvSpPr>
        <p:spPr>
          <a:xfrm>
            <a:off x="868680" y="24962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Promotif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Shape 15"/>
          <p:cNvSpPr/>
          <p:nvPr/>
        </p:nvSpPr>
        <p:spPr>
          <a:xfrm>
            <a:off x="2606040" y="231336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6"/>
          <p:cNvSpPr/>
          <p:nvPr/>
        </p:nvSpPr>
        <p:spPr>
          <a:xfrm>
            <a:off x="2697480" y="2496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Sangat dominan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Shape 17"/>
          <p:cNvSpPr/>
          <p:nvPr/>
        </p:nvSpPr>
        <p:spPr>
          <a:xfrm>
            <a:off x="5532120" y="231336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8"/>
          <p:cNvSpPr/>
          <p:nvPr/>
        </p:nvSpPr>
        <p:spPr>
          <a:xfrm>
            <a:off x="5623560" y="2496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Tetap dilakukan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Shape 19"/>
          <p:cNvSpPr/>
          <p:nvPr/>
        </p:nvSpPr>
        <p:spPr>
          <a:xfrm>
            <a:off x="8458200" y="231336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20"/>
          <p:cNvSpPr/>
          <p:nvPr/>
        </p:nvSpPr>
        <p:spPr>
          <a:xfrm>
            <a:off x="8549640" y="2496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Dilakukan sesuai kebutuhan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21"/>
          <p:cNvSpPr/>
          <p:nvPr/>
        </p:nvSpPr>
        <p:spPr>
          <a:xfrm>
            <a:off x="777240" y="3117960"/>
            <a:ext cx="1828440" cy="804240"/>
          </a:xfrm>
          <a:prstGeom prst="rect">
            <a:avLst/>
          </a:prstGeom>
          <a:solidFill>
            <a:srgbClr val="eaf1f5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22"/>
          <p:cNvSpPr/>
          <p:nvPr/>
        </p:nvSpPr>
        <p:spPr>
          <a:xfrm>
            <a:off x="868680" y="330084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Preventif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23"/>
          <p:cNvSpPr/>
          <p:nvPr/>
        </p:nvSpPr>
        <p:spPr>
          <a:xfrm>
            <a:off x="2606040" y="311796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24"/>
          <p:cNvSpPr/>
          <p:nvPr/>
        </p:nvSpPr>
        <p:spPr>
          <a:xfrm>
            <a:off x="2697480" y="33008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Skrining &amp; pencegahan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25"/>
          <p:cNvSpPr/>
          <p:nvPr/>
        </p:nvSpPr>
        <p:spPr>
          <a:xfrm>
            <a:off x="5532120" y="311796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Text 26"/>
          <p:cNvSpPr/>
          <p:nvPr/>
        </p:nvSpPr>
        <p:spPr>
          <a:xfrm>
            <a:off x="5623560" y="33008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Cegah komplikasi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27"/>
          <p:cNvSpPr/>
          <p:nvPr/>
        </p:nvSpPr>
        <p:spPr>
          <a:xfrm>
            <a:off x="8458200" y="311796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 28"/>
          <p:cNvSpPr/>
          <p:nvPr/>
        </p:nvSpPr>
        <p:spPr>
          <a:xfrm>
            <a:off x="8549640" y="33008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Cegah komplikasi lanjut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29"/>
          <p:cNvSpPr/>
          <p:nvPr/>
        </p:nvSpPr>
        <p:spPr>
          <a:xfrm>
            <a:off x="777240" y="3922920"/>
            <a:ext cx="1828440" cy="804240"/>
          </a:xfrm>
          <a:prstGeom prst="rect">
            <a:avLst/>
          </a:prstGeom>
          <a:solidFill>
            <a:srgbClr val="eaf1f5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30"/>
          <p:cNvSpPr/>
          <p:nvPr/>
        </p:nvSpPr>
        <p:spPr>
          <a:xfrm>
            <a:off x="868680" y="410580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Kuratif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31"/>
          <p:cNvSpPr/>
          <p:nvPr/>
        </p:nvSpPr>
        <p:spPr>
          <a:xfrm>
            <a:off x="2606040" y="392292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32"/>
          <p:cNvSpPr/>
          <p:nvPr/>
        </p:nvSpPr>
        <p:spPr>
          <a:xfrm>
            <a:off x="2697480" y="41058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Masalah umum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33"/>
          <p:cNvSpPr/>
          <p:nvPr/>
        </p:nvSpPr>
        <p:spPr>
          <a:xfrm>
            <a:off x="5532120" y="392292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34"/>
          <p:cNvSpPr/>
          <p:nvPr/>
        </p:nvSpPr>
        <p:spPr>
          <a:xfrm>
            <a:off x="5623560" y="41058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Spesialis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35"/>
          <p:cNvSpPr/>
          <p:nvPr/>
        </p:nvSpPr>
        <p:spPr>
          <a:xfrm>
            <a:off x="8458200" y="3922920"/>
            <a:ext cx="2925720" cy="804240"/>
          </a:xfrm>
          <a:prstGeom prst="rect">
            <a:avLst/>
          </a:prstGeom>
          <a:solidFill>
            <a:srgbClr val="ffffff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36"/>
          <p:cNvSpPr/>
          <p:nvPr/>
        </p:nvSpPr>
        <p:spPr>
          <a:xfrm>
            <a:off x="8549640" y="41058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Sangat kompleks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37"/>
          <p:cNvSpPr/>
          <p:nvPr/>
        </p:nvSpPr>
        <p:spPr>
          <a:xfrm>
            <a:off x="777240" y="4727520"/>
            <a:ext cx="1828440" cy="804240"/>
          </a:xfrm>
          <a:prstGeom prst="rect">
            <a:avLst/>
          </a:prstGeom>
          <a:solidFill>
            <a:srgbClr val="eaf1f5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38"/>
          <p:cNvSpPr/>
          <p:nvPr/>
        </p:nvSpPr>
        <p:spPr>
          <a:xfrm>
            <a:off x="868680" y="4910400"/>
            <a:ext cx="16455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Rehabilitatif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39"/>
          <p:cNvSpPr/>
          <p:nvPr/>
        </p:nvSpPr>
        <p:spPr>
          <a:xfrm>
            <a:off x="2606040" y="472752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40"/>
          <p:cNvSpPr/>
          <p:nvPr/>
        </p:nvSpPr>
        <p:spPr>
          <a:xfrm>
            <a:off x="2697480" y="49104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Follow-up &amp; self-care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Shape 41"/>
          <p:cNvSpPr/>
          <p:nvPr/>
        </p:nvSpPr>
        <p:spPr>
          <a:xfrm>
            <a:off x="5532120" y="472752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42"/>
          <p:cNvSpPr/>
          <p:nvPr/>
        </p:nvSpPr>
        <p:spPr>
          <a:xfrm>
            <a:off x="5623560" y="49104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Pemulihan fungsi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43"/>
          <p:cNvSpPr/>
          <p:nvPr/>
        </p:nvSpPr>
        <p:spPr>
          <a:xfrm>
            <a:off x="8458200" y="4727520"/>
            <a:ext cx="2925720" cy="804240"/>
          </a:xfrm>
          <a:prstGeom prst="rect">
            <a:avLst/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44"/>
          <p:cNvSpPr/>
          <p:nvPr/>
        </p:nvSpPr>
        <p:spPr>
          <a:xfrm>
            <a:off x="8549640" y="49104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Rehabilitasi kompleks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45"/>
          <p:cNvSpPr/>
          <p:nvPr/>
        </p:nvSpPr>
        <p:spPr>
          <a:xfrm>
            <a:off x="658440" y="5897880"/>
            <a:ext cx="10881000" cy="383760"/>
          </a:xfrm>
          <a:prstGeom prst="roundRect">
            <a:avLst>
              <a:gd name="adj" fmla="val 9524"/>
            </a:avLst>
          </a:prstGeom>
          <a:solidFill>
            <a:srgbClr val="e6f4f8"/>
          </a:solidFill>
          <a:ln w="12700">
            <a:solidFill>
              <a:srgbClr val="e6f4f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46"/>
          <p:cNvSpPr/>
          <p:nvPr/>
        </p:nvSpPr>
        <p:spPr>
          <a:xfrm>
            <a:off x="841320" y="5989320"/>
            <a:ext cx="10515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Setiap tingkat tetap dapat melakukan keempat jenis upaya; yang berbeda adalah intensitas, kompleksitas, dan sumber daya.</a:t>
            </a:r>
            <a:endParaRPr b="0" lang="en-US" sz="9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1"/>
          <p:cNvSpPr>
            <a:spLocks noGrp="1"/>
          </p:cNvSpPr>
          <p:nvPr>
            <p:ph type="sldNum" idx="31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815D10-F64E-4437-90F8-C2423E98166D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STUDI KASUS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Studi Kasus: Menentukan Tingkat Pelayanan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Gunakan kondisi klien untuk menilai kebutuhan asuhan dan rujukan.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Shape 5"/>
          <p:cNvSpPr/>
          <p:nvPr/>
        </p:nvSpPr>
        <p:spPr>
          <a:xfrm>
            <a:off x="777240" y="1417320"/>
            <a:ext cx="3977280" cy="4525920"/>
          </a:xfrm>
          <a:prstGeom prst="roundRect">
            <a:avLst>
              <a:gd name="adj" fmla="val 1839"/>
            </a:avLst>
          </a:prstGeom>
          <a:solidFill>
            <a:srgbClr val="fff8f8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6"/>
          <p:cNvSpPr/>
          <p:nvPr/>
        </p:nvSpPr>
        <p:spPr>
          <a:xfrm>
            <a:off x="777240" y="1417320"/>
            <a:ext cx="63720" cy="4525920"/>
          </a:xfrm>
          <a:prstGeom prst="rect">
            <a:avLst/>
          </a:prstGeom>
          <a:solidFill>
            <a:srgbClr val="b23a48"/>
          </a:solidFill>
          <a:ln w="12700">
            <a:solidFill>
              <a:srgbClr val="b23a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7"/>
          <p:cNvSpPr/>
          <p:nvPr/>
        </p:nvSpPr>
        <p:spPr>
          <a:xfrm>
            <a:off x="941760" y="1554480"/>
            <a:ext cx="3666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Kasus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8"/>
          <p:cNvSpPr/>
          <p:nvPr/>
        </p:nvSpPr>
        <p:spPr>
          <a:xfrm>
            <a:off x="960120" y="1965960"/>
            <a:ext cx="3629880" cy="38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Seorang laki-laki 58 tahun dengan diabetes datang ke layanan primer. Gula darah tidak terkontrol, terdapat luka kaki dengan kemerahan meluas dan demam. Klien tinggal bersama keluarga dan mengaku kesulitan merawat luka.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Shape 9"/>
          <p:cNvSpPr/>
          <p:nvPr/>
        </p:nvSpPr>
        <p:spPr>
          <a:xfrm>
            <a:off x="5074920" y="1417320"/>
            <a:ext cx="2788560" cy="4525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0"/>
          <p:cNvSpPr/>
          <p:nvPr/>
        </p:nvSpPr>
        <p:spPr>
          <a:xfrm>
            <a:off x="5074920" y="1417320"/>
            <a:ext cx="63720" cy="45259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1"/>
          <p:cNvSpPr/>
          <p:nvPr/>
        </p:nvSpPr>
        <p:spPr>
          <a:xfrm>
            <a:off x="5239440" y="1554480"/>
            <a:ext cx="2477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Analisis sistem klien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2"/>
          <p:cNvSpPr/>
          <p:nvPr/>
        </p:nvSpPr>
        <p:spPr>
          <a:xfrm>
            <a:off x="5257800" y="1965960"/>
            <a:ext cx="2441160" cy="38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Input: diabetes, luka, demam, hambatan self-care.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Lingkungan: ada keluarga sebagai dukungan.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Risiko: infeksi/komplikasi.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Kebutuhan: stabilisasi, evaluasi lebih lanjut, edukasi.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13"/>
          <p:cNvSpPr/>
          <p:nvPr/>
        </p:nvSpPr>
        <p:spPr>
          <a:xfrm>
            <a:off x="8183880" y="1417320"/>
            <a:ext cx="3245760" cy="45259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e1e8"/>
            </a:solidFill>
            <a:round/>
          </a:ln>
          <a:effectLst>
            <a:outerShdw algn="bl" blurRad="19080" dir="2700000" dist="50402" kx="0" ky="0" rotWithShape="0" sx="100000" sy="100000">
              <a:srgbClr val="cbd5e1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4"/>
          <p:cNvSpPr/>
          <p:nvPr/>
        </p:nvSpPr>
        <p:spPr>
          <a:xfrm>
            <a:off x="8183880" y="1417320"/>
            <a:ext cx="63720" cy="4525920"/>
          </a:xfrm>
          <a:prstGeom prst="rect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15"/>
          <p:cNvSpPr/>
          <p:nvPr/>
        </p:nvSpPr>
        <p:spPr>
          <a:xfrm>
            <a:off x="8348400" y="1554480"/>
            <a:ext cx="2934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Keputusan layanan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16"/>
          <p:cNvSpPr/>
          <p:nvPr/>
        </p:nvSpPr>
        <p:spPr>
          <a:xfrm>
            <a:off x="8366760" y="1965960"/>
            <a:ext cx="2898360" cy="38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t">
            <a:normAutofit/>
          </a:bodyPr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Lakukan pengkajian dan tindakan awal sesuai kewenangan.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Kenali tanda bahaya.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Rujuk ke layanan yang mampu mengevaluasi komplikasi lebih lanjut.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b="0" lang="en-US" sz="113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Pastikan informasi rujukan dan follow-up.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1"/>
          <p:cNvSpPr>
            <a:spLocks noGrp="1"/>
          </p:cNvSpPr>
          <p:nvPr>
            <p:ph type="sldNum" idx="32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0C4378-7EA4-4344-86BD-79FDF61A68EC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RINGKASAN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Poin Kunci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Lima pesan utama dari materi ini.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5"/>
          <p:cNvSpPr/>
          <p:nvPr/>
        </p:nvSpPr>
        <p:spPr>
          <a:xfrm>
            <a:off x="914400" y="1417320"/>
            <a:ext cx="658080" cy="65808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6"/>
          <p:cNvSpPr/>
          <p:nvPr/>
        </p:nvSpPr>
        <p:spPr>
          <a:xfrm>
            <a:off x="1033200" y="15271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7"/>
          <p:cNvSpPr/>
          <p:nvPr/>
        </p:nvSpPr>
        <p:spPr>
          <a:xfrm>
            <a:off x="1737360" y="14997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Klien adalah sistem terbuka dan dinamis.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8"/>
          <p:cNvSpPr/>
          <p:nvPr/>
        </p:nvSpPr>
        <p:spPr>
          <a:xfrm>
            <a:off x="914400" y="2331720"/>
            <a:ext cx="658080" cy="658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9"/>
          <p:cNvSpPr/>
          <p:nvPr/>
        </p:nvSpPr>
        <p:spPr>
          <a:xfrm>
            <a:off x="1033200" y="24415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10"/>
          <p:cNvSpPr/>
          <p:nvPr/>
        </p:nvSpPr>
        <p:spPr>
          <a:xfrm>
            <a:off x="1737360" y="24141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Sistem klien dapat berupa individu, keluarga, kelompok, atau komunitas.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Shape 11"/>
          <p:cNvSpPr/>
          <p:nvPr/>
        </p:nvSpPr>
        <p:spPr>
          <a:xfrm>
            <a:off x="914400" y="3246120"/>
            <a:ext cx="658080" cy="658080"/>
          </a:xfrm>
          <a:prstGeom prst="ellipse">
            <a:avLst/>
          </a:prstGeom>
          <a:solidFill>
            <a:srgbClr val="2e7d6a"/>
          </a:solidFill>
          <a:ln w="12700">
            <a:solidFill>
              <a:srgbClr val="2e7d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12"/>
          <p:cNvSpPr/>
          <p:nvPr/>
        </p:nvSpPr>
        <p:spPr>
          <a:xfrm>
            <a:off x="1033200" y="33559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13"/>
          <p:cNvSpPr/>
          <p:nvPr/>
        </p:nvSpPr>
        <p:spPr>
          <a:xfrm>
            <a:off x="1737360" y="33285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Kebutuhan dan risiko menentukan prioritas asuhan.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14"/>
          <p:cNvSpPr/>
          <p:nvPr/>
        </p:nvSpPr>
        <p:spPr>
          <a:xfrm>
            <a:off x="914400" y="4160520"/>
            <a:ext cx="658080" cy="658080"/>
          </a:xfrm>
          <a:prstGeom prst="ellipse">
            <a:avLst/>
          </a:prstGeom>
          <a:solidFill>
            <a:srgbClr val="6d5e8c"/>
          </a:solidFill>
          <a:ln w="12700">
            <a:solidFill>
              <a:srgbClr val="6d5e8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5"/>
          <p:cNvSpPr/>
          <p:nvPr/>
        </p:nvSpPr>
        <p:spPr>
          <a:xfrm>
            <a:off x="1033200" y="42703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6"/>
          <p:cNvSpPr/>
          <p:nvPr/>
        </p:nvSpPr>
        <p:spPr>
          <a:xfrm>
            <a:off x="1737360" y="42429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Tingkat layanan: primer, sekunder, dan tersier.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17"/>
          <p:cNvSpPr/>
          <p:nvPr/>
        </p:nvSpPr>
        <p:spPr>
          <a:xfrm>
            <a:off x="914400" y="5074920"/>
            <a:ext cx="658080" cy="6580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8"/>
          <p:cNvSpPr/>
          <p:nvPr/>
        </p:nvSpPr>
        <p:spPr>
          <a:xfrm>
            <a:off x="1033200" y="5184720"/>
            <a:ext cx="4201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19"/>
          <p:cNvSpPr/>
          <p:nvPr/>
        </p:nvSpPr>
        <p:spPr>
          <a:xfrm>
            <a:off x="1737360" y="5157360"/>
            <a:ext cx="23313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Perawat menjaga kesinambungan, keselamatan, edukasi, dan koordinasi.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20"/>
          <p:cNvSpPr/>
          <p:nvPr/>
        </p:nvSpPr>
        <p:spPr>
          <a:xfrm>
            <a:off x="7315200" y="1508760"/>
            <a:ext cx="3840120" cy="4160160"/>
          </a:xfrm>
          <a:prstGeom prst="roundRect">
            <a:avLst>
              <a:gd name="adj" fmla="val 1905"/>
            </a:avLst>
          </a:prstGeom>
          <a:solidFill>
            <a:srgbClr val="12324a"/>
          </a:solidFill>
          <a:ln w="12700">
            <a:solidFill>
              <a:srgbClr val="1232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21"/>
          <p:cNvSpPr/>
          <p:nvPr/>
        </p:nvSpPr>
        <p:spPr>
          <a:xfrm>
            <a:off x="7726680" y="19018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Pertanyaan reflektif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22"/>
          <p:cNvSpPr/>
          <p:nvPr/>
        </p:nvSpPr>
        <p:spPr>
          <a:xfrm>
            <a:off x="7790760" y="2697480"/>
            <a:ext cx="288000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e7f4f7"/>
                </a:solidFill>
                <a:effectLst/>
                <a:uFillTx/>
                <a:latin typeface="Aptos"/>
              </a:rPr>
              <a:t>“Apakah kebutuhan klien sudah ditangani pada tingkat layanan yang paling tepat, aman, dan terkoordinasi?”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1"/>
          <p:cNvSpPr>
            <a:spLocks noGrp="1"/>
          </p:cNvSpPr>
          <p:nvPr>
            <p:ph type="sldNum" idx="33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A8EBF1-1028-45C8-8B83-579153B370FF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Shape 0"/>
          <p:cNvSpPr/>
          <p:nvPr/>
        </p:nvSpPr>
        <p:spPr>
          <a:xfrm>
            <a:off x="567000" y="255960"/>
            <a:ext cx="1325520" cy="301320"/>
          </a:xfrm>
          <a:prstGeom prst="roundRect">
            <a:avLst>
              <a:gd name="adj" fmla="val 24242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"/>
          <p:cNvSpPr/>
          <p:nvPr/>
        </p:nvSpPr>
        <p:spPr>
          <a:xfrm>
            <a:off x="640080" y="311040"/>
            <a:ext cx="11700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REFERENSI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"/>
          <p:cNvSpPr/>
          <p:nvPr/>
        </p:nvSpPr>
        <p:spPr>
          <a:xfrm>
            <a:off x="548640" y="347400"/>
            <a:ext cx="11063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12324a"/>
                </a:solidFill>
                <a:effectLst/>
                <a:uFillTx/>
                <a:latin typeface="Aptos Display"/>
                <a:ea typeface="Aptos Display"/>
              </a:rPr>
              <a:t>Referensi &amp; Bacaan Lanjutan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3"/>
          <p:cNvSpPr/>
          <p:nvPr/>
        </p:nvSpPr>
        <p:spPr>
          <a:xfrm>
            <a:off x="567000" y="841320"/>
            <a:ext cx="107895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Sumber umum untuk memperdalam konsep sistem klien dan pelayanan kesehatan.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4"/>
          <p:cNvSpPr/>
          <p:nvPr/>
        </p:nvSpPr>
        <p:spPr>
          <a:xfrm>
            <a:off x="566640" y="1170360"/>
            <a:ext cx="10972800" cy="360"/>
          </a:xfrm>
          <a:prstGeom prst="line">
            <a:avLst/>
          </a:prstGeom>
          <a:ln w="1270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5"/>
          <p:cNvSpPr/>
          <p:nvPr/>
        </p:nvSpPr>
        <p:spPr>
          <a:xfrm>
            <a:off x="868680" y="1417320"/>
            <a:ext cx="10469520" cy="8226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6"/>
          <p:cNvSpPr/>
          <p:nvPr/>
        </p:nvSpPr>
        <p:spPr>
          <a:xfrm>
            <a:off x="1115640" y="1572840"/>
            <a:ext cx="315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World Health Organization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7"/>
          <p:cNvSpPr/>
          <p:nvPr/>
        </p:nvSpPr>
        <p:spPr>
          <a:xfrm>
            <a:off x="4251960" y="1545480"/>
            <a:ext cx="6720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Materi dan kerangka konsep Primary Health Care serta integrated people-centred health services.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Shape 8"/>
          <p:cNvSpPr/>
          <p:nvPr/>
        </p:nvSpPr>
        <p:spPr>
          <a:xfrm>
            <a:off x="868680" y="2496240"/>
            <a:ext cx="10469520" cy="822600"/>
          </a:xfrm>
          <a:prstGeom prst="roundRect">
            <a:avLst>
              <a:gd name="adj" fmla="val 4444"/>
            </a:avLst>
          </a:prstGeom>
          <a:solidFill>
            <a:srgbClr val="e6f4f8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9"/>
          <p:cNvSpPr/>
          <p:nvPr/>
        </p:nvSpPr>
        <p:spPr>
          <a:xfrm>
            <a:off x="1115640" y="2651760"/>
            <a:ext cx="315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Potter, Perry, Stockert &amp; Hall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0"/>
          <p:cNvSpPr/>
          <p:nvPr/>
        </p:nvSpPr>
        <p:spPr>
          <a:xfrm>
            <a:off x="4251960" y="2624400"/>
            <a:ext cx="6720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Fundamentals of Nursing — konsep klien, proses keperawatan, komunikasi, keselamatan, dan continuity of care.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Shape 11"/>
          <p:cNvSpPr/>
          <p:nvPr/>
        </p:nvSpPr>
        <p:spPr>
          <a:xfrm>
            <a:off x="868680" y="3575160"/>
            <a:ext cx="10469520" cy="8226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2"/>
          <p:cNvSpPr/>
          <p:nvPr/>
        </p:nvSpPr>
        <p:spPr>
          <a:xfrm>
            <a:off x="1115640" y="3730680"/>
            <a:ext cx="315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Nursalam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13"/>
          <p:cNvSpPr/>
          <p:nvPr/>
        </p:nvSpPr>
        <p:spPr>
          <a:xfrm>
            <a:off x="4251960" y="3703320"/>
            <a:ext cx="6720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Manajemen Keperawatan — organisasi pelayanan keperawatan, fungsi manajemen, dan mutu pelayanan.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14"/>
          <p:cNvSpPr/>
          <p:nvPr/>
        </p:nvSpPr>
        <p:spPr>
          <a:xfrm>
            <a:off x="868680" y="4654440"/>
            <a:ext cx="10469520" cy="822600"/>
          </a:xfrm>
          <a:prstGeom prst="roundRect">
            <a:avLst>
              <a:gd name="adj" fmla="val 4444"/>
            </a:avLst>
          </a:prstGeom>
          <a:solidFill>
            <a:srgbClr val="e6f4f8"/>
          </a:solidFill>
          <a:ln w="10160">
            <a:solidFill>
              <a:srgbClr val="d7e1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15"/>
          <p:cNvSpPr/>
          <p:nvPr/>
        </p:nvSpPr>
        <p:spPr>
          <a:xfrm>
            <a:off x="1115640" y="4809600"/>
            <a:ext cx="3154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2324a"/>
                </a:solidFill>
                <a:effectLst/>
                <a:uFillTx/>
                <a:latin typeface="Aptos"/>
              </a:rPr>
              <a:t>Kementerian Kesehatan Republik Indonesia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16"/>
          <p:cNvSpPr/>
          <p:nvPr/>
        </p:nvSpPr>
        <p:spPr>
          <a:xfrm>
            <a:off x="4251960" y="4782240"/>
            <a:ext cx="67204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60" strike="noStrike" u="none">
                <a:solidFill>
                  <a:srgbClr val="1f2937"/>
                </a:solidFill>
                <a:effectLst/>
                <a:uFillTx/>
                <a:latin typeface="Aptos"/>
              </a:rPr>
              <a:t>Dokumen kebijakan dan pedoman mengenai pelayanan kesehatan primer, rujukan, serta fasilitas pelayanan kesehatan.</a:t>
            </a:r>
            <a:endParaRPr b="0" lang="en-US" sz="10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17"/>
          <p:cNvSpPr/>
          <p:nvPr/>
        </p:nvSpPr>
        <p:spPr>
          <a:xfrm>
            <a:off x="3474720" y="5687640"/>
            <a:ext cx="5257440" cy="502560"/>
          </a:xfrm>
          <a:prstGeom prst="roundRect">
            <a:avLst>
              <a:gd name="adj" fmla="val 9091"/>
            </a:avLst>
          </a:prstGeom>
          <a:solidFill>
            <a:srgbClr val="0e7490"/>
          </a:solidFill>
          <a:ln w="12700">
            <a:solidFill>
              <a:srgbClr val="0e74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18"/>
          <p:cNvSpPr/>
          <p:nvPr/>
        </p:nvSpPr>
        <p:spPr>
          <a:xfrm>
            <a:off x="3749040" y="5843160"/>
            <a:ext cx="4708800" cy="1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ffffff"/>
                </a:solidFill>
                <a:effectLst/>
                <a:uFillTx/>
                <a:latin typeface="Aptos"/>
              </a:rPr>
              <a:t>Terima kasih • Diskusi &amp; Tanya Jawab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PlaceHolder 1"/>
          <p:cNvSpPr>
            <a:spLocks noGrp="1"/>
          </p:cNvSpPr>
          <p:nvPr>
            <p:ph type="sldNum" idx="34"/>
          </p:nvPr>
        </p:nvSpPr>
        <p:spPr>
          <a:xfrm>
            <a:off x="11384280" y="6473880"/>
            <a:ext cx="319680" cy="182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4BC5BE-8E80-4F5A-A578-EDC505DA9881}" type="slidenum"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</a:rPr>
              <a:t>&lt;number&gt;</a:t>
            </a:fld>
            <a:endParaRPr b="0" lang="en-US" sz="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2026-09-08T00:28:48Z</dcterms:created>
  <dc:creator>OpenAI</dc:creator>
  <dc:description/>
  <dc:language>en-US</dc:language>
  <cp:lastModifiedBy>OpenAI</cp:lastModifiedBy>
  <dcterms:modified xsi:type="dcterms:W3CDTF">2026-09-08T00:28:48Z</dcterms:modified>
  <cp:revision>1</cp:revision>
  <dc:subject>Pelayanan keperawatan dalam sistem pelayanan kesehatan</dc:subject>
  <dc:title>Pelayanan Keperawatan dalam Sistem Pelayanan Kesehatan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30</vt:r8>
  </property>
  <property fmtid="{D5CDD505-2E9C-101B-9397-08002B2CF9AE}" pid="3" name="PresentationFormat">
    <vt:lpwstr>On-screen Show (16:9)</vt:lpwstr>
  </property>
  <property fmtid="{D5CDD505-2E9C-101B-9397-08002B2CF9AE}" pid="4" name="Slides">
    <vt:r8>30</vt:r8>
  </property>
</Properties>
</file>