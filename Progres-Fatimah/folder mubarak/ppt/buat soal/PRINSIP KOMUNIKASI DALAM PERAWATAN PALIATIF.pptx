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502920"/>
            <a:ext cx="4389120" cy="43891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411480"/>
            <a:ext cx="2514600" cy="2514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1188720"/>
            <a:ext cx="914400" cy="9144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60120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1">
                <a:solidFill>
                  <a:srgbClr val="70C9BE"/>
                </a:solidFill>
                <a:latin typeface="Aptos"/>
              </a:defRPr>
            </a:pPr>
            <a:r>
              <a:rPr sz="2800" dirty="0"/>
              <a:t>PRINSIP KOMUNIKASI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0408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2800" dirty="0"/>
              <a:t>DALAM PERAWATAN</a:t>
            </a:r>
            <a:br>
              <a:rPr dirty="0"/>
            </a:br>
            <a:r>
              <a:rPr sz="2800" dirty="0"/>
              <a:t>PALIATIF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401568"/>
            <a:ext cx="61264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DCE6EB"/>
                </a:solidFill>
                <a:latin typeface="Aptos"/>
              </a:defRPr>
            </a:pPr>
            <a:r>
              <a:rPr sz="2000"/>
              <a:t>Komunikasi yang hadir, jelas, suportif, dan bermartabat.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480560"/>
            <a:ext cx="4297680" cy="64008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4736592"/>
            <a:ext cx="66751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rPr sz="2000"/>
              <a:t>Komunikasi terapeutik • Informasi • Keputusan bersama</a:t>
            </a:r>
            <a:br/>
            <a:r>
              <a:rPr sz="2000"/>
              <a:t>Dukungan emosional-spiritual • Martabat pasien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989320"/>
            <a:ext cx="3474720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E7B249"/>
                </a:solidFill>
                <a:latin typeface="Aptos"/>
              </a:defRPr>
            </a:pPr>
            <a:r>
              <a:rPr lang="en-US" sz="2000" dirty="0"/>
              <a:t>Dr. </a:t>
            </a:r>
            <a:r>
              <a:rPr lang="en-US" sz="2000"/>
              <a:t>Mubarak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Mengapa Komunikasi Sangat Penting?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Mengurangi kecemasan pasien dan keluarga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Membantu memahami kondisi dan pilihan perawatan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Mencegah salah paham dan konflik</a:t>
            </a:r>
          </a:p>
        </p:txBody>
      </p:sp>
      <p:sp>
        <p:nvSpPr>
          <p:cNvPr id="18" name="Oval 17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Menjaga rasa aman, percaya, dan dihargai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Tujuan Komunikasi Paliatif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Memahami kebutuhan fisik, psikologis, sosial, dan spiritual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25012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 dirty="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15868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Mendukung</a:t>
            </a:r>
            <a:r>
              <a:rPr sz="2000" dirty="0"/>
              <a:t> </a:t>
            </a:r>
            <a:r>
              <a:rPr sz="2000" dirty="0" err="1"/>
              <a:t>kualitas</a:t>
            </a:r>
            <a:r>
              <a:rPr sz="2000" dirty="0"/>
              <a:t> </a:t>
            </a:r>
            <a:r>
              <a:rPr sz="2000" dirty="0" err="1"/>
              <a:t>hidup</a:t>
            </a:r>
            <a:r>
              <a:rPr sz="2000" dirty="0"/>
              <a:t> </a:t>
            </a:r>
            <a:r>
              <a:rPr sz="2000" dirty="0" err="1"/>
              <a:t>pasien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Membantu pasien menyampaikan nilai dan harapan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Membangun keputusan yang realistis dan manusiawi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lang="en-US" sz="2400" dirty="0" err="1"/>
              <a:t>Empat</a:t>
            </a:r>
            <a:r>
              <a:rPr sz="2400" dirty="0"/>
              <a:t> </a:t>
            </a:r>
            <a:r>
              <a:rPr sz="2400" dirty="0" err="1"/>
              <a:t>Prinsip</a:t>
            </a:r>
            <a:r>
              <a:rPr sz="2400" dirty="0"/>
              <a:t>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Komunikasi terapeutik &amp; empati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Informasi yang jelas &amp; lengkap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Keputusan bersama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Dukungan emosional &amp; spiritual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96112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 dirty="0" err="1"/>
              <a:t>Kunci</a:t>
            </a:r>
            <a:r>
              <a:rPr sz="2000" dirty="0"/>
              <a:t>: </a:t>
            </a:r>
            <a:r>
              <a:rPr sz="2000" dirty="0" err="1"/>
              <a:t>komunikasikan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tenang</a:t>
            </a:r>
            <a:r>
              <a:rPr sz="2000" dirty="0"/>
              <a:t>, </a:t>
            </a:r>
            <a:r>
              <a:rPr sz="2000" dirty="0" err="1"/>
              <a:t>terstruktur</a:t>
            </a:r>
            <a:r>
              <a:rPr sz="2000" dirty="0"/>
              <a:t>, dan </a:t>
            </a:r>
            <a:r>
              <a:rPr sz="2000" dirty="0" err="1"/>
              <a:t>berpusat</a:t>
            </a:r>
            <a:r>
              <a:rPr sz="2000" dirty="0"/>
              <a:t> pada </a:t>
            </a:r>
            <a:r>
              <a:rPr sz="2000" dirty="0" err="1"/>
              <a:t>kebutuhan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01 — Komunikasi Terapeutik &amp; Empati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000"/>
              <a:t>Membangun hubungan yang aman melalui kehadiran, mendengar, memahami, dan merespons dengan empati.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Apa Itu Komunikasi Terapeutik?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Interaksi profesional yang memiliki tujuan terapeutik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Berfokus pada kebutuhan dan pengalaman pasien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Mendorong pasien mengekspresikan perasaan</a:t>
            </a:r>
          </a:p>
        </p:txBody>
      </p:sp>
      <p:sp>
        <p:nvSpPr>
          <p:cNvPr id="19" name="Oval 18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727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Menggunakan komunikasi verbal dan nonverbal secara sadar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Empati dalam Perawatan Paliatif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Memahami pengalaman pasien dari sudut pandangnya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Mengakui emosi tanpa menghakimi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Tidak terburu-buru memberi nasihat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Menunjukkan bahwa pasien tidak menghadapi situasi sendirian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Mendengarkan Aktif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Berikan perhatian penuh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Gunakan kontak mata yang sesuai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Jangan memotong pembicaraan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Klarifikasi hal yang belum dipahami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10469880" cy="923544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Respons Empatik yang Tepat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19071"/>
            <a:ext cx="6080760" cy="9601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“Saya </a:t>
            </a:r>
            <a:r>
              <a:rPr sz="2000" dirty="0" err="1"/>
              <a:t>bisa</a:t>
            </a:r>
            <a:r>
              <a:rPr sz="2000" dirty="0"/>
              <a:t> </a:t>
            </a:r>
            <a:r>
              <a:rPr sz="2000" dirty="0" err="1"/>
              <a:t>melihat</a:t>
            </a:r>
            <a:r>
              <a:rPr sz="2000" dirty="0"/>
              <a:t> </a:t>
            </a:r>
            <a:r>
              <a:rPr sz="2000" dirty="0" err="1"/>
              <a:t>bahwa</a:t>
            </a:r>
            <a:r>
              <a:rPr sz="2000" dirty="0"/>
              <a:t> </a:t>
            </a:r>
            <a:r>
              <a:rPr sz="2000" dirty="0" err="1"/>
              <a:t>situasi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 sangat </a:t>
            </a:r>
            <a:r>
              <a:rPr sz="2000" dirty="0" err="1"/>
              <a:t>berat</a:t>
            </a:r>
            <a:r>
              <a:rPr sz="2000" dirty="0"/>
              <a:t> </a:t>
            </a:r>
            <a:r>
              <a:rPr sz="2000" dirty="0" err="1"/>
              <a:t>bagi</a:t>
            </a:r>
            <a:r>
              <a:rPr sz="2000" dirty="0"/>
              <a:t> Bapak/Ibu.”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848356"/>
            <a:ext cx="6080760" cy="80924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3022093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967228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“Apa yang paling Bapak/Ibu </a:t>
            </a:r>
            <a:r>
              <a:rPr sz="2000" dirty="0" err="1"/>
              <a:t>khawatirkan</a:t>
            </a:r>
            <a:r>
              <a:rPr sz="2000" dirty="0"/>
              <a:t> </a:t>
            </a:r>
            <a:r>
              <a:rPr sz="2000" dirty="0" err="1"/>
              <a:t>saat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826764"/>
            <a:ext cx="6080760" cy="8092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4000500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945636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</a:t>
            </a:r>
            <a:r>
              <a:rPr sz="2000" dirty="0" err="1"/>
              <a:t>Terima</a:t>
            </a:r>
            <a:r>
              <a:rPr sz="2000" dirty="0"/>
              <a:t> </a:t>
            </a:r>
            <a:r>
              <a:rPr sz="2000" dirty="0" err="1"/>
              <a:t>kasih</a:t>
            </a:r>
            <a:r>
              <a:rPr sz="2000" dirty="0"/>
              <a:t> </a:t>
            </a:r>
            <a:r>
              <a:rPr sz="2000" dirty="0" err="1"/>
              <a:t>sudah</a:t>
            </a:r>
            <a:r>
              <a:rPr sz="2000" dirty="0"/>
              <a:t> </a:t>
            </a:r>
            <a:r>
              <a:rPr sz="2000" dirty="0" err="1"/>
              <a:t>menceritakan</a:t>
            </a:r>
            <a:r>
              <a:rPr sz="2000" dirty="0"/>
              <a:t> </a:t>
            </a:r>
            <a:r>
              <a:rPr sz="2000" dirty="0" err="1"/>
              <a:t>hal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 </a:t>
            </a:r>
            <a:r>
              <a:rPr sz="2000" dirty="0" err="1"/>
              <a:t>kepada</a:t>
            </a:r>
            <a:r>
              <a:rPr sz="2000" dirty="0"/>
              <a:t> kami.”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02 — Informasi yang Jelas &amp; Lengkap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000"/>
              <a:t>Pasien berhak memperoleh informasi yang benar, relevan, mudah dipahami, dan diberikan dengan penuh kepekaan.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Prinsip Memberikan Informasi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Gunakan bahasa sederhana dan konkret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Hindari istilah medis tanpa penjelasan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Sampaikan informasi secara bertahap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Berikan kesempatan bertanya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0215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39242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Sesuaikan dengan kesiapan pasien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Apa yang Perlu Dijelaskan?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Kondisi kesehatan saat 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Tujuan dan pilihan perawatan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Manfaat serta keterbatasan tindakan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Efek samping atau risiko yang mungkin terjadi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86968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Teknik Ask–Tell–Ask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19072"/>
            <a:ext cx="60807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ASK — tanyakan pemahaman dan kebutuhan informasi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542031"/>
            <a:ext cx="6080760" cy="731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271576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66090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TELL — jelaskan secara singkat dan jelas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364991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353872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48386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ASK — periksa kembali pemahaman pasien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Teach-Back: Memastikan Pemahaman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520440"/>
            <a:ext cx="2231136" cy="1575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Minta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menjelaskan</a:t>
            </a:r>
            <a:r>
              <a:rPr sz="2000" dirty="0"/>
              <a:t> </a:t>
            </a:r>
            <a:r>
              <a:rPr sz="2000" dirty="0" err="1"/>
              <a:t>kembali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kata-</a:t>
            </a:r>
            <a:r>
              <a:rPr sz="2000" dirty="0" err="1"/>
              <a:t>katanya</a:t>
            </a:r>
            <a:r>
              <a:rPr sz="2000" dirty="0"/>
              <a:t> </a:t>
            </a:r>
            <a:r>
              <a:rPr sz="2000" dirty="0" err="1"/>
              <a:t>sendiri</a:t>
            </a:r>
            <a:endParaRPr sz="2000" dirty="0"/>
          </a:p>
        </p:txBody>
      </p:sp>
      <p:sp>
        <p:nvSpPr>
          <p:cNvPr id="12" name="Oval 11"/>
          <p:cNvSpPr/>
          <p:nvPr/>
        </p:nvSpPr>
        <p:spPr>
          <a:xfrm>
            <a:off x="578358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8358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3520440"/>
            <a:ext cx="2299716" cy="1575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Gunakan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mengecek</a:t>
            </a:r>
            <a:r>
              <a:rPr sz="2000" dirty="0"/>
              <a:t> </a:t>
            </a:r>
            <a:r>
              <a:rPr sz="2000" dirty="0" err="1"/>
              <a:t>kejelasan</a:t>
            </a:r>
            <a:r>
              <a:rPr sz="2000" dirty="0"/>
              <a:t> </a:t>
            </a:r>
            <a:r>
              <a:rPr sz="2000" dirty="0" err="1"/>
              <a:t>penjelasan</a:t>
            </a:r>
            <a:r>
              <a:rPr sz="2000" dirty="0"/>
              <a:t> </a:t>
            </a:r>
            <a:r>
              <a:rPr sz="2000" dirty="0" err="1"/>
              <a:t>tenaga</a:t>
            </a:r>
            <a:r>
              <a:rPr sz="2000" dirty="0"/>
              <a:t> </a:t>
            </a:r>
            <a:r>
              <a:rPr sz="2000" dirty="0" err="1"/>
              <a:t>kesehatan</a:t>
            </a:r>
            <a:endParaRPr sz="2000" dirty="0"/>
          </a:p>
        </p:txBody>
      </p:sp>
      <p:sp>
        <p:nvSpPr>
          <p:cNvPr id="15" name="Oval 14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2056" y="3520440"/>
            <a:ext cx="2185416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Koreksi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ramah</a:t>
            </a:r>
            <a:r>
              <a:rPr sz="2000" dirty="0"/>
              <a:t> </a:t>
            </a:r>
            <a:r>
              <a:rPr sz="2000" dirty="0" err="1"/>
              <a:t>bila</a:t>
            </a:r>
            <a:r>
              <a:rPr sz="2000" dirty="0"/>
              <a:t> </a:t>
            </a:r>
            <a:r>
              <a:rPr sz="2000" dirty="0" err="1"/>
              <a:t>ada</a:t>
            </a:r>
            <a:r>
              <a:rPr sz="2000" dirty="0"/>
              <a:t> </a:t>
            </a:r>
            <a:r>
              <a:rPr sz="2000" dirty="0" err="1"/>
              <a:t>informasi</a:t>
            </a:r>
            <a:r>
              <a:rPr sz="2000" dirty="0"/>
              <a:t> yang </a:t>
            </a:r>
            <a:r>
              <a:rPr sz="2000" dirty="0" err="1"/>
              <a:t>belum</a:t>
            </a:r>
            <a:r>
              <a:rPr sz="2000" dirty="0"/>
              <a:t> </a:t>
            </a:r>
            <a:r>
              <a:rPr sz="2000" dirty="0" err="1"/>
              <a:t>tepat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03 — Keputusan Bersama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000" dirty="0"/>
              <a:t>Keputusan </a:t>
            </a:r>
            <a:r>
              <a:rPr sz="2000" dirty="0" err="1"/>
              <a:t>terbaik</a:t>
            </a:r>
            <a:r>
              <a:rPr sz="2000" dirty="0"/>
              <a:t> </a:t>
            </a:r>
            <a:r>
              <a:rPr sz="2000" dirty="0" err="1"/>
              <a:t>lahir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kolaborasi</a:t>
            </a:r>
            <a:r>
              <a:rPr sz="2000" dirty="0"/>
              <a:t> </a:t>
            </a:r>
            <a:r>
              <a:rPr sz="2000" dirty="0" err="1"/>
              <a:t>antara</a:t>
            </a:r>
            <a:r>
              <a:rPr sz="2000" dirty="0"/>
              <a:t> </a:t>
            </a:r>
            <a:r>
              <a:rPr sz="2000" dirty="0" err="1"/>
              <a:t>bukti</a:t>
            </a:r>
            <a:r>
              <a:rPr sz="2000" dirty="0"/>
              <a:t> </a:t>
            </a:r>
            <a:r>
              <a:rPr sz="2000" dirty="0" err="1"/>
              <a:t>klinis</a:t>
            </a:r>
            <a:r>
              <a:rPr sz="2000" dirty="0"/>
              <a:t>, </a:t>
            </a:r>
            <a:r>
              <a:rPr sz="2000" dirty="0" err="1"/>
              <a:t>pilihan</a:t>
            </a:r>
            <a:r>
              <a:rPr sz="2000" dirty="0"/>
              <a:t> </a:t>
            </a:r>
            <a:r>
              <a:rPr sz="2000" dirty="0" err="1"/>
              <a:t>perawatan</a:t>
            </a:r>
            <a:r>
              <a:rPr sz="2000" dirty="0"/>
              <a:t>, </a:t>
            </a:r>
            <a:r>
              <a:rPr sz="2000" dirty="0" err="1"/>
              <a:t>serta</a:t>
            </a:r>
            <a:r>
              <a:rPr sz="2000" dirty="0"/>
              <a:t> </a:t>
            </a:r>
            <a:r>
              <a:rPr sz="2000" dirty="0" err="1"/>
              <a:t>nilai</a:t>
            </a:r>
            <a:r>
              <a:rPr sz="2000" dirty="0"/>
              <a:t> dan </a:t>
            </a:r>
            <a:r>
              <a:rPr sz="2000" dirty="0" err="1"/>
              <a:t>tujuan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Apa Itu Shared Decision-Making?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Tenaga kesehatan menjelaskan pilihan yang tersedia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Pasien menyampaikan nilai, prioritas, dan preferensi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Manfaat dan risiko dipertimbangkan bersama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Keputusan dibuat melalui dialog, bukan paksaan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86968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Langkah Keputusan Bersama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1907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Kenali keputusan yang perlu dibuat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4203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7488" y="271576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6090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Jelaskan pilihan secara seimbang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64991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353872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8386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Eksplorasi nilai dan tujuan pasien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187951"/>
            <a:ext cx="6080760" cy="76809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436168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25196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Diskusikan</a:t>
            </a:r>
            <a:r>
              <a:rPr sz="2000" dirty="0"/>
              <a:t> </a:t>
            </a:r>
            <a:r>
              <a:rPr sz="2000" dirty="0" err="1"/>
              <a:t>keluarga</a:t>
            </a:r>
            <a:r>
              <a:rPr sz="2000" dirty="0"/>
              <a:t> </a:t>
            </a:r>
            <a:r>
              <a:rPr sz="2000" dirty="0" err="1"/>
              <a:t>bila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menghendaki</a:t>
            </a:r>
            <a:endParaRPr sz="2000" dirty="0"/>
          </a:p>
        </p:txBody>
      </p:sp>
      <p:sp>
        <p:nvSpPr>
          <p:cNvPr id="22" name="Rounded Rectangle 21"/>
          <p:cNvSpPr/>
          <p:nvPr/>
        </p:nvSpPr>
        <p:spPr>
          <a:xfrm>
            <a:off x="4800600" y="5102353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488" y="524865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5221225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Sepakati rencana dan evaluasi kembali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Pertanyaan untuk Menggali Preferensi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20440"/>
            <a:ext cx="2011680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“Apa yang paling </a:t>
            </a:r>
            <a:r>
              <a:rPr sz="2000" dirty="0" err="1"/>
              <a:t>penting</a:t>
            </a:r>
            <a:r>
              <a:rPr sz="2000" dirty="0"/>
              <a:t> </a:t>
            </a:r>
            <a:r>
              <a:rPr sz="2000" dirty="0" err="1"/>
              <a:t>bagi</a:t>
            </a:r>
            <a:r>
              <a:rPr sz="2000" dirty="0"/>
              <a:t> Anda </a:t>
            </a:r>
            <a:r>
              <a:rPr sz="2000" dirty="0" err="1"/>
              <a:t>saat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?”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20440"/>
            <a:ext cx="1783080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“Hal </a:t>
            </a:r>
            <a:r>
              <a:rPr sz="2000" dirty="0" err="1"/>
              <a:t>apa</a:t>
            </a:r>
            <a:r>
              <a:rPr sz="2000" dirty="0"/>
              <a:t> yang </a:t>
            </a:r>
            <a:r>
              <a:rPr sz="2000" dirty="0" err="1"/>
              <a:t>ingin</a:t>
            </a:r>
            <a:r>
              <a:rPr sz="2000" dirty="0"/>
              <a:t> </a:t>
            </a:r>
            <a:r>
              <a:rPr sz="2000" dirty="0" err="1"/>
              <a:t>tetap</a:t>
            </a:r>
            <a:r>
              <a:rPr sz="2000" dirty="0"/>
              <a:t> </a:t>
            </a:r>
            <a:r>
              <a:rPr sz="2000" dirty="0" err="1"/>
              <a:t>bisa</a:t>
            </a:r>
            <a:r>
              <a:rPr sz="2000" dirty="0"/>
              <a:t> Anda </a:t>
            </a:r>
            <a:r>
              <a:rPr sz="2000" dirty="0" err="1"/>
              <a:t>lakukan</a:t>
            </a:r>
            <a:r>
              <a:rPr sz="2000" dirty="0"/>
              <a:t>?”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6540" y="3429000"/>
            <a:ext cx="2011680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“Apa yang paling Anda </a:t>
            </a:r>
            <a:r>
              <a:rPr sz="2000" dirty="0" err="1"/>
              <a:t>khawatirkan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perawatan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?”</a:t>
            </a:r>
          </a:p>
        </p:txBody>
      </p:sp>
      <p:sp>
        <p:nvSpPr>
          <p:cNvPr id="19" name="Oval 18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520440"/>
            <a:ext cx="1856232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</a:t>
            </a:r>
            <a:r>
              <a:rPr sz="2000" dirty="0" err="1"/>
              <a:t>Siapa</a:t>
            </a:r>
            <a:r>
              <a:rPr sz="2000" dirty="0"/>
              <a:t> yang </a:t>
            </a:r>
            <a:r>
              <a:rPr sz="2000" dirty="0" err="1"/>
              <a:t>ingin</a:t>
            </a:r>
            <a:r>
              <a:rPr sz="2000" dirty="0"/>
              <a:t> Anda </a:t>
            </a:r>
            <a:r>
              <a:rPr sz="2000" dirty="0" err="1"/>
              <a:t>libatkan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keputusan</a:t>
            </a:r>
            <a:r>
              <a:rPr sz="2000" dirty="0"/>
              <a:t>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Peran Keluarga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Menjadi sumber dukungan pasien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Membantu memahami nilai dan kebiasaan pasien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Dilibatkan sesuai persetujuan pasien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Tidak menggantikan suara pasien yang masih mampu mengambil keputusan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04 — Dukungan Emosional &amp; Spiritual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3295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800" dirty="0" err="1"/>
              <a:t>Perawatan</a:t>
            </a:r>
            <a:r>
              <a:rPr sz="2800" dirty="0"/>
              <a:t> </a:t>
            </a:r>
            <a:r>
              <a:rPr sz="2800" dirty="0" err="1"/>
              <a:t>paliatif</a:t>
            </a:r>
            <a:r>
              <a:rPr sz="2800" dirty="0"/>
              <a:t> </a:t>
            </a:r>
            <a:r>
              <a:rPr sz="2800" dirty="0" err="1"/>
              <a:t>melihat</a:t>
            </a:r>
            <a:r>
              <a:rPr sz="2800" dirty="0"/>
              <a:t> </a:t>
            </a:r>
            <a:r>
              <a:rPr sz="2800" dirty="0" err="1"/>
              <a:t>pasien</a:t>
            </a:r>
            <a:r>
              <a:rPr sz="2800" dirty="0"/>
              <a:t> </a:t>
            </a:r>
            <a:r>
              <a:rPr sz="2800" dirty="0" err="1"/>
              <a:t>sebagai</a:t>
            </a:r>
            <a:r>
              <a:rPr sz="2800" dirty="0"/>
              <a:t> </a:t>
            </a:r>
            <a:r>
              <a:rPr sz="2800" dirty="0" err="1"/>
              <a:t>manusia</a:t>
            </a:r>
            <a:r>
              <a:rPr sz="2800" dirty="0"/>
              <a:t> </a:t>
            </a:r>
            <a:r>
              <a:rPr sz="2800" dirty="0" err="1"/>
              <a:t>utuh</a:t>
            </a:r>
            <a:r>
              <a:rPr sz="2800" dirty="0"/>
              <a:t>—</a:t>
            </a:r>
            <a:r>
              <a:rPr sz="2800" dirty="0" err="1"/>
              <a:t>bukan</a:t>
            </a:r>
            <a:r>
              <a:rPr sz="2800" dirty="0"/>
              <a:t> </a:t>
            </a:r>
            <a:r>
              <a:rPr sz="2800" dirty="0" err="1"/>
              <a:t>hanya</a:t>
            </a:r>
            <a:r>
              <a:rPr sz="2800" dirty="0"/>
              <a:t> </a:t>
            </a:r>
            <a:r>
              <a:rPr sz="2800" dirty="0" err="1"/>
              <a:t>penyakit</a:t>
            </a:r>
            <a:r>
              <a:rPr sz="2800" dirty="0"/>
              <a:t> yang </a:t>
            </a:r>
            <a:r>
              <a:rPr sz="2800" dirty="0" err="1"/>
              <a:t>sedang</a:t>
            </a:r>
            <a:r>
              <a:rPr sz="2800" dirty="0"/>
              <a:t> </a:t>
            </a:r>
            <a:r>
              <a:rPr sz="2800" dirty="0" err="1"/>
              <a:t>dialami</a:t>
            </a:r>
            <a:r>
              <a:rPr sz="28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Mengenali Kebutuhan Emosional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1907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Takut terhadap nyeri atau kematian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542031"/>
            <a:ext cx="6080760" cy="6766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271576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596896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Sedih</a:t>
            </a:r>
            <a:r>
              <a:rPr sz="2000" dirty="0"/>
              <a:t> </a:t>
            </a:r>
            <a:r>
              <a:rPr sz="2000" dirty="0" err="1"/>
              <a:t>karena</a:t>
            </a:r>
            <a:r>
              <a:rPr sz="2000" dirty="0"/>
              <a:t> </a:t>
            </a:r>
            <a:r>
              <a:rPr sz="2000" dirty="0" err="1"/>
              <a:t>kehilangan</a:t>
            </a:r>
            <a:r>
              <a:rPr sz="2000" dirty="0"/>
              <a:t> </a:t>
            </a:r>
            <a:r>
              <a:rPr sz="2000" dirty="0" err="1"/>
              <a:t>fungsi</a:t>
            </a:r>
            <a:r>
              <a:rPr sz="2000" dirty="0"/>
              <a:t> dan </a:t>
            </a:r>
            <a:r>
              <a:rPr sz="2000" dirty="0" err="1"/>
              <a:t>kemandirian</a:t>
            </a:r>
            <a:endParaRPr sz="2000" dirty="0"/>
          </a:p>
        </p:txBody>
      </p:sp>
      <p:sp>
        <p:nvSpPr>
          <p:cNvPr id="17" name="Rounded Rectangle 16"/>
          <p:cNvSpPr/>
          <p:nvPr/>
        </p:nvSpPr>
        <p:spPr>
          <a:xfrm>
            <a:off x="4800600" y="3364991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353872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48386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Cemas terhadap keluarga yang ditinggalkan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18795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436168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306824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Marah, kecewa, atau merasa tidak berdaya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501091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518464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5129784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Membutuhkan rasa aman dan didampingi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Memberikan Dukungan Emosional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Validasi perasaan pasien</a:t>
            </a:r>
          </a:p>
        </p:txBody>
      </p:sp>
      <p:sp>
        <p:nvSpPr>
          <p:cNvPr id="13" name="Oval 12"/>
          <p:cNvSpPr/>
          <p:nvPr/>
        </p:nvSpPr>
        <p:spPr>
          <a:xfrm>
            <a:off x="334899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899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1770" y="3520440"/>
            <a:ext cx="1741932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Berikan</a:t>
            </a:r>
            <a:r>
              <a:rPr sz="2000" dirty="0"/>
              <a:t> </a:t>
            </a:r>
            <a:r>
              <a:rPr sz="2000" dirty="0" err="1"/>
              <a:t>ruang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diam dan </a:t>
            </a:r>
            <a:r>
              <a:rPr sz="2000" dirty="0" err="1"/>
              <a:t>menangis</a:t>
            </a:r>
            <a:endParaRPr sz="2000" dirty="0"/>
          </a:p>
        </p:txBody>
      </p:sp>
      <p:sp>
        <p:nvSpPr>
          <p:cNvPr id="16" name="Oval 15"/>
          <p:cNvSpPr/>
          <p:nvPr/>
        </p:nvSpPr>
        <p:spPr>
          <a:xfrm>
            <a:off x="578358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358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092" y="3520440"/>
            <a:ext cx="1741932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Hindari</a:t>
            </a:r>
            <a:r>
              <a:rPr sz="2000" dirty="0"/>
              <a:t> </a:t>
            </a:r>
            <a:r>
              <a:rPr sz="2000" dirty="0" err="1"/>
              <a:t>kalimat</a:t>
            </a:r>
            <a:r>
              <a:rPr sz="2000" dirty="0"/>
              <a:t> yang </a:t>
            </a:r>
            <a:r>
              <a:rPr sz="2000" dirty="0" err="1"/>
              <a:t>meremehkan</a:t>
            </a:r>
            <a:r>
              <a:rPr sz="2000" dirty="0"/>
              <a:t> </a:t>
            </a:r>
            <a:r>
              <a:rPr sz="2000" dirty="0" err="1"/>
              <a:t>emosi</a:t>
            </a:r>
            <a:endParaRPr sz="2000" dirty="0"/>
          </a:p>
        </p:txBody>
      </p:sp>
      <p:sp>
        <p:nvSpPr>
          <p:cNvPr id="19" name="Oval 18"/>
          <p:cNvSpPr/>
          <p:nvPr/>
        </p:nvSpPr>
        <p:spPr>
          <a:xfrm>
            <a:off x="821817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817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2682" y="3520440"/>
            <a:ext cx="1812798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Tawarkan</a:t>
            </a:r>
            <a:r>
              <a:rPr sz="2000" dirty="0"/>
              <a:t> </a:t>
            </a:r>
            <a:r>
              <a:rPr sz="2000" dirty="0" err="1"/>
              <a:t>bantuan</a:t>
            </a:r>
            <a:r>
              <a:rPr sz="2000" dirty="0"/>
              <a:t> </a:t>
            </a:r>
            <a:r>
              <a:rPr sz="2000" dirty="0" err="1"/>
              <a:t>profesional</a:t>
            </a:r>
            <a:r>
              <a:rPr sz="2000" dirty="0"/>
              <a:t> </a:t>
            </a:r>
            <a:r>
              <a:rPr sz="2000" dirty="0" err="1"/>
              <a:t>bila</a:t>
            </a:r>
            <a:r>
              <a:rPr sz="2000" dirty="0"/>
              <a:t> </a:t>
            </a:r>
            <a:r>
              <a:rPr sz="2000" dirty="0" err="1"/>
              <a:t>diperlukan</a:t>
            </a:r>
            <a:endParaRPr sz="2000" dirty="0"/>
          </a:p>
        </p:txBody>
      </p:sp>
      <p:sp>
        <p:nvSpPr>
          <p:cNvPr id="22" name="Oval 21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4308" y="3529584"/>
            <a:ext cx="2014728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Jaga </a:t>
            </a:r>
            <a:r>
              <a:rPr sz="2000" dirty="0" err="1"/>
              <a:t>kesinambungan</a:t>
            </a:r>
            <a:r>
              <a:rPr sz="2000" dirty="0"/>
              <a:t> </a:t>
            </a:r>
            <a:r>
              <a:rPr sz="2000" dirty="0" err="1"/>
              <a:t>komunikasi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Kebutuhan Spiritual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Makna hidup dan harapan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Keyakinan atau praktik keagamaan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Hubungan dengan keluarga dan orang penting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Kebutuhan berdamai, memaafkan, atau dimaafkan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0215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39242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Harapan mengenai akhir kehidupan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Cara Memberikan Dukungan Spiritual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Tanyakan apa yang memberi kekuatan bagi pasien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Hormati keyakinan tanpa memaksakan pandangan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Fasilitasi ibadah atau ritual bila memungkinkan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Libatkan rohaniawan sesuai keinginan pasien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86968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05 — Menghargai Martabat Pasien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3295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800" dirty="0" err="1"/>
              <a:t>Setiap</a:t>
            </a:r>
            <a:r>
              <a:rPr sz="2800" dirty="0"/>
              <a:t> </a:t>
            </a:r>
            <a:r>
              <a:rPr sz="2800" dirty="0" err="1"/>
              <a:t>pasien</a:t>
            </a:r>
            <a:r>
              <a:rPr sz="2800" dirty="0"/>
              <a:t> </a:t>
            </a:r>
            <a:r>
              <a:rPr sz="2800" dirty="0" err="1"/>
              <a:t>tetap</a:t>
            </a:r>
            <a:r>
              <a:rPr sz="2800" dirty="0"/>
              <a:t> </a:t>
            </a:r>
            <a:r>
              <a:rPr sz="2800" dirty="0" err="1"/>
              <a:t>memiliki</a:t>
            </a:r>
            <a:r>
              <a:rPr sz="2800" dirty="0"/>
              <a:t> </a:t>
            </a:r>
            <a:r>
              <a:rPr sz="2800" dirty="0" err="1"/>
              <a:t>nilai</a:t>
            </a:r>
            <a:r>
              <a:rPr sz="2800" dirty="0"/>
              <a:t>, </a:t>
            </a:r>
            <a:r>
              <a:rPr sz="2800" dirty="0" err="1"/>
              <a:t>hak</a:t>
            </a:r>
            <a:r>
              <a:rPr sz="2800" dirty="0"/>
              <a:t>, </a:t>
            </a:r>
            <a:r>
              <a:rPr sz="2800" dirty="0" err="1"/>
              <a:t>identitas</a:t>
            </a:r>
            <a:r>
              <a:rPr sz="2800" dirty="0"/>
              <a:t>, dan </a:t>
            </a:r>
            <a:r>
              <a:rPr sz="2800" dirty="0" err="1"/>
              <a:t>pilihan</a:t>
            </a:r>
            <a:r>
              <a:rPr sz="2800" dirty="0"/>
              <a:t> yang </a:t>
            </a:r>
            <a:r>
              <a:rPr sz="2800" dirty="0" err="1"/>
              <a:t>harus</a:t>
            </a:r>
            <a:r>
              <a:rPr sz="2800" dirty="0"/>
              <a:t> </a:t>
            </a:r>
            <a:r>
              <a:rPr sz="2800" dirty="0" err="1"/>
              <a:t>dihormati</a:t>
            </a:r>
            <a:r>
              <a:rPr sz="2800" dirty="0"/>
              <a:t> </a:t>
            </a:r>
            <a:r>
              <a:rPr sz="2800" dirty="0" err="1"/>
              <a:t>hingga</a:t>
            </a:r>
            <a:r>
              <a:rPr sz="2800" dirty="0"/>
              <a:t> </a:t>
            </a:r>
            <a:r>
              <a:rPr sz="2800" dirty="0" err="1"/>
              <a:t>akhir</a:t>
            </a:r>
            <a:r>
              <a:rPr sz="2800" dirty="0"/>
              <a:t> </a:t>
            </a:r>
            <a:r>
              <a:rPr sz="2800" dirty="0" err="1"/>
              <a:t>kehidupan</a:t>
            </a:r>
            <a:r>
              <a:rPr sz="28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Martabat dalam Praktik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20440"/>
            <a:ext cx="1746504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Panggil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nama yang </a:t>
            </a:r>
            <a:r>
              <a:rPr sz="2000" dirty="0" err="1"/>
              <a:t>disukai</a:t>
            </a:r>
            <a:endParaRPr sz="2000" dirty="0"/>
          </a:p>
        </p:txBody>
      </p:sp>
      <p:sp>
        <p:nvSpPr>
          <p:cNvPr id="12" name="Oval 11"/>
          <p:cNvSpPr/>
          <p:nvPr/>
        </p:nvSpPr>
        <p:spPr>
          <a:xfrm>
            <a:off x="334899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99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3502" y="3520440"/>
            <a:ext cx="2000250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Jaga </a:t>
            </a:r>
            <a:r>
              <a:rPr sz="2000" dirty="0" err="1"/>
              <a:t>privasi</a:t>
            </a:r>
            <a:r>
              <a:rPr sz="2000" dirty="0"/>
              <a:t> </a:t>
            </a:r>
            <a:r>
              <a:rPr sz="2000" dirty="0" err="1"/>
              <a:t>saat</a:t>
            </a:r>
            <a:r>
              <a:rPr sz="2000" dirty="0"/>
              <a:t> </a:t>
            </a:r>
            <a:r>
              <a:rPr sz="2000" dirty="0" err="1"/>
              <a:t>pemeriksaan</a:t>
            </a:r>
            <a:r>
              <a:rPr sz="2000" dirty="0"/>
              <a:t> dan </a:t>
            </a:r>
            <a:r>
              <a:rPr sz="2000" dirty="0" err="1"/>
              <a:t>percakapan</a:t>
            </a:r>
            <a:endParaRPr sz="2000" dirty="0"/>
          </a:p>
        </p:txBody>
      </p:sp>
      <p:sp>
        <p:nvSpPr>
          <p:cNvPr id="15" name="Oval 14"/>
          <p:cNvSpPr/>
          <p:nvPr/>
        </p:nvSpPr>
        <p:spPr>
          <a:xfrm>
            <a:off x="578358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358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2" y="3520440"/>
            <a:ext cx="1746504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Libatkan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keputusan</a:t>
            </a:r>
            <a:endParaRPr sz="2000" dirty="0"/>
          </a:p>
        </p:txBody>
      </p:sp>
      <p:sp>
        <p:nvSpPr>
          <p:cNvPr id="18" name="Oval 17"/>
          <p:cNvSpPr/>
          <p:nvPr/>
        </p:nvSpPr>
        <p:spPr>
          <a:xfrm>
            <a:off x="821817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17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2682" y="3520440"/>
            <a:ext cx="1746504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Hormati</a:t>
            </a:r>
            <a:r>
              <a:rPr sz="2000" dirty="0"/>
              <a:t> </a:t>
            </a:r>
            <a:r>
              <a:rPr sz="2000" dirty="0" err="1"/>
              <a:t>budaya</a:t>
            </a:r>
            <a:r>
              <a:rPr sz="2000" dirty="0"/>
              <a:t>, </a:t>
            </a:r>
            <a:r>
              <a:rPr sz="2000" dirty="0" err="1"/>
              <a:t>nilai</a:t>
            </a:r>
            <a:r>
              <a:rPr sz="2000" dirty="0"/>
              <a:t>, dan </a:t>
            </a:r>
            <a:r>
              <a:rPr sz="2000" dirty="0" err="1"/>
              <a:t>keyakinan</a:t>
            </a:r>
            <a:endParaRPr sz="2000" dirty="0"/>
          </a:p>
        </p:txBody>
      </p:sp>
      <p:sp>
        <p:nvSpPr>
          <p:cNvPr id="21" name="Oval 20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3520440"/>
            <a:ext cx="1819656" cy="1575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Hindari</a:t>
            </a:r>
            <a:r>
              <a:rPr sz="2000" dirty="0"/>
              <a:t> </a:t>
            </a:r>
            <a:r>
              <a:rPr sz="2000" dirty="0" err="1"/>
              <a:t>pembicaraan</a:t>
            </a:r>
            <a:r>
              <a:rPr sz="2000" dirty="0"/>
              <a:t> </a:t>
            </a:r>
            <a:r>
              <a:rPr sz="2000" dirty="0" err="1"/>
              <a:t>tentang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seolah</a:t>
            </a:r>
            <a:r>
              <a:rPr sz="2000" dirty="0"/>
              <a:t> </a:t>
            </a:r>
            <a:r>
              <a:rPr sz="2000" dirty="0" err="1"/>
              <a:t>ia</a:t>
            </a:r>
            <a:r>
              <a:rPr sz="2000" dirty="0"/>
              <a:t> </a:t>
            </a:r>
            <a:r>
              <a:rPr sz="2000" dirty="0" err="1"/>
              <a:t>tidak</a:t>
            </a:r>
            <a:r>
              <a:rPr sz="2000" dirty="0"/>
              <a:t> </a:t>
            </a:r>
            <a:r>
              <a:rPr sz="2000" dirty="0" err="1"/>
              <a:t>hadir</a:t>
            </a:r>
            <a:endParaRPr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Komunikasi yang Harus Dihindari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Memberi harapan palsu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Menggunakan istilah yang menakutkan tanpa penjelasan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Mengabaikan pertanyaan pasien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Memaksakan keputusan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350215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339242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Membicarakan prognosis tanpa mempertimbangkan kesiapan pasien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Studi Kasus Singkat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657600" cy="429768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9260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000"/>
              <a:t>“Saya takut</a:t>
            </a:r>
            <a:br/>
            <a:r>
              <a:rPr sz="2000"/>
              <a:t>menjadi beban</a:t>
            </a:r>
            <a:br/>
            <a:r>
              <a:rPr sz="2000"/>
              <a:t>keluarga.”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86200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70C9BE"/>
                </a:solidFill>
                <a:latin typeface="Aptos"/>
              </a:defRPr>
            </a:pPr>
            <a:r>
              <a:rPr sz="2000"/>
              <a:t>Pasien kanker lanjut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55648"/>
            <a:ext cx="6126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10912" y="1938528"/>
            <a:ext cx="365760" cy="36576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10912" y="1956816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810512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Respons</a:t>
            </a:r>
            <a:r>
              <a:rPr sz="2000" dirty="0"/>
              <a:t> </a:t>
            </a:r>
            <a:r>
              <a:rPr sz="2000" dirty="0" err="1"/>
              <a:t>awal</a:t>
            </a:r>
            <a:r>
              <a:rPr sz="2000" dirty="0"/>
              <a:t>: </a:t>
            </a:r>
            <a:r>
              <a:rPr sz="2000" dirty="0" err="1"/>
              <a:t>validasi</a:t>
            </a:r>
            <a:r>
              <a:rPr sz="2000" dirty="0"/>
              <a:t> </a:t>
            </a:r>
            <a:r>
              <a:rPr sz="2000" dirty="0" err="1"/>
              <a:t>perasaan</a:t>
            </a:r>
            <a:r>
              <a:rPr sz="2000" dirty="0"/>
              <a:t> dan </a:t>
            </a:r>
            <a:r>
              <a:rPr sz="2000" dirty="0" err="1"/>
              <a:t>gali</a:t>
            </a:r>
            <a:r>
              <a:rPr sz="2000" dirty="0"/>
              <a:t> </a:t>
            </a:r>
            <a:r>
              <a:rPr sz="2000" dirty="0" err="1"/>
              <a:t>kekhawatiran</a:t>
            </a:r>
            <a:endParaRPr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4754880" y="2715768"/>
            <a:ext cx="6126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10912" y="2898648"/>
            <a:ext cx="365760" cy="36576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2907792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2862072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Berikan informasi sesuai kebutuhan pasien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675886"/>
            <a:ext cx="6126480" cy="80467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10912" y="3858768"/>
            <a:ext cx="365760" cy="3657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10912" y="3877056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3739896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Libatkan</a:t>
            </a:r>
            <a:r>
              <a:rPr sz="2000" dirty="0"/>
              <a:t> </a:t>
            </a:r>
            <a:r>
              <a:rPr sz="2000" dirty="0" err="1"/>
              <a:t>keluarga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persetujuan</a:t>
            </a:r>
            <a:r>
              <a:rPr sz="2000" dirty="0"/>
              <a:t> </a:t>
            </a:r>
            <a:r>
              <a:rPr sz="2000" dirty="0" err="1"/>
              <a:t>pasien</a:t>
            </a:r>
            <a:endParaRPr sz="2000" dirty="0"/>
          </a:p>
        </p:txBody>
      </p:sp>
      <p:sp>
        <p:nvSpPr>
          <p:cNvPr id="23" name="Rounded Rectangle 22"/>
          <p:cNvSpPr/>
          <p:nvPr/>
        </p:nvSpPr>
        <p:spPr>
          <a:xfrm>
            <a:off x="4754880" y="4636008"/>
            <a:ext cx="6126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10912" y="4818888"/>
            <a:ext cx="365760" cy="3657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4809744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4782312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Susun rencana yang mempertahankan kenyamanan dan martabat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Alur Komunikasi Paliatif yang Ideal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858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65747E"/>
                </a:solidFill>
                <a:latin typeface="Aptos"/>
              </a:defRPr>
            </a:pPr>
            <a:r>
              <a:rPr sz="2400"/>
              <a:t>Satu alur sederhana untuk menjaga komunikasi tetap manusiawi.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10149840" cy="73152"/>
          </a:xfrm>
          <a:prstGeom prst="rect">
            <a:avLst/>
          </a:prstGeom>
          <a:solidFill>
            <a:srgbClr val="C4D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HADIR</a:t>
            </a:r>
          </a:p>
        </p:txBody>
      </p:sp>
      <p:sp>
        <p:nvSpPr>
          <p:cNvPr id="12" name="Oval 11"/>
          <p:cNvSpPr/>
          <p:nvPr/>
        </p:nvSpPr>
        <p:spPr>
          <a:xfrm>
            <a:off x="2542032" y="2651760"/>
            <a:ext cx="658368" cy="658368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2032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3530965"/>
            <a:ext cx="1627632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 dirty="0"/>
              <a:t>DENGARKAN</a:t>
            </a:r>
          </a:p>
        </p:txBody>
      </p:sp>
      <p:sp>
        <p:nvSpPr>
          <p:cNvPr id="15" name="Oval 14"/>
          <p:cNvSpPr/>
          <p:nvPr/>
        </p:nvSpPr>
        <p:spPr>
          <a:xfrm>
            <a:off x="4169664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9664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PAHAMI</a:t>
            </a:r>
          </a:p>
        </p:txBody>
      </p:sp>
      <p:sp>
        <p:nvSpPr>
          <p:cNvPr id="18" name="Oval 17"/>
          <p:cNvSpPr/>
          <p:nvPr/>
        </p:nvSpPr>
        <p:spPr>
          <a:xfrm>
            <a:off x="5797296" y="2651760"/>
            <a:ext cx="658368" cy="658368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97296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JELASKAN</a:t>
            </a:r>
          </a:p>
        </p:txBody>
      </p:sp>
      <p:sp>
        <p:nvSpPr>
          <p:cNvPr id="21" name="Oval 20"/>
          <p:cNvSpPr/>
          <p:nvPr/>
        </p:nvSpPr>
        <p:spPr>
          <a:xfrm>
            <a:off x="7424928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4928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520440"/>
            <a:ext cx="1453896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 dirty="0"/>
              <a:t>PUTUSKAN</a:t>
            </a:r>
          </a:p>
        </p:txBody>
      </p:sp>
      <p:sp>
        <p:nvSpPr>
          <p:cNvPr id="24" name="Oval 23"/>
          <p:cNvSpPr/>
          <p:nvPr/>
        </p:nvSpPr>
        <p:spPr>
          <a:xfrm>
            <a:off x="9052560" y="2651760"/>
            <a:ext cx="658368" cy="658368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DUKUNG</a:t>
            </a:r>
          </a:p>
        </p:txBody>
      </p:sp>
      <p:sp>
        <p:nvSpPr>
          <p:cNvPr id="27" name="Oval 26"/>
          <p:cNvSpPr/>
          <p:nvPr/>
        </p:nvSpPr>
        <p:spPr>
          <a:xfrm>
            <a:off x="10680192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80192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HORMATI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92040"/>
            <a:ext cx="10424160" cy="950976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084064"/>
            <a:ext cx="98755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12273A"/>
                </a:solidFill>
                <a:latin typeface="Aptos"/>
              </a:defRPr>
            </a:pPr>
            <a:r>
              <a:rPr sz="2000" dirty="0" err="1"/>
              <a:t>Evaluasi</a:t>
            </a:r>
            <a:r>
              <a:rPr sz="2000" dirty="0"/>
              <a:t> </a:t>
            </a:r>
            <a:r>
              <a:rPr sz="2000" dirty="0" err="1"/>
              <a:t>kembali</a:t>
            </a:r>
            <a:r>
              <a:rPr sz="2000" dirty="0"/>
              <a:t> </a:t>
            </a:r>
            <a:r>
              <a:rPr sz="2000" dirty="0" err="1"/>
              <a:t>kebutuhan</a:t>
            </a:r>
            <a:r>
              <a:rPr sz="2000" dirty="0"/>
              <a:t>, </a:t>
            </a:r>
            <a:r>
              <a:rPr sz="2000" dirty="0" err="1"/>
              <a:t>pemahaman</a:t>
            </a:r>
            <a:r>
              <a:rPr sz="2000" dirty="0"/>
              <a:t>, dan </a:t>
            </a:r>
            <a:r>
              <a:rPr sz="2000" dirty="0" err="1"/>
              <a:t>pilihan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sepanjang</a:t>
            </a:r>
            <a:r>
              <a:rPr sz="2000" dirty="0"/>
              <a:t> </a:t>
            </a:r>
            <a:r>
              <a:rPr sz="2000" dirty="0" err="1"/>
              <a:t>perjalanan</a:t>
            </a:r>
            <a:r>
              <a:rPr sz="2000" dirty="0"/>
              <a:t> </a:t>
            </a:r>
            <a:r>
              <a:rPr sz="2000" dirty="0" err="1"/>
              <a:t>perawatan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Kesimpulan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20624" cy="420624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66543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51658"/>
            <a:ext cx="22860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Komunikasi</a:t>
            </a:r>
            <a:r>
              <a:rPr sz="2000" dirty="0"/>
              <a:t> </a:t>
            </a:r>
            <a:r>
              <a:rPr sz="2000" dirty="0" err="1"/>
              <a:t>terapeutik</a:t>
            </a:r>
            <a:r>
              <a:rPr sz="2000" dirty="0"/>
              <a:t> </a:t>
            </a:r>
            <a:r>
              <a:rPr sz="2000" dirty="0" err="1"/>
              <a:t>membangun</a:t>
            </a:r>
            <a:r>
              <a:rPr sz="2000" dirty="0"/>
              <a:t> rasa </a:t>
            </a:r>
            <a:r>
              <a:rPr sz="2000" dirty="0" err="1"/>
              <a:t>aman</a:t>
            </a:r>
            <a:endParaRPr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0288" y="1993391"/>
            <a:ext cx="420624" cy="42062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66543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993391"/>
            <a:ext cx="22860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Informasi yang jelas mendukung pemahaman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93608" y="1993391"/>
            <a:ext cx="420624" cy="420624"/>
          </a:xfrm>
          <a:prstGeom prst="ellipse">
            <a:avLst/>
          </a:prstGeom>
          <a:solidFill>
            <a:srgbClr val="E77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066543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851659"/>
            <a:ext cx="22860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Keputusan </a:t>
            </a:r>
            <a:r>
              <a:rPr sz="2000" dirty="0" err="1"/>
              <a:t>bersama</a:t>
            </a:r>
            <a:r>
              <a:rPr sz="2000" dirty="0"/>
              <a:t> </a:t>
            </a:r>
            <a:r>
              <a:rPr sz="2000" dirty="0" err="1"/>
              <a:t>menghormati</a:t>
            </a:r>
            <a:r>
              <a:rPr sz="2000" dirty="0"/>
              <a:t> </a:t>
            </a:r>
            <a:r>
              <a:rPr sz="2000" dirty="0" err="1"/>
              <a:t>otonomi</a:t>
            </a:r>
            <a:endParaRPr sz="2000" dirty="0"/>
          </a:p>
        </p:txBody>
      </p:sp>
      <p:sp>
        <p:nvSpPr>
          <p:cNvPr id="20" name="Rounded Rectangle 19"/>
          <p:cNvSpPr/>
          <p:nvPr/>
        </p:nvSpPr>
        <p:spPr>
          <a:xfrm>
            <a:off x="658368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3822191"/>
            <a:ext cx="420624" cy="420624"/>
          </a:xfrm>
          <a:prstGeom prst="ellipse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895344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822191"/>
            <a:ext cx="42062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Dukungan emosional-spiritual merawat manusia secara utuh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3368" y="3822191"/>
            <a:ext cx="420624" cy="420624"/>
          </a:xfrm>
          <a:prstGeom prst="ellipse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895344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822191"/>
            <a:ext cx="42062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Martabat pasien harus menjadi pusat setiap interaksi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Komunikasi yang baik membuat pasien merasa didengar, dipahami, dan dihargai.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1232</Words>
  <Application>Microsoft Office PowerPoint</Application>
  <PresentationFormat>Widescreen</PresentationFormat>
  <Paragraphs>361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Mubarak</cp:lastModifiedBy>
  <cp:revision>9</cp:revision>
  <dcterms:created xsi:type="dcterms:W3CDTF">2013-01-27T09:14:16Z</dcterms:created>
  <dcterms:modified xsi:type="dcterms:W3CDTF">2026-10-06T13:46:23Z</dcterms:modified>
  <cp:category/>
</cp:coreProperties>
</file>