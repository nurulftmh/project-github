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wide_calm_professional_hospital_healthcare_s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77840" y="0"/>
            <a:ext cx="822960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749808"/>
            <a:ext cx="109728" cy="51389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4526280" cy="40233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E7A78"/>
                </a:solidFill>
                <a:latin typeface="Arial"/>
              </a:rPr>
              <a:t>KEBIJAKAN NASIONAL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4800600" cy="1417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300" b="1" i="0">
                <a:solidFill>
                  <a:srgbClr val="0C3B4A"/>
                </a:solidFill>
                <a:latin typeface="Arial"/>
              </a:rPr>
              <a:t>PERAWATAN
PALIATIF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27248"/>
            <a:ext cx="4671279" cy="85869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 i="0" dirty="0">
                <a:solidFill>
                  <a:srgbClr val="1F2937"/>
                </a:solidFill>
                <a:latin typeface="Arial"/>
              </a:rPr>
              <a:t>Pilar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kebijakan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nasional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dan KMK 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>
                <a:solidFill>
                  <a:srgbClr val="1F2937"/>
                </a:solidFill>
                <a:latin typeface="Arial"/>
              </a:rPr>
              <a:t>No. 812/Menkes/SK/VII/2007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sebagai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landasan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historis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penting</a:t>
            </a:r>
            <a:endParaRPr sz="1700" b="0" i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4709160"/>
            <a:ext cx="2267712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2400" b="1" i="0" dirty="0" err="1">
                <a:solidFill>
                  <a:srgbClr val="5A6772"/>
                </a:solidFill>
                <a:latin typeface="Arial"/>
              </a:rPr>
              <a:t>Dr.Mubarak</a:t>
            </a:r>
            <a:endParaRPr sz="2400" b="1" i="0" dirty="0">
              <a:solidFill>
                <a:srgbClr val="5A677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Catatan Hukum Penting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51560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A6772"/>
                </a:solidFill>
                <a:latin typeface="Arial"/>
              </a:rPr>
              <a:t>Istilah dan status regulasi perlu disampaikan secara tepat.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89888"/>
            <a:ext cx="52852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389888"/>
            <a:ext cx="73152" cy="2011680"/>
          </a:xfrm>
          <a:prstGeom prst="rect">
            <a:avLst/>
          </a:prstGeom>
          <a:solidFill>
            <a:srgbClr val="A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527048"/>
            <a:ext cx="4901184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0C3B4A"/>
                </a:solidFill>
                <a:latin typeface="Arial"/>
              </a:rPr>
              <a:t>Bukan "Permenkes"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75104"/>
            <a:ext cx="4783489" cy="81253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Nomor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812/Menkes/SK/VII/2007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adalah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Keputusan 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>
                <a:solidFill>
                  <a:srgbClr val="1F2937"/>
                </a:solidFill>
                <a:latin typeface="Arial"/>
              </a:rPr>
              <a:t>Menteri Kesehatan (KMK/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Kepmenkes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),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bukan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Peraturan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Menteri Kesehatan.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389888"/>
            <a:ext cx="52852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5352" y="1389888"/>
            <a:ext cx="73152" cy="201168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27048"/>
            <a:ext cx="4901184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0C3B4A"/>
                </a:solidFill>
                <a:latin typeface="Arial"/>
              </a:rPr>
              <a:t>Pembaruan sejak 14 Desember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75104"/>
            <a:ext cx="4679294" cy="81253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i="0" dirty="0">
                <a:solidFill>
                  <a:srgbClr val="1F2937"/>
                </a:solidFill>
                <a:latin typeface="Arial"/>
              </a:rPr>
              <a:t>KMK No. HK.01.07/MENKES/2180/2023 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menetapkan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pedoman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penyelenggaraan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baru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dan 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mencabut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KMK 812/2007.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913632"/>
            <a:ext cx="973836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59792" y="4165289"/>
            <a:ext cx="7678512" cy="90486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800" b="1" i="0" dirty="0">
                <a:solidFill>
                  <a:srgbClr val="0C3B4A"/>
                </a:solidFill>
                <a:latin typeface="Arial"/>
              </a:rPr>
              <a:t>KMK 812/2007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tetap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penting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dipelajari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sebagai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tonggak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dan </a:t>
            </a:r>
            <a:endParaRPr lang="en-US" sz="18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800" b="1" i="0" dirty="0" err="1">
                <a:solidFill>
                  <a:srgbClr val="0C3B4A"/>
                </a:solidFill>
                <a:latin typeface="Arial"/>
              </a:rPr>
              <a:t>landasan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historis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perkembangan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perawatan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8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800" b="1" i="0" dirty="0" err="1">
                <a:solidFill>
                  <a:srgbClr val="0C3B4A"/>
                </a:solidFill>
                <a:latin typeface="Arial"/>
              </a:rPr>
              <a:t>paliatif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di Indonesia,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tetapi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bukan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lagi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pedoman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yang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berlaku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saat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0C3B4A"/>
                </a:solidFill>
                <a:latin typeface="Arial"/>
              </a:rPr>
              <a:t>ini</a:t>
            </a:r>
            <a:r>
              <a:rPr sz="1800" b="1" i="0" dirty="0">
                <a:solidFill>
                  <a:srgbClr val="0C3B4A"/>
                </a:solidFill>
                <a:latin typeface="Arial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Kementerian Kesehatan RI, KMK No. HK.01.07/MENKES/2180/2023.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Mengapa Kebijakan Nasional Paliatif Diperlukan?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51560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A6772"/>
                </a:solidFill>
                <a:latin typeface="Arial"/>
              </a:rPr>
              <a:t>Rasional kebijakan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417320"/>
            <a:ext cx="3438144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944" y="1417320"/>
            <a:ext cx="73152" cy="306324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536" y="158191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58191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554480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Beban penyakit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02536"/>
            <a:ext cx="2893549" cy="9971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Penyakit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mengancam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jiwa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kondisi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lanjut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membutuhkan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tidak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hanya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berorientasi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pada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penyembuhan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4" y="1417320"/>
            <a:ext cx="3438144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9704" y="1417320"/>
            <a:ext cx="73152" cy="306324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54296" y="158191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158191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1554480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Penderitaan multidimensi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002536"/>
            <a:ext cx="2592184" cy="9971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Nyeri,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gejala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fisik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masalah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psikologis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sosial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kultural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dan spiritual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saling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memengaruhi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kualitas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hidup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4" y="1417320"/>
            <a:ext cx="3438144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84464" y="1417320"/>
            <a:ext cx="73152" cy="306324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49056" y="1581912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49056" y="158191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1554480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Kesenjangan akses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3" y="2002536"/>
            <a:ext cx="3099816" cy="9971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Kebijakan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diperlukan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agar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layanan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tersedia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terstandar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berkesinambungan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dan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dapat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diakses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lintas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fasilitas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800600"/>
            <a:ext cx="10378440" cy="960120"/>
          </a:xfrm>
          <a:prstGeom prst="round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64954" y="5029200"/>
            <a:ext cx="9358459" cy="5970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 i="0" dirty="0">
                <a:solidFill>
                  <a:srgbClr val="0C3B4A"/>
                </a:solidFill>
                <a:latin typeface="Arial"/>
              </a:rPr>
              <a:t>Arah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utama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: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meningkatkan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kualitas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hidup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pasien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dan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keluarga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mengurangi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penderitaan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, </a:t>
            </a:r>
            <a:endParaRPr lang="en-US" sz="17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700" b="1" i="0" dirty="0" err="1">
                <a:solidFill>
                  <a:srgbClr val="0C3B4A"/>
                </a:solidFill>
                <a:latin typeface="Arial"/>
              </a:rPr>
              <a:t>serta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menjaga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martabat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sampai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akhir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kehidupan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812/2007; KMK 2180/2023.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Definisi Pelayanan Paliatif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53312"/>
            <a:ext cx="6949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28006" y="1508725"/>
            <a:ext cx="4565402" cy="28438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0C3B4A"/>
                </a:solidFill>
                <a:latin typeface="Arial"/>
              </a:rPr>
              <a:t>Pelayanan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paliatif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adalah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pendekatan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untuk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memperbaiki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kualitas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hidup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pasien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dan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keluarga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yang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menghadapi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penyakit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yang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dapat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mengancam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jiwa</a:t>
            </a:r>
            <a:endParaRPr lang="en-US" sz="20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melalui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pencegahan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dan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pengurangan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penderitaan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termasuk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nyeri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gejala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fisik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lain,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masalah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0C3B4A"/>
                </a:solidFill>
                <a:latin typeface="Arial"/>
              </a:rPr>
              <a:t>psikososial</a:t>
            </a:r>
            <a:r>
              <a:rPr sz="2000" b="1" i="0" dirty="0">
                <a:solidFill>
                  <a:srgbClr val="0C3B4A"/>
                </a:solidFill>
                <a:latin typeface="Arial"/>
              </a:rPr>
              <a:t>, dan spiritual.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4279392"/>
            <a:ext cx="34747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100" b="0" i="1">
                <a:solidFill>
                  <a:srgbClr val="5A6772"/>
                </a:solidFill>
                <a:latin typeface="Arial"/>
              </a:rPr>
              <a:t>Diringkas dari KMK 2180/2023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353312"/>
            <a:ext cx="3474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01000" y="1353312"/>
            <a:ext cx="73152" cy="1078992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79611" y="1525253"/>
            <a:ext cx="3021789" cy="597087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 dirty="0" err="1">
                <a:solidFill>
                  <a:srgbClr val="0C3B4A"/>
                </a:solidFill>
                <a:latin typeface="Arial"/>
              </a:rPr>
              <a:t>Bukan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berarti</a:t>
            </a:r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menghentikan</a:t>
            </a:r>
            <a:endParaRPr lang="en-US" sz="170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7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0C3B4A"/>
                </a:solidFill>
                <a:latin typeface="Arial"/>
              </a:rPr>
              <a:t>pengobatan</a:t>
            </a:r>
            <a:endParaRPr sz="170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38160" y="2670048"/>
            <a:ext cx="3154680" cy="2514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Dapat berjalan berdampingan dengan terapi penyakit sesuai kondisi dan tujuan perawatan.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Berfokus pada kualitas hidup, kenyamanan, pilihan pasien, dan dukungan keluarga.</a:t>
            </a:r>
          </a:p>
          <a:p>
            <a:pPr>
              <a:lnSpc>
                <a:spcPct val="104000"/>
              </a:lnSpc>
              <a:spcAft>
                <a:spcPts val="10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Melibatkan pendekatan multidisiplin yang bekerja secara interdisiplin.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No. HK.01.07/MENKES/2180/2023, Bab 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Evolusi Kebijakan Paliatif di Indonesia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51560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A6772"/>
                </a:solidFill>
                <a:latin typeface="Arial"/>
              </a:rPr>
              <a:t>Perjalanan regulasi menunjukkan pergeseran dari layanan terminal menuju pelayanan yang lebih terintegrasi.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880360"/>
            <a:ext cx="9966960" cy="54864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" y="2624328"/>
            <a:ext cx="566928" cy="56692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965960"/>
            <a:ext cx="1170432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C3B4A"/>
                </a:solidFill>
                <a:latin typeface="Arial"/>
              </a:rPr>
              <a:t>1992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3383280"/>
            <a:ext cx="16002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7A78"/>
                </a:solidFill>
                <a:latin typeface="Arial"/>
              </a:rPr>
              <a:t>Proyek panduan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3425" y="3913632"/>
            <a:ext cx="2861489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250" b="0" i="0" dirty="0">
                <a:solidFill>
                  <a:srgbClr val="1F2937"/>
                </a:solidFill>
                <a:latin typeface="Arial"/>
              </a:rPr>
              <a:t>Panduan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bebas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sz="1250" b="0" i="0" dirty="0" err="1">
                <a:solidFill>
                  <a:srgbClr val="1F2937"/>
                </a:solidFill>
                <a:latin typeface="Arial"/>
              </a:rPr>
              <a:t>nyeri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kanker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mulai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dikembangkan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3794760" y="2624328"/>
            <a:ext cx="566928" cy="56692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965960"/>
            <a:ext cx="1170432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C3B4A"/>
                </a:solidFill>
                <a:latin typeface="Arial"/>
              </a:rPr>
              <a:t>2007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383280"/>
            <a:ext cx="16002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7A78"/>
                </a:solidFill>
                <a:latin typeface="Arial"/>
              </a:rPr>
              <a:t>KMK 812/2007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1413" y="3913632"/>
            <a:ext cx="2266775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250" b="0" i="0" dirty="0" err="1">
                <a:solidFill>
                  <a:srgbClr val="1F2937"/>
                </a:solidFill>
                <a:latin typeface="Arial"/>
              </a:rPr>
              <a:t>Kebijakan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nasional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sz="12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ditetapkan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2624328"/>
            <a:ext cx="566928" cy="56692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9631" y="1965960"/>
            <a:ext cx="1170432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C3B4A"/>
                </a:solidFill>
                <a:latin typeface="Arial"/>
              </a:rPr>
              <a:t>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383280"/>
            <a:ext cx="16002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7A78"/>
                </a:solidFill>
                <a:latin typeface="Arial"/>
              </a:rPr>
              <a:t>KMK 2180/2023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2217" y="3809938"/>
            <a:ext cx="2063194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250" b="0" i="0" dirty="0" err="1">
                <a:solidFill>
                  <a:srgbClr val="1F2937"/>
                </a:solidFill>
                <a:latin typeface="Arial"/>
              </a:rPr>
              <a:t>Pedoman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baru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ditetapkan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sz="1250" b="0" i="0" dirty="0">
                <a:solidFill>
                  <a:srgbClr val="1F2937"/>
                </a:solidFill>
                <a:latin typeface="Arial"/>
              </a:rPr>
              <a:t>dan KMK 812/2007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dicabut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8" name="Oval 17"/>
          <p:cNvSpPr/>
          <p:nvPr/>
        </p:nvSpPr>
        <p:spPr>
          <a:xfrm>
            <a:off x="9189720" y="2624328"/>
            <a:ext cx="566928" cy="56692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97112" y="1965960"/>
            <a:ext cx="1170432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C3B4A"/>
                </a:solidFill>
                <a:latin typeface="Arial"/>
              </a:rPr>
              <a:t>Kini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383280"/>
            <a:ext cx="16002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7A78"/>
                </a:solidFill>
                <a:latin typeface="Arial"/>
              </a:rPr>
              <a:t>Integrasi layanan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5701" y="3838652"/>
            <a:ext cx="2633863" cy="65094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250" b="0" i="0" dirty="0" err="1">
                <a:solidFill>
                  <a:srgbClr val="1F2937"/>
                </a:solidFill>
                <a:latin typeface="Arial"/>
              </a:rPr>
              <a:t>Layanan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berkesinambungan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di RS,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sz="1250" b="0" i="0" dirty="0" err="1">
                <a:solidFill>
                  <a:srgbClr val="1F2937"/>
                </a:solidFill>
                <a:latin typeface="Arial"/>
              </a:rPr>
              <a:t>klinik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puskesmas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sz="1250" b="0" i="0" dirty="0" err="1">
                <a:solidFill>
                  <a:srgbClr val="1F2937"/>
                </a:solidFill>
                <a:latin typeface="Arial"/>
              </a:rPr>
              <a:t>rumah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rumah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812/2007; KMK 2180/2023; Kementerian Kesehatan RI.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Pilar Kebijakan Perawatan Paliatif Nasional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51560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A6772"/>
                </a:solidFill>
                <a:latin typeface="Arial"/>
              </a:rPr>
              <a:t>Ringkasan analitis dari substansi kebijakan; bukan judul bab resmi regulasi.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444752"/>
            <a:ext cx="343814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944" y="1444752"/>
            <a:ext cx="73152" cy="14813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536" y="1609344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60934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581912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Hak &amp; martabat pasien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1444752"/>
            <a:ext cx="343814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9704" y="1444752"/>
            <a:ext cx="73152" cy="14813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54296" y="1609344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4296" y="160934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1581912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Asuhan holistik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1444752"/>
            <a:ext cx="343814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84464" y="1444752"/>
            <a:ext cx="73152" cy="1481328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49056" y="1609344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60934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1581912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Akses &amp; kesinambungan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383280"/>
            <a:ext cx="343814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4944" y="3383280"/>
            <a:ext cx="73152" cy="14813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9536" y="354787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354787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520440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Tim interdisiplin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9704" y="3383280"/>
            <a:ext cx="343814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9704" y="3383280"/>
            <a:ext cx="73152" cy="14813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54296" y="354787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54296" y="354787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2936" y="3520440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Etika &amp; keputusan bersama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84464" y="3383280"/>
            <a:ext cx="343814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84464" y="3383280"/>
            <a:ext cx="73152" cy="1481328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449056" y="3547872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49056" y="354787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97696" y="3520440"/>
            <a:ext cx="2542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Tata kelola &amp; mutu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4549" y="5394960"/>
            <a:ext cx="9552422" cy="53553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 dirty="0" err="1">
                <a:solidFill>
                  <a:srgbClr val="0C3B4A"/>
                </a:solidFill>
                <a:latin typeface="Arial"/>
              </a:rPr>
              <a:t>Keenam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pilar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saling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terhubung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: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kualitas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pelayanan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tidak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cukup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hanya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dengan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kontrol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gejala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tetapi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juga</a:t>
            </a:r>
            <a:endParaRPr lang="en-US" sz="15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membutuhkan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komunikasi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kontinuitas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tim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etika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serta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sistem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pendukung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Sintesis pembelajaran berdasarkan KMK 812/2007 dan KMK 2180/2023.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Pilar 1 - Hak, Martabat, dan Kualitas Hidup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399032"/>
            <a:ext cx="3017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8" y="1399032"/>
            <a:ext cx="73152" cy="443484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563624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6362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36192"/>
            <a:ext cx="2121408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300" b="1" i="0">
                <a:solidFill>
                  <a:srgbClr val="0C3B4A"/>
                </a:solidFill>
                <a:latin typeface="Arial"/>
              </a:rPr>
              <a:t>PILAR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984248"/>
            <a:ext cx="2359152" cy="1643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adalah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pusat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asuhan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.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Kualitas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hidup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martabat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preferensi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menjadi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orientasi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utama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7110" y="1444752"/>
            <a:ext cx="6476260" cy="75097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200" b="1" i="0" dirty="0">
                <a:solidFill>
                  <a:srgbClr val="0C3B4A"/>
                </a:solidFill>
                <a:latin typeface="Arial"/>
              </a:rPr>
              <a:t>"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Setiap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pasien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berhak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mendapatkan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pelayanan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22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2200" b="1" i="0" dirty="0" err="1">
                <a:solidFill>
                  <a:srgbClr val="0C3B4A"/>
                </a:solidFill>
                <a:latin typeface="Arial"/>
              </a:rPr>
              <a:t>terbaik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sampai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akhir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0C3B4A"/>
                </a:solidFill>
                <a:latin typeface="Arial"/>
              </a:rPr>
              <a:t>hayat</a:t>
            </a:r>
            <a:r>
              <a:rPr sz="2200" b="1" i="0" dirty="0">
                <a:solidFill>
                  <a:srgbClr val="0C3B4A"/>
                </a:solidFill>
                <a:latin typeface="Arial"/>
              </a:rPr>
              <a:t>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468880"/>
            <a:ext cx="6446520" cy="28346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Mempertahankan martabat dan menghormati nilai pasien.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Meningkatkan kualitas hidup, bukan sekadar memperpanjang hidup.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Menempatkan pasien sebagai pusat pengambilan keputusan.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Tidak bertujuan mempercepat atau menunda kematian.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Mendukung pasien agar hidup seaktif mungkin sampai akhir kehidupan.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prinsip penyelenggaraan pelayanan paliatif, KMK 2180/2023.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Pilar 2 - Asuhan Holistik Biopsikososiospiritual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89888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73152" cy="17099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55448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527048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Fisik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4754880" cy="9966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Nyeri, sesak, mual, kelelahan, gejala lain.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389888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7" y="1389888"/>
            <a:ext cx="73152" cy="17099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799" y="155448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799" y="155448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527048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Psikologis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5" y="1975104"/>
            <a:ext cx="4754880" cy="9966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Cemas, depresi, coping, distress emosional.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93008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493008"/>
            <a:ext cx="73152" cy="17099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365760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65760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630168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Sosial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078224"/>
            <a:ext cx="4754880" cy="9966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Keluarga, pekerjaan, finansial, lingkungan, caregiver.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3493008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6207" y="3493008"/>
            <a:ext cx="73152" cy="1709928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799" y="3657600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799" y="365760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630168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Spiritual &amp; kultural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5" y="4078224"/>
            <a:ext cx="4754880" cy="9966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Makna, keyakinan, ritual, nilai dan preferensi budaya.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4684" y="5623560"/>
            <a:ext cx="7943008" cy="53553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 dirty="0" err="1">
                <a:solidFill>
                  <a:srgbClr val="0C3B4A"/>
                </a:solidFill>
                <a:latin typeface="Arial"/>
              </a:rPr>
              <a:t>Asuhan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holistik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mencegah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pelayanan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menjadi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terlalu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medis-sentris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. </a:t>
            </a:r>
            <a:endParaRPr lang="en-US" sz="15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500" b="1" i="0" dirty="0" err="1">
                <a:solidFill>
                  <a:srgbClr val="0C3B4A"/>
                </a:solidFill>
                <a:latin typeface="Arial"/>
              </a:rPr>
              <a:t>Perawat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membantu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menghubungkan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seluruh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dimensi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kebutuhan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pasien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dan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keluarga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 (lingkup kegiatan); KMK 2180/2023.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Pilar 3 - Akses, Kontinuitas, dan Jejaring Layanan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20299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73152" cy="324612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1" y="164592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6459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618488"/>
            <a:ext cx="11338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 i="0">
                <a:solidFill>
                  <a:srgbClr val="0C3B4A"/>
                </a:solidFill>
                <a:latin typeface="Arial"/>
              </a:rPr>
              <a:t>Puskesmas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66544"/>
            <a:ext cx="1837170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Skrining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kontrol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gejala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kunjungan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rumah</a:t>
            </a:r>
            <a:endParaRPr sz="1250" b="0" i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944368" y="1481328"/>
            <a:ext cx="20299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44368" y="1481328"/>
            <a:ext cx="73152" cy="324612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108960" y="164592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6459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618488"/>
            <a:ext cx="11338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 i="0">
                <a:solidFill>
                  <a:srgbClr val="0C3B4A"/>
                </a:solidFill>
                <a:latin typeface="Arial"/>
              </a:rPr>
              <a:t>Klinik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066544"/>
            <a:ext cx="1773049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sesuai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kompetensi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jejaring</a:t>
            </a:r>
            <a:endParaRPr sz="1250" b="0" i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248656" y="1481328"/>
            <a:ext cx="20299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48656" y="1481328"/>
            <a:ext cx="73152" cy="324612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413248" y="164592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13248" y="16459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1618488"/>
            <a:ext cx="11338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 i="0">
                <a:solidFill>
                  <a:srgbClr val="0C3B4A"/>
                </a:solidFill>
                <a:latin typeface="Arial"/>
              </a:rPr>
              <a:t>Rumah Sakit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2066544"/>
            <a:ext cx="1603131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Layanan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spesialistik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rawat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inap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/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jalan</a:t>
            </a:r>
            <a:endParaRPr sz="1250" b="0" i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552944" y="1481328"/>
            <a:ext cx="20299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52944" y="1481328"/>
            <a:ext cx="73152" cy="324612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17536" y="164592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17536" y="16459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1618488"/>
            <a:ext cx="11338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 i="0">
                <a:solidFill>
                  <a:srgbClr val="0C3B4A"/>
                </a:solidFill>
                <a:latin typeface="Arial"/>
              </a:rPr>
              <a:t>Rumah Paliatif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2066544"/>
            <a:ext cx="1505348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Dukungan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berbasis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masyarakat</a:t>
            </a:r>
            <a:endParaRPr sz="1250" b="0" i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857232" y="1481328"/>
            <a:ext cx="202996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857232" y="1481328"/>
            <a:ext cx="73152" cy="324612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021824" y="1645920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21824" y="16459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0463" y="1618488"/>
            <a:ext cx="11338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50" b="1" i="0">
                <a:solidFill>
                  <a:srgbClr val="0C3B4A"/>
                </a:solidFill>
                <a:latin typeface="Arial"/>
              </a:rPr>
              <a:t>Rumah Pasien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066544"/>
            <a:ext cx="1899687" cy="4585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1F2937"/>
                </a:solidFill>
                <a:latin typeface="Arial"/>
              </a:rPr>
              <a:t>berkelanjutan</a:t>
            </a:r>
            <a:r>
              <a:rPr sz="12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2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250" b="0" i="0" dirty="0">
                <a:solidFill>
                  <a:srgbClr val="1F2937"/>
                </a:solidFill>
                <a:latin typeface="Arial"/>
              </a:rPr>
              <a:t>dan caregiver</a:t>
            </a:r>
          </a:p>
        </p:txBody>
      </p:sp>
      <p:sp>
        <p:nvSpPr>
          <p:cNvPr id="34" name="Chevron 33"/>
          <p:cNvSpPr/>
          <p:nvPr/>
        </p:nvSpPr>
        <p:spPr>
          <a:xfrm>
            <a:off x="2706624" y="2770632"/>
            <a:ext cx="292608" cy="530352"/>
          </a:xfrm>
          <a:prstGeom prst="chevron">
            <a:avLst/>
          </a:prstGeom>
          <a:solidFill>
            <a:srgbClr val="C2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Chevron 34"/>
          <p:cNvSpPr/>
          <p:nvPr/>
        </p:nvSpPr>
        <p:spPr>
          <a:xfrm>
            <a:off x="5010912" y="2770632"/>
            <a:ext cx="292608" cy="530352"/>
          </a:xfrm>
          <a:prstGeom prst="chevron">
            <a:avLst/>
          </a:prstGeom>
          <a:solidFill>
            <a:srgbClr val="C2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hevron 35"/>
          <p:cNvSpPr/>
          <p:nvPr/>
        </p:nvSpPr>
        <p:spPr>
          <a:xfrm>
            <a:off x="7315200" y="2770632"/>
            <a:ext cx="292608" cy="530352"/>
          </a:xfrm>
          <a:prstGeom prst="chevron">
            <a:avLst/>
          </a:prstGeom>
          <a:solidFill>
            <a:srgbClr val="C2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hevron 36"/>
          <p:cNvSpPr/>
          <p:nvPr/>
        </p:nvSpPr>
        <p:spPr>
          <a:xfrm>
            <a:off x="9619488" y="2770632"/>
            <a:ext cx="292608" cy="530352"/>
          </a:xfrm>
          <a:prstGeom prst="chevron">
            <a:avLst/>
          </a:prstGeom>
          <a:solidFill>
            <a:srgbClr val="C2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19634" y="5230368"/>
            <a:ext cx="8085675" cy="56630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 dirty="0" err="1">
                <a:solidFill>
                  <a:srgbClr val="0C3B4A"/>
                </a:solidFill>
                <a:latin typeface="Arial"/>
              </a:rPr>
              <a:t>Prinsip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: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pasien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tidak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boleh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terputus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saat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berpindah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tingkat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pelayanan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. </a:t>
            </a:r>
            <a:endParaRPr lang="en-US" sz="16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600" b="1" i="0" dirty="0" err="1">
                <a:solidFill>
                  <a:srgbClr val="0C3B4A"/>
                </a:solidFill>
                <a:latin typeface="Arial"/>
              </a:rPr>
              <a:t>Informasi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tujuan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perawatan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obat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, dan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rencana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tindak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lanjut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harus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ikut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C3B4A"/>
                </a:solidFill>
                <a:latin typeface="Arial"/>
              </a:rPr>
              <a:t>berpindah</a:t>
            </a:r>
            <a:r>
              <a:rPr sz="1600" b="1" i="0" dirty="0">
                <a:solidFill>
                  <a:srgbClr val="0C3B4A"/>
                </a:solidFill>
                <a:latin typeface="Arial"/>
              </a:rPr>
              <a:t>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2180/2023, tujuan dan penyelenggaraan pelayanan.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Pilar 4 - Tim Multidisiplin yang Bekerja Interdisiplin</a:t>
            </a:r>
          </a:p>
        </p:txBody>
      </p:sp>
      <p:sp>
        <p:nvSpPr>
          <p:cNvPr id="4" name="Oval 3"/>
          <p:cNvSpPr/>
          <p:nvPr/>
        </p:nvSpPr>
        <p:spPr>
          <a:xfrm>
            <a:off x="4681728" y="2139696"/>
            <a:ext cx="2834640" cy="1417320"/>
          </a:xfrm>
          <a:prstGeom prst="ellipse">
            <a:avLst/>
          </a:prstGeom>
          <a:solidFill>
            <a:srgbClr val="0C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0" y="2331720"/>
            <a:ext cx="2670048" cy="9509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PASIEN
&amp; KELUARGA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1874519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27632"/>
            <a:ext cx="178308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7A78"/>
                </a:solidFill>
                <a:latin typeface="Arial"/>
              </a:rPr>
              <a:t>Dokter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041648"/>
            <a:ext cx="1874519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4133087"/>
            <a:ext cx="178308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7A78"/>
                </a:solidFill>
                <a:latin typeface="Arial"/>
              </a:rPr>
              <a:t>Perawat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024128"/>
            <a:ext cx="1874519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1" y="1115568"/>
            <a:ext cx="178308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7A78"/>
                </a:solidFill>
                <a:latin typeface="Arial"/>
              </a:rPr>
              <a:t>Farmasis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024128"/>
            <a:ext cx="1874519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65592" y="1115568"/>
            <a:ext cx="178308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7A78"/>
                </a:solidFill>
                <a:latin typeface="Arial"/>
              </a:rPr>
              <a:t>Psikolog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54896" y="2670048"/>
            <a:ext cx="1874519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0616" y="2761488"/>
            <a:ext cx="178308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7A78"/>
                </a:solidFill>
                <a:latin typeface="Arial"/>
              </a:rPr>
              <a:t>Pekerja sosial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352544"/>
            <a:ext cx="1874519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80" y="4443983"/>
            <a:ext cx="178308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7A78"/>
                </a:solidFill>
                <a:latin typeface="Arial"/>
              </a:rPr>
              <a:t>Rohaniawan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44368" y="4626864"/>
            <a:ext cx="1874519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90088" y="4718303"/>
            <a:ext cx="178308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E7A78"/>
                </a:solidFill>
                <a:latin typeface="Arial"/>
              </a:rPr>
              <a:t>Fisioterapis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715000"/>
            <a:ext cx="9464040" cy="42062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0C3B4A"/>
                </a:solidFill>
                <a:latin typeface="Arial"/>
              </a:rPr>
              <a:t>Perawat sering menjadi penghubung utama karena berada paling dekat dengan pasien, keluarga, dan alur pelayanan sehari-hari.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2180/2023.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Pilar 5 - Etika, Komunikasi, dan Keputusan Bersama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87168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325526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62763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600200"/>
            <a:ext cx="15910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Informasi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48256"/>
            <a:ext cx="2103120" cy="69711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Jelaskan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kondisi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tujuan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3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pilihan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manfaat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risiko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konsekuensi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463040"/>
            <a:ext cx="2487168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463040"/>
            <a:ext cx="73152" cy="325526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30752" y="162763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0752" y="162763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1600200"/>
            <a:ext cx="15910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Preferensi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048256"/>
            <a:ext cx="2180212" cy="69711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 i="0" dirty="0">
                <a:solidFill>
                  <a:srgbClr val="1F2937"/>
                </a:solidFill>
                <a:latin typeface="Arial"/>
              </a:rPr>
              <a:t>Gali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nilai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harapan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3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tujuan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hidup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tempat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3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diinginkan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63040"/>
            <a:ext cx="2487168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73152" cy="3255264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65392" y="1627632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162763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1600200"/>
            <a:ext cx="15910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Persetujuan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048256"/>
            <a:ext cx="1901290" cy="69711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Pastikan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informed </a:t>
            </a:r>
            <a:endParaRPr lang="en-US" sz="13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50" b="0" i="0" dirty="0">
                <a:solidFill>
                  <a:srgbClr val="1F2937"/>
                </a:solidFill>
                <a:latin typeface="Arial"/>
              </a:rPr>
              <a:t>consent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untuk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tindakan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3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50" b="0" i="0" dirty="0">
                <a:solidFill>
                  <a:srgbClr val="1F2937"/>
                </a:solidFill>
                <a:latin typeface="Arial"/>
              </a:rPr>
              <a:t>yang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berisiko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463040"/>
            <a:ext cx="2487168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35440" y="1463040"/>
            <a:ext cx="73152" cy="325526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00032" y="162763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00032" y="162763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1600200"/>
            <a:ext cx="15910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Evaluasi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048256"/>
            <a:ext cx="2077620" cy="69711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Tinjau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kembali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keputusan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3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saat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kondisi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atau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tujuan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3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1F2937"/>
                </a:solidFill>
                <a:latin typeface="Arial"/>
              </a:rPr>
              <a:t>berubah</a:t>
            </a:r>
            <a:r>
              <a:rPr sz="13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193792"/>
            <a:ext cx="1001268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C3B4A"/>
                </a:solidFill>
                <a:latin typeface="Arial"/>
              </a:rPr>
              <a:t>Keputusan paliatif bukan keputusan satu kali; komunikasi harus berkelanjutan sepanjang perjalanan penyakit.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812/2007, aspek medikolegal; KMK 2180/2023.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Pilar 6 - Tata Kelola, Mutu, SDM, dan Pembiayaan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417320"/>
            <a:ext cx="34290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4944" y="1417320"/>
            <a:ext cx="73152" cy="278892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9536" y="158191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58191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1554480"/>
            <a:ext cx="2532888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Tata kelola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02536"/>
            <a:ext cx="3326423" cy="52014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Organisasi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jejaring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SOP,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alur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rujukan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pembinaan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pengawasan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1417320"/>
            <a:ext cx="34290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9704" y="1417320"/>
            <a:ext cx="73152" cy="278892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54296" y="158191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4296" y="158191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1554480"/>
            <a:ext cx="2532888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SDM kompeten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002536"/>
            <a:ext cx="3186898" cy="7432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>
                <a:solidFill>
                  <a:srgbClr val="1F2937"/>
                </a:solidFill>
                <a:latin typeface="Arial"/>
              </a:rPr>
              <a:t>Tenaga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medis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perawat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tenaga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terkait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memerlukan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kompetensi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serta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pelatihan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1417320"/>
            <a:ext cx="34290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84464" y="1417320"/>
            <a:ext cx="73152" cy="278892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49056" y="1581912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158191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1554480"/>
            <a:ext cx="2532888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Mutu &amp; keselamatan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002536"/>
            <a:ext cx="2853473" cy="7432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Asesmen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dokumentasi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evaluasi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gejala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komunikasi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tujuan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harus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terstandar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626864"/>
            <a:ext cx="10058400" cy="3383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0C3B4A"/>
                </a:solidFill>
                <a:latin typeface="Arial"/>
              </a:rPr>
              <a:t>Sumber pembiayaan menurut pedoman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084064"/>
            <a:ext cx="100584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7A78"/>
                </a:solidFill>
                <a:latin typeface="Arial"/>
              </a:rPr>
              <a:t>APBN  |  APBD  |  pembiayaan jaminan kesehatan  |  sumber lain yang sah sesuai peraturan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2180/2023, prinsip dan pendanaan.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978408"/>
            <a:ext cx="109728" cy="452628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24128" y="1060704"/>
            <a:ext cx="996696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BAE2DD"/>
                </a:solidFill>
                <a:latin typeface="Arial"/>
              </a:rPr>
              <a:t>LANDASAN HISTORIS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627632"/>
            <a:ext cx="9875520" cy="1417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KMK No. 812/Menkes/SK/VII/2007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355848"/>
            <a:ext cx="8869680" cy="10515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DCE8EA"/>
                </a:solidFill>
                <a:latin typeface="Arial"/>
              </a:rPr>
              <a:t>Kebijakan Perawatan Paliatif. Ditetapkan 19 Juli 2007 dan menjadi tonggak kebijakan nasional paliatif di Indonesia.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5980176"/>
            <a:ext cx="54864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400" b="1" i="0">
                <a:solidFill>
                  <a:srgbClr val="A9D0C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Latar Belakang dan Tujuan KMK 812/2007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08176"/>
            <a:ext cx="5248656" cy="2340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1408176"/>
            <a:ext cx="73152" cy="234086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1572768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1572768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545336"/>
            <a:ext cx="4352544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0C3B4A"/>
                </a:solidFill>
                <a:latin typeface="Arial"/>
              </a:rPr>
              <a:t>Latar belakang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716163" cy="105875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Meningkatnya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jumlah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dewasa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anak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dengan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penyakit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belum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dapat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disembuhkan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mendorong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kebutuhan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terutama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>
                <a:solidFill>
                  <a:srgbClr val="1F2937"/>
                </a:solidFill>
                <a:latin typeface="Arial"/>
              </a:rPr>
              <a:t> pada stadium terminal.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08176"/>
            <a:ext cx="5248656" cy="2340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08176"/>
            <a:ext cx="73152" cy="2340864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82512" y="1572768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572768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1545336"/>
            <a:ext cx="4352544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0C3B4A"/>
                </a:solidFill>
                <a:latin typeface="Arial"/>
              </a:rPr>
              <a:t>Tujuan kebijakan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93392"/>
            <a:ext cx="4864608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 dirty="0" err="1">
                <a:solidFill>
                  <a:srgbClr val="1F2937"/>
                </a:solidFill>
                <a:latin typeface="Arial"/>
              </a:rPr>
              <a:t>Mendorong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terselenggaranya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>
                <a:solidFill>
                  <a:srgbClr val="1F2937"/>
                </a:solidFill>
                <a:latin typeface="Arial"/>
              </a:rPr>
              <a:t>yang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memadai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bermutu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di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seluruh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Indonesia</a:t>
            </a:r>
            <a:endParaRPr lang="en-US" sz="16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melalui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pedoman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tenaga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terlatih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serta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sarana-prasarana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600" b="0" i="0" dirty="0" err="1">
                <a:solidFill>
                  <a:srgbClr val="1F2937"/>
                </a:solidFill>
                <a:latin typeface="Arial"/>
              </a:rPr>
              <a:t>mendukung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28346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Sasaran kebijakan 2007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498848"/>
            <a:ext cx="10195560" cy="13258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Pasien dewasa dan anak serta keluarga yang memerlukan perawatan paliatif.</a:t>
            </a:r>
          </a:p>
          <a:p>
            <a:pPr>
              <a:lnSpc>
                <a:spcPct val="104000"/>
              </a:lnSpc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Dokter, perawat, tenaga kesehatan lain, dan tenaga terkait.</a:t>
            </a:r>
          </a:p>
          <a:p>
            <a:pPr>
              <a:lnSpc>
                <a:spcPct val="104000"/>
              </a:lnSpc>
              <a:spcAft>
                <a:spcPts val="6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Dinas kesehatan, rumah sakit, puskesmas, hospis/rumah perawatan, serta fasilitas kesehatan lainnya.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Lampiran KMK No. 812/Menkes/SK/VII/2007.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Lingkup Kegiatan Perawatan Paliatif - KMK 812/2007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08176"/>
            <a:ext cx="4983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" y="1545336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545336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1056" y="1554480"/>
            <a:ext cx="4050791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Penatalaksanaan nyeri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414016"/>
            <a:ext cx="4983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78408" y="2551176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551176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4050791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Penatalaksanaan keluhan fisik lain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419856"/>
            <a:ext cx="4983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78408" y="3557016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" y="3557016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1056" y="3566160"/>
            <a:ext cx="4050791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Asuhan keperawatan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425696"/>
            <a:ext cx="4983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8408" y="4562856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4562856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4572000"/>
            <a:ext cx="4050791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Dukungan psikologis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1408176"/>
            <a:ext cx="4983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56248" y="1545336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8" y="1545336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1554480"/>
            <a:ext cx="4050791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Dukungan sosial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2414016"/>
            <a:ext cx="4983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56248" y="2551176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56248" y="2551176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8896" y="2560320"/>
            <a:ext cx="4050791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Dukungan kultural &amp; spiritual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3419856"/>
            <a:ext cx="4983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556248" y="3557016"/>
            <a:ext cx="475488" cy="475488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56248" y="3557016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3566160"/>
            <a:ext cx="4050791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Persiapan &amp; dukungan masa dukacita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696712"/>
            <a:ext cx="101041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7A78"/>
                </a:solidFill>
                <a:latin typeface="Arial"/>
              </a:rPr>
              <a:t>Moda pelayanan: rawat inap, rawat jalan, dan kunjungan/rawat rumah.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812/2007, Bagian III Lingkup Kegiatan Perawatan Paliatif.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Tempat Pelayanan Menurut Kebijakan 2007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26464"/>
            <a:ext cx="512064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26464"/>
            <a:ext cx="73152" cy="162763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59105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9105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563624"/>
            <a:ext cx="4224527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Rumah sakit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4020460" cy="52014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Untuk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membutuhkan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pengawasan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ketat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tindakan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khusus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atau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peralatan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khusus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26464"/>
            <a:ext cx="512064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26464"/>
            <a:ext cx="73152" cy="162763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82512" y="159105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59105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1563624"/>
            <a:ext cx="4224527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Puskesmas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778680" cy="52014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Untuk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membutuhkan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rawat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jalan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>
                <a:solidFill>
                  <a:srgbClr val="1F2937"/>
                </a:solidFill>
                <a:latin typeface="Arial"/>
              </a:rPr>
              <a:t>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dukungan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dekat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komunitas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92424"/>
            <a:ext cx="512064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392424"/>
            <a:ext cx="73152" cy="162763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355701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55701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529584"/>
            <a:ext cx="4224527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Rumah singgah / hospis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977639"/>
            <a:ext cx="4870051" cy="52014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Untuk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belum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dapat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dirawat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di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rumah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tetapi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tidak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memerlukan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pengawasan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sangat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ketat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392424"/>
            <a:ext cx="512064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392424"/>
            <a:ext cx="73152" cy="1627632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82512" y="3557016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82512" y="355701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529584"/>
            <a:ext cx="4224527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Rumah pasien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977639"/>
            <a:ext cx="3970767" cy="52014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Untuk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kondisi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dapat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dikelola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di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rumah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dengan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dukungan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keluarga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tim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kesehatan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490" y="5513832"/>
            <a:ext cx="10682540" cy="76636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 dirty="0" err="1">
                <a:solidFill>
                  <a:srgbClr val="0C3B4A"/>
                </a:solidFill>
                <a:latin typeface="Arial"/>
              </a:rPr>
              <a:t>Makna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bagi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keperawatan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: </a:t>
            </a:r>
            <a:endParaRPr lang="en-US" sz="15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500" b="1" i="0" dirty="0" err="1">
                <a:solidFill>
                  <a:srgbClr val="0C3B4A"/>
                </a:solidFill>
                <a:latin typeface="Arial"/>
              </a:rPr>
              <a:t>lokasi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pelayanan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boleh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berubah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tetapi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tujuan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perawatan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komunikasi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dokumentasi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, dan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kesinambungan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dukungan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50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500" b="1" i="0" dirty="0" err="1">
                <a:solidFill>
                  <a:srgbClr val="0C3B4A"/>
                </a:solidFill>
                <a:latin typeface="Arial"/>
              </a:rPr>
              <a:t>harus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tetap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00" b="1" i="0" dirty="0" err="1">
                <a:solidFill>
                  <a:srgbClr val="0C3B4A"/>
                </a:solidFill>
                <a:latin typeface="Arial"/>
              </a:rPr>
              <a:t>konsisten</a:t>
            </a:r>
            <a:r>
              <a:rPr sz="1500" b="1" i="0" dirty="0">
                <a:solidFill>
                  <a:srgbClr val="0C3B4A"/>
                </a:solidFill>
                <a:latin typeface="Arial"/>
              </a:rPr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812/2007, Tempat dan Organisasi Perawatan Paliatif.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Organisasi Pelayanan Paliatif dalam KMK 812/2007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8" y="1444752"/>
            <a:ext cx="3337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1444752"/>
            <a:ext cx="73152" cy="384048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1609344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81912"/>
            <a:ext cx="2441448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Puskesmas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029968"/>
            <a:ext cx="3191708" cy="96641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Kelompok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
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dasar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keterhubungan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dengan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komunitas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44752"/>
            <a:ext cx="3337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444752"/>
            <a:ext cx="73152" cy="384048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90872" y="1609344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160934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581912"/>
            <a:ext cx="2441448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RS Kelas D/C/B nonpendidikan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029968"/>
            <a:ext cx="2972096" cy="96641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>
                <a:solidFill>
                  <a:srgbClr val="1F2937"/>
                </a:solidFill>
                <a:latin typeface="Arial"/>
              </a:rPr>
              <a:t>Unit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
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Pengelolaan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kasus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koordinasi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lintas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profesi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7031" y="1444752"/>
            <a:ext cx="3337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57031" y="1444752"/>
            <a:ext cx="73152" cy="384048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21624" y="1609344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21624" y="160934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3" y="1581912"/>
            <a:ext cx="2441448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RS Kelas B pendidikan /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029968"/>
            <a:ext cx="2798971" cy="96641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Instalasi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
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Layanan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lebih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komprehensif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4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50" b="0" i="0" dirty="0" err="1">
                <a:solidFill>
                  <a:srgbClr val="1F2937"/>
                </a:solidFill>
                <a:latin typeface="Arial"/>
              </a:rPr>
              <a:t>pendidikan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450" b="0" i="0" dirty="0" err="1">
                <a:solidFill>
                  <a:srgbClr val="1F2937"/>
                </a:solidFill>
                <a:latin typeface="Arial"/>
              </a:rPr>
              <a:t>pengembangan</a:t>
            </a:r>
            <a:r>
              <a:rPr sz="14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812/2007, Bagian VI Tempat dan Organisasi Perawatan Paliatif.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Aspek Medikolegal: Informed Consent dan Komunikasi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353312"/>
            <a:ext cx="30358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8" y="1353312"/>
            <a:ext cx="73152" cy="452628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1490472"/>
            <a:ext cx="2651760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100" b="1" i="0">
                <a:solidFill>
                  <a:srgbClr val="0C3B4A"/>
                </a:solidFill>
                <a:latin typeface="Arial"/>
              </a:rPr>
              <a:t>Prinsip kunci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938528"/>
            <a:ext cx="2926080" cy="138191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Komunikasi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bukan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pelengkap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.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>
                <a:solidFill>
                  <a:srgbClr val="1F2937"/>
                </a:solidFill>
                <a:latin typeface="Arial"/>
              </a:rPr>
              <a:t> Ia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merupakan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bagian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inti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dari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keselamatan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otonomi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dan </a:t>
            </a:r>
            <a:endParaRPr lang="en-US" sz="17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martabat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472184"/>
            <a:ext cx="6903720" cy="45262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Pasien</a:t>
            </a:r>
            <a:r>
              <a:rPr dirty="0"/>
              <a:t> </a:t>
            </a:r>
            <a:r>
              <a:rPr dirty="0" err="1"/>
              <a:t>perlu</a:t>
            </a:r>
            <a:r>
              <a:rPr dirty="0"/>
              <a:t> </a:t>
            </a:r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pengertian</a:t>
            </a:r>
            <a:r>
              <a:rPr dirty="0"/>
              <a:t>, </a:t>
            </a:r>
            <a:r>
              <a:rPr dirty="0" err="1"/>
              <a:t>tujuan</a:t>
            </a:r>
            <a:r>
              <a:rPr dirty="0"/>
              <a:t>, dan </a:t>
            </a:r>
            <a:r>
              <a:rPr dirty="0" err="1"/>
              <a:t>pelaksanaan</a:t>
            </a:r>
            <a:r>
              <a:rPr dirty="0"/>
              <a:t> </a:t>
            </a:r>
            <a:r>
              <a:rPr dirty="0" err="1"/>
              <a:t>perawatan</a:t>
            </a:r>
            <a:r>
              <a:rPr dirty="0"/>
              <a:t> </a:t>
            </a:r>
            <a:r>
              <a:rPr dirty="0" err="1"/>
              <a:t>paliatif</a:t>
            </a:r>
            <a:r>
              <a:rPr dirty="0"/>
              <a:t> </a:t>
            </a:r>
            <a:r>
              <a:rPr dirty="0" err="1"/>
              <a:t>melalui</a:t>
            </a:r>
            <a:r>
              <a:rPr dirty="0"/>
              <a:t> </a:t>
            </a:r>
            <a:r>
              <a:rPr dirty="0" err="1"/>
              <a:t>komunikasi</a:t>
            </a:r>
            <a:r>
              <a:rPr dirty="0"/>
              <a:t> yang </a:t>
            </a:r>
            <a:r>
              <a:rPr dirty="0" err="1"/>
              <a:t>intensif</a:t>
            </a:r>
            <a:r>
              <a:rPr dirty="0"/>
              <a:t> dan </a:t>
            </a:r>
            <a:r>
              <a:rPr dirty="0" err="1"/>
              <a:t>berkesinambungan</a:t>
            </a:r>
            <a:r>
              <a:rPr dirty="0"/>
              <a:t>.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Persetujuan</a:t>
            </a:r>
            <a:r>
              <a:rPr dirty="0"/>
              <a:t> </a:t>
            </a:r>
            <a:r>
              <a:rPr dirty="0" err="1"/>
              <a:t>tindakan</a:t>
            </a:r>
            <a:r>
              <a:rPr dirty="0"/>
              <a:t> </a:t>
            </a:r>
            <a:r>
              <a:rPr dirty="0" err="1"/>
              <a:t>medis</a:t>
            </a:r>
            <a:r>
              <a:rPr dirty="0"/>
              <a:t> </a:t>
            </a:r>
            <a:r>
              <a:rPr dirty="0" err="1"/>
              <a:t>mengikuti</a:t>
            </a:r>
            <a:r>
              <a:rPr dirty="0"/>
              <a:t> </a:t>
            </a:r>
            <a:r>
              <a:rPr dirty="0" err="1"/>
              <a:t>ketentuan</a:t>
            </a:r>
            <a:r>
              <a:rPr dirty="0"/>
              <a:t> </a:t>
            </a:r>
            <a:r>
              <a:rPr dirty="0" err="1"/>
              <a:t>peraturan</a:t>
            </a:r>
            <a:r>
              <a:rPr dirty="0"/>
              <a:t> </a:t>
            </a:r>
            <a:r>
              <a:rPr dirty="0" err="1"/>
              <a:t>perundang-undangan</a:t>
            </a:r>
            <a:r>
              <a:rPr dirty="0"/>
              <a:t>.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rPr dirty="0"/>
              <a:t>• Tindakan yang </a:t>
            </a:r>
            <a:r>
              <a:rPr dirty="0" err="1"/>
              <a:t>berisiko</a:t>
            </a:r>
            <a:r>
              <a:rPr dirty="0"/>
              <a:t> </a:t>
            </a:r>
            <a:r>
              <a:rPr dirty="0" err="1"/>
              <a:t>sebaiknya</a:t>
            </a:r>
            <a:r>
              <a:rPr dirty="0"/>
              <a:t> </a:t>
            </a:r>
            <a:r>
              <a:rPr dirty="0" err="1"/>
              <a:t>mendapatkan</a:t>
            </a:r>
            <a:r>
              <a:rPr dirty="0"/>
              <a:t> informed consent.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Pasien</a:t>
            </a:r>
            <a:r>
              <a:rPr dirty="0"/>
              <a:t> yang </a:t>
            </a:r>
            <a:r>
              <a:rPr dirty="0" err="1"/>
              <a:t>masih</a:t>
            </a:r>
            <a:r>
              <a:rPr dirty="0"/>
              <a:t> </a:t>
            </a:r>
            <a:r>
              <a:rPr dirty="0" err="1"/>
              <a:t>kompeten</a:t>
            </a:r>
            <a:r>
              <a:rPr dirty="0"/>
              <a:t> </a:t>
            </a:r>
            <a:r>
              <a:rPr dirty="0" err="1"/>
              <a:t>diprioritaskan</a:t>
            </a:r>
            <a:r>
              <a:rPr dirty="0"/>
              <a:t> </a:t>
            </a:r>
            <a:r>
              <a:rPr dirty="0" err="1"/>
              <a:t>sebagai</a:t>
            </a:r>
            <a:r>
              <a:rPr dirty="0"/>
              <a:t> </a:t>
            </a:r>
            <a:r>
              <a:rPr dirty="0" err="1"/>
              <a:t>penerima</a:t>
            </a:r>
            <a:r>
              <a:rPr dirty="0"/>
              <a:t> </a:t>
            </a:r>
            <a:r>
              <a:rPr dirty="0" err="1"/>
              <a:t>informasi</a:t>
            </a:r>
            <a:r>
              <a:rPr dirty="0"/>
              <a:t> dan </a:t>
            </a:r>
            <a:r>
              <a:rPr dirty="0" err="1"/>
              <a:t>pemberi</a:t>
            </a:r>
            <a:r>
              <a:rPr dirty="0"/>
              <a:t> </a:t>
            </a:r>
            <a:r>
              <a:rPr dirty="0" err="1"/>
              <a:t>persetujuan</a:t>
            </a:r>
            <a:r>
              <a:rPr dirty="0"/>
              <a:t>.</a:t>
            </a:r>
          </a:p>
          <a:p>
            <a:pPr>
              <a:lnSpc>
                <a:spcPct val="104000"/>
              </a:lnSpc>
              <a:spcAft>
                <a:spcPts val="8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Keluarga</a:t>
            </a:r>
            <a:r>
              <a:rPr dirty="0"/>
              <a:t> </a:t>
            </a:r>
            <a:r>
              <a:rPr dirty="0" err="1"/>
              <a:t>berperan</a:t>
            </a:r>
            <a:r>
              <a:rPr dirty="0"/>
              <a:t> </a:t>
            </a:r>
            <a:r>
              <a:rPr dirty="0" err="1"/>
              <a:t>ketika</a:t>
            </a:r>
            <a:r>
              <a:rPr dirty="0"/>
              <a:t> </a:t>
            </a:r>
            <a:r>
              <a:rPr dirty="0" err="1"/>
              <a:t>pasien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lagi</a:t>
            </a:r>
            <a:r>
              <a:rPr dirty="0"/>
              <a:t> </a:t>
            </a:r>
            <a:r>
              <a:rPr dirty="0" err="1"/>
              <a:t>kompeten</a:t>
            </a:r>
            <a:r>
              <a:rPr dirty="0"/>
              <a:t>, </a:t>
            </a:r>
            <a:r>
              <a:rPr dirty="0" err="1"/>
              <a:t>sesuai</a:t>
            </a:r>
            <a:r>
              <a:rPr dirty="0"/>
              <a:t> </a:t>
            </a:r>
            <a:r>
              <a:rPr dirty="0" err="1"/>
              <a:t>kewenangan</a:t>
            </a:r>
            <a:r>
              <a:rPr dirty="0"/>
              <a:t> dan </a:t>
            </a:r>
            <a:r>
              <a:rPr dirty="0" err="1"/>
              <a:t>ketentuan</a:t>
            </a:r>
            <a:r>
              <a:rPr dirty="0"/>
              <a:t> yang </a:t>
            </a:r>
            <a:r>
              <a:rPr dirty="0" err="1"/>
              <a:t>berlaku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812/2007, Bagian IV Aspek Medikolegal.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Keputusan Akhir Kehidupan: Resusitasi dan Intervensi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89888"/>
            <a:ext cx="51206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73152" cy="190195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27048"/>
            <a:ext cx="473659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0C3B4A"/>
                </a:solidFill>
                <a:latin typeface="Arial"/>
              </a:rPr>
              <a:t>Keputusan tidak resusitasi (DNR)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75104"/>
            <a:ext cx="4291368" cy="78944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50" b="0" i="0" dirty="0" err="1">
                <a:solidFill>
                  <a:srgbClr val="1F2937"/>
                </a:solidFill>
                <a:latin typeface="Arial"/>
              </a:rPr>
              <a:t>Pembahasan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resusitasi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harus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terkait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dengan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50" b="0" i="0" dirty="0" err="1">
                <a:solidFill>
                  <a:srgbClr val="1F2937"/>
                </a:solidFill>
                <a:latin typeface="Arial"/>
              </a:rPr>
              <a:t>kondisi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klinis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tujuan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manfaat-risiko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5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50" b="0" i="0" dirty="0" err="1">
                <a:solidFill>
                  <a:srgbClr val="1F2937"/>
                </a:solidFill>
                <a:latin typeface="Arial"/>
              </a:rPr>
              <a:t>serta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preferensi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keluarga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89888"/>
            <a:ext cx="512064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6208" y="1389888"/>
            <a:ext cx="73152" cy="1901952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7376" y="1527048"/>
            <a:ext cx="473659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0C3B4A"/>
                </a:solidFill>
                <a:latin typeface="Arial"/>
              </a:rPr>
              <a:t>Menghindari intervensi sia-sia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975104"/>
            <a:ext cx="4544642" cy="102797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50" b="0" i="0" dirty="0" err="1">
                <a:solidFill>
                  <a:srgbClr val="1F2937"/>
                </a:solidFill>
                <a:latin typeface="Arial"/>
              </a:rPr>
              <a:t>Pendekatan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mengarahkan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tim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untuk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50" b="0" i="0" dirty="0" err="1">
                <a:solidFill>
                  <a:srgbClr val="1F2937"/>
                </a:solidFill>
                <a:latin typeface="Arial"/>
              </a:rPr>
              <a:t>menghindari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tindakan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tidak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lagi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sejalan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50" b="0" i="0" dirty="0" err="1">
                <a:solidFill>
                  <a:srgbClr val="1F2937"/>
                </a:solidFill>
                <a:latin typeface="Arial"/>
              </a:rPr>
              <a:t>dengan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tujuan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tata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laksana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hanya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menambah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5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50" b="0" i="0" dirty="0" err="1">
                <a:solidFill>
                  <a:srgbClr val="1F2937"/>
                </a:solidFill>
                <a:latin typeface="Arial"/>
              </a:rPr>
              <a:t>beban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55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730752"/>
            <a:ext cx="374903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Peran perawat saat keputusan sulit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60520"/>
            <a:ext cx="10149840" cy="152704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450">
                <a:solidFill>
                  <a:srgbClr val="1F2937"/>
                </a:solidFill>
                <a:latin typeface="Arial"/>
              </a:defRPr>
            </a:pPr>
            <a:r>
              <a:t>• Mengenali nilai dan keinginan pasien.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50">
                <a:solidFill>
                  <a:srgbClr val="1F2937"/>
                </a:solidFill>
                <a:latin typeface="Arial"/>
              </a:defRPr>
            </a:pPr>
            <a:r>
              <a:t>• Memastikan informasi dipahami dengan bahasa yang sesuai.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50">
                <a:solidFill>
                  <a:srgbClr val="1F2937"/>
                </a:solidFill>
                <a:latin typeface="Arial"/>
              </a:defRPr>
            </a:pPr>
            <a:r>
              <a:t>• Menyampaikan perubahan kondisi kepada tim.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50">
                <a:solidFill>
                  <a:srgbClr val="1F2937"/>
                </a:solidFill>
                <a:latin typeface="Arial"/>
              </a:defRPr>
            </a:pPr>
            <a:r>
              <a:t>• Mendukung keluarga tanpa mengambil alih keputusan medis.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450">
                <a:solidFill>
                  <a:srgbClr val="1F2937"/>
                </a:solidFill>
                <a:latin typeface="Arial"/>
              </a:defRPr>
            </a:pPr>
            <a:r>
              <a:t>• Mendokumentasikan komunikasi dan respons pasien/keluarga secara akurat.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812/2007; prinsip pelayanan paliatif dalam KMK 2180/2023.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SDM, Pendidikan, dan Sarana Pendukung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0156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340156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62763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600200"/>
            <a:ext cx="25054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Kompetensi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48256"/>
            <a:ext cx="2978508" cy="76636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Tenaga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medis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nonmedis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perlu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pelatihan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serta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keterampilan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sesuai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peran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1463040"/>
            <a:ext cx="340156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17136" y="1463040"/>
            <a:ext cx="73152" cy="340156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81727" y="162763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7" y="162763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600200"/>
            <a:ext cx="25054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Pedoman &amp; SOP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3" y="2048256"/>
            <a:ext cx="3017521" cy="12280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memerlukan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pedoman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pelaksanaan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alur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asesmen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lang="en-ID" sz="1500" b="0" i="0" dirty="0">
                <a:solidFill>
                  <a:srgbClr val="1F2937"/>
                </a:solidFill>
                <a:latin typeface="Arial"/>
              </a:rPr>
              <a:t>t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ata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laksana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dokumentasi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dan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rujukan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463040"/>
            <a:ext cx="340156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02752" y="1463040"/>
            <a:ext cx="73152" cy="3401568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67344" y="1627632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67344" y="162763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1600200"/>
            <a:ext cx="250545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0C3B4A"/>
                </a:solidFill>
                <a:latin typeface="Arial"/>
              </a:rPr>
              <a:t>Sarana &amp; obat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048256"/>
            <a:ext cx="3291840" cy="9971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Ketersediaan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sarana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alat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obat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pengendali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gejala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dukungan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5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500" b="0" i="0" dirty="0" err="1">
                <a:solidFill>
                  <a:srgbClr val="1F2937"/>
                </a:solidFill>
                <a:latin typeface="Arial"/>
              </a:rPr>
              <a:t>logistik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memengaruhi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mutu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5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3468" y="5266944"/>
            <a:ext cx="8451160" cy="550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50" b="1" i="0" dirty="0" err="1">
                <a:solidFill>
                  <a:srgbClr val="0C3B4A"/>
                </a:solidFill>
                <a:latin typeface="Arial"/>
              </a:rPr>
              <a:t>Kebijakan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2007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menekankan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: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standar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pelayanan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tenaga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terlatih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serta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sarana-prasarana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55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550" b="1" i="0" dirty="0" err="1">
                <a:solidFill>
                  <a:srgbClr val="0C3B4A"/>
                </a:solidFill>
                <a:latin typeface="Arial"/>
              </a:rPr>
              <a:t>adalah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prasyarat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agar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layanan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paliatif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benar-benar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0C3B4A"/>
                </a:solidFill>
                <a:latin typeface="Arial"/>
              </a:rPr>
              <a:t>bermutu</a:t>
            </a:r>
            <a:r>
              <a:rPr sz="1550" b="1" i="0" dirty="0">
                <a:solidFill>
                  <a:srgbClr val="0C3B4A"/>
                </a:solidFill>
                <a:latin typeface="Arial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tujuan kebijakan KMK 812/2007.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Implikasi Kebijakan terhadap Peran Perawat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" y="1389888"/>
            <a:ext cx="349300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6656" y="1389888"/>
            <a:ext cx="73152" cy="174650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7" y="155448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5448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527048"/>
            <a:ext cx="259689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Assessor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75104"/>
            <a:ext cx="3121175" cy="4739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Mengidentifikasi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nyeri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gejala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distress,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fungsi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kebutuhan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keluarga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dan spiritual.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389888"/>
            <a:ext cx="349300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98848" y="1389888"/>
            <a:ext cx="73152" cy="174650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63440" y="155448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55448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527048"/>
            <a:ext cx="259689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Care 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1975104"/>
            <a:ext cx="2925609" cy="4739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Memberikan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intervensi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keperawatan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untuk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kenyamanan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kualitas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hidup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389888"/>
            <a:ext cx="349300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389888"/>
            <a:ext cx="73152" cy="174650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85632" y="155448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85632" y="155448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1527048"/>
            <a:ext cx="259689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Communicator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1975104"/>
            <a:ext cx="3037819" cy="67403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Membangun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komunikasi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terapeutik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dan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membantu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memahami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pilihan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3538728"/>
            <a:ext cx="349300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6656" y="3538728"/>
            <a:ext cx="73152" cy="1746504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1247" y="3703320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" y="37033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3675888"/>
            <a:ext cx="259689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Coordinator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123944"/>
            <a:ext cx="3057504" cy="67403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Menghubungkan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dengan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dokter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farmasis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psikolog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pekerja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sosial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dan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layanan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rujukan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8848" y="3538728"/>
            <a:ext cx="349300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98848" y="3538728"/>
            <a:ext cx="73152" cy="1746504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663440" y="3703320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63440" y="37033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675888"/>
            <a:ext cx="259689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Advocate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4123944"/>
            <a:ext cx="2871107" cy="4739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Membela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hak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preferensi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martabat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>
                <a:solidFill>
                  <a:srgbClr val="1F2937"/>
                </a:solidFill>
                <a:latin typeface="Arial"/>
              </a:rPr>
              <a:t>dan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kebutuhan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serta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keluarga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538728"/>
            <a:ext cx="3493008" cy="1746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1040" y="3538728"/>
            <a:ext cx="73152" cy="1746504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485632" y="3703320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85632" y="3703320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2" y="3675888"/>
            <a:ext cx="259689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Educator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4123944"/>
            <a:ext cx="3029804" cy="4739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Mengajarkan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pengelolaan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gejala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obat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3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300" b="0" i="0" dirty="0" err="1">
                <a:solidFill>
                  <a:srgbClr val="1F2937"/>
                </a:solidFill>
                <a:latin typeface="Arial"/>
              </a:rPr>
              <a:t>perawatan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di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rumah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tanda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F2937"/>
                </a:solidFill>
                <a:latin typeface="Arial"/>
              </a:rPr>
              <a:t>bahaya</a:t>
            </a:r>
            <a:r>
              <a:rPr sz="13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substansi KMK 812/2007 dan KMK 2180/2023.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Alur Praktik Keperawatan pada Pasien Paliatif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572768" cy="1280160"/>
          </a:xfrm>
          <a:prstGeom prst="roundRect">
            <a:avLst/>
          </a:prstGeom>
          <a:solidFill>
            <a:srgbClr val="E8F4F2"/>
          </a:solidFill>
          <a:ln>
            <a:solidFill>
              <a:srgbClr val="1E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984248"/>
            <a:ext cx="512064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E7A78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395728"/>
            <a:ext cx="1353312" cy="53035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50" b="1" i="0">
                <a:solidFill>
                  <a:srgbClr val="0C3B4A"/>
                </a:solidFill>
                <a:latin typeface="Arial"/>
              </a:rPr>
              <a:t>Skrining</a:t>
            </a:r>
          </a:p>
        </p:txBody>
      </p:sp>
      <p:sp>
        <p:nvSpPr>
          <p:cNvPr id="7" name="Chevron 6"/>
          <p:cNvSpPr/>
          <p:nvPr/>
        </p:nvSpPr>
        <p:spPr>
          <a:xfrm>
            <a:off x="2231136" y="2240280"/>
            <a:ext cx="246888" cy="429768"/>
          </a:xfrm>
          <a:prstGeom prst="chevron">
            <a:avLst/>
          </a:prstGeom>
          <a:solidFill>
            <a:srgbClr val="C3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14600" y="1828800"/>
            <a:ext cx="1572768" cy="1280160"/>
          </a:xfrm>
          <a:prstGeom prst="roundRect">
            <a:avLst/>
          </a:prstGeom>
          <a:solidFill>
            <a:srgbClr val="E8F4F2"/>
          </a:solidFill>
          <a:ln>
            <a:solidFill>
              <a:srgbClr val="1E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4952" y="1984248"/>
            <a:ext cx="512064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E7A78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6588" y="2416221"/>
            <a:ext cx="1208792" cy="48936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Asesmen</a:t>
            </a:r>
            <a:r>
              <a:rPr sz="135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5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komprehensif</a:t>
            </a:r>
            <a:endParaRPr sz="135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133087" y="2240280"/>
            <a:ext cx="246888" cy="429768"/>
          </a:xfrm>
          <a:prstGeom prst="chevron">
            <a:avLst/>
          </a:prstGeom>
          <a:solidFill>
            <a:srgbClr val="C3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16552" y="1828800"/>
            <a:ext cx="1572768" cy="1280160"/>
          </a:xfrm>
          <a:prstGeom prst="roundRect">
            <a:avLst/>
          </a:prstGeom>
          <a:solidFill>
            <a:srgbClr val="E8F4F2"/>
          </a:solidFill>
          <a:ln>
            <a:solidFill>
              <a:srgbClr val="1E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46904" y="1984248"/>
            <a:ext cx="512064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E7A78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158" y="2416221"/>
            <a:ext cx="1189556" cy="48936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Identifikasi</a:t>
            </a:r>
            <a:r>
              <a:rPr sz="135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5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tujuan</a:t>
            </a:r>
            <a:r>
              <a:rPr sz="13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50" b="1" i="0" dirty="0" err="1">
                <a:solidFill>
                  <a:srgbClr val="0C3B4A"/>
                </a:solidFill>
                <a:latin typeface="Arial"/>
              </a:rPr>
              <a:t>pasien</a:t>
            </a:r>
            <a:endParaRPr sz="135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6035040" y="2240280"/>
            <a:ext cx="246888" cy="429768"/>
          </a:xfrm>
          <a:prstGeom prst="chevron">
            <a:avLst/>
          </a:prstGeom>
          <a:solidFill>
            <a:srgbClr val="C3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18504" y="1828800"/>
            <a:ext cx="1572768" cy="1280160"/>
          </a:xfrm>
          <a:prstGeom prst="roundRect">
            <a:avLst/>
          </a:prstGeom>
          <a:solidFill>
            <a:srgbClr val="E8F4F2"/>
          </a:solidFill>
          <a:ln>
            <a:solidFill>
              <a:srgbClr val="1E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48856" y="1984248"/>
            <a:ext cx="512064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E7A78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7436" y="2416221"/>
            <a:ext cx="1054904" cy="48936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Rencana</a:t>
            </a:r>
            <a:r>
              <a:rPr sz="135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5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interdisiplin</a:t>
            </a:r>
            <a:endParaRPr sz="135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7936992" y="2240280"/>
            <a:ext cx="246888" cy="429768"/>
          </a:xfrm>
          <a:prstGeom prst="chevron">
            <a:avLst/>
          </a:prstGeom>
          <a:solidFill>
            <a:srgbClr val="C3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0456" y="1828800"/>
            <a:ext cx="1572768" cy="1280160"/>
          </a:xfrm>
          <a:prstGeom prst="roundRect">
            <a:avLst/>
          </a:prstGeom>
          <a:solidFill>
            <a:srgbClr val="E8F4F2"/>
          </a:solidFill>
          <a:ln>
            <a:solidFill>
              <a:srgbClr val="1E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50808" y="1984248"/>
            <a:ext cx="512064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E7A78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0533" y="2416221"/>
            <a:ext cx="1112612" cy="48936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Intervensi</a:t>
            </a:r>
            <a:r>
              <a:rPr sz="1350" b="1" i="0" dirty="0">
                <a:solidFill>
                  <a:srgbClr val="0C3B4A"/>
                </a:solidFill>
                <a:latin typeface="Arial"/>
              </a:rPr>
              <a:t> &amp; </a:t>
            </a:r>
            <a:endParaRPr lang="en-US" sz="135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edukasi</a:t>
            </a:r>
            <a:endParaRPr sz="135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9838944" y="2240280"/>
            <a:ext cx="246888" cy="429768"/>
          </a:xfrm>
          <a:prstGeom prst="chevron">
            <a:avLst/>
          </a:prstGeom>
          <a:solidFill>
            <a:srgbClr val="C3D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122408" y="1828800"/>
            <a:ext cx="1572768" cy="1280160"/>
          </a:xfrm>
          <a:prstGeom prst="roundRect">
            <a:avLst/>
          </a:prstGeom>
          <a:solidFill>
            <a:srgbClr val="F8F1DF"/>
          </a:solidFill>
          <a:ln>
            <a:solidFill>
              <a:srgbClr val="C28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52760" y="1984248"/>
            <a:ext cx="512064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C28E2D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104" y="2416221"/>
            <a:ext cx="1093376" cy="48936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Evaluasi</a:t>
            </a:r>
            <a:r>
              <a:rPr sz="1350" b="1" i="0" dirty="0">
                <a:solidFill>
                  <a:srgbClr val="0C3B4A"/>
                </a:solidFill>
                <a:latin typeface="Arial"/>
              </a:rPr>
              <a:t> &amp; </a:t>
            </a:r>
            <a:endParaRPr lang="en-US" sz="1350" b="1" i="0" dirty="0">
              <a:solidFill>
                <a:srgbClr val="0C3B4A"/>
              </a:solidFill>
              <a:latin typeface="Arial"/>
            </a:endParaRPr>
          </a:p>
          <a:p>
            <a:pPr algn="ctr"/>
            <a:r>
              <a:rPr sz="1350" b="1" i="0" dirty="0" err="1">
                <a:solidFill>
                  <a:srgbClr val="0C3B4A"/>
                </a:solidFill>
                <a:latin typeface="Arial"/>
              </a:rPr>
              <a:t>tindak</a:t>
            </a:r>
            <a:r>
              <a:rPr sz="135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50" b="1" i="0" dirty="0" err="1">
                <a:solidFill>
                  <a:srgbClr val="0C3B4A"/>
                </a:solidFill>
                <a:latin typeface="Arial"/>
              </a:rPr>
              <a:t>lanjut</a:t>
            </a:r>
            <a:endParaRPr sz="135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1248" y="3794760"/>
            <a:ext cx="402336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Dokumentasikan pada setiap tahap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233672"/>
            <a:ext cx="10149840" cy="1335024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Gejala dan skala nyeri.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Komunikasi tujuan perawatan.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Informed consent.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Edukasi dan respons pasien/keluarga.</a:t>
            </a:r>
          </a:p>
          <a:p>
            <a:pPr>
              <a:lnSpc>
                <a:spcPct val="104000"/>
              </a:lnSpc>
              <a:spcAft>
                <a:spcPts val="5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Rencana rujukan atau kunjungan rumah.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2180/2023; prinsip dokumentasi keperawatan.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978408"/>
            <a:ext cx="109728" cy="452628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24128" y="1060704"/>
            <a:ext cx="996696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BAE2DD"/>
                </a:solidFill>
                <a:latin typeface="Arial"/>
              </a:rPr>
              <a:t>PEMBARUAN REGULASI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627632"/>
            <a:ext cx="9875520" cy="1417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KMK No. HK.01.07/MENKES/2180/2023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355848"/>
            <a:ext cx="8999387" cy="62786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0" i="0" dirty="0" err="1">
                <a:solidFill>
                  <a:srgbClr val="DCE8EA"/>
                </a:solidFill>
                <a:latin typeface="Arial"/>
              </a:rPr>
              <a:t>Pedoman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Penyelenggaraan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Pelayanan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Paliatif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.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Pedoman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ini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menggantikan</a:t>
            </a:r>
            <a:endParaRPr lang="en-US" sz="1800" b="0" i="0" dirty="0">
              <a:solidFill>
                <a:srgbClr val="DCE8EA"/>
              </a:solidFill>
              <a:latin typeface="Arial"/>
            </a:endParaRPr>
          </a:p>
          <a:p>
            <a:pPr algn="l"/>
            <a:r>
              <a:rPr sz="1800" b="0" i="0" dirty="0">
                <a:solidFill>
                  <a:srgbClr val="DCE8EA"/>
                </a:solidFill>
                <a:latin typeface="Arial"/>
              </a:rPr>
              <a:t> KMK 812/2007 dan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masih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tercantum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pada portal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produk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hukum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DCE8EA"/>
                </a:solidFill>
                <a:latin typeface="Arial"/>
              </a:rPr>
              <a:t>Kemenkes</a:t>
            </a:r>
            <a:r>
              <a:rPr sz="1800" b="0" i="0" dirty="0">
                <a:solidFill>
                  <a:srgbClr val="DCE8EA"/>
                </a:solidFill>
                <a:latin typeface="Arial"/>
              </a:rPr>
              <a:t> pada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5980176"/>
            <a:ext cx="54864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400" b="1" i="0">
                <a:solidFill>
                  <a:srgbClr val="A9D0CD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Apa yang Diperbarui pada 2023?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26464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26464"/>
            <a:ext cx="73152" cy="17099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59105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9105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563624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Dari terminal ke lebih luas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4780283" cy="72019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 dirty="0" err="1">
                <a:solidFill>
                  <a:srgbClr val="1F2937"/>
                </a:solidFill>
                <a:latin typeface="Arial"/>
              </a:rPr>
              <a:t>Pelayanan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ditujukan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pada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penyakit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yang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mengancam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jiwa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</a:t>
            </a:r>
            <a:endParaRPr lang="en-US" sz="14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00" b="0" i="0" dirty="0" err="1">
                <a:solidFill>
                  <a:srgbClr val="1F2937"/>
                </a:solidFill>
                <a:latin typeface="Arial"/>
              </a:rPr>
              <a:t>terutama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stadium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lanjut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/terminal, dan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dapat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dimulai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sesuai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00" b="0" i="0" dirty="0" err="1">
                <a:solidFill>
                  <a:srgbClr val="1F2937"/>
                </a:solidFill>
                <a:latin typeface="Arial"/>
              </a:rPr>
              <a:t>kebutuhan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426464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7" y="1426464"/>
            <a:ext cx="73152" cy="17099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799" y="159105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799" y="159105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563624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Pedoman lebih operasional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5" y="2011680"/>
            <a:ext cx="4480522" cy="72019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 dirty="0" err="1">
                <a:solidFill>
                  <a:srgbClr val="1F2937"/>
                </a:solidFill>
                <a:latin typeface="Arial"/>
              </a:rPr>
              <a:t>Memuat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kriteria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skrining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tata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laksana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nyeri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gejala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lain,</a:t>
            </a:r>
            <a:endParaRPr lang="en-US" sz="14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dukungan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psikologis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sosial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spiritual, dan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alur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00" b="0" i="0" dirty="0" err="1">
                <a:solidFill>
                  <a:srgbClr val="1F2937"/>
                </a:solidFill>
                <a:latin typeface="Arial"/>
              </a:rPr>
              <a:t>penyelenggaraan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9584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529584"/>
            <a:ext cx="73152" cy="1709928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369417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69417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666744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Jejaring layanan diperjelas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114800"/>
            <a:ext cx="4243278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 dirty="0">
                <a:solidFill>
                  <a:srgbClr val="1F2937"/>
                </a:solidFill>
                <a:latin typeface="Arial"/>
              </a:rPr>
              <a:t>Rumah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sakit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klinik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puskesmas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serta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rumah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paliatif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00" b="0" i="0" dirty="0" err="1">
                <a:solidFill>
                  <a:srgbClr val="1F2937"/>
                </a:solidFill>
                <a:latin typeface="Arial"/>
              </a:rPr>
              <a:t>dapat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terlibat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sesuai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fungsi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kompetensi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3529584"/>
            <a:ext cx="5138928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6207" y="3529584"/>
            <a:ext cx="73152" cy="1709928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799" y="3694176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799" y="369417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666744"/>
            <a:ext cx="4242816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0C3B4A"/>
                </a:solidFill>
                <a:latin typeface="Arial"/>
              </a:rPr>
              <a:t>Pendanaan disebutkan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5" y="4114800"/>
            <a:ext cx="4863383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 dirty="0">
                <a:solidFill>
                  <a:srgbClr val="1F2937"/>
                </a:solidFill>
                <a:latin typeface="Arial"/>
              </a:rPr>
              <a:t>APBN, APBD,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pembiayaan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jaminan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kesehatan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sumber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 </a:t>
            </a:r>
            <a:endParaRPr lang="en-US" sz="1400" b="0" i="0" dirty="0">
              <a:solidFill>
                <a:srgbClr val="1F2937"/>
              </a:solidFill>
              <a:latin typeface="Arial"/>
            </a:endParaRPr>
          </a:p>
          <a:p>
            <a:pPr algn="l"/>
            <a:r>
              <a:rPr sz="1400" b="0" i="0" dirty="0">
                <a:solidFill>
                  <a:srgbClr val="1F2937"/>
                </a:solidFill>
                <a:latin typeface="Arial"/>
              </a:rPr>
              <a:t>lain yang </a:t>
            </a:r>
            <a:r>
              <a:rPr sz="1400" b="0" i="0" dirty="0" err="1">
                <a:solidFill>
                  <a:srgbClr val="1F2937"/>
                </a:solidFill>
                <a:latin typeface="Arial"/>
              </a:rPr>
              <a:t>sah</a:t>
            </a:r>
            <a:r>
              <a:rPr sz="14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2180/2023, diktum dan lampiran.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Prinsip Penyelenggaraan Pelayanan Paliatif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335024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7512" y="1335024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32103" y="149961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3" y="149961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0744" y="1407304"/>
            <a:ext cx="2794163" cy="495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Menghargai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kehidupan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dan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kematian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sebagai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proses normal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1335024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07992" y="1335024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72583" y="149961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3" y="149961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1407304"/>
            <a:ext cx="2175404" cy="495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>
                <a:solidFill>
                  <a:srgbClr val="0C3B4A"/>
                </a:solidFill>
                <a:latin typeface="Arial"/>
              </a:rPr>
              <a:t>Tidak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mempercepat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atau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menunda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kematian</a:t>
            </a:r>
            <a:endParaRPr sz="137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348472" y="1335024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48472" y="1335024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13064" y="1499616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13064" y="1499616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1407304"/>
            <a:ext cx="2112886" cy="495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Pasien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berperan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sentral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dalam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keputusan</a:t>
            </a:r>
            <a:endParaRPr sz="137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7512" y="2907791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7512" y="2907791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2103" y="3072384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3" y="307238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744" y="2980071"/>
            <a:ext cx="2383794" cy="495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Mengendalikan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gejala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>
                <a:solidFill>
                  <a:srgbClr val="0C3B4A"/>
                </a:solidFill>
                <a:latin typeface="Arial"/>
              </a:rPr>
              <a:t>yang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menimbulkan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distress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07992" y="2907791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07992" y="2907791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72583" y="3072384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72583" y="307238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1224" y="2874658"/>
            <a:ext cx="2778133" cy="706347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Mengintegrasikan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aspek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psikologis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emosional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, spiritual,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sosial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,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budaya</a:t>
            </a:r>
            <a:endParaRPr sz="137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348472" y="2907791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348472" y="2907791"/>
            <a:ext cx="73152" cy="1261872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513064" y="3072384"/>
            <a:ext cx="438912" cy="438912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13064" y="3072384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1704" y="2980071"/>
            <a:ext cx="2042354" cy="495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Menghindari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intervensi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>
                <a:solidFill>
                  <a:srgbClr val="0C3B4A"/>
                </a:solidFill>
                <a:latin typeface="Arial"/>
              </a:rPr>
              <a:t>yang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sia-sia</a:t>
            </a:r>
            <a:endParaRPr sz="137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67512" y="4480560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67512" y="4480560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2103" y="464515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3" y="464515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0744" y="4552840"/>
            <a:ext cx="2237920" cy="495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Mendukung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pasien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hidup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seaktif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mungkin</a:t>
            </a:r>
            <a:endParaRPr sz="137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507992" y="4480560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07992" y="4480560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672583" y="464515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72583" y="464515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21224" y="4447427"/>
            <a:ext cx="2354940" cy="706347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Mendukung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keluarga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dan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>
                <a:solidFill>
                  <a:srgbClr val="0C3B4A"/>
                </a:solidFill>
                <a:latin typeface="Arial"/>
              </a:rPr>
              <a:t>caregiver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selama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sakit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dan </a:t>
            </a:r>
            <a:endParaRPr lang="en-US" sz="1370" b="1" i="0" dirty="0">
              <a:solidFill>
                <a:srgbClr val="0C3B4A"/>
              </a:solidFill>
              <a:latin typeface="Arial"/>
            </a:endParaRPr>
          </a:p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sesudah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kematian</a:t>
            </a:r>
            <a:endParaRPr sz="137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348472" y="4480560"/>
            <a:ext cx="351129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348472" y="4480560"/>
            <a:ext cx="73152" cy="1261872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513064" y="4645152"/>
            <a:ext cx="438912" cy="438912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13064" y="4645152"/>
            <a:ext cx="438912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61704" y="4617720"/>
            <a:ext cx="2615184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70" b="1" i="0" dirty="0" err="1">
                <a:solidFill>
                  <a:srgbClr val="0C3B4A"/>
                </a:solidFill>
                <a:latin typeface="Arial"/>
              </a:rPr>
              <a:t>Menggunakan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pendekatan</a:t>
            </a:r>
            <a:r>
              <a:rPr sz="1370" b="1" i="0" dirty="0">
                <a:solidFill>
                  <a:srgbClr val="0C3B4A"/>
                </a:solidFill>
                <a:latin typeface="Arial"/>
              </a:rPr>
              <a:t> </a:t>
            </a:r>
            <a:r>
              <a:rPr sz="1370" b="1" i="0" dirty="0" err="1">
                <a:solidFill>
                  <a:srgbClr val="0C3B4A"/>
                </a:solidFill>
                <a:latin typeface="Arial"/>
              </a:rPr>
              <a:t>tim</a:t>
            </a:r>
            <a:endParaRPr sz="1370" b="1" i="0" dirty="0">
              <a:solidFill>
                <a:srgbClr val="0C3B4A"/>
              </a:solidFill>
              <a:latin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KMK 2180/2023, prinsip penyelenggaraan pelayanan paliatif.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Implementasi Kebijakan di Layanan Keperawatan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399032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8" y="1399032"/>
            <a:ext cx="73152" cy="4251960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1536192"/>
            <a:ext cx="4828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100" b="1" i="0">
                <a:solidFill>
                  <a:srgbClr val="0C3B4A"/>
                </a:solidFill>
                <a:latin typeface="Arial"/>
              </a:rPr>
              <a:t>Di tingkat unit / ruangan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12848"/>
            <a:ext cx="4617720" cy="26974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Bangun skrining paliatif sejak awal pada pasien berisiko.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Gunakan asesmen nyeri dan gejala yang konsisten.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Tetapkan tujuan perawatan bersama pasien dan keluarga.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Lakukan edukasi caregiver dan rencana pulang.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99032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6208" y="1399032"/>
            <a:ext cx="73152" cy="4251960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7376" y="1536192"/>
            <a:ext cx="4828032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100" b="1" i="0">
                <a:solidFill>
                  <a:srgbClr val="0C3B4A"/>
                </a:solidFill>
                <a:latin typeface="Arial"/>
              </a:rPr>
              <a:t>Di tingkat organisasi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212848"/>
            <a:ext cx="4617720" cy="26974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Susun SOP rujukan, home care, dan komunikasi antar fasilitas.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Lakukan konferensi kasus interdisiplin untuk pasien kompleks.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Audit dokumentasi, kontrol gejala, kepuasan, dan kontinuitas layanan.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Bangun jejaring dengan fasilitas dan komunitas.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Sumber: sintesis implementasi KMK 2180/2023 untuk layanan keperawatan.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Studi Kasus untuk Diskusi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35024"/>
            <a:ext cx="6446520" cy="4553712"/>
          </a:xfrm>
          <a:prstGeom prst="round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27632"/>
            <a:ext cx="118872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E7A78"/>
                </a:solidFill>
                <a:latin typeface="Arial"/>
              </a:rPr>
              <a:t>Kasus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5980176" cy="21667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 dirty="0" err="1">
                <a:solidFill>
                  <a:srgbClr val="1F2937"/>
                </a:solidFill>
                <a:latin typeface="Arial"/>
              </a:rPr>
              <a:t>Seorang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kanker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paru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stadium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lanjut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mengalami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sesak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nyeri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sulit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tidur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kecemasan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.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Keluarga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meminta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agar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tetap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dirawat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agresif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di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rumah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sakit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sedangkan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beberapa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kali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menyampaikan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keinginan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pulang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dan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ingin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lebih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banyak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waktu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bersama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keluarga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.
Data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tambahan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: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pasien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sadar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kompeten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, dan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dapat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mengambil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Arial"/>
              </a:rPr>
              <a:t>keputusan</a:t>
            </a:r>
            <a:r>
              <a:rPr sz="1700" b="0" i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335024"/>
            <a:ext cx="3977639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79" y="1335024"/>
            <a:ext cx="73152" cy="4553712"/>
          </a:xfrm>
          <a:prstGeom prst="rect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9248" y="1472184"/>
            <a:ext cx="3593591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0C3B4A"/>
                </a:solidFill>
                <a:latin typeface="Arial"/>
              </a:rPr>
              <a:t>Pertanyaan diskusi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148840"/>
            <a:ext cx="3383280" cy="29260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• Pilar kebijakan mana yang paling relevan?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• Apa prioritas asesmen perawat?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• Bagaimana komunikasi dengan pasien dan keluarga?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• Kapan perlu rujukan atau home care?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550">
                <a:solidFill>
                  <a:srgbClr val="1F2937"/>
                </a:solidFill>
                <a:latin typeface="Arial"/>
              </a:defRPr>
            </a:pPr>
            <a:r>
              <a:t>• Apa yang wajib didokumentasikan?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Kasus pembelajaran; bukan kasus pasien nyata.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Inti yang Harus Diingat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61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" y="1453895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53895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3352" y="1435607"/>
            <a:ext cx="2596896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KMK 812/2007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417320"/>
            <a:ext cx="6812280" cy="5120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20" b="0" i="0">
                <a:solidFill>
                  <a:srgbClr val="1F2937"/>
                </a:solidFill>
                <a:latin typeface="Arial"/>
              </a:rPr>
              <a:t>Tonggak kebijakan nasional paliatif, tetapi telah dicabut pada 2023.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67712"/>
            <a:ext cx="10561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5840" y="2395728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395728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2377440"/>
            <a:ext cx="2596896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Tujuan utama paliatif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359152"/>
            <a:ext cx="6812280" cy="5120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20" b="0" i="0">
                <a:solidFill>
                  <a:srgbClr val="1F2937"/>
                </a:solidFill>
                <a:latin typeface="Arial"/>
              </a:rPr>
              <a:t>Kualitas hidup, pengurangan penderitaan, dan martabat pasien.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09544"/>
            <a:ext cx="10561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" y="3337560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3319272"/>
            <a:ext cx="2596896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Pelayanan holistik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300984"/>
            <a:ext cx="6812280" cy="5120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20" b="0" i="0">
                <a:solidFill>
                  <a:srgbClr val="1F2937"/>
                </a:solidFill>
                <a:latin typeface="Arial"/>
              </a:rPr>
              <a:t>Mencakup fisik, psikologis, sosial, spiritual, dan kultural.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51376"/>
            <a:ext cx="10561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" y="4279392"/>
            <a:ext cx="475488" cy="475488"/>
          </a:xfrm>
          <a:prstGeom prst="ellipse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279392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4261104"/>
            <a:ext cx="2596896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Perawat penghubung kunci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242816"/>
            <a:ext cx="6812280" cy="5120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20" b="0" i="0">
                <a:solidFill>
                  <a:srgbClr val="1F2937"/>
                </a:solidFill>
                <a:latin typeface="Arial"/>
              </a:rPr>
              <a:t>Asesmen, komunikasi, koordinasi, edukasi, advokasi, dan kontinuitas.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093208"/>
            <a:ext cx="10561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" y="5221224"/>
            <a:ext cx="475488" cy="475488"/>
          </a:xfrm>
          <a:prstGeom prst="ellipse">
            <a:avLst/>
          </a:prstGeom>
          <a:solidFill>
            <a:srgbClr val="C2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221224"/>
            <a:ext cx="475488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3352" y="5202936"/>
            <a:ext cx="2596896" cy="4754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0C3B4A"/>
                </a:solidFill>
                <a:latin typeface="Arial"/>
              </a:rPr>
              <a:t>Pedoman yang lebih baru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184648"/>
            <a:ext cx="6812280" cy="5120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20" b="0" i="0">
                <a:solidFill>
                  <a:srgbClr val="1F2937"/>
                </a:solidFill>
                <a:latin typeface="Arial"/>
              </a:rPr>
              <a:t>KMK No. HK.01.07/MENKES/2180/2023.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Ringkasan pembelajaran.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E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0C3B4A"/>
                </a:solidFill>
                <a:latin typeface="Arial"/>
              </a:rPr>
              <a:t>Referensi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51560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A6772"/>
                </a:solidFill>
                <a:latin typeface="Arial"/>
              </a:rPr>
              <a:t>Dokumen hukum dan sumber resmi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3547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0000"/>
              </a:lnSpc>
              <a:spcAft>
                <a:spcPts val="1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1. Kementerian Kesehatan RI. Keputusan Menteri Kesehatan Republik Indonesia Nomor 812/Menkes/SK/VII/2007 tentang Kebijakan Perawatan Paliatif. 19 Juli 2007.</a:t>
            </a:r>
          </a:p>
          <a:p>
            <a:pPr>
              <a:lnSpc>
                <a:spcPct val="100000"/>
              </a:lnSpc>
              <a:spcAft>
                <a:spcPts val="1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2. Kementerian Kesehatan RI. Keputusan Menteri Kesehatan Republik Indonesia Nomor HK.01.07/MENKES/2180/2023 tentang Pedoman Penyelenggaraan Pelayanan Paliatif. 14 Desember 2023.</a:t>
            </a:r>
          </a:p>
          <a:p>
            <a:pPr>
              <a:lnSpc>
                <a:spcPct val="100000"/>
              </a:lnSpc>
              <a:spcAft>
                <a:spcPts val="1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3. Direktorat Jenderal Kesehatan Lanjutan, Kementerian Kesehatan RI. Produk Hukum Seputar Kesehatan Lanjutan - daftar pedoman dan keputusan menteri terkait pelayanan kesehatan.</a:t>
            </a:r>
          </a:p>
          <a:p>
            <a:pPr>
              <a:lnSpc>
                <a:spcPct val="100000"/>
              </a:lnSpc>
              <a:spcAft>
                <a:spcPts val="1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4. Kementerian Kesehatan RI. Rencana Kanker Nasional 2024-2034 - memuat rujukan terhadap KMK 2180/2023 sebagai pedoman pelayanan paliatif.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230368"/>
            <a:ext cx="10424160" cy="658368"/>
          </a:xfrm>
          <a:prstGeom prst="roundRect">
            <a:avLst/>
          </a:prstGeom>
          <a:solidFill>
            <a:srgbClr val="F9EDED"/>
          </a:solidFill>
          <a:ln>
            <a:solidFill>
              <a:srgbClr val="E6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5385816"/>
            <a:ext cx="98755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A83A3A"/>
                </a:solidFill>
                <a:latin typeface="Arial"/>
              </a:rPr>
              <a:t>Catatan akademik: gunakan istilah "KMK/Kepmenkes 812/2007", bukan "Permenkes 812/2007".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83096"/>
            <a:ext cx="11018520" cy="10972"/>
          </a:xfrm>
          <a:prstGeom prst="rect">
            <a:avLst/>
          </a:prstGeom>
          <a:solidFill>
            <a:srgbClr val="D5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501384"/>
            <a:ext cx="1024128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A6772"/>
                </a:solidFill>
                <a:latin typeface="Arial"/>
              </a:rPr>
              <a:t>Sumber resmi Kementerian Kesehatan RI.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92240"/>
            <a:ext cx="38404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E7A78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2550</Words>
  <Application>Microsoft Office PowerPoint</Application>
  <PresentationFormat>Widescreen</PresentationFormat>
  <Paragraphs>497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Kebijakan Nasional Terkait Perawatan Paliatif</dc:title>
  <dc:subject>Pilar kebijakan perawatan paliatif nasional dan KMK 812/2007</dc:subject>
  <dc:creator>OpenAI</dc:creator>
  <cp:keywords/>
  <dc:description>Dibuat ulang menggunakan struktur PowerPoint OOXML standar untuk kompatibilitas Microsoft PowerPoint.</dc:description>
  <cp:lastModifiedBy>Dr. Mubarak</cp:lastModifiedBy>
  <cp:revision>7</cp:revision>
  <dcterms:created xsi:type="dcterms:W3CDTF">2013-01-27T09:14:16Z</dcterms:created>
  <dcterms:modified xsi:type="dcterms:W3CDTF">2026-09-09T03:31:50Z</dcterms:modified>
  <cp:category/>
</cp:coreProperties>
</file>