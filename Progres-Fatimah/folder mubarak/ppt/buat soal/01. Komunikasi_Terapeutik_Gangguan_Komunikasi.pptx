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Komunikasi Terapeutik • Gangguan Komunikasi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3017520" y="274320"/>
            <a:ext cx="2926080" cy="2926080"/>
          </a:xfrm>
          <a:prstGeom prst="arc">
            <a:avLst/>
          </a:prstGeom>
          <a:solidFill>
            <a:srgbClr val="1C8A87">
              <a:alpha val="95000"/>
            </a:srgbClr>
          </a:solidFill>
          <a:ln w="12700">
            <a:solidFill>
              <a:srgbClr val="1C8A8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60120"/>
            <a:ext cx="1051560" cy="105156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71016"/>
            <a:ext cx="502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078992" y="1508760"/>
            <a:ext cx="256032" cy="2011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31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TERAPEUTIK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C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pada klien dengan gangguan komunikasi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bahasa • Defisit sensori • Gangguan kognitif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498848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A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 pembelajaran keperawatan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794760"/>
            <a:ext cx="6492240" cy="1280160"/>
          </a:xfrm>
          <a:prstGeom prst="roundRect">
            <a:avLst>
              <a:gd name="adj" fmla="val 5714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794760"/>
            <a:ext cx="73152" cy="1280160"/>
          </a:xfrm>
          <a:prstGeom prst="rect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3977640"/>
            <a:ext cx="6035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“Tujuan komunikasi terapeutik bukan sekadar menyampaikan pesan, tetapi memastikan klien merasa dipahami, aman, dan tetap memiliki kendali.”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Capaian pembelajaran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Setelah mempelajari materi ini, mahasiswa diharapkan mampu: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61848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73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35608" y="16002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Memahami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23544" y="2029968"/>
            <a:ext cx="2999232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Menjelaskan konsep dan tujuan komunikasi terapeutik.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Mengidentifikasi hambatan komunikasi pada defisit bahasa, sensori, dan kognitif.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1848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73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Menerapkan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029968"/>
            <a:ext cx="2999232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Memilih teknik verbal dan nonverbal yang tepat.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Memodifikasi lingkungan serta media komunikasi sesuai kebutuhan klien.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61848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73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96528" y="16002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Mengevaluasi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84464" y="2029968"/>
            <a:ext cx="2999232" cy="3419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Menilai respons klien dan efektivitas pesan.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Menjaga martabat, otonomi, keselamatan, serta etika komunikasi.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Apa itu komunikasi terapeutik?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051560"/>
          </a:xfrm>
          <a:prstGeom prst="rect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71600"/>
            <a:ext cx="10332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“Interaksi profesional yang direncanakan untuk membantu klien mengekspresikan kebutuhan, memahami informasi, dan mencapai tujuan kesehatan.”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80720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8620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278892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Berorientasi pada klien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9264" y="3218688"/>
            <a:ext cx="277063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pada kebutuhan, kemampuan, emosi, dan ritme komunikasi klien.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60604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80720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8620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78892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Memiliki tujuan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18304" y="3218688"/>
            <a:ext cx="277063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Setiap percakapan diarahkan pada pemahaman, pengambilan keputusan, atau pemecahan masalah.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60604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28072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28620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79408" y="278892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Memerlukan evaluasi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67344" y="3218688"/>
            <a:ext cx="277063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Perawat memastikan pesan diterima dengan benar melalui klarifikasi dan umpan balik.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86000" y="5394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Kunci: dengarkan → pahami → sesuaikan → verifikasi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Prinsip dasar komunikasi terapeutik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52704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819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35608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Empati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23544" y="193852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Mengakui pengalaman klien tanpa menghakimi.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62272" y="1325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2704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819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Hormat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0016" y="193852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Berbicara kepada klien, bukan tentang klien.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38744" y="1325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9912" y="152704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5819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88552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Sederhana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76488" y="193852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kalimat singkat, konkret, dan mudah dipahami.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385876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9136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35608" y="3840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Satu pesan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3544" y="427024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Berikan satu ide atau instruksi pada satu waktu.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62272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85876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9136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840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Waktu cukup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700016" y="427024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Berikan jeda agar klien sempat memproses dan merespons.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38744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39912" y="385876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39136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88552" y="3840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Verifikasi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476488" y="427024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Minta klien menunjukkan atau mengulang pemahaman.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Tiga kelompok hambatan komunikasi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892040" y="2148840"/>
            <a:ext cx="2423160" cy="242316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84648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TERAPEUTIK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0"/>
            <a:ext cx="2514600" cy="1828800"/>
          </a:xfrm>
          <a:prstGeom prst="ellipse">
            <a:avLst/>
          </a:prstGeom>
          <a:solidFill>
            <a:srgbClr val="1C8A87">
              <a:alpha val="96000"/>
            </a:srgbClr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81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bahasa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084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Sulit memahami atau mengekspresikan bahasa.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732520" y="1280160"/>
            <a:ext cx="2514600" cy="1828800"/>
          </a:xfrm>
          <a:prstGeom prst="ellipse">
            <a:avLst/>
          </a:prstGeom>
          <a:solidFill>
            <a:srgbClr val="F4B942">
              <a:alpha val="96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1481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544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sensori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88552" y="2084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Informasi terhambat karena gangguan pendengaran/penglihatan.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09160" y="4434840"/>
            <a:ext cx="2514600" cy="1828800"/>
          </a:xfrm>
          <a:prstGeom prst="ellipse">
            <a:avLst/>
          </a:prstGeom>
          <a:solidFill>
            <a:srgbClr val="D45D5D">
              <a:alpha val="96000"/>
            </a:srgbClr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636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4709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Gangguan kognitif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52395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Masalah perhatian, memori, orientasi, atau pemrosesan.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383280" y="2240280"/>
            <a:ext cx="1371600" cy="502920"/>
          </a:xfrm>
          <a:prstGeom prst="line">
            <a:avLst/>
          </a:prstGeom>
          <a:noFill/>
          <a:ln w="25400">
            <a:solidFill>
              <a:srgbClr val="1C8A8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41080" y="2240280"/>
            <a:ext cx="-1234440" cy="50292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4480560"/>
            <a:ext cx="182880" cy="-228600"/>
          </a:xfrm>
          <a:prstGeom prst="line">
            <a:avLst/>
          </a:prstGeom>
          <a:noFill/>
          <a:ln w="25400">
            <a:solidFill>
              <a:srgbClr val="D45D5D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Asesmen awal sebelum memulai percakapan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26187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Kemampuan menerima pesan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Apakah klien dapat mendengar?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Apakah klien dapat melihat tulisan/gerak bibir?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23444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26187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Kemampuan memproses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1691640"/>
            <a:ext cx="2926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Perhatian dan orientasi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Memori jangka pendek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Kecepatan memahami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92440" y="1234440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7304" y="126187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Kemampuan merespons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1691640"/>
            <a:ext cx="2926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Kemampuan bicara/bahasa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Gerak tubuh atau menunjuk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Penggunaan alat bantu komunikasi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402336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023360"/>
            <a:ext cx="73152" cy="1051560"/>
          </a:xfrm>
          <a:prstGeom prst="rect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4206240"/>
            <a:ext cx="9692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“Jangan menyimpulkan “tidak kooperatif” sebelum menilai apakah klien sebenarnya tidak mampu menerima, memproses, atau mengekspresikan pesan.”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Strategi umum: S.A.F.E.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00200" y="1371600"/>
            <a:ext cx="914400" cy="91440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1572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058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Simplify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560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Sederhanakan kata, struktur kalimat, dan jumlah informasi.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914400" cy="9144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72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947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Adapt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3063240"/>
            <a:ext cx="2560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Sesuaikan media, posisi tubuh, lingkungan, dan tempo.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178040" y="1371600"/>
            <a:ext cx="914400" cy="91440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572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F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Focus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2560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Pertahankan satu topik; kurangi distraksi.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966960" y="1371600"/>
            <a:ext cx="914400" cy="914400"/>
          </a:xfrm>
          <a:prstGeom prst="ellipse">
            <a:avLst/>
          </a:prstGeom>
          <a:solidFill>
            <a:srgbClr val="D45D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1572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726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0" y="3063240"/>
            <a:ext cx="2560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Periksa pemahaman melalui respons verbal/nonverbal.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1143000" y="4892040"/>
            <a:ext cx="9875520" cy="0"/>
          </a:xfrm>
          <a:prstGeom prst="line">
            <a:avLst/>
          </a:prstGeom>
          <a:noFill/>
          <a:ln w="15240">
            <a:solidFill>
              <a:srgbClr val="D9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52120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Semakin besar hambatan komunikasi, semakin penting observasi dan validasi respons klien.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84048"/>
            <a:ext cx="457200" cy="45720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84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A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A. DEFISIT BAHASA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bahasa: mengenali masalah inti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93852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192024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Reseptif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4984" y="2350008"/>
            <a:ext cx="2862072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Kesulitan memahami kata, kalimat, atau instruksi yang didengar/dibaca.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93852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9933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4648" y="192024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Ekspresif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72584" y="2350008"/>
            <a:ext cx="2862072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Kesulitan menemukan kata, menyusun kalimat, atau menyampaikan kebutuhan.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19385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9933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2248" y="192024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Campuran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30184" y="2350008"/>
            <a:ext cx="2862072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Kesulitan menerima dan mengekspresikan bahasa sekaligus.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Contoh kondisi: afasia pascastroke, cedera otak, gangguan neurologis tertentu.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Tanda yang dapat ditemukan pada defisit bahasa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9848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Area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Temuan yang mungkin tampak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Makna klinis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Pemahaman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Salah mengikuti instruksi; tampak bingung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Pesan terlalu kompleks atau kemampuan reseptif terganggu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Ekspresi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Sulit menemukan kata; kata tidak sesuai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Kemampuan ekspresif terganggu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Kelancaran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Ucapan lambat, terputus-putus, atau tidak lancar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Perlu waktu respons lebih lama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Alternatif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Lebih mudah menunjuk, menulis, menggambar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Gunakan komunikasi multimodal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1325880"/>
            <a:ext cx="182880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" y="14173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Area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560320" y="1325880"/>
            <a:ext cx="374904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15184" y="141732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Temuan yang mungkin tampak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309360" y="1325880"/>
            <a:ext cx="512064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4224" y="1417320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Makna klinis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463040" y="5806440"/>
            <a:ext cx="9235440" cy="502920"/>
          </a:xfrm>
          <a:prstGeom prst="roundRect">
            <a:avLst>
              <a:gd name="adj" fmla="val 14545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5806440"/>
            <a:ext cx="73152" cy="502920"/>
          </a:xfrm>
          <a:prstGeom prst="rect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5989320"/>
            <a:ext cx="8778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“Nilai isi dan maksud pesan — bukan hanya ketepatan kata-katanya.”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Pendekatan perawat pada klien dengan defisit bahasa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99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Dapatkan perhatian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51960" y="123444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Sebut nama klien, lakukan kontak mata, pastikan posisi nyaman.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40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Gunakan pertanyaan sederhana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51960" y="21762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Mulai dari pertanyaan ya/tidak atau pilihan terbatas.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77240" y="3163824"/>
            <a:ext cx="502920" cy="50292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82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118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Berikan waktu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51960" y="311810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Jangan menyelesaikan kalimat klien terlalu cepat.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77240" y="4105656"/>
            <a:ext cx="502920" cy="50292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24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059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Validasi maksud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51960" y="405993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Ulangi dengan bahasa Anda: “Maksud Bapak…?”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77240" y="5047488"/>
            <a:ext cx="502920" cy="50292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663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5001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Gunakan media tambahan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51960" y="500176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Kartu kata, gambar, tulisan, isyarat, atau papan komunikasi.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Teknik verbal: contoh kalimat yang lebih efektif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5F5"/>
          </a:solidFill>
          <a:ln w="12700">
            <a:solidFill>
              <a:srgbClr val="F3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45D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Alih-alih…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69264" y="184708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“Bapak mau makan apa, minum apa, kemudian mau duduk di mana?”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Gunakan…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9944" y="1847088"/>
            <a:ext cx="47823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“Bapak mau makan sekarang?” → tunggu jawaban → lanjutkan pertanyaan berikutnya.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5F5"/>
          </a:solidFill>
          <a:ln w="12700">
            <a:solidFill>
              <a:srgbClr val="F3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6324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45D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Alih-alih…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9264" y="349300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“Coba jelaskan semuanya dari awal.”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063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Gunakan…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9944" y="3493008"/>
            <a:ext cx="47823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“Apakah nyerinya di dada?” atau “Tunjuk bagian yang sakit.”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280160" y="4663440"/>
            <a:ext cx="978408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4663440"/>
            <a:ext cx="73152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4846320"/>
            <a:ext cx="9326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“Pertanyaan tertutup dapat menjadi jembatan, lalu diperluas secara bertahap bila klien mampu.”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Teknik nonverbal &amp; komunikasi augmentatif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8132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4630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Gestur &amp; ekspresi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92808"/>
            <a:ext cx="277063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Tunjuk objek atau bagian tubuh.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gerakan yang konsisten.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Pastikan ekspresi wajah sesuai pesan.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2801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48132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4630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Visual sederhana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18304" y="1892808"/>
            <a:ext cx="277063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Papan ya/tidak.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Kartu kebutuhan dasar: nyeri, makan, toilet, posisi.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Gambar atau kata kunci dengan ukuran besar.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0768" y="14813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9408" y="14630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Tulisan / perangkat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67344" y="1892808"/>
            <a:ext cx="277063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Kertas dan pena bila motorik memungkinkan.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Aplikasi AAC atau text-to-speech bila tersedia.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satu sistem yang familiar.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5303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Prinsip: berikan pilihan yang realistis dan hindari membanjiri klien dengan terlalu banyak simbol.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Kesalahan yang perlu dihindari pada defisit bahasa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4813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35608" y="14630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Berbicara terlalu keras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23544" y="189280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Gangguan bahasa ≠ gangguan pendengaran.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53128" y="1280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4296" y="14813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02936" y="14630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Menyelesaikan kalimat klien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90872" y="189280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Dapat mengurangi otonomi dan menambah frustrasi.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0456" y="1280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14813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0264" y="14630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Berpura-pura paham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58200" y="189280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Risiko kebutuhan klien tidak terpenuhi.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520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37216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776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35608" y="37033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Berbicara kepada keluarga saja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3544" y="413308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Klien tetap menjadi pusat komunikasi.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53128" y="3520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4296" y="37216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3776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02936" y="37033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Memberi banyak instruksi sekaligus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690872" y="413308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Meningkatkan beban pemrosesan.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0456" y="3520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9F9"/>
          </a:solidFill>
          <a:ln w="12700">
            <a:solidFill>
              <a:srgbClr val="F2D9D9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21624" y="37216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3776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70264" y="37033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Mengoreksi setiap kata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458200" y="4133088"/>
            <a:ext cx="295351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pada makna pesan, bukan kesempurnaan bahasa.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Studi kasus 1 — Defisit bahasa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389888"/>
            <a:ext cx="438912" cy="438912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35608" y="13716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Situasi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23544" y="1801368"/>
            <a:ext cx="3182112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Tn. R, 62 tahun, pascastroke. Ia tampak memahami sebagian instruksi, tetapi sulit menemukan kata. Ketika ditanya panjang, ia terlihat frustrasi dan berhenti merespons.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2984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Bagaimana respons perawat?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62179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Dekati dari depan dan panggil nama klien.</a:t>
            </a:r>
            <a:endParaRPr lang="en-US" sz="1420" dirty="0"/>
          </a:p>
          <a:p>
            <a:pPr marL="228600" indent="-228600">
              <a:buSzPct val="100000"/>
              <a:buChar char="•"/>
            </a:pPr>
            <a:r>
              <a:rPr lang="en-US" sz="14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satu pertanyaan pada satu waktu.</a:t>
            </a:r>
            <a:endParaRPr lang="en-US" sz="1420" dirty="0"/>
          </a:p>
          <a:p>
            <a:pPr marL="228600" indent="-228600">
              <a:buSzPct val="100000"/>
              <a:buChar char="•"/>
            </a:pPr>
            <a:r>
              <a:rPr lang="en-US" sz="14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Tawarkan pilihan: “Nyeri?” → “Ya / tidak?”</a:t>
            </a:r>
            <a:endParaRPr lang="en-US" sz="1420" dirty="0"/>
          </a:p>
          <a:p>
            <a:pPr marL="228600" indent="-228600">
              <a:buSzPct val="100000"/>
              <a:buChar char="•"/>
            </a:pPr>
            <a:r>
              <a:rPr lang="en-US" sz="14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Sediakan papan komunikasi atau minta klien menunjuk.</a:t>
            </a:r>
            <a:endParaRPr lang="en-US" sz="1420" dirty="0"/>
          </a:p>
          <a:p>
            <a:pPr marL="228600" indent="-228600">
              <a:buSzPct val="100000"/>
              <a:buChar char="•"/>
            </a:pPr>
            <a:r>
              <a:rPr lang="en-US" sz="14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Validasi: “Bapak menunjuk dada. Apakah dada terasa sakit?”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709160" y="4983480"/>
            <a:ext cx="6263640" cy="822960"/>
          </a:xfrm>
          <a:prstGeom prst="roundRect">
            <a:avLst>
              <a:gd name="adj" fmla="val 8889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4983480"/>
            <a:ext cx="73152" cy="822960"/>
          </a:xfrm>
          <a:prstGeom prst="rect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5166360"/>
            <a:ext cx="5806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“Keberhasilan diukur dari tersampaikannya kebutuhan klien, bukan dari kelancaran berbicara.”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84048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84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B. DEFISIT SENSORI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sensori: saat pesan tidak tertangkap optimal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189280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476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18745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Gangguan pendengaran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60704" y="2304288"/>
            <a:ext cx="4553712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Suara tidak terdengar jelas.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Ucapan cepat atau lingkungan bising memperburuk pemahaman.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Alat bantu dengar perlu dipastikan berfungsi.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89280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9476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59168" y="18745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Gangguan penglihatan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47104" y="2304288"/>
            <a:ext cx="4553712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Isyarat visual tidak tertangkap.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Dokumen kecil/kontras rendah sulit dibaca.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Klien memerlukan orientasi ruang dan penjelasan verbal.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4864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67784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Defisit sensori dapat terjadi tunggal maupun bersamaan; strategi harus disesuaikan secara individual.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 pada klien dengan gangguan pendengaran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3560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Posisi &amp; lingkungan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Hadap klien pada jarak nyaman.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Pastikan wajah terlihat dan pencahayaan cukup.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Kurangi televisi, percakapan lain, dan kebisingan.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143560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57216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Cara berbicara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5152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suara jelas dan kecepatan normal-lambat.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Jangan berteriak; artikulasikan dengan wajar.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kalimat pendek dan kata yang familiar.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4356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33104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Verifikasi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21040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Pastikan alat bantu dengar terpasang bila digunakan.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Tuliskan kata penting bila perlu.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teach-back: minta klien menyampaikan kembali inti pesan.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 pada klien dengan gangguan penglihatan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10698480" cy="91440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F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27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“Jangan hanya mengandalkan gerak tubuh. Ubah informasi visual menjadi penjelasan verbal yang konkret.”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Perkenalkan diri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308152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Sebut nama dan peran saat mendekati klien.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651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Jelaskan tindakan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18304" y="308152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 tahu sebelum menyentuh atau memindahkan benda.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4688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651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Orientasi ruang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67344" y="308152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arah spesifik: “gelas di sisi kanan tangan.”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97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Bacakan informasi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9264" y="472744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Sebutkan isi dokumen/label yang relevan.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41148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297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Jaga lingkungan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18304" y="472744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Jangan memindahkan barang tanpa memberi tahu.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41148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4297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Konfirmasi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67344" y="4727448"/>
            <a:ext cx="29077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Tanyakan cara komunikasi yang paling nyaman.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Bila defisit sensori terjadi bersamaan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Contoh: lansia dengan penurunan pendengaran + penglihatan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176272"/>
            <a:ext cx="685800" cy="68580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Dekat &amp; aman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33272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Posisi berhadapan, pencahayaan cukup, minim distraksi.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154680" y="3108960"/>
            <a:ext cx="411480" cy="0"/>
          </a:xfrm>
          <a:prstGeom prst="line">
            <a:avLst/>
          </a:prstGeom>
          <a:noFill/>
          <a:ln w="19050">
            <a:solidFill>
              <a:srgbClr val="6677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92024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FF8E9"/>
          </a:solidFill>
          <a:ln w="12700">
            <a:solidFill>
              <a:srgbClr val="F2DF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176272"/>
            <a:ext cx="685800" cy="6858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3108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Satu modalitas utama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822192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Tentukan kanal terbaik: suara, tulisan besar, sentuhan terarah, atau alat bantu.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0" y="3108960"/>
            <a:ext cx="411480" cy="0"/>
          </a:xfrm>
          <a:prstGeom prst="line">
            <a:avLst/>
          </a:prstGeom>
          <a:noFill/>
          <a:ln w="19050">
            <a:solidFill>
              <a:srgbClr val="66778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192024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176272"/>
            <a:ext cx="685800" cy="685800"/>
          </a:xfrm>
          <a:prstGeom prst="ellipse">
            <a:avLst/>
          </a:prstGeom>
          <a:solidFill>
            <a:srgbClr val="1C8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108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Sederhanakan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11112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Pesan singkat; satu ide setiap kali.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732520" y="3108960"/>
            <a:ext cx="411480" cy="0"/>
          </a:xfrm>
          <a:prstGeom prst="line">
            <a:avLst/>
          </a:prstGeom>
          <a:noFill/>
          <a:ln w="19050">
            <a:solidFill>
              <a:srgbClr val="6677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35440" y="192024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FF8E9"/>
          </a:solidFill>
          <a:ln w="12700">
            <a:solidFill>
              <a:srgbClr val="F2DF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2176272"/>
            <a:ext cx="685800" cy="6858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64040" y="3108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Ulang &amp; konfirmasi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00032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Ulangi inti pesan dan nilai respons klien.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325880" y="489204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5880" y="4892040"/>
            <a:ext cx="73152" cy="9144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912" y="5074920"/>
            <a:ext cx="9144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“Jangan berasumsi satu teknik cocok untuk semua klien. Tanyakan, coba, lalu nilai mana yang paling efektif.”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Modifikasi lingkungan pada defisit sensori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835640" cy="4526280"/>
        </p:xfrm>
        <a:graphic>
          <a:graphicData uri="http://schemas.openxmlformats.org/drawingml/2006/table">
            <a:tbl>
              <a:tblPr/>
              <a:tblGrid>
                <a:gridCol w="1920240"/>
                <a:gridCol w="44348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Komponen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Untuk gangguan pendengaran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Untuk gangguan penglihatan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Pencahayaan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Cukup untuk melihat wajah &amp; gerak bibir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Cukup, tidak menyilaukan, kontras baik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Kebisingan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Minimalkan suara latar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Jelaskan sumber suara yang tidak dikenal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Posisi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Berhadapan, jarak nyaman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Dekati dari depan; jelaskan posisi objek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Tulisan ringkas, caption, visual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Huruf besar/kontras; audio atau penjelasan verbal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Keamanan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Pastikan alat bantu dengar aman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Jaga jalur berjalan bebas hambatan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" y="1234440"/>
            <a:ext cx="192024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0664" y="13258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Komponen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606040" y="1234440"/>
            <a:ext cx="443484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60904" y="1325880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Untuk gangguan pendengaran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040880" y="1234440"/>
            <a:ext cx="448056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95744" y="132588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Untuk gangguan penglihatan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Studi kasus 2 — Defisit sensori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886200" cy="425196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3560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4173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Situasi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47088"/>
            <a:ext cx="3410712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Ny. S, 71 tahun, menggunakan alat bantu dengar. Di ruang rawat yang ramai, ia beberapa kali menjawab tidak sesuai. Perawat mengulang pertanyaan dengan suara sangat keras dari samping tempat tidur.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83480" y="1280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Apa yang perlu diperbaiki?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83480" y="1901952"/>
            <a:ext cx="347472" cy="34747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947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4708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Kurangi kebisingan bila memungkinkan.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983480" y="2587752"/>
            <a:ext cx="347472" cy="34747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6334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53288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Datang dari depan dan pastikan wajah terlihat.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4983480" y="3273552"/>
            <a:ext cx="347472" cy="34747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319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321868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Cek alat bantu dengar dan baterainya.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983480" y="3959352"/>
            <a:ext cx="347472" cy="34747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40050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90448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Bicara jelas, bukan berteriak.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4983480" y="4645152"/>
            <a:ext cx="347472" cy="34747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6908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59028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Minta Ny. S mengulang inti informasi untuk memastikan pemahaman.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84048"/>
            <a:ext cx="457200" cy="457200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846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D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C. GANGGUAN KOGNITIF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Gangguan kognitif: pesan diterima, tetapi sulit diproses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0" y="146304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3F3"/>
          </a:solidFill>
          <a:ln w="12700">
            <a:solidFill>
              <a:srgbClr val="EAC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Perhatian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184648" y="19842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Sulit fokus atau mudah teralihkan.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072961" y="2663526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6F8FA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0121" y="28189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Orientasi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228409" y="318473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Bingung waktu, tempat, atau situasi.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910348" y="4605954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3F3"/>
          </a:solidFill>
          <a:ln w="12700">
            <a:solidFill>
              <a:srgbClr val="EAC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7508" y="476140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Memori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065796" y="512716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Cepat lupa informasi baru.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148052" y="4605954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6F8FA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5212" y="476140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Penalaran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303500" y="512716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Sulit memahami konsep kompleks.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985439" y="2663526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3F3"/>
          </a:solidFill>
          <a:ln w="12700">
            <a:solidFill>
              <a:srgbClr val="EAC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2599" y="28189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Kecepatan proses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140887" y="318473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Membutuhkan waktu lebih panjang untuk merespons.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92040" y="2788920"/>
            <a:ext cx="2377440" cy="1783080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KOGNISI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Hambatan komunikasi pada gangguan kognitif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38988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371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Yang tampak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01368"/>
            <a:ext cx="29077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Mengulang pertanyaan yang sama.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Berubah topik tanpa menyelesaikan ide.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Tidak mengikuti instruksi bertahap.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Memberi jawaban yang tidak konsisten.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18872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138988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57216" y="1371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Yang mungkin terjadi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5152" y="1801368"/>
            <a:ext cx="29077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Tidak memahami karena pesan terlalu kompleks.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Lupa informasi beberapa menit kemudian.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Kelelahan atau overstimulasi.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Cemas sehingga konsentrasi menurun.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18872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38988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33104" y="1371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Respons perawat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21040" y="1801368"/>
            <a:ext cx="29077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Ulangi tanpa menyalahkan.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petunjuk konkret dan familiar.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Batasi pilihan.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Pertahankan rutinitas dan konsistensi.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 pada klien dengan demensia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138988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27048" y="13716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Masuk perlahan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14984" y="1801368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Dekati dari depan, sebut nama, jangan mengejutkan.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38988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444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9168" y="13716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Gunakan identitas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47104" y="1801368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“Saya Dina, perawat yang membantu Ibu pagi ini.”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76148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2962656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017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27048" y="29443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Kalimat singkat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14984" y="3374136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Satu ide atau pertanyaan pada satu waktu.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276148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2962656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017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59168" y="29443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Petunjuk konkret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47104" y="3374136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benda nyata, foto, atau rutinitas familiar.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4334256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" y="4535424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45902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27048" y="45171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Validasi emosi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14984" y="4946904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pada rasa takut, sedih, atau frustrasi meski fakta kurang tepat.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334256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4535424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45902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9168" y="45171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Hindari debat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547104" y="4946904"/>
            <a:ext cx="455371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Tidak perlu memaksa klien mengakui bahwa ingatannya salah.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 pada klien dengan delirium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1F8F7"/>
          </a:solidFill>
          <a:ln w="12700">
            <a:solidFill>
              <a:srgbClr val="CFE9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88720"/>
            <a:ext cx="73152" cy="1005840"/>
          </a:xfrm>
          <a:prstGeom prst="rect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371600"/>
            <a:ext cx="10241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“Pada delirium, perhatian dan kesadaran dapat berubah-ubah. Prioritaskan keselamatan, ketenangan, dan orientasi sederhana.”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76148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816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27432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Lakukan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4984" y="3172968"/>
            <a:ext cx="2862072" cy="209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kalimat pendek.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Berikan orientasi: nama, tempat, waktu.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Ulangi seperlunya dengan nada tenang.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Libatkan benda/anggota keluarga yang familiar bila sesuai.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5603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76148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816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4648" y="27432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Kurangi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72584" y="3172968"/>
            <a:ext cx="2862072" cy="209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Perpindahan lingkungan yang tidak perlu.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Banyak orang berbicara bersamaan.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Suara keras, cahaya berlebihan, atau interupsi.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5603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276148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28163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2248" y="27432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Hindari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30184" y="3172968"/>
            <a:ext cx="2862072" cy="209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Berargumentasi tentang persepsi klien.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Memberi informasi panjang.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Menganggap perubahan perilaku sebagai kesengajaan.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Teknik orientasi, pengingat, dan cueing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452628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Teknik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Contoh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Kapan membantu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Orientasi realitas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“Hari ini Kamis, Ibu sedang di ruang perawatan.”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Bingung waktu/tempat; tetap sampaikan dengan tenang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Cue verbal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“Setelah makan, kita minum obat.”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Membantu urutan kegiatan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Cue visual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Label pintu, jadwal sederhana, foto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Memperkuat memori dan navigasi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Pilihan terbatas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“Mau air putih atau teh?”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Mengurangi beban keputusan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Pengulangan konsisten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Ulangi kata yang sama untuk instruksi yang sama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Mempermudah pembelajaran/rutinitas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1234440"/>
            <a:ext cx="182880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" y="13258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Teknik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560320" y="1234440"/>
            <a:ext cx="429768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15184" y="1325880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Contoh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858000" y="1234440"/>
            <a:ext cx="457200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12864" y="132588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Kapan membantu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Validasi emosi: pahami perasaan di balik kata-kata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 w="12700">
            <a:solidFill>
              <a:srgbClr val="F1D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45D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Klien berkata…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69264" y="1847088"/>
            <a:ext cx="482803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“Saya harus pulang, anak saya menunggu di sekolah.”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 w="12700">
            <a:solidFill>
              <a:srgbClr val="F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45D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Respons kurang membantu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9944" y="1847088"/>
            <a:ext cx="478231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“Itu tidak benar. Anak Ibu sudah dewasa.”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37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Respons terapeutik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9264" y="3767328"/>
            <a:ext cx="482803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“Ibu tampak khawatir tentang anak Ibu. Ceritakan apa yang membuat Ibu cemas.”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1546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Mengapa lebih baik?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9944" y="3767328"/>
            <a:ext cx="47823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Memvalidasi emosi tanpa mempermalukan atau memperpanjang perdebatan tentang fakta.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37360" y="5303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Tujuan validasi: menurunkan distress dan mempertahankan rasa aman.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Etika, martabat, dan keselamatan komunikasi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3560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Martabat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sapaan yang disukai klien.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Jangan berbicara seolah klien tidak hadir.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Hindari gaya seperti berbicara kepada anak kecil.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143560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57216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Otonomi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5152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Tawarkan pilihan yang sesuai kapasitas.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Berikan waktu mengambil keputusan.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dukungan komunikasi sebelum menyimpulkan ketidakmampuan.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2344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43560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490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33104" y="14173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Keselamatan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21040" y="1847088"/>
            <a:ext cx="2907792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Pastikan instruksi penting dipahami.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Dokumentasikan cara komunikasi efektif.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Libatkan keluarga/interpreter secara tepat tanpa menggantikan suara klien.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Perbandingan cepat: pilih strategi sesuai hambatan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4572000"/>
        </p:xfrm>
        <a:graphic>
          <a:graphicData uri="http://schemas.openxmlformats.org/drawingml/2006/table">
            <a:tbl>
              <a:tblPr/>
              <a:tblGrid>
                <a:gridCol w="1508760"/>
                <a:gridCol w="3154680"/>
                <a:gridCol w="310896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Aspek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Defisit bahasa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Defisit sensori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Gangguan kognitif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Masalah utama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Menerima/mengekspresikan bahasa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Menangkap stimulus pendengaran/visual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Memperhatikan, mengingat, mengolah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Fokus perawat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Bahasa sederhana + media alternatif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Optimalkan modalitas yang masih berfungsi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Kurangi beban kognitif + cueing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Papan komunikasi, gambar, tulisan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Alat bantu dengar, tulisan besar, audio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Jadwal sederhana, label, benda familiar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Tempo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Tunggu respons lebih lama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Jelas dan terarah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Lambat, konsisten, berulang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Validasi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Pastikan makna pesan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Teach-back / respons nonverbal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13C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Ulangi dan cek pemahaman berkala</a:t>
                      </a:r>
                      <a:endParaRPr lang="en-US" sz="11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1234440"/>
            <a:ext cx="150876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" y="1325880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Aspek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011680" y="1234440"/>
            <a:ext cx="315468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66544" y="13258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Defisit bahasa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166360" y="1234440"/>
            <a:ext cx="310896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21224" y="132588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Defisit sensori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275320" y="1234440"/>
            <a:ext cx="3383280" cy="4389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0184" y="132588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Gangguan kognitif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Latihan role-play: 3 skenario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81328"/>
            <a:ext cx="438912" cy="438912"/>
          </a:xfrm>
          <a:prstGeom prst="ellipse">
            <a:avLst/>
          </a:prstGeom>
          <a:solidFill>
            <a:srgbClr val="1C8A87"/>
          </a:solidFill>
          <a:ln w="12700">
            <a:solidFill>
              <a:srgbClr val="1C8A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4630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Skenario 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9264" y="1892808"/>
            <a:ext cx="2907792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Klien pascastroke hanya mampu mengucapkan beberapa kata. Anda perlu menilai nyeri.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Target: pertanyaan ya/tidak + menunjuk + validasi.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28016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481328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4630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Skenario B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18304" y="1892808"/>
            <a:ext cx="2907792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Klien lansia dengan gangguan pendengaran akan menerima edukasi obat.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Target: posisi, lingkungan, tulisan kata kunci, teach-back.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  <a:effectLst>
            <a:outerShdw sx="100000" sy="100000" kx="0" ky="0" algn="bl" rotWithShape="0" blurRad="19050" dist="50800" dir="2700000">
              <a:srgbClr val="C5D2D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0768" y="1481328"/>
            <a:ext cx="438912" cy="438912"/>
          </a:xfrm>
          <a:prstGeom prst="ellipse">
            <a:avLst/>
          </a:prstGeom>
          <a:solidFill>
            <a:srgbClr val="D45D5D"/>
          </a:solidFill>
          <a:ln w="12700">
            <a:solidFill>
              <a:srgbClr val="D4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536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9408" y="14630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Skenario C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67344" y="1892808"/>
            <a:ext cx="2907792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Klien demensia berulang kali bertanya kapan pulang.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Target: validasi emosi + orientasi sederhana + pengulangan tenang.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Observasi teman: Apakah bahasa sederhana? Apakah klien diberi waktu? Apakah pemahaman diverifikasi?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Ringkasan &amp; sumber bacaan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F0FAF8"/>
          </a:solidFill>
          <a:ln w="12700">
            <a:solidFill>
              <a:srgbClr val="CDE9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8A87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5 pesan utama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1965960"/>
            <a:ext cx="411480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Nilai kemampuan menerima, memproses, dan merespons pesan.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Sederhanakan bahasa dan berikan satu pesan pada satu waktu.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Gunakan modalitas alternatif sesuai kemampuan klien.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Berikan waktu, validasi maksud dan emosi.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Pertahankan martabat, otonomi, dan keselamatan.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1430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Sumber bacaan utama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80760" y="1965960"/>
            <a:ext cx="48920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14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Stuart GW. Principles and Practice of Psychiatric Nursing.</a:t>
            </a:r>
            <a:endParaRPr lang="en-US" sz="1140" dirty="0"/>
          </a:p>
          <a:p>
            <a:pPr marL="228600" indent="-228600">
              <a:buSzPct val="100000"/>
              <a:buChar char="•"/>
            </a:pPr>
            <a:r>
              <a:rPr lang="en-US" sz="114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Arnold EC, Boggs KU. Interpersonal Relationships: Professional Communication Skills for Nurses.</a:t>
            </a:r>
            <a:endParaRPr lang="en-US" sz="1140" dirty="0"/>
          </a:p>
          <a:p>
            <a:pPr marL="228600" indent="-228600">
              <a:buSzPct val="100000"/>
              <a:buChar char="•"/>
            </a:pPr>
            <a:r>
              <a:rPr lang="en-US" sz="114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Potter PA, Perry AG, Stockert PA, Hall AM. Fundamentals of Nursing.</a:t>
            </a:r>
            <a:endParaRPr lang="en-US" sz="1140" dirty="0"/>
          </a:p>
          <a:p>
            <a:pPr marL="228600" indent="-228600">
              <a:buSzPct val="100000"/>
              <a:buChar char="•"/>
            </a:pPr>
            <a:r>
              <a:rPr lang="en-US" sz="114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Varcarolis EM. Essentials of Psychiatric Mental Health Nursing.</a:t>
            </a:r>
            <a:endParaRPr lang="en-US" sz="1140" dirty="0"/>
          </a:p>
          <a:p>
            <a:pPr marL="228600" indent="-228600">
              <a:buSzPct val="100000"/>
              <a:buChar char="•"/>
            </a:pPr>
            <a:r>
              <a:rPr lang="en-US" sz="1140" dirty="0">
                <a:solidFill>
                  <a:srgbClr val="213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 Health Organization. World Report on Hearing. 2021.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097280" y="58521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23B5D"/>
                </a:solidFill>
                <a:latin typeface="Noto Sans Display" pitchFamily="34" charset="0"/>
                <a:ea typeface="Noto Sans Display" pitchFamily="34" charset="-122"/>
                <a:cs typeface="Noto Sans Display" pitchFamily="34" charset="-120"/>
              </a:rPr>
              <a:t>KOMUNIKASI YANG EFEKTIF = PESAN TERSAMPAIKAN + KLIEN TETAP DIHARGAI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D7B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Komunikasi Terapeutik pada Klien dengan Gangguan Komunikasi</dc:title>
  <dc:subject>Komunikasi terapeutik pada klien dengan gangguan komunikasi</dc:subject>
  <dc:creator>OpenAI</dc:creator>
  <cp:lastModifiedBy>OpenAI</cp:lastModifiedBy>
  <cp:revision>1</cp:revision>
  <dcterms:created xsi:type="dcterms:W3CDTF">2026-09-03T02:02:39Z</dcterms:created>
  <dcterms:modified xsi:type="dcterms:W3CDTF">2026-09-03T02:02:39Z</dcterms:modified>
</cp:coreProperties>
</file>