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12480" y="-640080"/>
            <a:ext cx="4480560" cy="448056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11480"/>
            <a:ext cx="2468880" cy="24688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69880" y="1234440"/>
            <a:ext cx="868680" cy="868680"/>
          </a:xfrm>
          <a:prstGeom prst="ellipse">
            <a:avLst/>
          </a:prstGeom>
          <a:solidFill>
            <a:srgbClr val="688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914400"/>
            <a:ext cx="5029200" cy="3657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DBA647"/>
                </a:solidFill>
                <a:latin typeface="Aptos"/>
              </a:defRPr>
            </a:pPr>
            <a:r>
              <a:rPr sz="2400"/>
              <a:t>SOSIAL • BUDAYA • PANGAN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7315200" cy="1417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rPr sz="3100"/>
              <a:t>MAKANAN DALAM</a:t>
            </a:r>
            <a:br/>
            <a:r>
              <a:rPr sz="3100"/>
              <a:t>PERSPEKTIF SOSIAL BUDAYA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621792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CE0DA"/>
                </a:solidFill>
                <a:latin typeface="Aptos"/>
              </a:defRPr>
            </a:pPr>
            <a:r>
              <a:rPr sz="2200"/>
              <a:t>Makanan bukan hanya kebutuhan biologis—ia membawa identitas, nilai, simbol, kekuasaan, dan cara hidup.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709160"/>
            <a:ext cx="438912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760720"/>
            <a:ext cx="384048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DBA647"/>
                </a:solidFill>
                <a:latin typeface="Aptos"/>
              </a:defRPr>
            </a:pPr>
            <a:r>
              <a:rPr sz="2200"/>
              <a:t>40 SLIDE • MATERI PEMBELAJARAN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Mengapa</a:t>
            </a:r>
            <a:r>
              <a:rPr sz="2400" dirty="0"/>
              <a:t> </a:t>
            </a:r>
            <a:r>
              <a:rPr sz="2400" dirty="0" err="1"/>
              <a:t>Makanan</a:t>
            </a:r>
            <a:r>
              <a:rPr sz="2400" dirty="0"/>
              <a:t> </a:t>
            </a:r>
            <a:r>
              <a:rPr sz="2400" dirty="0" err="1"/>
              <a:t>Dikaji</a:t>
            </a:r>
            <a:r>
              <a:rPr sz="2400" dirty="0"/>
              <a:t> </a:t>
            </a:r>
            <a:r>
              <a:rPr sz="2400" dirty="0" err="1"/>
              <a:t>Secara</a:t>
            </a:r>
            <a:r>
              <a:rPr sz="2400" dirty="0"/>
              <a:t> </a:t>
            </a:r>
            <a:r>
              <a:rPr sz="2400" dirty="0" err="1"/>
              <a:t>Sosial</a:t>
            </a:r>
            <a:r>
              <a:rPr sz="2400" dirty="0"/>
              <a:t>?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55064"/>
            <a:ext cx="21945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 dirty="0"/>
              <a:t>Cara </a:t>
            </a:r>
            <a:r>
              <a:rPr sz="2400" dirty="0" err="1"/>
              <a:t>membacanya</a:t>
            </a:r>
            <a:endParaRPr sz="24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847088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Pilihan</a:t>
            </a:r>
            <a:r>
              <a:rPr sz="2200" dirty="0"/>
              <a:t> </a:t>
            </a:r>
            <a:r>
              <a:rPr sz="2200" dirty="0" err="1"/>
              <a:t>makan</a:t>
            </a:r>
            <a:r>
              <a:rPr sz="2200" dirty="0"/>
              <a:t> </a:t>
            </a:r>
            <a:r>
              <a:rPr sz="2200" dirty="0" err="1"/>
              <a:t>dipengaruhi</a:t>
            </a:r>
            <a:r>
              <a:rPr sz="2200" dirty="0"/>
              <a:t> </a:t>
            </a:r>
            <a:r>
              <a:rPr sz="2200" dirty="0" err="1"/>
              <a:t>keluarga</a:t>
            </a:r>
            <a:r>
              <a:rPr sz="2200" dirty="0"/>
              <a:t> dan </a:t>
            </a:r>
            <a:r>
              <a:rPr sz="2200" dirty="0" err="1"/>
              <a:t>lingkungan</a:t>
            </a:r>
            <a:endParaRPr sz="2200" dirty="0"/>
          </a:p>
        </p:txBody>
      </p:sp>
      <p:sp>
        <p:nvSpPr>
          <p:cNvPr id="12" name="Oval 11"/>
          <p:cNvSpPr/>
          <p:nvPr/>
        </p:nvSpPr>
        <p:spPr>
          <a:xfrm>
            <a:off x="416052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56432"/>
            <a:ext cx="1847088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Makanan</a:t>
            </a:r>
            <a:r>
              <a:rPr sz="2200" dirty="0"/>
              <a:t> </a:t>
            </a:r>
            <a:r>
              <a:rPr sz="2200" dirty="0" err="1"/>
              <a:t>memiliki</a:t>
            </a:r>
            <a:r>
              <a:rPr sz="2200" dirty="0"/>
              <a:t> </a:t>
            </a:r>
            <a:r>
              <a:rPr sz="2200" dirty="0" err="1"/>
              <a:t>makna</a:t>
            </a:r>
            <a:r>
              <a:rPr sz="2200" dirty="0"/>
              <a:t> </a:t>
            </a:r>
            <a:r>
              <a:rPr sz="2200" dirty="0" err="1"/>
              <a:t>sosial</a:t>
            </a:r>
            <a:r>
              <a:rPr sz="2200" dirty="0"/>
              <a:t> dan </a:t>
            </a:r>
            <a:r>
              <a:rPr sz="2200" dirty="0" err="1"/>
              <a:t>simbolik</a:t>
            </a:r>
            <a:endParaRPr sz="2200" dirty="0"/>
          </a:p>
        </p:txBody>
      </p:sp>
      <p:sp>
        <p:nvSpPr>
          <p:cNvPr id="15" name="Oval 14"/>
          <p:cNvSpPr/>
          <p:nvPr/>
        </p:nvSpPr>
        <p:spPr>
          <a:xfrm>
            <a:off x="740664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56432"/>
            <a:ext cx="1847088" cy="1043363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/>
              <a:t>Cara </a:t>
            </a:r>
            <a:r>
              <a:rPr sz="2200" dirty="0" err="1"/>
              <a:t>makan</a:t>
            </a:r>
            <a:r>
              <a:rPr sz="2200" dirty="0"/>
              <a:t> </a:t>
            </a:r>
            <a:r>
              <a:rPr sz="2200" dirty="0" err="1"/>
              <a:t>berbeda</a:t>
            </a:r>
            <a:r>
              <a:rPr sz="2200" dirty="0"/>
              <a:t> </a:t>
            </a:r>
            <a:r>
              <a:rPr sz="2200" dirty="0" err="1"/>
              <a:t>antarbudaya</a:t>
            </a:r>
            <a:endParaRPr sz="2200" dirty="0"/>
          </a:p>
        </p:txBody>
      </p:sp>
      <p:sp>
        <p:nvSpPr>
          <p:cNvPr id="18" name="Oval 17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3456432"/>
            <a:ext cx="2066544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Perubahan</a:t>
            </a:r>
            <a:r>
              <a:rPr sz="2200" dirty="0"/>
              <a:t> </a:t>
            </a:r>
            <a:r>
              <a:rPr sz="2200" dirty="0" err="1"/>
              <a:t>sosial</a:t>
            </a:r>
            <a:r>
              <a:rPr sz="2200" dirty="0"/>
              <a:t> </a:t>
            </a:r>
            <a:r>
              <a:rPr sz="2200" dirty="0" err="1"/>
              <a:t>ikut</a:t>
            </a:r>
            <a:r>
              <a:rPr sz="2200" dirty="0"/>
              <a:t> </a:t>
            </a:r>
            <a:r>
              <a:rPr sz="2200" dirty="0" err="1"/>
              <a:t>mengubah</a:t>
            </a:r>
            <a:r>
              <a:rPr sz="2200" dirty="0"/>
              <a:t> </a:t>
            </a:r>
            <a:r>
              <a:rPr sz="2200" dirty="0" err="1"/>
              <a:t>pola</a:t>
            </a:r>
            <a:r>
              <a:rPr sz="2200" dirty="0"/>
              <a:t> </a:t>
            </a:r>
            <a:r>
              <a:rPr sz="2200" dirty="0" err="1"/>
              <a:t>konsumsi</a:t>
            </a:r>
            <a:endParaRPr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Makanan</a:t>
            </a:r>
            <a:r>
              <a:rPr sz="2400" dirty="0"/>
              <a:t>: </a:t>
            </a:r>
            <a:r>
              <a:rPr sz="2400" dirty="0" err="1"/>
              <a:t>Lebih</a:t>
            </a:r>
            <a:r>
              <a:rPr sz="2400" dirty="0"/>
              <a:t> </a:t>
            </a:r>
            <a:r>
              <a:rPr sz="2400" dirty="0" err="1"/>
              <a:t>dari</a:t>
            </a:r>
            <a:r>
              <a:rPr sz="2400" dirty="0"/>
              <a:t> </a:t>
            </a:r>
            <a:r>
              <a:rPr sz="2400" dirty="0" err="1"/>
              <a:t>Sekadar</a:t>
            </a:r>
            <a:r>
              <a:rPr sz="2400" dirty="0"/>
              <a:t> </a:t>
            </a:r>
            <a:r>
              <a:rPr sz="2400" dirty="0" err="1"/>
              <a:t>Zat</a:t>
            </a:r>
            <a:r>
              <a:rPr sz="2400" dirty="0"/>
              <a:t> Gizi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Biologis: memenuhi kebutuhan tubuh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Sosial: membangun hubungan dan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Budaya: membawa nilai dan tradisi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Ekonomi-politik: terkait akses dan kekuasaan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Peta </a:t>
            </a:r>
            <a:r>
              <a:rPr sz="2400" dirty="0" err="1"/>
              <a:t>Pembahasan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1938528"/>
            <a:ext cx="384048" cy="38404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0208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Kajian sosial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373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39312" y="1938528"/>
            <a:ext cx="384048" cy="38404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20208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688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Identitas budaya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28231" y="1938528"/>
            <a:ext cx="384048" cy="384048"/>
          </a:xfrm>
          <a:prstGeom prst="ellipse">
            <a:avLst/>
          </a:prstGeom>
          <a:solidFill>
            <a:srgbClr val="688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1" y="20208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Ritual &amp; simbol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7373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217151" y="1938528"/>
            <a:ext cx="384048" cy="384048"/>
          </a:xfrm>
          <a:prstGeom prst="ellipse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17151" y="20208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24688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Pantangan &amp; preferensi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661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0392" y="3767328"/>
            <a:ext cx="384048" cy="38404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38496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976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Agama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5661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639312" y="3767328"/>
            <a:ext cx="384048" cy="38404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39312" y="38496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2976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Lokal &amp; globalisasi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5661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28231" y="3767328"/>
            <a:ext cx="384048" cy="384048"/>
          </a:xfrm>
          <a:prstGeom prst="ellipse">
            <a:avLst/>
          </a:prstGeom>
          <a:solidFill>
            <a:srgbClr val="688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1" y="38496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976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Relasi kuasa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59" y="35661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217151" y="3767328"/>
            <a:ext cx="384048" cy="384048"/>
          </a:xfrm>
          <a:prstGeom prst="ellipse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17151" y="3849624"/>
            <a:ext cx="384048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59" y="4297680"/>
            <a:ext cx="2011680" cy="4572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300" b="1">
                <a:solidFill>
                  <a:srgbClr val="2D2A2B"/>
                </a:solidFill>
                <a:latin typeface="Aptos"/>
              </a:defRPr>
            </a:pPr>
            <a:r>
              <a:rPr sz="2200"/>
              <a:t>Kesehatan &amp; gaya hidup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05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01 — Kajian Makanan dalam Ilmu Sosial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Ilmu sosial mempelajari bagaimana manusia memberi makna, memilih, memproduksi, membagi, dan mengonsumsi makanan.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" y="100584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Perspektif</a:t>
            </a:r>
            <a:r>
              <a:rPr sz="2400" dirty="0"/>
              <a:t> </a:t>
            </a:r>
            <a:r>
              <a:rPr sz="2400" dirty="0" err="1"/>
              <a:t>Antropologi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691640"/>
            <a:ext cx="21945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 dirty="0"/>
              <a:t>Cara </a:t>
            </a:r>
            <a:r>
              <a:rPr sz="2400" dirty="0" err="1"/>
              <a:t>membacanya</a:t>
            </a:r>
            <a:endParaRPr sz="24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691640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Makanan</a:t>
            </a:r>
            <a:r>
              <a:rPr sz="2200" dirty="0"/>
              <a:t> </a:t>
            </a:r>
            <a:r>
              <a:rPr sz="2200" dirty="0" err="1"/>
              <a:t>sebagai</a:t>
            </a:r>
            <a:r>
              <a:rPr sz="2200" dirty="0"/>
              <a:t> </a:t>
            </a:r>
            <a:r>
              <a:rPr sz="2200" dirty="0" err="1"/>
              <a:t>bagian</a:t>
            </a:r>
            <a:r>
              <a:rPr sz="2200" dirty="0"/>
              <a:t> </a:t>
            </a:r>
            <a:r>
              <a:rPr sz="2200" dirty="0" err="1"/>
              <a:t>dari</a:t>
            </a:r>
            <a:r>
              <a:rPr sz="2200" dirty="0"/>
              <a:t> </a:t>
            </a:r>
            <a:r>
              <a:rPr sz="2200" dirty="0" err="1"/>
              <a:t>kebudayaan</a:t>
            </a:r>
            <a:endParaRPr sz="2200" dirty="0"/>
          </a:p>
        </p:txBody>
      </p:sp>
      <p:sp>
        <p:nvSpPr>
          <p:cNvPr id="12" name="Oval 11"/>
          <p:cNvSpPr/>
          <p:nvPr/>
        </p:nvSpPr>
        <p:spPr>
          <a:xfrm>
            <a:off x="416052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Resep</a:t>
            </a:r>
            <a:r>
              <a:rPr sz="2200" dirty="0"/>
              <a:t> </a:t>
            </a:r>
            <a:r>
              <a:rPr sz="2200" dirty="0" err="1"/>
              <a:t>diwariskan</a:t>
            </a:r>
            <a:r>
              <a:rPr sz="2200" dirty="0"/>
              <a:t> </a:t>
            </a:r>
            <a:r>
              <a:rPr sz="2200" dirty="0" err="1"/>
              <a:t>lintas</a:t>
            </a:r>
            <a:r>
              <a:rPr sz="2200" dirty="0"/>
              <a:t> </a:t>
            </a:r>
            <a:r>
              <a:rPr sz="2200" dirty="0" err="1"/>
              <a:t>generasi</a:t>
            </a:r>
            <a:endParaRPr sz="2200" dirty="0"/>
          </a:p>
        </p:txBody>
      </p:sp>
      <p:sp>
        <p:nvSpPr>
          <p:cNvPr id="15" name="Oval 14"/>
          <p:cNvSpPr/>
          <p:nvPr/>
        </p:nvSpPr>
        <p:spPr>
          <a:xfrm>
            <a:off x="740664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56432"/>
            <a:ext cx="1993392" cy="1720471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/>
              <a:t>Teknik </a:t>
            </a:r>
            <a:r>
              <a:rPr sz="2200" dirty="0" err="1"/>
              <a:t>memasak</a:t>
            </a:r>
            <a:r>
              <a:rPr sz="2200" dirty="0"/>
              <a:t> </a:t>
            </a:r>
            <a:r>
              <a:rPr sz="2200" dirty="0" err="1"/>
              <a:t>mencerminkan</a:t>
            </a:r>
            <a:r>
              <a:rPr sz="2200" dirty="0"/>
              <a:t> </a:t>
            </a:r>
            <a:r>
              <a:rPr sz="2200" dirty="0" err="1"/>
              <a:t>adaptasi</a:t>
            </a:r>
            <a:r>
              <a:rPr sz="2200" dirty="0"/>
              <a:t> </a:t>
            </a:r>
            <a:r>
              <a:rPr sz="2200" dirty="0" err="1"/>
              <a:t>lingkungan</a:t>
            </a:r>
            <a:endParaRPr sz="2200" dirty="0"/>
          </a:p>
        </p:txBody>
      </p:sp>
      <p:sp>
        <p:nvSpPr>
          <p:cNvPr id="18" name="Oval 17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5208" y="3456432"/>
            <a:ext cx="2404872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Jamuan</a:t>
            </a:r>
            <a:r>
              <a:rPr sz="2200" dirty="0"/>
              <a:t> </a:t>
            </a:r>
            <a:r>
              <a:rPr sz="2200" dirty="0" err="1"/>
              <a:t>menjadi</a:t>
            </a:r>
            <a:r>
              <a:rPr sz="2200" dirty="0"/>
              <a:t> </a:t>
            </a:r>
            <a:r>
              <a:rPr sz="2200" dirty="0" err="1"/>
              <a:t>bagian</a:t>
            </a:r>
            <a:r>
              <a:rPr sz="2200" dirty="0"/>
              <a:t> </a:t>
            </a:r>
            <a:r>
              <a:rPr sz="2200" dirty="0" err="1"/>
              <a:t>dari</a:t>
            </a:r>
            <a:r>
              <a:rPr sz="2200" dirty="0"/>
              <a:t> </a:t>
            </a:r>
            <a:r>
              <a:rPr sz="2200" dirty="0" err="1"/>
              <a:t>kehidupan</a:t>
            </a:r>
            <a:r>
              <a:rPr sz="2200" dirty="0"/>
              <a:t> </a:t>
            </a:r>
            <a:r>
              <a:rPr sz="2200" dirty="0" err="1"/>
              <a:t>komunitas</a:t>
            </a:r>
            <a:endParaRPr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14984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Perspektif</a:t>
            </a:r>
            <a:r>
              <a:rPr sz="2400" dirty="0"/>
              <a:t> </a:t>
            </a:r>
            <a:r>
              <a:rPr sz="2400" dirty="0" err="1"/>
              <a:t>Sosiologi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Makanan membentuk interaksi sosial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Kelas sosial memengaruhi pola konsumsi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Keluarga membentuk kebiasaan makan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Restoran dan ruang makan menjadi arena sosial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Pendekatan</a:t>
            </a:r>
            <a:r>
              <a:rPr sz="2400" dirty="0"/>
              <a:t> Ekonomi &amp; Politik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Harga memengaruhi akses pangan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Kebijakan menentukan produksi dan distribusi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Pasar membentuk pilihan konsumen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Ketimpangan dapat menghasilkan ketidakamanan pangan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Metode </a:t>
            </a:r>
            <a:r>
              <a:rPr sz="2400" dirty="0" err="1"/>
              <a:t>Mengkaji</a:t>
            </a:r>
            <a:r>
              <a:rPr sz="2400" dirty="0"/>
              <a:t> </a:t>
            </a:r>
            <a:r>
              <a:rPr sz="2400" dirty="0" err="1"/>
              <a:t>Budaya</a:t>
            </a:r>
            <a:r>
              <a:rPr sz="2400" dirty="0"/>
              <a:t> Makan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13716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MAKANAN</a:t>
            </a:r>
            <a:br/>
            <a:r>
              <a:rPr sz="2200"/>
              <a:t>MEMBAWA</a:t>
            </a:r>
            <a:br/>
            <a:r>
              <a:rPr sz="2200"/>
              <a:t>MAKNA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274320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0">
                <a:solidFill>
                  <a:srgbClr val="EFD5CC"/>
                </a:solidFill>
                <a:latin typeface="Aptos"/>
              </a:defRPr>
            </a:pPr>
            <a:r>
              <a:rPr sz="2200"/>
              <a:t>Identitas • Nilai</a:t>
            </a:r>
            <a:br/>
            <a:r>
              <a:rPr sz="2200"/>
              <a:t>Relasi • Memori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84708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Observasi kebiasaan makan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7004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Wawancara dan cerita hidup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9300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Etnografi rumah tangga atau komunitas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31596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Analisis media, menu, iklan, dan simbol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10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02 — Makanan sebagai Identitas Sosial &amp; Budaya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Apa yang kita makan dapat menunjukkan asal, komunitas, kelas, generasi, bahkan cara seseorang melihat dirinya.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14984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Makanan</a:t>
            </a:r>
            <a:r>
              <a:rPr sz="2400" dirty="0"/>
              <a:t> dan </a:t>
            </a:r>
            <a:r>
              <a:rPr sz="2400" dirty="0" err="1"/>
              <a:t>Identitas</a:t>
            </a:r>
            <a:r>
              <a:rPr sz="2400" dirty="0"/>
              <a:t> Daerah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Coto Makassar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Rendang Minangkabau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Papeda Papua–Maluku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Gudeg Yogyakarta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3529584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3419856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Sinonggi Sulawesi Tenggara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96696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Makanan</a:t>
            </a:r>
            <a:r>
              <a:rPr sz="2400" dirty="0"/>
              <a:t> </a:t>
            </a:r>
            <a:r>
              <a:rPr sz="2400" dirty="0" err="1"/>
              <a:t>sebagai</a:t>
            </a:r>
            <a:r>
              <a:rPr sz="2400" dirty="0"/>
              <a:t> Memori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Aroma dapat memicu ingatan masa kecil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Resep keluarga menyimpan sejarah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Makanan perantauan menghadirkan rasa “pulang”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Hidangan tertentu menghubungkan generasi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Kelas</a:t>
            </a:r>
            <a:r>
              <a:rPr sz="2400" dirty="0"/>
              <a:t> </a:t>
            </a:r>
            <a:r>
              <a:rPr sz="2400" dirty="0" err="1"/>
              <a:t>Sosial</a:t>
            </a:r>
            <a:r>
              <a:rPr sz="2400" dirty="0"/>
              <a:t> dan </a:t>
            </a:r>
            <a:r>
              <a:rPr sz="2400" dirty="0" err="1"/>
              <a:t>Selera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13716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MAKANAN</a:t>
            </a:r>
            <a:br/>
            <a:r>
              <a:rPr sz="2200"/>
              <a:t>MEMBAWA</a:t>
            </a:r>
            <a:br/>
            <a:r>
              <a:rPr sz="2200"/>
              <a:t>MAKNA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274320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0">
                <a:solidFill>
                  <a:srgbClr val="EFD5CC"/>
                </a:solidFill>
                <a:latin typeface="Aptos"/>
              </a:defRPr>
            </a:pPr>
            <a:r>
              <a:rPr sz="2200"/>
              <a:t>Identitas • Nilai</a:t>
            </a:r>
            <a:br/>
            <a:r>
              <a:rPr sz="2200"/>
              <a:t>Relasi • Memori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84708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Pilihan makanan dapat menandai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7004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Tempat makan menjadi simbol gaya hidup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9300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Produk premium membangun citra tertentu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31596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Selera juga dibentuk oleh pendidikan dan lingkungan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Generasi</a:t>
            </a:r>
            <a:r>
              <a:rPr sz="2400" dirty="0"/>
              <a:t> dan </a:t>
            </a:r>
            <a:r>
              <a:rPr sz="2400" dirty="0" err="1"/>
              <a:t>Perubahan</a:t>
            </a:r>
            <a:r>
              <a:rPr sz="2400" dirty="0"/>
              <a:t> </a:t>
            </a:r>
            <a:r>
              <a:rPr sz="2400" dirty="0" err="1"/>
              <a:t>Selera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709928"/>
            <a:ext cx="21945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 dirty="0"/>
              <a:t>Cara </a:t>
            </a:r>
            <a:r>
              <a:rPr sz="2400" dirty="0" err="1"/>
              <a:t>membacanya</a:t>
            </a:r>
            <a:endParaRPr sz="24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856232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Generasi</a:t>
            </a:r>
            <a:r>
              <a:rPr sz="2200" dirty="0"/>
              <a:t> </a:t>
            </a:r>
            <a:r>
              <a:rPr sz="2200" dirty="0" err="1"/>
              <a:t>muda</a:t>
            </a:r>
            <a:r>
              <a:rPr sz="2200" dirty="0"/>
              <a:t> </a:t>
            </a:r>
            <a:r>
              <a:rPr sz="2200" dirty="0" err="1"/>
              <a:t>terpapar</a:t>
            </a:r>
            <a:r>
              <a:rPr sz="2200" dirty="0"/>
              <a:t> </a:t>
            </a:r>
            <a:r>
              <a:rPr sz="2200" dirty="0" err="1"/>
              <a:t>tren</a:t>
            </a:r>
            <a:r>
              <a:rPr sz="2200" dirty="0"/>
              <a:t> digital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56432"/>
            <a:ext cx="2002536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Makanan</a:t>
            </a:r>
            <a:r>
              <a:rPr sz="2200" dirty="0"/>
              <a:t> </a:t>
            </a:r>
            <a:r>
              <a:rPr sz="2200" dirty="0" err="1"/>
              <a:t>tradisional</a:t>
            </a:r>
            <a:r>
              <a:rPr sz="2200" dirty="0"/>
              <a:t> </a:t>
            </a: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dikemas</a:t>
            </a:r>
            <a:r>
              <a:rPr sz="2200" dirty="0"/>
              <a:t> </a:t>
            </a:r>
            <a:r>
              <a:rPr sz="2200" dirty="0" err="1"/>
              <a:t>ulang</a:t>
            </a:r>
            <a:endParaRPr sz="2200" dirty="0"/>
          </a:p>
        </p:txBody>
      </p:sp>
      <p:sp>
        <p:nvSpPr>
          <p:cNvPr id="15" name="Oval 14"/>
          <p:cNvSpPr/>
          <p:nvPr/>
        </p:nvSpPr>
        <p:spPr>
          <a:xfrm>
            <a:off x="740664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56432"/>
            <a:ext cx="1755648" cy="1043363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Praktis</a:t>
            </a:r>
            <a:r>
              <a:rPr sz="2200" dirty="0"/>
              <a:t> dan visual </a:t>
            </a:r>
            <a:r>
              <a:rPr sz="2200" dirty="0" err="1"/>
              <a:t>makin</a:t>
            </a:r>
            <a:r>
              <a:rPr sz="2200" dirty="0"/>
              <a:t> </a:t>
            </a:r>
            <a:r>
              <a:rPr sz="2200" dirty="0" err="1"/>
              <a:t>penting</a:t>
            </a:r>
            <a:endParaRPr sz="2200" dirty="0"/>
          </a:p>
        </p:txBody>
      </p:sp>
      <p:sp>
        <p:nvSpPr>
          <p:cNvPr id="18" name="Oval 17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2" y="3456432"/>
            <a:ext cx="2002536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Selera</a:t>
            </a:r>
            <a:r>
              <a:rPr sz="2200" dirty="0"/>
              <a:t> </a:t>
            </a:r>
            <a:r>
              <a:rPr sz="2200" dirty="0" err="1"/>
              <a:t>berubah</a:t>
            </a:r>
            <a:r>
              <a:rPr sz="2200" dirty="0"/>
              <a:t> </a:t>
            </a:r>
            <a:r>
              <a:rPr sz="2200" dirty="0" err="1"/>
              <a:t>tetapi</a:t>
            </a:r>
            <a:r>
              <a:rPr sz="2200" dirty="0"/>
              <a:t> </a:t>
            </a:r>
            <a:r>
              <a:rPr sz="2200" dirty="0" err="1"/>
              <a:t>identitas</a:t>
            </a:r>
            <a:r>
              <a:rPr sz="2200" dirty="0"/>
              <a:t> </a:t>
            </a: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tetap</a:t>
            </a:r>
            <a:r>
              <a:rPr sz="2200" dirty="0"/>
              <a:t> </a:t>
            </a:r>
            <a:r>
              <a:rPr sz="2200" dirty="0" err="1"/>
              <a:t>dipertahankan</a:t>
            </a:r>
            <a:endParaRPr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15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03 — Ritual, Simbol, dan Tradisi Makan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Dalam banyak masyarakat, makanan hadir pada kelahiran, perkawinan, perayaan, kematian, dan berbagai ritus kehidupan.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726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Makanan</a:t>
            </a:r>
            <a:r>
              <a:rPr sz="2400" dirty="0"/>
              <a:t> </a:t>
            </a:r>
            <a:r>
              <a:rPr sz="2400" dirty="0" err="1"/>
              <a:t>dalam</a:t>
            </a:r>
            <a:r>
              <a:rPr sz="2400" dirty="0"/>
              <a:t> </a:t>
            </a:r>
            <a:r>
              <a:rPr sz="2400" dirty="0" err="1"/>
              <a:t>Upacara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Hidangan menandai momen penting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Jenis makanan dapat memiliki aturan khusus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Penyajian mengikuti urutan tertentu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Makan bersama memperkuat solidaritas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Makanan</a:t>
            </a:r>
            <a:r>
              <a:rPr sz="2400" dirty="0"/>
              <a:t> </a:t>
            </a:r>
            <a:r>
              <a:rPr sz="2400" dirty="0" err="1"/>
              <a:t>sebagai</a:t>
            </a:r>
            <a:r>
              <a:rPr sz="2400" dirty="0"/>
              <a:t> </a:t>
            </a:r>
            <a:r>
              <a:rPr sz="2400" dirty="0" err="1"/>
              <a:t>Simbol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13716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MAKANAN</a:t>
            </a:r>
            <a:br/>
            <a:r>
              <a:rPr sz="2200"/>
              <a:t>MEMBAWA</a:t>
            </a:r>
            <a:br/>
            <a:r>
              <a:rPr sz="2200"/>
              <a:t>MAKNA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274320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0">
                <a:solidFill>
                  <a:srgbClr val="EFD5CC"/>
                </a:solidFill>
                <a:latin typeface="Aptos"/>
              </a:defRPr>
            </a:pPr>
            <a:r>
              <a:rPr sz="2200"/>
              <a:t>Identitas • Nilai</a:t>
            </a:r>
            <a:br/>
            <a:r>
              <a:rPr sz="2200"/>
              <a:t>Relasi • Memori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59"/>
            <a:ext cx="6080760" cy="69494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70992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Bentuk</a:t>
            </a:r>
            <a:r>
              <a:rPr sz="2200" dirty="0"/>
              <a:t>, </a:t>
            </a:r>
            <a:r>
              <a:rPr sz="2200" dirty="0" err="1"/>
              <a:t>warna</a:t>
            </a:r>
            <a:r>
              <a:rPr sz="2200" dirty="0"/>
              <a:t>, </a:t>
            </a:r>
            <a:r>
              <a:rPr sz="2200" dirty="0" err="1"/>
              <a:t>jumlah</a:t>
            </a:r>
            <a:r>
              <a:rPr sz="2200" dirty="0"/>
              <a:t>, dan </a:t>
            </a:r>
            <a:r>
              <a:rPr sz="2200" dirty="0" err="1"/>
              <a:t>bahan</a:t>
            </a:r>
            <a:r>
              <a:rPr sz="2200" dirty="0"/>
              <a:t> </a:t>
            </a: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bermakna</a:t>
            </a:r>
            <a:endParaRPr sz="2200" dirty="0"/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7004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Makanan dapat melambangkan syukur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9494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35584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Hidangan</a:t>
            </a:r>
            <a:r>
              <a:rPr sz="2200" dirty="0"/>
              <a:t> </a:t>
            </a: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menyimbolkan</a:t>
            </a:r>
            <a:r>
              <a:rPr sz="2200" dirty="0"/>
              <a:t> </a:t>
            </a:r>
            <a:r>
              <a:rPr sz="2200" dirty="0" err="1"/>
              <a:t>kemakmuran</a:t>
            </a:r>
            <a:endParaRPr sz="2200" dirty="0"/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31596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Makna simbolik berbeda antarbudaya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6404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Tradisi</a:t>
            </a:r>
            <a:r>
              <a:rPr sz="2400" dirty="0"/>
              <a:t> Makan Bersama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46504"/>
            <a:ext cx="21945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 dirty="0"/>
              <a:t>Cara </a:t>
            </a:r>
            <a:r>
              <a:rPr sz="2400" dirty="0" err="1"/>
              <a:t>membacanya</a:t>
            </a:r>
            <a:endParaRPr sz="24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920240" cy="1043363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Membangun</a:t>
            </a:r>
            <a:r>
              <a:rPr sz="2200" dirty="0"/>
              <a:t> rasa </a:t>
            </a:r>
            <a:r>
              <a:rPr sz="2200" dirty="0" err="1"/>
              <a:t>kebersamaan</a:t>
            </a:r>
            <a:endParaRPr sz="2200" dirty="0"/>
          </a:p>
        </p:txBody>
      </p:sp>
      <p:sp>
        <p:nvSpPr>
          <p:cNvPr id="12" name="Oval 11"/>
          <p:cNvSpPr/>
          <p:nvPr/>
        </p:nvSpPr>
        <p:spPr>
          <a:xfrm>
            <a:off x="416052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56432"/>
            <a:ext cx="1719072" cy="1043363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Memperkuat</a:t>
            </a:r>
            <a:r>
              <a:rPr sz="2200" dirty="0"/>
              <a:t> </a:t>
            </a:r>
            <a:r>
              <a:rPr sz="2200" dirty="0" err="1"/>
              <a:t>hubungan</a:t>
            </a:r>
            <a:r>
              <a:rPr sz="2200" dirty="0"/>
              <a:t> </a:t>
            </a:r>
            <a:r>
              <a:rPr sz="2200" dirty="0" err="1"/>
              <a:t>keluarga</a:t>
            </a:r>
            <a:endParaRPr sz="2200" dirty="0"/>
          </a:p>
        </p:txBody>
      </p:sp>
      <p:sp>
        <p:nvSpPr>
          <p:cNvPr id="15" name="Oval 14"/>
          <p:cNvSpPr/>
          <p:nvPr/>
        </p:nvSpPr>
        <p:spPr>
          <a:xfrm>
            <a:off x="740664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56432"/>
            <a:ext cx="1719072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Menciptakan</a:t>
            </a:r>
            <a:r>
              <a:rPr sz="2200" dirty="0"/>
              <a:t> </a:t>
            </a:r>
            <a:r>
              <a:rPr sz="2200" dirty="0" err="1"/>
              <a:t>ruang</a:t>
            </a:r>
            <a:r>
              <a:rPr sz="2200" dirty="0"/>
              <a:t> </a:t>
            </a:r>
            <a:r>
              <a:rPr sz="2200" dirty="0" err="1"/>
              <a:t>berbagi</a:t>
            </a:r>
            <a:r>
              <a:rPr sz="2200" dirty="0"/>
              <a:t> </a:t>
            </a:r>
            <a:r>
              <a:rPr sz="2200" dirty="0" err="1"/>
              <a:t>cerita</a:t>
            </a:r>
            <a:endParaRPr sz="2200" dirty="0"/>
          </a:p>
        </p:txBody>
      </p:sp>
      <p:sp>
        <p:nvSpPr>
          <p:cNvPr id="18" name="Oval 17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3456432"/>
            <a:ext cx="1719072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Menegaskan</a:t>
            </a:r>
            <a:r>
              <a:rPr sz="2200" dirty="0"/>
              <a:t> </a:t>
            </a:r>
            <a:r>
              <a:rPr sz="2200" dirty="0" err="1"/>
              <a:t>keanggotaan</a:t>
            </a:r>
            <a:r>
              <a:rPr sz="2200" dirty="0"/>
              <a:t> </a:t>
            </a:r>
            <a:r>
              <a:rPr sz="2200" dirty="0" err="1"/>
              <a:t>dalam</a:t>
            </a:r>
            <a:r>
              <a:rPr sz="2200" dirty="0"/>
              <a:t> </a:t>
            </a:r>
            <a:r>
              <a:rPr sz="2200" dirty="0" err="1"/>
              <a:t>kelompok</a:t>
            </a:r>
            <a:endParaRPr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78408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Perubahan</a:t>
            </a:r>
            <a:r>
              <a:rPr sz="2400" dirty="0"/>
              <a:t> </a:t>
            </a:r>
            <a:r>
              <a:rPr sz="2400" dirty="0" err="1"/>
              <a:t>Tradisi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Urbanisasi mengubah waktu makan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Keluarga kecil mengubah pola jamuan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Teknologi memengaruhi cara memesan makanan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Tradisi dapat bertahan melalui adaptasi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20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04 — Pantangan dan Preferensi Makanan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Tidak semua pilihan makan didasarkan pada rasa; norma, pengalaman, kesehatan, dan keyakinan ikut menentukan.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06424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Apa Itu </a:t>
            </a:r>
            <a:r>
              <a:rPr sz="2400" dirty="0" err="1"/>
              <a:t>Pantangan</a:t>
            </a:r>
            <a:r>
              <a:rPr sz="2400" dirty="0"/>
              <a:t> </a:t>
            </a:r>
            <a:r>
              <a:rPr sz="2400" dirty="0" err="1"/>
              <a:t>Makanan</a:t>
            </a:r>
            <a:r>
              <a:rPr sz="2400" dirty="0"/>
              <a:t>?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13716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MAKANAN</a:t>
            </a:r>
            <a:br/>
            <a:r>
              <a:rPr sz="2200"/>
              <a:t>MEMBAWA</a:t>
            </a:r>
            <a:br/>
            <a:r>
              <a:rPr sz="2200"/>
              <a:t>MAKNA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274320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0">
                <a:solidFill>
                  <a:srgbClr val="EFD5CC"/>
                </a:solidFill>
                <a:latin typeface="Aptos"/>
              </a:defRPr>
            </a:pPr>
            <a:r>
              <a:rPr sz="2200"/>
              <a:t>Identitas • Nilai</a:t>
            </a:r>
            <a:br/>
            <a:r>
              <a:rPr sz="2200"/>
              <a:t>Relasi • Memori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700784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Larangan</a:t>
            </a:r>
            <a:r>
              <a:rPr sz="2200" dirty="0"/>
              <a:t> </a:t>
            </a:r>
            <a:r>
              <a:rPr sz="2200" dirty="0" err="1"/>
              <a:t>atau</a:t>
            </a:r>
            <a:r>
              <a:rPr sz="2200" dirty="0"/>
              <a:t> </a:t>
            </a:r>
            <a:r>
              <a:rPr sz="2200" dirty="0" err="1"/>
              <a:t>pembatasan</a:t>
            </a:r>
            <a:r>
              <a:rPr sz="2200" dirty="0"/>
              <a:t> </a:t>
            </a:r>
            <a:r>
              <a:rPr sz="2200" dirty="0" err="1"/>
              <a:t>konsumsi</a:t>
            </a:r>
            <a:r>
              <a:rPr sz="2200" dirty="0"/>
              <a:t> </a:t>
            </a:r>
            <a:r>
              <a:rPr sz="2200" dirty="0" err="1"/>
              <a:t>tertentu</a:t>
            </a:r>
            <a:endParaRPr sz="2200" dirty="0"/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19"/>
            <a:ext cx="6080760" cy="74066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587752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terkait</a:t>
            </a:r>
            <a:r>
              <a:rPr sz="2200" dirty="0"/>
              <a:t> </a:t>
            </a:r>
            <a:r>
              <a:rPr sz="2200" dirty="0" err="1"/>
              <a:t>adat</a:t>
            </a:r>
            <a:r>
              <a:rPr sz="2200" dirty="0"/>
              <a:t>, agama, </a:t>
            </a:r>
            <a:r>
              <a:rPr sz="2200" dirty="0" err="1"/>
              <a:t>kesehatan</a:t>
            </a:r>
            <a:r>
              <a:rPr sz="2200" dirty="0"/>
              <a:t>, </a:t>
            </a:r>
            <a:r>
              <a:rPr sz="2200" dirty="0" err="1"/>
              <a:t>atau</a:t>
            </a:r>
            <a:r>
              <a:rPr sz="2200" dirty="0"/>
              <a:t> </a:t>
            </a:r>
            <a:r>
              <a:rPr sz="2200" dirty="0" err="1"/>
              <a:t>fase</a:t>
            </a:r>
            <a:r>
              <a:rPr sz="2200" dirty="0"/>
              <a:t> </a:t>
            </a:r>
            <a:r>
              <a:rPr sz="2200" dirty="0" err="1"/>
              <a:t>kehidupan</a:t>
            </a:r>
            <a:endParaRPr sz="2200" dirty="0"/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9300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Sering diwariskan melalui keluarga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178807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Maknanya</a:t>
            </a:r>
            <a:r>
              <a:rPr sz="2200" dirty="0"/>
              <a:t> </a:t>
            </a:r>
            <a:r>
              <a:rPr sz="2200" dirty="0" err="1"/>
              <a:t>perlu</a:t>
            </a:r>
            <a:r>
              <a:rPr sz="2200" dirty="0"/>
              <a:t> </a:t>
            </a:r>
            <a:r>
              <a:rPr sz="2200" dirty="0" err="1"/>
              <a:t>dipahami</a:t>
            </a:r>
            <a:r>
              <a:rPr sz="2200" dirty="0"/>
              <a:t> </a:t>
            </a:r>
            <a:r>
              <a:rPr sz="2200" dirty="0" err="1"/>
              <a:t>sebelum</a:t>
            </a:r>
            <a:r>
              <a:rPr sz="2200" dirty="0"/>
              <a:t> </a:t>
            </a:r>
            <a:r>
              <a:rPr sz="2200" dirty="0" err="1"/>
              <a:t>dinilai</a:t>
            </a:r>
            <a:endParaRPr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48908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Preferensi</a:t>
            </a:r>
            <a:r>
              <a:rPr sz="2400" dirty="0"/>
              <a:t> </a:t>
            </a:r>
            <a:r>
              <a:rPr sz="2400" dirty="0" err="1"/>
              <a:t>Makanan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73916"/>
            <a:ext cx="2754630" cy="397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 dirty="0"/>
              <a:t>Cara </a:t>
            </a:r>
            <a:r>
              <a:rPr sz="2400" dirty="0" err="1"/>
              <a:t>membacanya</a:t>
            </a:r>
            <a:endParaRPr sz="24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Rasa dan aroma</a:t>
            </a:r>
          </a:p>
        </p:txBody>
      </p:sp>
      <p:sp>
        <p:nvSpPr>
          <p:cNvPr id="12" name="Oval 11"/>
          <p:cNvSpPr/>
          <p:nvPr/>
        </p:nvSpPr>
        <p:spPr>
          <a:xfrm>
            <a:off x="334899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4899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179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Kebiasaan sejak kecil</a:t>
            </a:r>
          </a:p>
        </p:txBody>
      </p:sp>
      <p:sp>
        <p:nvSpPr>
          <p:cNvPr id="15" name="Oval 14"/>
          <p:cNvSpPr/>
          <p:nvPr/>
        </p:nvSpPr>
        <p:spPr>
          <a:xfrm>
            <a:off x="578358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8358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6380" y="3456432"/>
            <a:ext cx="1732788" cy="70480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/>
              <a:t>Harga dan </a:t>
            </a:r>
            <a:r>
              <a:rPr sz="2200" dirty="0" err="1"/>
              <a:t>ketersediaan</a:t>
            </a:r>
            <a:endParaRPr sz="2200" dirty="0"/>
          </a:p>
        </p:txBody>
      </p:sp>
      <p:sp>
        <p:nvSpPr>
          <p:cNvPr id="18" name="Oval 17"/>
          <p:cNvSpPr/>
          <p:nvPr/>
        </p:nvSpPr>
        <p:spPr>
          <a:xfrm>
            <a:off x="821817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817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097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Pengaruh teman dan keluarga</a:t>
            </a:r>
          </a:p>
        </p:txBody>
      </p:sp>
      <p:sp>
        <p:nvSpPr>
          <p:cNvPr id="21" name="Oval 20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Media dan tren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Pantangan</a:t>
            </a:r>
            <a:r>
              <a:rPr sz="2400" dirty="0"/>
              <a:t> pada Fase </a:t>
            </a:r>
            <a:r>
              <a:rPr sz="2400" dirty="0" err="1"/>
              <a:t>Kehidupan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Kehamilan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Masa nifas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Masa menyusui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Anak-anak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3529584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3419856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Orang sakit atau lanjut usia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3272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Dampak</a:t>
            </a:r>
            <a:r>
              <a:rPr sz="2400" dirty="0"/>
              <a:t> </a:t>
            </a:r>
            <a:r>
              <a:rPr sz="2400" dirty="0" err="1"/>
              <a:t>Pantangan</a:t>
            </a:r>
            <a:r>
              <a:rPr sz="2400" dirty="0"/>
              <a:t> </a:t>
            </a:r>
            <a:r>
              <a:rPr sz="2400" dirty="0" err="1"/>
              <a:t>terhadap</a:t>
            </a:r>
            <a:r>
              <a:rPr sz="2400" dirty="0"/>
              <a:t> Gizi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Dapat melindungi dari risiko tertentu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Dapat pula membatasi zat gizi penting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Efek bergantung pada jenis pantangan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Edukasi perlu sensitif terhadap budaya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25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05 — Agama dan Makanan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Agama dapat mengatur apa yang boleh dimakan, cara memperoleh, cara mengolah, waktu makan, dan makna berbagi makanan.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05156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/>
              <a:t>Aturan Makan Keagamaan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230" y="1709928"/>
            <a:ext cx="21945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 dirty="0"/>
              <a:t>Cara </a:t>
            </a:r>
            <a:r>
              <a:rPr sz="2400" dirty="0" err="1"/>
              <a:t>membacanya</a:t>
            </a:r>
            <a:endParaRPr sz="24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Konsep halal dan haram</a:t>
            </a:r>
          </a:p>
        </p:txBody>
      </p:sp>
      <p:sp>
        <p:nvSpPr>
          <p:cNvPr id="12" name="Oval 11"/>
          <p:cNvSpPr/>
          <p:nvPr/>
        </p:nvSpPr>
        <p:spPr>
          <a:xfrm>
            <a:off x="334899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4899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179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Pembatasan bahan tertentu</a:t>
            </a:r>
          </a:p>
        </p:txBody>
      </p:sp>
      <p:sp>
        <p:nvSpPr>
          <p:cNvPr id="15" name="Oval 14"/>
          <p:cNvSpPr/>
          <p:nvPr/>
        </p:nvSpPr>
        <p:spPr>
          <a:xfrm>
            <a:off x="578358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8358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638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Aturan penyembelihan atau pengolahan</a:t>
            </a:r>
          </a:p>
        </p:txBody>
      </p:sp>
      <p:sp>
        <p:nvSpPr>
          <p:cNvPr id="18" name="Oval 17"/>
          <p:cNvSpPr/>
          <p:nvPr/>
        </p:nvSpPr>
        <p:spPr>
          <a:xfrm>
            <a:off x="821817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817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097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Puasa dan waktu konsumsi</a:t>
            </a:r>
          </a:p>
        </p:txBody>
      </p:sp>
      <p:sp>
        <p:nvSpPr>
          <p:cNvPr id="21" name="Oval 20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3456432"/>
            <a:ext cx="1783080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/>
              <a:t>Nilai </a:t>
            </a:r>
            <a:r>
              <a:rPr sz="2200" dirty="0" err="1"/>
              <a:t>kesucian</a:t>
            </a:r>
            <a:r>
              <a:rPr sz="2200" dirty="0"/>
              <a:t> dan </a:t>
            </a:r>
            <a:r>
              <a:rPr sz="2200" dirty="0" err="1"/>
              <a:t>pengendalian</a:t>
            </a:r>
            <a:r>
              <a:rPr sz="2200" dirty="0"/>
              <a:t> </a:t>
            </a:r>
            <a:r>
              <a:rPr sz="2200" dirty="0" err="1"/>
              <a:t>diri</a:t>
            </a:r>
            <a:endParaRPr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9264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Puasa </a:t>
            </a:r>
            <a:r>
              <a:rPr sz="2400" dirty="0" err="1"/>
              <a:t>sebagai</a:t>
            </a:r>
            <a:r>
              <a:rPr sz="2400" dirty="0"/>
              <a:t> </a:t>
            </a:r>
            <a:r>
              <a:rPr sz="2400" dirty="0" err="1"/>
              <a:t>Praktik</a:t>
            </a:r>
            <a:r>
              <a:rPr sz="2400" dirty="0"/>
              <a:t> </a:t>
            </a:r>
            <a:r>
              <a:rPr sz="2400" dirty="0" err="1"/>
              <a:t>Sosial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Memiliki dimensi spiritual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Mengubah jadwal makan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Membentuk solidaritas komunitas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Mendorong praktik berbagi dan kepedulian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65276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Menghormati</a:t>
            </a:r>
            <a:r>
              <a:rPr sz="2400" dirty="0"/>
              <a:t> </a:t>
            </a:r>
            <a:r>
              <a:rPr sz="2400" dirty="0" err="1"/>
              <a:t>Keragaman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Tanyakan kebutuhan makanan secara sopan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Jangan menganggap semua orang sama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Sediakan pilihan yang sesuai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Perhatikan kontaminasi silang bila relevan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29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06 — Pangan Lokal, Globalisasi &amp; Identitas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Globalisasi memperluas pilihan pangan sekaligus menantang keberlanjutan dan identitas kuliner lokal.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Kekuatan</a:t>
            </a:r>
            <a:r>
              <a:rPr sz="2400" dirty="0"/>
              <a:t> Pangan Lokal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932768"/>
            <a:ext cx="3035808" cy="397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 dirty="0"/>
              <a:t>Cara </a:t>
            </a:r>
            <a:r>
              <a:rPr sz="2400" dirty="0" err="1"/>
              <a:t>membacanya</a:t>
            </a:r>
            <a:endParaRPr sz="24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DEC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Dekat dengan ekologi setempat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56432"/>
            <a:ext cx="1572768" cy="10972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/>
              <a:t>Mendukung ekonomi lokal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2596896"/>
            <a:ext cx="658368" cy="658368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56432"/>
            <a:ext cx="1773936" cy="1043363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Menyimpan</a:t>
            </a:r>
            <a:r>
              <a:rPr sz="2200" dirty="0"/>
              <a:t> </a:t>
            </a:r>
            <a:r>
              <a:rPr sz="2200" dirty="0" err="1"/>
              <a:t>pengetahuan</a:t>
            </a:r>
            <a:r>
              <a:rPr sz="2200" dirty="0"/>
              <a:t> </a:t>
            </a:r>
            <a:r>
              <a:rPr sz="2200" dirty="0" err="1"/>
              <a:t>tradisional</a:t>
            </a:r>
            <a:endParaRPr sz="2200" dirty="0"/>
          </a:p>
        </p:txBody>
      </p:sp>
      <p:sp>
        <p:nvSpPr>
          <p:cNvPr id="18" name="Oval 17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3456432"/>
            <a:ext cx="1773936" cy="1381917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250" b="1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memperkuat</a:t>
            </a:r>
            <a:r>
              <a:rPr sz="2200" dirty="0"/>
              <a:t> </a:t>
            </a:r>
            <a:r>
              <a:rPr sz="2200" dirty="0" err="1"/>
              <a:t>ketahanan</a:t>
            </a:r>
            <a:r>
              <a:rPr sz="2200" dirty="0"/>
              <a:t> </a:t>
            </a:r>
            <a:r>
              <a:rPr sz="2200" dirty="0" err="1"/>
              <a:t>pangan</a:t>
            </a:r>
            <a:endParaRPr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Globalisasi</a:t>
            </a:r>
            <a:r>
              <a:rPr sz="2400" dirty="0"/>
              <a:t> Pangan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Merek global hadir di banyak kota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Bahan impor semakin mudah diperoleh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Selera menjadi lebih lintas budaya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Media mempercepat penyebaran tren makanan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Hibridisasi</a:t>
            </a:r>
            <a:r>
              <a:rPr sz="2400" dirty="0"/>
              <a:t> </a:t>
            </a:r>
            <a:r>
              <a:rPr sz="2400" dirty="0" err="1"/>
              <a:t>Kuliner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Resep lokal bertemu teknik 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Muncul makanan fusion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Bahan tradisional mendapat bentuk baru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Identitas kuliner menjadi dinamis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42416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 err="1"/>
              <a:t>Identitas</a:t>
            </a:r>
            <a:r>
              <a:rPr sz="2400" dirty="0"/>
              <a:t> yang </a:t>
            </a:r>
            <a:r>
              <a:rPr sz="2400" dirty="0" err="1"/>
              <a:t>Melekat</a:t>
            </a:r>
            <a:r>
              <a:rPr sz="2400" dirty="0"/>
              <a:t> pada Pangan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13716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MAKANAN</a:t>
            </a:r>
            <a:br/>
            <a:r>
              <a:rPr sz="2200"/>
              <a:t>MEMBAWA</a:t>
            </a:r>
            <a:br/>
            <a:r>
              <a:rPr sz="2200"/>
              <a:t>MAKNA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274320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0">
                <a:solidFill>
                  <a:srgbClr val="EFD5CC"/>
                </a:solidFill>
                <a:latin typeface="Aptos"/>
              </a:defRPr>
            </a:pPr>
            <a:r>
              <a:rPr sz="2200"/>
              <a:t>Identitas • Nilai</a:t>
            </a:r>
            <a:br/>
            <a:r>
              <a:rPr sz="2200"/>
              <a:t>Relasi • Memori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70992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/>
              <a:t>Nama </a:t>
            </a:r>
            <a:r>
              <a:rPr sz="2200" dirty="0" err="1"/>
              <a:t>daerah</a:t>
            </a:r>
            <a:r>
              <a:rPr sz="2200" dirty="0"/>
              <a:t> </a:t>
            </a:r>
            <a:r>
              <a:rPr sz="2200" dirty="0" err="1"/>
              <a:t>meningkatkan</a:t>
            </a:r>
            <a:r>
              <a:rPr sz="2200" dirty="0"/>
              <a:t> </a:t>
            </a:r>
            <a:r>
              <a:rPr sz="2200" dirty="0" err="1"/>
              <a:t>nilai</a:t>
            </a:r>
            <a:r>
              <a:rPr sz="2200" dirty="0"/>
              <a:t> </a:t>
            </a:r>
            <a:r>
              <a:rPr sz="2200" dirty="0" err="1"/>
              <a:t>simbolik</a:t>
            </a:r>
            <a:endParaRPr sz="2200" dirty="0"/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7004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Cerita asal-usul menjadi bagian produk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9300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Kemasan dapat menampilkan budaya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151376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Kuliner</a:t>
            </a:r>
            <a:r>
              <a:rPr sz="2200" dirty="0"/>
              <a:t> </a:t>
            </a: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menjadi</a:t>
            </a:r>
            <a:r>
              <a:rPr sz="2200" dirty="0"/>
              <a:t> </a:t>
            </a:r>
            <a:r>
              <a:rPr sz="2200" dirty="0" err="1"/>
              <a:t>identitas</a:t>
            </a:r>
            <a:r>
              <a:rPr sz="2200" dirty="0"/>
              <a:t> </a:t>
            </a:r>
            <a:r>
              <a:rPr sz="2200" dirty="0" err="1"/>
              <a:t>pariwisata</a:t>
            </a:r>
            <a:endParaRPr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34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07 — Makanan dan Relasi Kuasa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Siapa yang memproduksi, menguasai, mendistribusikan, dan menentukan harga pangan berkaitan erat dengan kekuasaan.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69848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Akses Pangan Tidak </a:t>
            </a:r>
            <a:r>
              <a:rPr sz="2400" dirty="0" err="1"/>
              <a:t>Selalu</a:t>
            </a:r>
            <a:r>
              <a:rPr sz="2400" dirty="0"/>
              <a:t> Setara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Pendapatan menentukan kemampuan membeli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Lokasi memengaruhi ketersediaan pangan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Kelompok rentan menghadapi hambatan lebih besar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Harga dapat membatasi pilihan sehat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42416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Kuasa </a:t>
            </a:r>
            <a:r>
              <a:rPr sz="2400" dirty="0" err="1"/>
              <a:t>dalam</a:t>
            </a:r>
            <a:r>
              <a:rPr sz="2400" dirty="0"/>
              <a:t> Rumah </a:t>
            </a:r>
            <a:r>
              <a:rPr sz="2400" dirty="0" err="1"/>
              <a:t>Tangga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Siapa menentukan menu?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Siapa berbelanja dan memasak?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Siapa mendapat porsi terbaik?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0859" y="3026664"/>
            <a:ext cx="3703320" cy="6400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Pembagian</a:t>
            </a:r>
            <a:r>
              <a:rPr sz="2200" dirty="0"/>
              <a:t> </a:t>
            </a:r>
            <a:r>
              <a:rPr sz="2200" dirty="0" err="1"/>
              <a:t>pangan</a:t>
            </a:r>
            <a:r>
              <a:rPr sz="2200" dirty="0"/>
              <a:t> </a:t>
            </a:r>
            <a:r>
              <a:rPr sz="2200" dirty="0" err="1"/>
              <a:t>dapat</a:t>
            </a:r>
            <a:r>
              <a:rPr sz="2200" dirty="0"/>
              <a:t> </a:t>
            </a:r>
            <a:r>
              <a:rPr sz="2200" dirty="0" err="1"/>
              <a:t>mencerminkan</a:t>
            </a:r>
            <a:r>
              <a:rPr sz="2200" dirty="0"/>
              <a:t> gender dan </a:t>
            </a:r>
            <a:r>
              <a:rPr sz="2200" dirty="0" err="1"/>
              <a:t>usia</a:t>
            </a:r>
            <a:endParaRPr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9848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Industri, </a:t>
            </a:r>
            <a:r>
              <a:rPr sz="2400" dirty="0" err="1"/>
              <a:t>Iklan</a:t>
            </a:r>
            <a:r>
              <a:rPr sz="2400" dirty="0"/>
              <a:t>, dan </a:t>
            </a:r>
            <a:r>
              <a:rPr sz="2400" dirty="0" err="1"/>
              <a:t>Konsumen</a:t>
            </a:r>
            <a:endParaRPr sz="2400" dirty="0"/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137160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MAKANAN</a:t>
            </a:r>
            <a:br/>
            <a:r>
              <a:rPr sz="2200"/>
              <a:t>MEMBAWA</a:t>
            </a:r>
            <a:br/>
            <a:r>
              <a:rPr sz="2200"/>
              <a:t>MAKNA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2743200" cy="8229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0">
                <a:solidFill>
                  <a:srgbClr val="EFD5CC"/>
                </a:solidFill>
                <a:latin typeface="Aptos"/>
              </a:defRPr>
            </a:pPr>
            <a:r>
              <a:rPr sz="2200"/>
              <a:t>Identitas • Nilai</a:t>
            </a:r>
            <a:br/>
            <a:r>
              <a:rPr sz="2200"/>
              <a:t>Relasi • Memori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84708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Iklan membentuk persepsi kebutuhan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70048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Kemasan memengaruhi pilihan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392424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Promosi</a:t>
            </a:r>
            <a:r>
              <a:rPr sz="2200" dirty="0"/>
              <a:t> digital </a:t>
            </a:r>
            <a:r>
              <a:rPr sz="2200" dirty="0" err="1"/>
              <a:t>menyasar</a:t>
            </a:r>
            <a:r>
              <a:rPr sz="2200" dirty="0"/>
              <a:t> </a:t>
            </a:r>
            <a:r>
              <a:rPr sz="2200" dirty="0" err="1"/>
              <a:t>kelompok</a:t>
            </a:r>
            <a:r>
              <a:rPr sz="2200" dirty="0"/>
              <a:t> </a:t>
            </a:r>
            <a:r>
              <a:rPr sz="2200" dirty="0" err="1"/>
              <a:t>tertentu</a:t>
            </a:r>
            <a:endParaRPr sz="2200" dirty="0"/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000" b="1">
                <a:solidFill>
                  <a:srgbClr val="B95B45"/>
                </a:solidFill>
                <a:latin typeface="Aptos"/>
              </a:defRPr>
            </a:pPr>
            <a:r>
              <a:rPr sz="22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238244"/>
            <a:ext cx="4892040" cy="38404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 dirty="0" err="1"/>
              <a:t>Konsumen</a:t>
            </a:r>
            <a:r>
              <a:rPr sz="2200" dirty="0"/>
              <a:t> </a:t>
            </a:r>
            <a:r>
              <a:rPr sz="2200" dirty="0" err="1"/>
              <a:t>tetap</a:t>
            </a:r>
            <a:r>
              <a:rPr sz="2200" dirty="0"/>
              <a:t> </a:t>
            </a:r>
            <a:r>
              <a:rPr sz="2200" dirty="0" err="1"/>
              <a:t>dipengaruhi</a:t>
            </a:r>
            <a:r>
              <a:rPr sz="2200" dirty="0"/>
              <a:t> </a:t>
            </a:r>
            <a:r>
              <a:rPr sz="2200" dirty="0" err="1"/>
              <a:t>struktur</a:t>
            </a:r>
            <a:r>
              <a:rPr sz="2200" dirty="0"/>
              <a:t> pasar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2200"/>
              <a:t>38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777240"/>
            <a:ext cx="2606040" cy="2606040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132320" cy="12344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rPr sz="2200"/>
              <a:t>08 — Isu Kesehatan &amp; Gaya Hidup Makan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6400800" cy="10515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600" b="0">
                <a:solidFill>
                  <a:srgbClr val="EBDCD7"/>
                </a:solidFill>
                <a:latin typeface="Aptos"/>
              </a:defRPr>
            </a:pPr>
            <a:r>
              <a:rPr sz="2200"/>
              <a:t>Gaya hidup modern mengubah kapan, di mana, dengan siapa, dan apa yang dikonsumsi.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754880"/>
            <a:ext cx="4297680" cy="73152"/>
          </a:xfrm>
          <a:prstGeom prst="rect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047488"/>
            <a:ext cx="402336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EFD5CC"/>
                </a:solidFill>
                <a:latin typeface="Aptos"/>
              </a:defRPr>
            </a:pPr>
            <a:r>
              <a:rPr sz="2200"/>
              <a:t>MAKANAN SEBAGAI FENOMENA SOSIAL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88136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Pola Makan Modern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FD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B95B45"/>
                </a:solidFill>
                <a:latin typeface="Aptos"/>
              </a:defRPr>
            </a:pPr>
            <a:r>
              <a:rPr sz="2400"/>
              <a:t>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B95B45"/>
                </a:solidFill>
                <a:latin typeface="Aptos"/>
              </a:defRPr>
            </a:pPr>
            <a:r>
              <a:rPr sz="2200"/>
              <a:t>Dimensi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Makanan siap saji lebih mudah diakses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Waktu makan semakin fleksibel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500" b="1">
                <a:solidFill>
                  <a:srgbClr val="688B77"/>
                </a:solidFill>
                <a:latin typeface="Aptos"/>
              </a:defRPr>
            </a:pPr>
            <a:r>
              <a:rPr sz="22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0">
                <a:solidFill>
                  <a:srgbClr val="2D2A2B"/>
                </a:solidFill>
                <a:latin typeface="Aptos"/>
              </a:defRPr>
            </a:pPr>
            <a:r>
              <a:rPr sz="2200"/>
              <a:t>Pesan-antar mengubah kebiasaan konsumsi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2C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400" b="1">
                <a:solidFill>
                  <a:srgbClr val="DBA647"/>
                </a:solidFill>
                <a:latin typeface="Aptos"/>
              </a:defRPr>
            </a:pPr>
            <a:r>
              <a:rPr sz="2200"/>
              <a:t>Konteks sosial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94360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</a:defRPr>
            </a:pPr>
            <a:r>
              <a:rPr sz="2200"/>
              <a:t>Makan sambil menggunakan layar semakin umum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200400" cy="2560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100" b="1">
                <a:solidFill>
                  <a:srgbClr val="B95B45"/>
                </a:solidFill>
                <a:latin typeface="Aptos"/>
              </a:defRPr>
            </a:pPr>
            <a:r>
              <a:rPr sz="2400"/>
              <a:t>FOOD • SOCIETY •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r">
              <a:defRPr sz="1100" b="1">
                <a:solidFill>
                  <a:srgbClr val="69605E"/>
                </a:solidFill>
                <a:latin typeface="Aptos"/>
              </a:defRPr>
            </a:pPr>
            <a:r>
              <a:rPr sz="2200"/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14983"/>
            <a:ext cx="8458200" cy="71323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2200" b="1">
                <a:solidFill>
                  <a:srgbClr val="532B37"/>
                </a:solidFill>
                <a:latin typeface="Aptos"/>
              </a:defRPr>
            </a:pPr>
            <a:r>
              <a:rPr sz="2400" dirty="0"/>
              <a:t>Kesimpulan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F1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0" y="868680"/>
            <a:ext cx="914400" cy="548640"/>
          </a:xfrm>
          <a:prstGeom prst="rect">
            <a:avLst/>
          </a:prstGeom>
          <a:noFill/>
        </p:spPr>
        <p:txBody>
          <a:bodyPr wrap="square" lIns="22860" tIns="13716" rIns="22860" bIns="13716" anchor="ctr">
            <a:spAutoFit/>
          </a:bodyPr>
          <a:lstStyle/>
          <a:p>
            <a:pPr algn="ctr">
              <a:defRPr sz="2600" b="1">
                <a:solidFill>
                  <a:srgbClr val="688B77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892808"/>
            <a:ext cx="438912" cy="438912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75104"/>
            <a:ext cx="438912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874519"/>
            <a:ext cx="3749039" cy="74980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Makanan adalah produk biologis sekaligus sosial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4592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63640" y="1892808"/>
            <a:ext cx="438912" cy="438912"/>
          </a:xfrm>
          <a:prstGeom prst="ellipse">
            <a:avLst/>
          </a:prstGeom>
          <a:solidFill>
            <a:srgbClr val="DBA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975104"/>
            <a:ext cx="438912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874519"/>
            <a:ext cx="3749039" cy="74980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Identitas dan tradisi membentuk pilihan makan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4612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493008"/>
            <a:ext cx="438912" cy="438912"/>
          </a:xfrm>
          <a:prstGeom prst="ellipse">
            <a:avLst/>
          </a:prstGeom>
          <a:solidFill>
            <a:srgbClr val="688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575303"/>
            <a:ext cx="438912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7" y="3337560"/>
            <a:ext cx="3749039" cy="74980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 dirty="0"/>
              <a:t>Agama, </a:t>
            </a:r>
            <a:r>
              <a:rPr sz="2200" dirty="0" err="1"/>
              <a:t>globalisasi</a:t>
            </a:r>
            <a:r>
              <a:rPr sz="2200" dirty="0"/>
              <a:t>, dan </a:t>
            </a:r>
            <a:r>
              <a:rPr sz="2200" dirty="0" err="1"/>
              <a:t>kekuasaan</a:t>
            </a:r>
            <a:r>
              <a:rPr sz="2200" dirty="0"/>
              <a:t> </a:t>
            </a:r>
            <a:r>
              <a:rPr sz="2200" dirty="0" err="1"/>
              <a:t>memengaruhi</a:t>
            </a:r>
            <a:r>
              <a:rPr sz="2200" dirty="0"/>
              <a:t> </a:t>
            </a:r>
            <a:r>
              <a:rPr sz="2200" dirty="0" err="1"/>
              <a:t>akses</a:t>
            </a:r>
            <a:r>
              <a:rPr sz="2200" dirty="0"/>
              <a:t> </a:t>
            </a:r>
            <a:r>
              <a:rPr sz="2200" dirty="0" err="1"/>
              <a:t>serta</a:t>
            </a:r>
            <a:r>
              <a:rPr sz="2200" dirty="0"/>
              <a:t> </a:t>
            </a:r>
            <a:r>
              <a:rPr sz="2200" dirty="0" err="1"/>
              <a:t>makna</a:t>
            </a:r>
            <a:endParaRPr sz="2200" dirty="0"/>
          </a:p>
        </p:txBody>
      </p:sp>
      <p:sp>
        <p:nvSpPr>
          <p:cNvPr id="19" name="Rounded Rectangle 18"/>
          <p:cNvSpPr/>
          <p:nvPr/>
        </p:nvSpPr>
        <p:spPr>
          <a:xfrm>
            <a:off x="6007607" y="324612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63640" y="3493008"/>
            <a:ext cx="438912" cy="438912"/>
          </a:xfrm>
          <a:prstGeom prst="ellipse">
            <a:avLst/>
          </a:prstGeom>
          <a:solidFill>
            <a:srgbClr val="53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3575303"/>
            <a:ext cx="438912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474720"/>
            <a:ext cx="3749039" cy="74980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Media dan gaya hidup ikut mengubah budaya makan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4892040"/>
            <a:ext cx="64008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136391" y="5138927"/>
            <a:ext cx="438912" cy="438912"/>
          </a:xfrm>
          <a:prstGeom prst="ellipse">
            <a:avLst/>
          </a:prstGeom>
          <a:solidFill>
            <a:srgbClr val="B9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" tIns="13716" rIns="22860" bIns="13716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36391" y="5221224"/>
            <a:ext cx="438912" cy="164592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20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120640"/>
            <a:ext cx="5257800" cy="749808"/>
          </a:xfrm>
          <a:prstGeom prst="rect">
            <a:avLst/>
          </a:prstGeom>
          <a:noFill/>
        </p:spPr>
        <p:txBody>
          <a:bodyPr wrap="square" lIns="22860" tIns="13716" rIns="22860" bIns="13716" anchor="t">
            <a:spAutoFit/>
          </a:bodyPr>
          <a:lstStyle/>
          <a:p>
            <a:pPr algn="l">
              <a:defRPr sz="1350" b="1">
                <a:solidFill>
                  <a:srgbClr val="2D2A2B"/>
                </a:solidFill>
                <a:latin typeface="Aptos"/>
              </a:defRPr>
            </a:pPr>
            <a:r>
              <a:rPr sz="2200"/>
              <a:t>Pendekatan kesehatan perlu menghargai konteks budaya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1493</Words>
  <Application>Microsoft Office PowerPoint</Application>
  <PresentationFormat>Widescreen</PresentationFormat>
  <Paragraphs>460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.</cp:lastModifiedBy>
  <cp:revision>2</cp:revision>
  <dcterms:created xsi:type="dcterms:W3CDTF">2013-01-27T09:14:16Z</dcterms:created>
  <dcterms:modified xsi:type="dcterms:W3CDTF">2026-10-07T02:03:55Z</dcterms:modified>
  <cp:category/>
</cp:coreProperties>
</file>