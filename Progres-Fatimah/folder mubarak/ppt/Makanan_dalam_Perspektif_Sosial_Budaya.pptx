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640080"/>
            <a:ext cx="4480560" cy="448056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11480"/>
            <a:ext cx="2468880" cy="24688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69880" y="1234440"/>
            <a:ext cx="868680" cy="868680"/>
          </a:xfrm>
          <a:prstGeom prst="ellipse">
            <a:avLst/>
          </a:prstGeom>
          <a:solidFill>
            <a:srgbClr val="688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91440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DBA647"/>
                </a:solidFill>
                <a:latin typeface="Aptos"/>
              </a:defRPr>
            </a:pPr>
            <a:r>
              <a:t>SOSIAL • BUDAYA • PANGAN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417320"/>
            <a:ext cx="7315200" cy="1417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3100" b="1">
                <a:solidFill>
                  <a:srgbClr val="FFFFFF"/>
                </a:solidFill>
                <a:latin typeface="Aptos"/>
              </a:defRPr>
            </a:pPr>
            <a:r>
              <a:t>MAKANAN DALAM</a:t>
            </a:r>
            <a:br/>
            <a:r>
              <a:t>PERSPEKTIF SOSIAL BUDAYA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6217920" cy="8229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CE0DA"/>
                </a:solidFill>
                <a:latin typeface="Aptos"/>
              </a:defRPr>
            </a:pPr>
            <a:r>
              <a:t>Makanan bukan hanya kebutuhan biologis—ia membawa identitas, nilai, simbol, kekuasaan, dan cara hidup.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09160"/>
            <a:ext cx="438912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76072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DBA647"/>
                </a:solidFill>
                <a:latin typeface="Aptos"/>
              </a:defRPr>
            </a:pPr>
            <a:r>
              <a:t>40 SLIDE • MATERI PEMBELAJARAN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Mengapa Makanan Dikaji Secara Sosial?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Cara membacanya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07792"/>
            <a:ext cx="9966960" cy="73152"/>
          </a:xfrm>
          <a:prstGeom prst="rect">
            <a:avLst/>
          </a:prstGeom>
          <a:solidFill>
            <a:srgbClr val="DEC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Pilihan makan dipengaruhi keluarga dan lingkungan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Makanan memiliki makna sosial dan simbolik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Cara makan berbeda antarbudaya</a:t>
            </a:r>
          </a:p>
        </p:txBody>
      </p:sp>
      <p:sp>
        <p:nvSpPr>
          <p:cNvPr id="18" name="Oval 17"/>
          <p:cNvSpPr/>
          <p:nvPr/>
        </p:nvSpPr>
        <p:spPr>
          <a:xfrm>
            <a:off x="1065276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Perubahan sosial ikut mengubah pola konsumsi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Makanan: Lebih dari Sekadar Zat Gizi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Biologis: memenuhi kebutuhan tubuh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Sosial: membangun hubungan dan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Budaya: membawa nilai dan tradisi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Ekonomi-politik: terkait akses dan kekuasaan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Peta Pembahasan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1938528"/>
            <a:ext cx="384048" cy="38404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0208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Kajian sosial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7373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39312" y="1938528"/>
            <a:ext cx="384048" cy="38404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0208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688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Identitas budaya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373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28231" y="1938528"/>
            <a:ext cx="384048" cy="384048"/>
          </a:xfrm>
          <a:prstGeom prst="ellipse">
            <a:avLst/>
          </a:prstGeom>
          <a:solidFill>
            <a:srgbClr val="688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20208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688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Ritual &amp; simbol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373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17151" y="1938528"/>
            <a:ext cx="384048" cy="384048"/>
          </a:xfrm>
          <a:prstGeom prst="ellipse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1" y="20208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59" y="24688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Pantangan &amp; preferensi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5661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3767328"/>
            <a:ext cx="384048" cy="38404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8496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2976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Agama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0" y="35661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39312" y="3767328"/>
            <a:ext cx="384048" cy="38404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39312" y="38496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2976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Lokal &amp; globalisasi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5661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28231" y="3767328"/>
            <a:ext cx="384048" cy="384048"/>
          </a:xfrm>
          <a:prstGeom prst="ellipse">
            <a:avLst/>
          </a:prstGeom>
          <a:solidFill>
            <a:srgbClr val="688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1" y="38496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2976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Relasi kuasa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59" y="3566160"/>
            <a:ext cx="24688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217151" y="3767328"/>
            <a:ext cx="384048" cy="384048"/>
          </a:xfrm>
          <a:prstGeom prst="ellipse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17151" y="3849624"/>
            <a:ext cx="384048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59" y="4297680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300" b="1">
                <a:solidFill>
                  <a:srgbClr val="2D2A2B"/>
                </a:solidFill>
                <a:latin typeface="Aptos"/>
              </a:defRPr>
            </a:pPr>
            <a:r>
              <a:t>Kesehatan &amp; gaya hidup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01 — Kajian Makanan dalam Ilmu Sosial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Ilmu sosial mempelajari bagaimana manusia memberi makna, memilih, memproduksi, membagi, dan mengonsumsi makanan.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Perspektif Antropologi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Cara membacanya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07792"/>
            <a:ext cx="9966960" cy="73152"/>
          </a:xfrm>
          <a:prstGeom prst="rect">
            <a:avLst/>
          </a:prstGeom>
          <a:solidFill>
            <a:srgbClr val="DEC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Makanan sebagai bagian dari kebudayaan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Resep diwariskan lintas generasi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Teknik memasak mencerminkan adaptasi lingkungan</a:t>
            </a:r>
          </a:p>
        </p:txBody>
      </p:sp>
      <p:sp>
        <p:nvSpPr>
          <p:cNvPr id="18" name="Oval 17"/>
          <p:cNvSpPr/>
          <p:nvPr/>
        </p:nvSpPr>
        <p:spPr>
          <a:xfrm>
            <a:off x="1065276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Jamuan menjadi bagian dari kehidupan komunitas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Perspektif Sosiologi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Makanan membentuk interaksi sosial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Kelas sosial memengaruhi pola konsumsi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Keluarga membentuk kebiasaan makan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Restoran dan ruang makan menjadi arena sosial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Pendekatan Ekonomi &amp; Politik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Harga memengaruhi akses pangan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27064" y="1947672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Kebijakan menentukan produksi dan distribusi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300984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Pasar membentuk pilihan konsumen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3300984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Ketimpangan dapat menghasilkan ketidakamanan pangan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Metode Mengkaji Budaya Makan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3749039" cy="4343400"/>
          </a:xfrm>
          <a:prstGeom prst="roundRect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2926080" cy="13716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"/>
              </a:defRPr>
            </a:pPr>
            <a:r>
              <a:t>MAKANAN</a:t>
            </a:r>
            <a:br/>
            <a:r>
              <a:t>MEMBAWA</a:t>
            </a:r>
            <a:br/>
            <a:r>
              <a:t>MAKNA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0">
                <a:solidFill>
                  <a:srgbClr val="EFD5CC"/>
                </a:solidFill>
                <a:latin typeface="Aptos"/>
              </a:defRPr>
            </a:pPr>
            <a:r>
              <a:t>Identitas • Nilai</a:t>
            </a:r>
            <a:br/>
            <a:r>
              <a:t>Relasi • Memori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73736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90195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184708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Observasi kebiasaan makan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56032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72491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67004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Wawancara dan cerita hidup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38328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349300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Etnografi rumah tangga atau komunitas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420624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370831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431596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Analisis media, menu, iklan, dan simbol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02 — Makanan sebagai Identitas Sosial &amp; Budaya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Apa yang kita makan dapat menunjukkan asal, komunitas, kelas, generasi, bahkan cara seseorang melihat dirinya.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Makanan dan Identitas Daerah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Coto Makassar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Rendang Minangkabau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Papeda Papua–Maluku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Gudeg Yogyakarta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3529584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3419856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Sinonggi Sulawesi Tenggara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Makanan sebagai Memori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Aroma dapat memicu ingatan masa kecil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27064" y="1947672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Resep keluarga menyimpan sejarah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300984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Makanan perantauan menghadirkan rasa “pulang”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3300984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Hidangan tertentu menghubungkan generasi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Kelas Sosial dan Selera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3749039" cy="4343400"/>
          </a:xfrm>
          <a:prstGeom prst="roundRect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2926080" cy="13716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"/>
              </a:defRPr>
            </a:pPr>
            <a:r>
              <a:t>MAKANAN</a:t>
            </a:r>
            <a:br/>
            <a:r>
              <a:t>MEMBAWA</a:t>
            </a:r>
            <a:br/>
            <a:r>
              <a:t>MAKNA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0">
                <a:solidFill>
                  <a:srgbClr val="EFD5CC"/>
                </a:solidFill>
                <a:latin typeface="Aptos"/>
              </a:defRPr>
            </a:pPr>
            <a:r>
              <a:t>Identitas • Nilai</a:t>
            </a:r>
            <a:br/>
            <a:r>
              <a:t>Relasi • Memori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73736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90195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184708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Pilihan makanan dapat menandai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56032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72491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67004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Tempat makan menjadi simbol gaya hidup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38328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349300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Produk premium membangun citra tertentu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420624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370831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431596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Selera juga dibentuk oleh pendidikan dan lingkungan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Generasi dan Perubahan Selera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Cara membacanya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07792"/>
            <a:ext cx="9966960" cy="73152"/>
          </a:xfrm>
          <a:prstGeom prst="rect">
            <a:avLst/>
          </a:prstGeom>
          <a:solidFill>
            <a:srgbClr val="DEC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Generasi muda terpapar tren digital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Makanan tradisional dapat dikemas ulang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Praktis dan visual makin penting</a:t>
            </a:r>
          </a:p>
        </p:txBody>
      </p:sp>
      <p:sp>
        <p:nvSpPr>
          <p:cNvPr id="18" name="Oval 17"/>
          <p:cNvSpPr/>
          <p:nvPr/>
        </p:nvSpPr>
        <p:spPr>
          <a:xfrm>
            <a:off x="1065276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Selera berubah tetapi identitas dapat tetap dipertahankan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03 — Ritual, Simbol, dan Tradisi Makan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Dalam banyak masyarakat, makanan hadir pada kelahiran, perkawinan, perayaan, kematian, dan berbagai ritus kehidupan.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Makanan dalam Upacara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Hidangan menandai momen penting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27064" y="1947672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Jenis makanan dapat memiliki aturan khusus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300984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Penyajian mengikuti urutan tertentu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3300984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Makan bersama memperkuat solidaritas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Makanan sebagai Simbol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3749039" cy="4343400"/>
          </a:xfrm>
          <a:prstGeom prst="roundRect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2926080" cy="13716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"/>
              </a:defRPr>
            </a:pPr>
            <a:r>
              <a:t>MAKANAN</a:t>
            </a:r>
            <a:br/>
            <a:r>
              <a:t>MEMBAWA</a:t>
            </a:r>
            <a:br/>
            <a:r>
              <a:t>MAKNA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0">
                <a:solidFill>
                  <a:srgbClr val="EFD5CC"/>
                </a:solidFill>
                <a:latin typeface="Aptos"/>
              </a:defRPr>
            </a:pPr>
            <a:r>
              <a:t>Identitas • Nilai</a:t>
            </a:r>
            <a:br/>
            <a:r>
              <a:t>Relasi • Memori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73736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90195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184708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Bentuk, warna, jumlah, dan bahan dapat bermakna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56032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72491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67004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Makanan dapat melambangkan syukur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38328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349300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Hidangan dapat menyimbolkan kemakmuran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420624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370831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431596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Makna simbolik berbeda antarbudaya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Tradisi Makan Bersama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Cara membacanya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07792"/>
            <a:ext cx="9966960" cy="73152"/>
          </a:xfrm>
          <a:prstGeom prst="rect">
            <a:avLst/>
          </a:prstGeom>
          <a:solidFill>
            <a:srgbClr val="DEC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Membangun rasa kebersamaan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Memperkuat hubungan keluarga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Menciptakan ruang berbagi cerita</a:t>
            </a:r>
          </a:p>
        </p:txBody>
      </p:sp>
      <p:sp>
        <p:nvSpPr>
          <p:cNvPr id="18" name="Oval 17"/>
          <p:cNvSpPr/>
          <p:nvPr/>
        </p:nvSpPr>
        <p:spPr>
          <a:xfrm>
            <a:off x="1065276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Menegaskan keanggotaan dalam kelompok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Perubahan Tradisi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Urbanisasi mengubah waktu makan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Keluarga kecil mengubah pola jamuan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Teknologi memengaruhi cara memesan makanan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Tradisi dapat bertahan melalui adaptasi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04 — Pantangan dan Preferensi Makanan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Tidak semua pilihan makan didasarkan pada rasa; norma, pengalaman, kesehatan, dan keyakinan ikut menentukan.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Apa Itu Pantangan Makanan?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3749039" cy="4343400"/>
          </a:xfrm>
          <a:prstGeom prst="roundRect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2926080" cy="13716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"/>
              </a:defRPr>
            </a:pPr>
            <a:r>
              <a:t>MAKANAN</a:t>
            </a:r>
            <a:br/>
            <a:r>
              <a:t>MEMBAWA</a:t>
            </a:r>
            <a:br/>
            <a:r>
              <a:t>MAKNA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0">
                <a:solidFill>
                  <a:srgbClr val="EFD5CC"/>
                </a:solidFill>
                <a:latin typeface="Aptos"/>
              </a:defRPr>
            </a:pPr>
            <a:r>
              <a:t>Identitas • Nilai</a:t>
            </a:r>
            <a:br/>
            <a:r>
              <a:t>Relasi • Memori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73736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90195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184708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Larangan atau pembatasan konsumsi tertentu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56032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72491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67004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Dapat terkait adat, agama, kesehatan, atau fase kehidupan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38328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349300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Sering diwariskan melalui keluarga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420624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370831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431596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Maknanya perlu dipahami sebelum dinilai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Preferensi Makanan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Cara membacanya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07792"/>
            <a:ext cx="9966960" cy="73152"/>
          </a:xfrm>
          <a:prstGeom prst="rect">
            <a:avLst/>
          </a:prstGeom>
          <a:solidFill>
            <a:srgbClr val="DEC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Rasa dan aroma</a:t>
            </a:r>
          </a:p>
        </p:txBody>
      </p:sp>
      <p:sp>
        <p:nvSpPr>
          <p:cNvPr id="12" name="Oval 11"/>
          <p:cNvSpPr/>
          <p:nvPr/>
        </p:nvSpPr>
        <p:spPr>
          <a:xfrm>
            <a:off x="334899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899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179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Kebiasaan sejak kecil</a:t>
            </a:r>
          </a:p>
        </p:txBody>
      </p:sp>
      <p:sp>
        <p:nvSpPr>
          <p:cNvPr id="15" name="Oval 14"/>
          <p:cNvSpPr/>
          <p:nvPr/>
        </p:nvSpPr>
        <p:spPr>
          <a:xfrm>
            <a:off x="578358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8358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638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Harga dan ketersediaan</a:t>
            </a:r>
          </a:p>
        </p:txBody>
      </p:sp>
      <p:sp>
        <p:nvSpPr>
          <p:cNvPr id="18" name="Oval 17"/>
          <p:cNvSpPr/>
          <p:nvPr/>
        </p:nvSpPr>
        <p:spPr>
          <a:xfrm>
            <a:off x="821817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817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097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Pengaruh teman dan keluarga</a:t>
            </a:r>
          </a:p>
        </p:txBody>
      </p:sp>
      <p:sp>
        <p:nvSpPr>
          <p:cNvPr id="21" name="Oval 20"/>
          <p:cNvSpPr/>
          <p:nvPr/>
        </p:nvSpPr>
        <p:spPr>
          <a:xfrm>
            <a:off x="1065276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6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Media dan tren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Pantangan pada Fase Kehidupan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Kehamilan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Masa nifas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Masa menyusui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Anak-anak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3529584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3419856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Orang sakit atau lanjut usia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Dampak Pantangan terhadap Gizi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Dapat melindungi dari risiko tertentu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27064" y="1947672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Dapat pula membatasi zat gizi penting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300984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Efek bergantung pada jenis pantangan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3300984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Edukasi perlu sensitif terhadap budaya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05 — Agama dan Makanan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Agama dapat mengatur apa yang boleh dimakan, cara memperoleh, cara mengolah, waktu makan, dan makna berbagi makanan.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Aturan Makan Keagamaan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Cara membacanya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07792"/>
            <a:ext cx="9966960" cy="73152"/>
          </a:xfrm>
          <a:prstGeom prst="rect">
            <a:avLst/>
          </a:prstGeom>
          <a:solidFill>
            <a:srgbClr val="DEC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Konsep halal dan haram</a:t>
            </a:r>
          </a:p>
        </p:txBody>
      </p:sp>
      <p:sp>
        <p:nvSpPr>
          <p:cNvPr id="12" name="Oval 11"/>
          <p:cNvSpPr/>
          <p:nvPr/>
        </p:nvSpPr>
        <p:spPr>
          <a:xfrm>
            <a:off x="334899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899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179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Pembatasan bahan tertentu</a:t>
            </a:r>
          </a:p>
        </p:txBody>
      </p:sp>
      <p:sp>
        <p:nvSpPr>
          <p:cNvPr id="15" name="Oval 14"/>
          <p:cNvSpPr/>
          <p:nvPr/>
        </p:nvSpPr>
        <p:spPr>
          <a:xfrm>
            <a:off x="578358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8358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638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Aturan penyembelihan atau pengolahan</a:t>
            </a:r>
          </a:p>
        </p:txBody>
      </p:sp>
      <p:sp>
        <p:nvSpPr>
          <p:cNvPr id="18" name="Oval 17"/>
          <p:cNvSpPr/>
          <p:nvPr/>
        </p:nvSpPr>
        <p:spPr>
          <a:xfrm>
            <a:off x="821817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817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097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Puasa dan waktu konsumsi</a:t>
            </a:r>
          </a:p>
        </p:txBody>
      </p:sp>
      <p:sp>
        <p:nvSpPr>
          <p:cNvPr id="21" name="Oval 20"/>
          <p:cNvSpPr/>
          <p:nvPr/>
        </p:nvSpPr>
        <p:spPr>
          <a:xfrm>
            <a:off x="1065276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6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Nilai kesucian dan pengendalian diri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Puasa sebagai Praktik Sosial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Memiliki dimensi spiritual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Mengubah jadwal makan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Membentuk solidaritas komunitas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Mendorong praktik berbagi dan kepedulian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Menghormati Keragaman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Tanyakan kebutuhan makanan secara sopan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27064" y="1947672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Jangan menganggap semua orang sama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300984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Sediakan pilihan yang sesuai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3300984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Perhatikan kontaminasi silang bila relevan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06 — Pangan Lokal, Globalisasi &amp; Identitas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Globalisasi memperluas pilihan pangan sekaligus menantang keberlanjutan dan identitas kuliner lokal.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Kekuatan Pangan Lokal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Cara membacanya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07792"/>
            <a:ext cx="9966960" cy="73152"/>
          </a:xfrm>
          <a:prstGeom prst="rect">
            <a:avLst/>
          </a:prstGeom>
          <a:solidFill>
            <a:srgbClr val="DEC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Dekat dengan ekologi setempat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Mendukung ekonomi lokal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2596896"/>
            <a:ext cx="658368" cy="658368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Menyimpan pengetahuan tradisional</a:t>
            </a:r>
          </a:p>
        </p:txBody>
      </p:sp>
      <p:sp>
        <p:nvSpPr>
          <p:cNvPr id="18" name="Oval 17"/>
          <p:cNvSpPr/>
          <p:nvPr/>
        </p:nvSpPr>
        <p:spPr>
          <a:xfrm>
            <a:off x="10652760" y="2596896"/>
            <a:ext cx="658368" cy="65836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2734056"/>
            <a:ext cx="658368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456432"/>
            <a:ext cx="1572768" cy="10972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250" b="1">
                <a:solidFill>
                  <a:srgbClr val="2D2A2B"/>
                </a:solidFill>
                <a:latin typeface="Aptos"/>
              </a:defRPr>
            </a:pPr>
            <a:r>
              <a:t>Dapat memperkuat ketahanan pangan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Globalisasi Pangan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Merek global hadir di banyak kota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Bahan impor semakin mudah diperoleh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Selera menjadi lebih lintas budaya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Media mempercepat penyebaran tren makanan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Hibridisasi Kuliner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Resep lokal bertemu teknik global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27064" y="1947672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Muncul makanan fusion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300984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Bahan tradisional mendapat bentuk baru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3300984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Identitas kuliner menjadi dinamis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Identitas yang Melekat pada Pangan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3749039" cy="4343400"/>
          </a:xfrm>
          <a:prstGeom prst="roundRect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2926080" cy="13716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"/>
              </a:defRPr>
            </a:pPr>
            <a:r>
              <a:t>MAKANAN</a:t>
            </a:r>
            <a:br/>
            <a:r>
              <a:t>MEMBAWA</a:t>
            </a:r>
            <a:br/>
            <a:r>
              <a:t>MAKNA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0">
                <a:solidFill>
                  <a:srgbClr val="EFD5CC"/>
                </a:solidFill>
                <a:latin typeface="Aptos"/>
              </a:defRPr>
            </a:pPr>
            <a:r>
              <a:t>Identitas • Nilai</a:t>
            </a:r>
            <a:br/>
            <a:r>
              <a:t>Relasi • Memori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73736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90195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184708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Nama daerah meningkatkan nilai simbolik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56032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72491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67004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Cerita asal-usul menjadi bagian produk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38328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349300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Kemasan dapat menampilkan budaya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420624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370831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431596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Kuliner dapat menjadi identitas pariwisata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07 — Makanan dan Relasi Kuasa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Siapa yang memproduksi, menguasai, mendistribusikan, dan menentukan harga pangan berkaitan erat dengan kekuasaan.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Akses Pangan Tidak Selalu Setara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Pendapatan menentukan kemampuan membeli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Lokasi memengaruhi ketersediaan pangan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Kelompok rentan menghadapi hambatan lebih besar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Harga dapat membatasi pilihan sehat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Kuasa dalam Rumah Tangga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Siapa menentukan menu?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91640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27064" y="1947672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2029968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892808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Siapa berbelanja dan memasak?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300984"/>
            <a:ext cx="411480" cy="41148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Siapa mendapat porsi terbaik?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044952"/>
            <a:ext cx="4892040" cy="10607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27064" y="3300984"/>
            <a:ext cx="411480" cy="41148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383280"/>
            <a:ext cx="411480" cy="1554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246120"/>
            <a:ext cx="3703320" cy="6400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Pembagian pangan dapat mencerminkan gender dan usia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Industri, Iklan, dan Konsumen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3749039" cy="4343400"/>
          </a:xfrm>
          <a:prstGeom prst="roundRect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2926080" cy="137160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"/>
              </a:defRPr>
            </a:pPr>
            <a:r>
              <a:t>MAKANAN</a:t>
            </a:r>
            <a:br/>
            <a:r>
              <a:t>MEMBAWA</a:t>
            </a:r>
            <a:br/>
            <a:r>
              <a:t>MAKNA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0">
                <a:solidFill>
                  <a:srgbClr val="EFD5CC"/>
                </a:solidFill>
                <a:latin typeface="Aptos"/>
              </a:defRPr>
            </a:pPr>
            <a:r>
              <a:t>Identitas • Nilai</a:t>
            </a:r>
            <a:br/>
            <a:r>
              <a:t>Relasi • Memori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73736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90195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184708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Iklan membentuk persepsi kebutuhan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56032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72491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67004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Kemasan memengaruhi pilihan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38328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349300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Promosi digital menyasar kelompok tertentu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4206240"/>
            <a:ext cx="60807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370831"/>
            <a:ext cx="457200" cy="18288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000" b="1">
                <a:solidFill>
                  <a:srgbClr val="B95B4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4315968"/>
            <a:ext cx="4892040" cy="38404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Konsumen tetap dipengaruhi struktur pasar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4" name="Oval 3"/>
          <p:cNvSpPr/>
          <p:nvPr/>
        </p:nvSpPr>
        <p:spPr>
          <a:xfrm>
            <a:off x="8823960" y="777240"/>
            <a:ext cx="2606040" cy="2606040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1737360"/>
            <a:ext cx="822960" cy="822960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132320" cy="12344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08 — Isu Kesehatan &amp; Gaya Hidup Makan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27248"/>
            <a:ext cx="6400800" cy="10515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600" b="0">
                <a:solidFill>
                  <a:srgbClr val="EBDCD7"/>
                </a:solidFill>
                <a:latin typeface="Aptos"/>
              </a:defRPr>
            </a:pPr>
            <a:r>
              <a:t>Gaya hidup modern mengubah kapan, di mana, dengan siapa, dan apa yang dikonsumsi.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754880"/>
            <a:ext cx="4297680" cy="73152"/>
          </a:xfrm>
          <a:prstGeom prst="rect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47488"/>
            <a:ext cx="402336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EFD5CC"/>
                </a:solidFill>
                <a:latin typeface="Aptos"/>
              </a:defRPr>
            </a:pPr>
            <a:r>
              <a:t>MAKANAN SEBAGAI FENOMENA SOSIAL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Pola Makan Modern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EFD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B95B45"/>
                </a:solidFill>
                <a:latin typeface="Aptos"/>
              </a:defRPr>
            </a:pPr>
            <a:r>
              <a:t>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498348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B95B45"/>
                </a:solidFill>
                <a:latin typeface="Aptos"/>
              </a:defRPr>
            </a:pPr>
            <a:r>
              <a:t>Dimensi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24328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Makanan siap saji lebih mudah diakses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02152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29000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Waktu makan semakin fleksibel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500" b="1">
                <a:solidFill>
                  <a:srgbClr val="688B7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33672"/>
            <a:ext cx="379476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0">
                <a:solidFill>
                  <a:srgbClr val="2D2A2B"/>
                </a:solidFill>
                <a:latin typeface="Aptos"/>
              </a:defRPr>
            </a:pPr>
            <a:r>
              <a:t>Pesan-antar mengubah kebiasaan konsumsi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719072"/>
            <a:ext cx="5074920" cy="4160520"/>
          </a:xfrm>
          <a:prstGeom prst="roundRect">
            <a:avLst/>
          </a:prstGeom>
          <a:solidFill>
            <a:srgbClr val="2C2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400" b="1">
                <a:solidFill>
                  <a:srgbClr val="DBA647"/>
                </a:solidFill>
                <a:latin typeface="Aptos"/>
              </a:defRPr>
            </a:pPr>
            <a:r>
              <a:t>Konteks sosial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24912"/>
            <a:ext cx="246888" cy="246888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15184"/>
            <a:ext cx="3657600" cy="594360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</a:defRPr>
            </a:pPr>
            <a:r>
              <a:t>Makan sambil menggunakan layar semakin umum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100" b="1">
                <a:solidFill>
                  <a:srgbClr val="B95B45"/>
                </a:solidFill>
                <a:latin typeface="Aptos"/>
              </a:defRPr>
            </a:pPr>
            <a:r>
              <a:t>FOOD • SOCIETY • CULTURE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19088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r">
              <a:defRPr sz="1100" b="1">
                <a:solidFill>
                  <a:srgbClr val="69605E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8458200" cy="71323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2200" b="1">
                <a:solidFill>
                  <a:srgbClr val="532B37"/>
                </a:solidFill>
                <a:latin typeface="Aptos"/>
              </a:defRPr>
            </a:pPr>
            <a:r>
              <a:t>Kesimpulan</a:t>
            </a:r>
          </a:p>
        </p:txBody>
      </p:sp>
      <p:sp>
        <p:nvSpPr>
          <p:cNvPr id="5" name="Oval 4"/>
          <p:cNvSpPr/>
          <p:nvPr/>
        </p:nvSpPr>
        <p:spPr>
          <a:xfrm>
            <a:off x="9966960" y="640080"/>
            <a:ext cx="1188720" cy="1188720"/>
          </a:xfrm>
          <a:prstGeom prst="ellipse">
            <a:avLst/>
          </a:prstGeom>
          <a:solidFill>
            <a:srgbClr val="F1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04120" y="868680"/>
            <a:ext cx="914400" cy="548640"/>
          </a:xfrm>
          <a:prstGeom prst="rect">
            <a:avLst/>
          </a:prstGeom>
          <a:noFill/>
        </p:spPr>
        <p:txBody>
          <a:bodyPr wrap="square" anchor="ctr" lIns="36576" rIns="36576" tIns="22860" bIns="22860">
            <a:spAutoFit/>
          </a:bodyPr>
          <a:lstStyle/>
          <a:p>
            <a:pPr algn="ctr">
              <a:defRPr sz="2600" b="1">
                <a:solidFill>
                  <a:srgbClr val="688B77"/>
                </a:solidFill>
                <a:latin typeface="Aptos"/>
              </a:defRPr>
            </a:pPr>
            <a:r>
              <a:t>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45920"/>
            <a:ext cx="48920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892808"/>
            <a:ext cx="438912" cy="438912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75104"/>
            <a:ext cx="438912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7048" y="1874519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Makanan adalah produk biologis sekaligus sosial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7" y="1645920"/>
            <a:ext cx="48920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63640" y="1892808"/>
            <a:ext cx="438912" cy="438912"/>
          </a:xfrm>
          <a:prstGeom prst="ellipse">
            <a:avLst/>
          </a:prstGeom>
          <a:solidFill>
            <a:srgbClr val="DBA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975104"/>
            <a:ext cx="438912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1874519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Identitas dan tradisi membentuk pilihan makan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46120"/>
            <a:ext cx="48920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93008"/>
            <a:ext cx="438912" cy="438912"/>
          </a:xfrm>
          <a:prstGeom prst="ellipse">
            <a:avLst/>
          </a:prstGeom>
          <a:solidFill>
            <a:srgbClr val="688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75303"/>
            <a:ext cx="438912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3474720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Agama, globalisasi, dan kekuasaan memengaruhi akses serta makna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07607" y="3246120"/>
            <a:ext cx="48920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63640" y="3493008"/>
            <a:ext cx="438912" cy="438912"/>
          </a:xfrm>
          <a:prstGeom prst="ellipse">
            <a:avLst/>
          </a:prstGeom>
          <a:solidFill>
            <a:srgbClr val="53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575303"/>
            <a:ext cx="438912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3474720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Media dan gaya hidup ikut mengubah budaya makan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0360" y="4892040"/>
            <a:ext cx="6400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36391" y="5138927"/>
            <a:ext cx="438912" cy="438912"/>
          </a:xfrm>
          <a:prstGeom prst="ellipse">
            <a:avLst/>
          </a:prstGeom>
          <a:solidFill>
            <a:srgbClr val="B95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36391" y="5221224"/>
            <a:ext cx="438912" cy="164592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5120640"/>
            <a:ext cx="5257800" cy="749808"/>
          </a:xfrm>
          <a:prstGeom prst="rect">
            <a:avLst/>
          </a:prstGeom>
          <a:noFill/>
        </p:spPr>
        <p:txBody>
          <a:bodyPr wrap="square" anchor="t" lIns="36576" rIns="36576" tIns="22860" bIns="22860">
            <a:spAutoFit/>
          </a:bodyPr>
          <a:lstStyle/>
          <a:p>
            <a:pPr algn="l">
              <a:defRPr sz="1350" b="1">
                <a:solidFill>
                  <a:srgbClr val="2D2A2B"/>
                </a:solidFill>
                <a:latin typeface="Aptos"/>
              </a:defRPr>
            </a:pPr>
            <a:r>
              <a:t>Pendekatan kesehatan perlu menghargai konteks budaya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