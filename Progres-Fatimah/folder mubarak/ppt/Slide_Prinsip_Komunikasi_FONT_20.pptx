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95360" y="-502920"/>
            <a:ext cx="4389120" cy="438912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64040" y="411480"/>
            <a:ext cx="2514600" cy="251460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1188720"/>
            <a:ext cx="914400" cy="91440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960120"/>
            <a:ext cx="68580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1">
                <a:solidFill>
                  <a:srgbClr val="70C9BE"/>
                </a:solidFill>
                <a:latin typeface="Aptos"/>
              </a:defRPr>
            </a:pPr>
            <a:r>
              <a:rPr sz="2800"/>
              <a:t>PRINSIP KOMUNIKASI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7040880" cy="1508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rPr sz="2800"/>
              <a:t>DALAM PERAWATAN</a:t>
            </a:r>
            <a:br/>
            <a:r>
              <a:rPr sz="2800"/>
              <a:t>PALIATIF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401568"/>
            <a:ext cx="612648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700" b="0">
                <a:solidFill>
                  <a:srgbClr val="DCE6EB"/>
                </a:solidFill>
                <a:latin typeface="Aptos"/>
              </a:defRPr>
            </a:pPr>
            <a:r>
              <a:rPr sz="2000"/>
              <a:t>Komunikasi yang hadir, jelas, suportif, dan bermartabat.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4480560"/>
            <a:ext cx="4297680" cy="64008"/>
          </a:xfrm>
          <a:prstGeom prst="rect">
            <a:avLst/>
          </a:prstGeom>
          <a:solidFill>
            <a:srgbClr val="70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4736592"/>
            <a:ext cx="667512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rPr sz="2000"/>
              <a:t>Komunikasi terapeutik • Informasi • Keputusan bersama</a:t>
            </a:r>
            <a:br/>
            <a:r>
              <a:rPr sz="2000"/>
              <a:t>Dukungan emosional-spiritual • Martabat pasien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5989320"/>
            <a:ext cx="34747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E7B249"/>
                </a:solidFill>
                <a:latin typeface="Aptos"/>
              </a:defRPr>
            </a:pPr>
            <a:r>
              <a:rPr sz="2000"/>
              <a:t>30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Mengapa Komunikasi Sangat Penting?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19" y="768096"/>
            <a:ext cx="86868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3400" b="1">
                <a:solidFill>
                  <a:srgbClr val="E7B249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6304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D8B8B"/>
                </a:solidFill>
                <a:latin typeface="Aptos"/>
              </a:defRPr>
            </a:pPr>
            <a:r>
              <a:rPr sz="2400"/>
              <a:t>Langkah praktis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71800"/>
            <a:ext cx="9966960" cy="64008"/>
          </a:xfrm>
          <a:prstGeom prst="rect">
            <a:avLst/>
          </a:prstGeom>
          <a:solidFill>
            <a:srgbClr val="C5D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670048"/>
            <a:ext cx="640080" cy="64008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520440"/>
            <a:ext cx="16002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/>
              <a:t>Mengurangi kecemasan pasien dan keluarga</a:t>
            </a:r>
          </a:p>
        </p:txBody>
      </p:sp>
      <p:sp>
        <p:nvSpPr>
          <p:cNvPr id="12" name="Oval 11"/>
          <p:cNvSpPr/>
          <p:nvPr/>
        </p:nvSpPr>
        <p:spPr>
          <a:xfrm>
            <a:off x="4160520" y="2670048"/>
            <a:ext cx="640080" cy="64008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052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3520440"/>
            <a:ext cx="16002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/>
              <a:t>Membantu memahami kondisi dan pilihan perawatan</a:t>
            </a:r>
          </a:p>
        </p:txBody>
      </p:sp>
      <p:sp>
        <p:nvSpPr>
          <p:cNvPr id="15" name="Oval 14"/>
          <p:cNvSpPr/>
          <p:nvPr/>
        </p:nvSpPr>
        <p:spPr>
          <a:xfrm>
            <a:off x="7406640" y="2670048"/>
            <a:ext cx="640080" cy="64008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3520440"/>
            <a:ext cx="16002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/>
              <a:t>Mencegah salah paham dan konflik</a:t>
            </a:r>
          </a:p>
        </p:txBody>
      </p:sp>
      <p:sp>
        <p:nvSpPr>
          <p:cNvPr id="18" name="Oval 17"/>
          <p:cNvSpPr/>
          <p:nvPr/>
        </p:nvSpPr>
        <p:spPr>
          <a:xfrm>
            <a:off x="10652760" y="2670048"/>
            <a:ext cx="640080" cy="64008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5276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77272" y="3520440"/>
            <a:ext cx="16002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/>
              <a:t>Menjaga rasa aman, percaya, dan dihargai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Tujuan Komunikasi Paliatif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68712" y="987552"/>
            <a:ext cx="530352" cy="530352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50424" y="932688"/>
            <a:ext cx="56692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rPr sz="2400"/>
              <a:t>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31089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Praktik yang dianjurkan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3347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Memahami kebutuhan fisik, psikologis, sosial, dan spiritual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3525012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 dirty="0"/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515868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Mendukung</a:t>
            </a:r>
            <a:r>
              <a:rPr sz="2000" dirty="0"/>
              <a:t> </a:t>
            </a:r>
            <a:r>
              <a:rPr sz="2000" dirty="0" err="1"/>
              <a:t>kualitas</a:t>
            </a:r>
            <a:r>
              <a:rPr sz="2000" dirty="0"/>
              <a:t> </a:t>
            </a:r>
            <a:r>
              <a:rPr sz="2000" dirty="0" err="1"/>
              <a:t>hidup</a:t>
            </a:r>
            <a:r>
              <a:rPr sz="2000" dirty="0"/>
              <a:t> </a:t>
            </a:r>
            <a:r>
              <a:rPr sz="2000" dirty="0" err="1"/>
              <a:t>pasien</a:t>
            </a:r>
            <a:endParaRPr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932688" y="425196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18795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Membantu pasien menyampaikan nilai dan harapan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2011680"/>
            <a:ext cx="25603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E7B249"/>
                </a:solidFill>
                <a:latin typeface="Aptos"/>
              </a:defRPr>
            </a:pPr>
            <a:r>
              <a:rPr sz="2000"/>
              <a:t>Fokus komunikasi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2724912"/>
            <a:ext cx="237744" cy="237744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2615184"/>
            <a:ext cx="36576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2000"/>
              <a:t>Membangun keputusan yang realistis dan manusiawi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4062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lang="en-US" sz="2400" dirty="0" err="1"/>
              <a:t>Empat</a:t>
            </a:r>
            <a:r>
              <a:rPr sz="2400" dirty="0"/>
              <a:t> </a:t>
            </a:r>
            <a:r>
              <a:rPr sz="2400" dirty="0" err="1"/>
              <a:t>Prinsip</a:t>
            </a:r>
            <a:r>
              <a:rPr sz="2400" dirty="0"/>
              <a:t> Utama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640080"/>
            <a:ext cx="1371600" cy="1051560"/>
          </a:xfrm>
          <a:prstGeom prst="round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804671"/>
            <a:ext cx="10058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2800" b="1">
                <a:solidFill>
                  <a:srgbClr val="1D8B8B"/>
                </a:solidFill>
                <a:latin typeface="Aptos"/>
              </a:defRPr>
            </a:pPr>
            <a:r>
              <a:rPr sz="2400"/>
              <a:t>“ ”</a:t>
            </a:r>
          </a:p>
        </p:txBody>
      </p:sp>
      <p:sp>
        <p:nvSpPr>
          <p:cNvPr id="7" name="Oval 6"/>
          <p:cNvSpPr/>
          <p:nvPr/>
        </p:nvSpPr>
        <p:spPr>
          <a:xfrm>
            <a:off x="10506456" y="1517904"/>
            <a:ext cx="228600" cy="22860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6968" y="1993391"/>
            <a:ext cx="457200" cy="45720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075688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9659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1F2E39"/>
                </a:solidFill>
                <a:latin typeface="Aptos"/>
              </a:defRPr>
            </a:pPr>
            <a:r>
              <a:rPr sz="2000"/>
              <a:t>Komunikasi terapeutik &amp; empati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7607" y="17373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36207" y="1993391"/>
            <a:ext cx="457200" cy="45720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7" y="2075688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9659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1F2E39"/>
                </a:solidFill>
                <a:latin typeface="Aptos"/>
              </a:defRPr>
            </a:pPr>
            <a:r>
              <a:rPr sz="2000"/>
              <a:t>Informasi yang jelas &amp; lengkap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3375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6968" y="3593591"/>
            <a:ext cx="457200" cy="45720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675887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35661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1F2E39"/>
                </a:solidFill>
                <a:latin typeface="Aptos"/>
              </a:defRPr>
            </a:pPr>
            <a:r>
              <a:rPr sz="2000"/>
              <a:t>Keputusan bersama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07607" y="33375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236207" y="3593591"/>
            <a:ext cx="457200" cy="45720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36207" y="3675887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35661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1F2E39"/>
                </a:solidFill>
                <a:latin typeface="Aptos"/>
              </a:defRPr>
            </a:pPr>
            <a:r>
              <a:rPr sz="2000"/>
              <a:t>Dukungan emosional &amp; spiritual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257800"/>
            <a:ext cx="10469880" cy="896112"/>
          </a:xfrm>
          <a:prstGeom prst="round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431536"/>
            <a:ext cx="98755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200" b="1">
                <a:solidFill>
                  <a:srgbClr val="12273A"/>
                </a:solidFill>
                <a:latin typeface="Aptos"/>
              </a:defRPr>
            </a:pPr>
            <a:r>
              <a:rPr sz="2000" dirty="0" err="1"/>
              <a:t>Kunci</a:t>
            </a:r>
            <a:r>
              <a:rPr sz="2000" dirty="0"/>
              <a:t>: </a:t>
            </a:r>
            <a:r>
              <a:rPr sz="2000" dirty="0" err="1"/>
              <a:t>komunikasikan</a:t>
            </a:r>
            <a:r>
              <a:rPr sz="2000" dirty="0"/>
              <a:t> </a:t>
            </a:r>
            <a:r>
              <a:rPr sz="2000" dirty="0" err="1"/>
              <a:t>dengan</a:t>
            </a:r>
            <a:r>
              <a:rPr sz="2000" dirty="0"/>
              <a:t> </a:t>
            </a:r>
            <a:r>
              <a:rPr sz="2000" dirty="0" err="1"/>
              <a:t>tenang</a:t>
            </a:r>
            <a:r>
              <a:rPr sz="2000" dirty="0"/>
              <a:t>, </a:t>
            </a:r>
            <a:r>
              <a:rPr sz="2000" dirty="0" err="1"/>
              <a:t>terstruktur</a:t>
            </a:r>
            <a:r>
              <a:rPr sz="2000" dirty="0"/>
              <a:t>, dan </a:t>
            </a:r>
            <a:r>
              <a:rPr sz="2000" dirty="0" err="1"/>
              <a:t>berpusat</a:t>
            </a:r>
            <a:r>
              <a:rPr sz="2000" dirty="0"/>
              <a:t> pada </a:t>
            </a:r>
            <a:r>
              <a:rPr sz="2000" dirty="0" err="1"/>
              <a:t>kebutuhan</a:t>
            </a:r>
            <a:r>
              <a:rPr sz="2000" dirty="0"/>
              <a:t> </a:t>
            </a:r>
            <a:r>
              <a:rPr sz="2000" dirty="0" err="1"/>
              <a:t>pasien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05</a:t>
            </a:r>
          </a:p>
        </p:txBody>
      </p:sp>
      <p:sp>
        <p:nvSpPr>
          <p:cNvPr id="4" name="Oval 3"/>
          <p:cNvSpPr/>
          <p:nvPr/>
        </p:nvSpPr>
        <p:spPr>
          <a:xfrm>
            <a:off x="8823960" y="822960"/>
            <a:ext cx="2560320" cy="256032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38360" y="1737360"/>
            <a:ext cx="822960" cy="82296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7223760" cy="1143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rPr sz="2000"/>
              <a:t>01 — Komunikasi Terapeutik &amp; Empati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63240"/>
            <a:ext cx="640080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D6E4EA"/>
                </a:solidFill>
                <a:latin typeface="Aptos"/>
              </a:defRPr>
            </a:pPr>
            <a:r>
              <a:rPr sz="2000"/>
              <a:t>Membangun hubungan yang aman melalui kehadiran, mendengar, memahami, dan merespons dengan empati.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4709160"/>
            <a:ext cx="4480560" cy="73152"/>
          </a:xfrm>
          <a:prstGeom prst="rect">
            <a:avLst/>
          </a:prstGeom>
          <a:solidFill>
            <a:srgbClr val="70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010912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000" b="1">
                <a:solidFill>
                  <a:srgbClr val="E0F5F0"/>
                </a:solidFill>
                <a:latin typeface="Aptos"/>
              </a:defRPr>
            </a:pPr>
            <a:r>
              <a:rPr sz="2000"/>
              <a:t>PRINSIP KOMUNIKASI PALIATIF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Apa Itu Komunikasi Terapeutik?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68712" y="987552"/>
            <a:ext cx="530352" cy="530352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50424" y="932688"/>
            <a:ext cx="56692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rPr sz="2400"/>
              <a:t>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6304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D8B8B"/>
                </a:solidFill>
                <a:latin typeface="Aptos"/>
              </a:defRPr>
            </a:pPr>
            <a:r>
              <a:rPr sz="2400"/>
              <a:t>Langkah praktis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971800"/>
            <a:ext cx="9966960" cy="64008"/>
          </a:xfrm>
          <a:prstGeom prst="rect">
            <a:avLst/>
          </a:prstGeom>
          <a:solidFill>
            <a:srgbClr val="C5D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2670048"/>
            <a:ext cx="640080" cy="64008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3520440"/>
            <a:ext cx="16002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/>
              <a:t>Interaksi profesional yang memiliki tujuan terapeutik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2670048"/>
            <a:ext cx="640080" cy="64008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3520440"/>
            <a:ext cx="16002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/>
              <a:t>Berfokus pada kebutuhan dan pengalaman pasien</a:t>
            </a:r>
          </a:p>
        </p:txBody>
      </p:sp>
      <p:sp>
        <p:nvSpPr>
          <p:cNvPr id="16" name="Oval 15"/>
          <p:cNvSpPr/>
          <p:nvPr/>
        </p:nvSpPr>
        <p:spPr>
          <a:xfrm>
            <a:off x="7406640" y="2670048"/>
            <a:ext cx="640080" cy="64008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3520440"/>
            <a:ext cx="16002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/>
              <a:t>Mendorong pasien mengekspresikan perasaan</a:t>
            </a:r>
          </a:p>
        </p:txBody>
      </p:sp>
      <p:sp>
        <p:nvSpPr>
          <p:cNvPr id="19" name="Oval 18"/>
          <p:cNvSpPr/>
          <p:nvPr/>
        </p:nvSpPr>
        <p:spPr>
          <a:xfrm>
            <a:off x="10652760" y="2670048"/>
            <a:ext cx="640080" cy="64008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5276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77272" y="3520440"/>
            <a:ext cx="16002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/>
              <a:t>Menggunakan komunikasi verbal dan nonverbal secara sadar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Empati dalam Perawatan Paliatif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640080"/>
            <a:ext cx="1371600" cy="1051560"/>
          </a:xfrm>
          <a:prstGeom prst="round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804671"/>
            <a:ext cx="10058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2800" b="1">
                <a:solidFill>
                  <a:srgbClr val="1D8B8B"/>
                </a:solidFill>
                <a:latin typeface="Aptos"/>
              </a:defRPr>
            </a:pPr>
            <a:r>
              <a:rPr sz="2400"/>
              <a:t>“ ”</a:t>
            </a:r>
          </a:p>
        </p:txBody>
      </p:sp>
      <p:sp>
        <p:nvSpPr>
          <p:cNvPr id="7" name="Oval 6"/>
          <p:cNvSpPr/>
          <p:nvPr/>
        </p:nvSpPr>
        <p:spPr>
          <a:xfrm>
            <a:off x="10506456" y="1517904"/>
            <a:ext cx="228600" cy="22860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31089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Praktik yang dianjurkan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3347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Memahami pengalaman pasien dari sudut pandangnya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47472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071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Mengakui emosi tanpa menghakimi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25196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18795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Tidak terburu-buru memberi nasihat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2011680"/>
            <a:ext cx="25603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E7B249"/>
                </a:solidFill>
                <a:latin typeface="Aptos"/>
              </a:defRPr>
            </a:pPr>
            <a:r>
              <a:rPr sz="2000"/>
              <a:t>Fokus komunikasi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2724912"/>
            <a:ext cx="237744" cy="237744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2615184"/>
            <a:ext cx="36576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2000"/>
              <a:t>Menunjukkan bahwa pasien tidak menghadapi situasi sendirian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Mendengarkan Aktif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19" y="768096"/>
            <a:ext cx="86868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3400" b="1">
                <a:solidFill>
                  <a:srgbClr val="E7B249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1993391"/>
            <a:ext cx="457200" cy="45720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19659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1F2E39"/>
                </a:solidFill>
                <a:latin typeface="Aptos"/>
              </a:defRPr>
            </a:pPr>
            <a:r>
              <a:rPr sz="2000"/>
              <a:t>Berikan perhatian penuh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7" y="17373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36207" y="1993391"/>
            <a:ext cx="457200" cy="45720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36207" y="2075688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19659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1F2E39"/>
                </a:solidFill>
                <a:latin typeface="Aptos"/>
              </a:defRPr>
            </a:pPr>
            <a:r>
              <a:rPr sz="2000"/>
              <a:t>Gunakan kontak mata yang sesuai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3375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86968" y="3593591"/>
            <a:ext cx="457200" cy="45720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3675887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35661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1F2E39"/>
                </a:solidFill>
                <a:latin typeface="Aptos"/>
              </a:defRPr>
            </a:pPr>
            <a:r>
              <a:rPr sz="2000"/>
              <a:t>Jangan memotong pembicaraan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07607" y="33375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36207" y="3593591"/>
            <a:ext cx="457200" cy="45720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36207" y="3675887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35661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/>
              <a:t>Klarifikasi hal yang belum dipahami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257800"/>
            <a:ext cx="10469880" cy="923544"/>
          </a:xfrm>
          <a:prstGeom prst="round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5431536"/>
            <a:ext cx="98755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200" b="1">
                <a:solidFill>
                  <a:srgbClr val="12273A"/>
                </a:solidFill>
                <a:latin typeface="Aptos"/>
              </a:defRPr>
            </a:pPr>
            <a:r>
              <a:rPr sz="2000"/>
              <a:t>Kunci: komunikasikan dengan tenang, terstruktur, dan berpusat pada kebutuhan pasien.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Respons Empatik yang Tepat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68712" y="987552"/>
            <a:ext cx="530352" cy="530352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50424" y="932688"/>
            <a:ext cx="56692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rPr sz="2400"/>
              <a:t>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91640"/>
            <a:ext cx="3749039" cy="434340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2971800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rPr sz="2000"/>
              <a:t>KOMUNIKASI</a:t>
            </a:r>
            <a:br/>
            <a:r>
              <a:rPr sz="2000"/>
              <a:t>YANG</a:t>
            </a:r>
            <a:br/>
            <a:r>
              <a:rPr sz="2000"/>
              <a:t>MANUSIAWI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256032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0">
                <a:solidFill>
                  <a:srgbClr val="E0F5F0"/>
                </a:solidFill>
                <a:latin typeface="Aptos"/>
              </a:defRPr>
            </a:pPr>
            <a:r>
              <a:rPr sz="2000"/>
              <a:t>Hadir • Dengarkan</a:t>
            </a:r>
            <a:br/>
            <a:r>
              <a:rPr sz="2000"/>
              <a:t>Validasi • Respons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719071"/>
            <a:ext cx="6080760" cy="9601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47488" y="1892807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1837943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 dirty="0"/>
              <a:t>“Saya </a:t>
            </a:r>
            <a:r>
              <a:rPr sz="2000" dirty="0" err="1"/>
              <a:t>bisa</a:t>
            </a:r>
            <a:r>
              <a:rPr sz="2000" dirty="0"/>
              <a:t> </a:t>
            </a:r>
            <a:r>
              <a:rPr sz="2000" dirty="0" err="1"/>
              <a:t>melihat</a:t>
            </a:r>
            <a:r>
              <a:rPr sz="2000" dirty="0"/>
              <a:t> </a:t>
            </a:r>
            <a:r>
              <a:rPr sz="2000" dirty="0" err="1"/>
              <a:t>bahwa</a:t>
            </a:r>
            <a:r>
              <a:rPr sz="2000" dirty="0"/>
              <a:t> </a:t>
            </a:r>
            <a:r>
              <a:rPr sz="2000" dirty="0" err="1"/>
              <a:t>situasi</a:t>
            </a:r>
            <a:r>
              <a:rPr sz="2000" dirty="0"/>
              <a:t> </a:t>
            </a:r>
            <a:r>
              <a:rPr sz="2000" dirty="0" err="1"/>
              <a:t>ini</a:t>
            </a:r>
            <a:r>
              <a:rPr sz="2000" dirty="0"/>
              <a:t> sangat </a:t>
            </a:r>
            <a:r>
              <a:rPr sz="2000" dirty="0" err="1"/>
              <a:t>berat</a:t>
            </a:r>
            <a:r>
              <a:rPr sz="2000" dirty="0"/>
              <a:t> </a:t>
            </a:r>
            <a:r>
              <a:rPr sz="2000" dirty="0" err="1"/>
              <a:t>bagi</a:t>
            </a:r>
            <a:r>
              <a:rPr sz="2000" dirty="0"/>
              <a:t> Bapak/Ibu.”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2848356"/>
            <a:ext cx="6080760" cy="80924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47488" y="3022093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2967228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 dirty="0"/>
              <a:t>“Apa yang paling Bapak/Ibu </a:t>
            </a:r>
            <a:r>
              <a:rPr sz="2000" dirty="0" err="1"/>
              <a:t>khawatirkan</a:t>
            </a:r>
            <a:r>
              <a:rPr sz="2000" dirty="0"/>
              <a:t> </a:t>
            </a:r>
            <a:r>
              <a:rPr sz="2000" dirty="0" err="1"/>
              <a:t>saat</a:t>
            </a:r>
            <a:r>
              <a:rPr sz="2000" dirty="0"/>
              <a:t> </a:t>
            </a:r>
            <a:r>
              <a:rPr sz="2000" dirty="0" err="1"/>
              <a:t>ini</a:t>
            </a:r>
            <a:r>
              <a:rPr sz="2000" dirty="0"/>
              <a:t>?”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3826764"/>
            <a:ext cx="6080760" cy="8092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47488" y="4000500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96128" y="3945636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 dirty="0"/>
              <a:t>“</a:t>
            </a:r>
            <a:r>
              <a:rPr sz="2000" dirty="0" err="1"/>
              <a:t>Terima</a:t>
            </a:r>
            <a:r>
              <a:rPr sz="2000" dirty="0"/>
              <a:t> </a:t>
            </a:r>
            <a:r>
              <a:rPr sz="2000" dirty="0" err="1"/>
              <a:t>kasih</a:t>
            </a:r>
            <a:r>
              <a:rPr sz="2000" dirty="0"/>
              <a:t> </a:t>
            </a:r>
            <a:r>
              <a:rPr sz="2000" dirty="0" err="1"/>
              <a:t>sudah</a:t>
            </a:r>
            <a:r>
              <a:rPr sz="2000" dirty="0"/>
              <a:t> </a:t>
            </a:r>
            <a:r>
              <a:rPr sz="2000" dirty="0" err="1"/>
              <a:t>menceritakan</a:t>
            </a:r>
            <a:r>
              <a:rPr sz="2000" dirty="0"/>
              <a:t> </a:t>
            </a:r>
            <a:r>
              <a:rPr sz="2000" dirty="0" err="1"/>
              <a:t>hal</a:t>
            </a:r>
            <a:r>
              <a:rPr sz="2000" dirty="0"/>
              <a:t> </a:t>
            </a:r>
            <a:r>
              <a:rPr sz="2000" dirty="0" err="1"/>
              <a:t>ini</a:t>
            </a:r>
            <a:r>
              <a:rPr sz="2000" dirty="0"/>
              <a:t> </a:t>
            </a:r>
            <a:r>
              <a:rPr sz="2000" dirty="0" err="1"/>
              <a:t>kepada</a:t>
            </a:r>
            <a:r>
              <a:rPr sz="2000" dirty="0"/>
              <a:t> kami.”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10</a:t>
            </a:r>
          </a:p>
        </p:txBody>
      </p:sp>
      <p:sp>
        <p:nvSpPr>
          <p:cNvPr id="4" name="Oval 3"/>
          <p:cNvSpPr/>
          <p:nvPr/>
        </p:nvSpPr>
        <p:spPr>
          <a:xfrm>
            <a:off x="8823960" y="822960"/>
            <a:ext cx="2560320" cy="256032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38360" y="1737360"/>
            <a:ext cx="822960" cy="82296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7223760" cy="1143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rPr sz="2000"/>
              <a:t>02 — Informasi yang Jelas &amp; Lengkap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63240"/>
            <a:ext cx="640080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D6E4EA"/>
                </a:solidFill>
                <a:latin typeface="Aptos"/>
              </a:defRPr>
            </a:pPr>
            <a:r>
              <a:rPr sz="2000"/>
              <a:t>Pasien berhak memperoleh informasi yang benar, relevan, mudah dipahami, dan diberikan dengan penuh kepekaan.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4709160"/>
            <a:ext cx="4480560" cy="73152"/>
          </a:xfrm>
          <a:prstGeom prst="rect">
            <a:avLst/>
          </a:prstGeom>
          <a:solidFill>
            <a:srgbClr val="70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010912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000" b="1">
                <a:solidFill>
                  <a:srgbClr val="E0F5F0"/>
                </a:solidFill>
                <a:latin typeface="Aptos"/>
              </a:defRPr>
            </a:pPr>
            <a:r>
              <a:rPr sz="2000"/>
              <a:t>PRINSIP KOMUNIKASI PALIATIF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Prinsip Memberikan Informasi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19" y="768096"/>
            <a:ext cx="86868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3400" b="1">
                <a:solidFill>
                  <a:srgbClr val="E7B249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31089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Praktik yang dianjurkan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3347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Gunakan bahasa sederhana dan konkret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7472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1071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Hindari istilah medis tanpa penjelasan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25196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18795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Sampaikan informasi secara bertahap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5603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E7B249"/>
                </a:solidFill>
                <a:latin typeface="Aptos"/>
              </a:defRPr>
            </a:pPr>
            <a:r>
              <a:rPr sz="2000"/>
              <a:t>Fokus komunikasi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24912"/>
            <a:ext cx="237744" cy="237744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615184"/>
            <a:ext cx="36576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2000"/>
              <a:t>Berikan kesempatan bertanya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3502152"/>
            <a:ext cx="237744" cy="237744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3392424"/>
            <a:ext cx="36576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2000"/>
              <a:t>Sesuaikan dengan kesiapan pasien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Apa yang Perlu Dijelaskan?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68712" y="987552"/>
            <a:ext cx="530352" cy="530352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50424" y="932688"/>
            <a:ext cx="56692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rPr sz="2400"/>
              <a:t>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6968" y="1993391"/>
            <a:ext cx="457200" cy="45720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075688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9659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1F2E39"/>
                </a:solidFill>
                <a:latin typeface="Aptos"/>
              </a:defRPr>
            </a:pPr>
            <a:r>
              <a:rPr sz="2000"/>
              <a:t>Kondisi kesehatan saat ini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7607" y="17373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36207" y="1993391"/>
            <a:ext cx="457200" cy="45720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7" y="2075688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9659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1F2E39"/>
                </a:solidFill>
                <a:latin typeface="Aptos"/>
              </a:defRPr>
            </a:pPr>
            <a:r>
              <a:rPr sz="2000"/>
              <a:t>Tujuan dan pilihan perawatan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3375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6968" y="3593591"/>
            <a:ext cx="457200" cy="45720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675887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35661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/>
              <a:t>Manfaat serta keterbatasan tindakan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07607" y="33375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236207" y="3593591"/>
            <a:ext cx="457200" cy="45720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36207" y="3675887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35661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/>
              <a:t>Efek samping atau risiko yang mungkin terjadi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257800"/>
            <a:ext cx="10469880" cy="886968"/>
          </a:xfrm>
          <a:prstGeom prst="round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431536"/>
            <a:ext cx="98755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200" b="1">
                <a:solidFill>
                  <a:srgbClr val="12273A"/>
                </a:solidFill>
                <a:latin typeface="Aptos"/>
              </a:defRPr>
            </a:pPr>
            <a:r>
              <a:rPr sz="2000"/>
              <a:t>Kunci: komunikasikan dengan tenang, terstruktur, dan berpusat pada kebutuhan pasien.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Teknik Ask–Tell–Ask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640080"/>
            <a:ext cx="1371600" cy="1051560"/>
          </a:xfrm>
          <a:prstGeom prst="round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804671"/>
            <a:ext cx="10058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2800" b="1">
                <a:solidFill>
                  <a:srgbClr val="1D8B8B"/>
                </a:solidFill>
                <a:latin typeface="Aptos"/>
              </a:defRPr>
            </a:pPr>
            <a:r>
              <a:rPr sz="2400"/>
              <a:t>“ ”</a:t>
            </a:r>
          </a:p>
        </p:txBody>
      </p:sp>
      <p:sp>
        <p:nvSpPr>
          <p:cNvPr id="7" name="Oval 6"/>
          <p:cNvSpPr/>
          <p:nvPr/>
        </p:nvSpPr>
        <p:spPr>
          <a:xfrm>
            <a:off x="10506456" y="1517904"/>
            <a:ext cx="228600" cy="22860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691640"/>
            <a:ext cx="3749039" cy="434340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2971800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rPr sz="2000"/>
              <a:t>KOMUNIKASI</a:t>
            </a:r>
            <a:br/>
            <a:r>
              <a:rPr sz="2000"/>
              <a:t>YANG</a:t>
            </a:r>
            <a:br/>
            <a:r>
              <a:rPr sz="2000"/>
              <a:t>MANUSIAWI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256032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0">
                <a:solidFill>
                  <a:srgbClr val="E0F5F0"/>
                </a:solidFill>
                <a:latin typeface="Aptos"/>
              </a:defRPr>
            </a:pPr>
            <a:r>
              <a:rPr sz="2000"/>
              <a:t>Hadir • Dengarkan</a:t>
            </a:r>
            <a:br/>
            <a:r>
              <a:rPr sz="2000"/>
              <a:t>Validasi • Respons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719072"/>
            <a:ext cx="608076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47488" y="1892807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1837943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ASK — tanyakan pemahaman dan kebutuhan informasi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2542031"/>
            <a:ext cx="6080760" cy="731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47488" y="2715768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2660903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TELL — jelaskan secara singkat dan jelas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3364991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47488" y="3538727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96128" y="3483863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ASK — periksa kembali pemahaman pasien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Teach-Back: Memastikan Pemahaman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19" y="768096"/>
            <a:ext cx="86868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3400" b="1">
                <a:solidFill>
                  <a:srgbClr val="E7B249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6304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D8B8B"/>
                </a:solidFill>
                <a:latin typeface="Aptos"/>
              </a:defRPr>
            </a:pPr>
            <a:r>
              <a:rPr sz="2400"/>
              <a:t>Langkah praktis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71800"/>
            <a:ext cx="9966960" cy="64008"/>
          </a:xfrm>
          <a:prstGeom prst="rect">
            <a:avLst/>
          </a:prstGeom>
          <a:solidFill>
            <a:srgbClr val="C5D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670048"/>
            <a:ext cx="640080" cy="64008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3520440"/>
            <a:ext cx="2231136" cy="15758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/>
              <a:t>Minta </a:t>
            </a:r>
            <a:r>
              <a:rPr sz="2000" dirty="0" err="1"/>
              <a:t>pasien</a:t>
            </a:r>
            <a:r>
              <a:rPr sz="2000" dirty="0"/>
              <a:t> </a:t>
            </a:r>
            <a:r>
              <a:rPr sz="2000" dirty="0" err="1"/>
              <a:t>menjelaskan</a:t>
            </a:r>
            <a:r>
              <a:rPr sz="2000" dirty="0"/>
              <a:t> </a:t>
            </a:r>
            <a:r>
              <a:rPr sz="2000" dirty="0" err="1"/>
              <a:t>kembali</a:t>
            </a:r>
            <a:r>
              <a:rPr sz="2000" dirty="0"/>
              <a:t> </a:t>
            </a:r>
            <a:r>
              <a:rPr sz="2000" dirty="0" err="1"/>
              <a:t>dengan</a:t>
            </a:r>
            <a:r>
              <a:rPr sz="2000" dirty="0"/>
              <a:t> kata-</a:t>
            </a:r>
            <a:r>
              <a:rPr sz="2000" dirty="0" err="1"/>
              <a:t>katanya</a:t>
            </a:r>
            <a:r>
              <a:rPr sz="2000" dirty="0"/>
              <a:t> </a:t>
            </a:r>
            <a:r>
              <a:rPr sz="2000" dirty="0" err="1"/>
              <a:t>sendiri</a:t>
            </a:r>
            <a:endParaRPr sz="2000" dirty="0"/>
          </a:p>
        </p:txBody>
      </p:sp>
      <p:sp>
        <p:nvSpPr>
          <p:cNvPr id="12" name="Oval 11"/>
          <p:cNvSpPr/>
          <p:nvPr/>
        </p:nvSpPr>
        <p:spPr>
          <a:xfrm>
            <a:off x="5783580" y="2670048"/>
            <a:ext cx="640080" cy="64008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8358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3520440"/>
            <a:ext cx="2299716" cy="15758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Gunakan</a:t>
            </a:r>
            <a:r>
              <a:rPr sz="2000" dirty="0"/>
              <a:t> </a:t>
            </a:r>
            <a:r>
              <a:rPr sz="2000" dirty="0" err="1"/>
              <a:t>untuk</a:t>
            </a:r>
            <a:r>
              <a:rPr sz="2000" dirty="0"/>
              <a:t> </a:t>
            </a:r>
            <a:r>
              <a:rPr sz="2000" dirty="0" err="1"/>
              <a:t>mengecek</a:t>
            </a:r>
            <a:r>
              <a:rPr sz="2000" dirty="0"/>
              <a:t> </a:t>
            </a:r>
            <a:r>
              <a:rPr sz="2000" dirty="0" err="1"/>
              <a:t>kejelasan</a:t>
            </a:r>
            <a:r>
              <a:rPr sz="2000" dirty="0"/>
              <a:t> </a:t>
            </a:r>
            <a:r>
              <a:rPr sz="2000" dirty="0" err="1"/>
              <a:t>penjelasan</a:t>
            </a:r>
            <a:r>
              <a:rPr sz="2000" dirty="0"/>
              <a:t> </a:t>
            </a:r>
            <a:r>
              <a:rPr sz="2000" dirty="0" err="1"/>
              <a:t>tenaga</a:t>
            </a:r>
            <a:r>
              <a:rPr sz="2000" dirty="0"/>
              <a:t> </a:t>
            </a:r>
            <a:r>
              <a:rPr sz="2000" dirty="0" err="1"/>
              <a:t>kesehatan</a:t>
            </a:r>
            <a:endParaRPr sz="2000" dirty="0"/>
          </a:p>
        </p:txBody>
      </p:sp>
      <p:sp>
        <p:nvSpPr>
          <p:cNvPr id="15" name="Oval 14"/>
          <p:cNvSpPr/>
          <p:nvPr/>
        </p:nvSpPr>
        <p:spPr>
          <a:xfrm>
            <a:off x="10652760" y="2670048"/>
            <a:ext cx="640080" cy="64008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5276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92056" y="3520440"/>
            <a:ext cx="2185416" cy="126803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Koreksi</a:t>
            </a:r>
            <a:r>
              <a:rPr sz="2000" dirty="0"/>
              <a:t> </a:t>
            </a:r>
            <a:r>
              <a:rPr sz="2000" dirty="0" err="1"/>
              <a:t>dengan</a:t>
            </a:r>
            <a:r>
              <a:rPr sz="2000" dirty="0"/>
              <a:t> </a:t>
            </a:r>
            <a:r>
              <a:rPr sz="2000" dirty="0" err="1"/>
              <a:t>ramah</a:t>
            </a:r>
            <a:r>
              <a:rPr sz="2000" dirty="0"/>
              <a:t> </a:t>
            </a:r>
            <a:r>
              <a:rPr sz="2000" dirty="0" err="1"/>
              <a:t>bila</a:t>
            </a:r>
            <a:r>
              <a:rPr sz="2000" dirty="0"/>
              <a:t> </a:t>
            </a:r>
            <a:r>
              <a:rPr sz="2000" dirty="0" err="1"/>
              <a:t>ada</a:t>
            </a:r>
            <a:r>
              <a:rPr sz="2000" dirty="0"/>
              <a:t> </a:t>
            </a:r>
            <a:r>
              <a:rPr sz="2000" dirty="0" err="1"/>
              <a:t>informasi</a:t>
            </a:r>
            <a:r>
              <a:rPr sz="2000" dirty="0"/>
              <a:t> yang </a:t>
            </a:r>
            <a:r>
              <a:rPr sz="2000" dirty="0" err="1"/>
              <a:t>belum</a:t>
            </a:r>
            <a:r>
              <a:rPr sz="2000" dirty="0"/>
              <a:t> </a:t>
            </a:r>
            <a:r>
              <a:rPr sz="2000" dirty="0" err="1"/>
              <a:t>tepat</a:t>
            </a:r>
            <a:endParaRPr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15</a:t>
            </a:r>
          </a:p>
        </p:txBody>
      </p:sp>
      <p:sp>
        <p:nvSpPr>
          <p:cNvPr id="4" name="Oval 3"/>
          <p:cNvSpPr/>
          <p:nvPr/>
        </p:nvSpPr>
        <p:spPr>
          <a:xfrm>
            <a:off x="8823960" y="822960"/>
            <a:ext cx="2560320" cy="256032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38360" y="1737360"/>
            <a:ext cx="822960" cy="82296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7223760" cy="1143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rPr sz="2000"/>
              <a:t>03 — Keputusan Bersama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63240"/>
            <a:ext cx="640080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D6E4EA"/>
                </a:solidFill>
                <a:latin typeface="Aptos"/>
              </a:defRPr>
            </a:pPr>
            <a:r>
              <a:rPr sz="2000" dirty="0"/>
              <a:t>Keputusan </a:t>
            </a:r>
            <a:r>
              <a:rPr sz="2000" dirty="0" err="1"/>
              <a:t>terbaik</a:t>
            </a:r>
            <a:r>
              <a:rPr sz="2000" dirty="0"/>
              <a:t> </a:t>
            </a:r>
            <a:r>
              <a:rPr sz="2000" dirty="0" err="1"/>
              <a:t>lahir</a:t>
            </a:r>
            <a:r>
              <a:rPr sz="2000" dirty="0"/>
              <a:t> </a:t>
            </a:r>
            <a:r>
              <a:rPr sz="2000" dirty="0" err="1"/>
              <a:t>dari</a:t>
            </a:r>
            <a:r>
              <a:rPr sz="2000" dirty="0"/>
              <a:t> </a:t>
            </a:r>
            <a:r>
              <a:rPr sz="2000" dirty="0" err="1"/>
              <a:t>kolaborasi</a:t>
            </a:r>
            <a:r>
              <a:rPr sz="2000" dirty="0"/>
              <a:t> </a:t>
            </a:r>
            <a:r>
              <a:rPr sz="2000" dirty="0" err="1"/>
              <a:t>antara</a:t>
            </a:r>
            <a:r>
              <a:rPr sz="2000" dirty="0"/>
              <a:t> </a:t>
            </a:r>
            <a:r>
              <a:rPr sz="2000" dirty="0" err="1"/>
              <a:t>bukti</a:t>
            </a:r>
            <a:r>
              <a:rPr sz="2000" dirty="0"/>
              <a:t> </a:t>
            </a:r>
            <a:r>
              <a:rPr sz="2000" dirty="0" err="1"/>
              <a:t>klinis</a:t>
            </a:r>
            <a:r>
              <a:rPr sz="2000" dirty="0"/>
              <a:t>, </a:t>
            </a:r>
            <a:r>
              <a:rPr sz="2000" dirty="0" err="1"/>
              <a:t>pilihan</a:t>
            </a:r>
            <a:r>
              <a:rPr sz="2000" dirty="0"/>
              <a:t> </a:t>
            </a:r>
            <a:r>
              <a:rPr sz="2000" dirty="0" err="1"/>
              <a:t>perawatan</a:t>
            </a:r>
            <a:r>
              <a:rPr sz="2000" dirty="0"/>
              <a:t>, </a:t>
            </a:r>
            <a:r>
              <a:rPr sz="2000" dirty="0" err="1"/>
              <a:t>serta</a:t>
            </a:r>
            <a:r>
              <a:rPr sz="2000" dirty="0"/>
              <a:t> </a:t>
            </a:r>
            <a:r>
              <a:rPr sz="2000" dirty="0" err="1"/>
              <a:t>nilai</a:t>
            </a:r>
            <a:r>
              <a:rPr sz="2000" dirty="0"/>
              <a:t> dan </a:t>
            </a:r>
            <a:r>
              <a:rPr sz="2000" dirty="0" err="1"/>
              <a:t>tujuan</a:t>
            </a:r>
            <a:r>
              <a:rPr sz="2000" dirty="0"/>
              <a:t> </a:t>
            </a:r>
            <a:r>
              <a:rPr sz="2000" dirty="0" err="1"/>
              <a:t>pasien</a:t>
            </a:r>
            <a:r>
              <a:rPr sz="2000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4709160"/>
            <a:ext cx="4480560" cy="73152"/>
          </a:xfrm>
          <a:prstGeom prst="rect">
            <a:avLst/>
          </a:prstGeom>
          <a:solidFill>
            <a:srgbClr val="70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010912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000" b="1">
                <a:solidFill>
                  <a:srgbClr val="E0F5F0"/>
                </a:solidFill>
                <a:latin typeface="Aptos"/>
              </a:defRPr>
            </a:pPr>
            <a:r>
              <a:rPr sz="2000"/>
              <a:t>PRINSIP KOMUNIKASI PALIATIF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Apa Itu Shared Decision-Making?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640080"/>
            <a:ext cx="1371600" cy="1051560"/>
          </a:xfrm>
          <a:prstGeom prst="round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804671"/>
            <a:ext cx="10058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2800" b="1">
                <a:solidFill>
                  <a:srgbClr val="1D8B8B"/>
                </a:solidFill>
                <a:latin typeface="Aptos"/>
              </a:defRPr>
            </a:pPr>
            <a:r>
              <a:rPr sz="2400"/>
              <a:t>“ ”</a:t>
            </a:r>
          </a:p>
        </p:txBody>
      </p:sp>
      <p:sp>
        <p:nvSpPr>
          <p:cNvPr id="7" name="Oval 6"/>
          <p:cNvSpPr/>
          <p:nvPr/>
        </p:nvSpPr>
        <p:spPr>
          <a:xfrm>
            <a:off x="10506456" y="1517904"/>
            <a:ext cx="228600" cy="22860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6968" y="1993391"/>
            <a:ext cx="457200" cy="45720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075688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9659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/>
              <a:t>Tenaga kesehatan menjelaskan pilihan yang tersedia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7607" y="17373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36207" y="1993391"/>
            <a:ext cx="457200" cy="45720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7" y="2075688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9659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/>
              <a:t>Pasien menyampaikan nilai, prioritas, dan preferensi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3375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6968" y="3593591"/>
            <a:ext cx="457200" cy="45720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675887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35661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/>
              <a:t>Manfaat dan risiko dipertimbangkan bersama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07607" y="33375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236207" y="3593591"/>
            <a:ext cx="457200" cy="45720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36207" y="3675887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35661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/>
              <a:t>Keputusan dibuat melalui dialog, bukan paksaan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257800"/>
            <a:ext cx="10469880" cy="886968"/>
          </a:xfrm>
          <a:prstGeom prst="round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431536"/>
            <a:ext cx="98755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200" b="1">
                <a:solidFill>
                  <a:srgbClr val="12273A"/>
                </a:solidFill>
                <a:latin typeface="Aptos"/>
              </a:defRPr>
            </a:pPr>
            <a:r>
              <a:rPr sz="2000"/>
              <a:t>Kunci: komunikasikan dengan tenang, terstruktur, dan berpusat pada kebutuhan pasien.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Langkah Keputusan Bersama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19" y="768096"/>
            <a:ext cx="86868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3400" b="1">
                <a:solidFill>
                  <a:srgbClr val="E7B249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749039" cy="434340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971800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rPr sz="2000"/>
              <a:t>KOMUNIKASI</a:t>
            </a:r>
            <a:br/>
            <a:r>
              <a:rPr sz="2000"/>
              <a:t>YANG</a:t>
            </a:r>
            <a:br/>
            <a:r>
              <a:rPr sz="2000"/>
              <a:t>MANUSIAWI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069080"/>
            <a:ext cx="256032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0">
                <a:solidFill>
                  <a:srgbClr val="E0F5F0"/>
                </a:solidFill>
                <a:latin typeface="Aptos"/>
              </a:defRPr>
            </a:pPr>
            <a:r>
              <a:rPr sz="2000"/>
              <a:t>Hadir • Dengarkan</a:t>
            </a:r>
            <a:br/>
            <a:r>
              <a:rPr sz="2000"/>
              <a:t>Validasi • Respons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719072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47488" y="1892807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1837943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Kenali keputusan yang perlu dibuat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2542032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47488" y="2715768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660903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Jelaskan pilihan secara seimbang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3364991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47488" y="3538727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3483863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Eksplorasi nilai dan tujuan pasien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4187951"/>
            <a:ext cx="6080760" cy="76809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47488" y="4361688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4251960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Diskusikan</a:t>
            </a:r>
            <a:r>
              <a:rPr sz="2000" dirty="0"/>
              <a:t> </a:t>
            </a:r>
            <a:r>
              <a:rPr sz="2000" dirty="0" err="1"/>
              <a:t>keluarga</a:t>
            </a:r>
            <a:r>
              <a:rPr sz="2000" dirty="0"/>
              <a:t> </a:t>
            </a:r>
            <a:r>
              <a:rPr sz="2000" dirty="0" err="1"/>
              <a:t>bila</a:t>
            </a:r>
            <a:r>
              <a:rPr sz="2000" dirty="0"/>
              <a:t> </a:t>
            </a:r>
            <a:r>
              <a:rPr sz="2000" dirty="0" err="1"/>
              <a:t>pasien</a:t>
            </a:r>
            <a:r>
              <a:rPr sz="2000" dirty="0"/>
              <a:t> </a:t>
            </a:r>
            <a:r>
              <a:rPr sz="2000" dirty="0" err="1"/>
              <a:t>menghendaki</a:t>
            </a:r>
            <a:endParaRPr sz="2000" dirty="0"/>
          </a:p>
        </p:txBody>
      </p:sp>
      <p:sp>
        <p:nvSpPr>
          <p:cNvPr id="22" name="Rounded Rectangle 21"/>
          <p:cNvSpPr/>
          <p:nvPr/>
        </p:nvSpPr>
        <p:spPr>
          <a:xfrm>
            <a:off x="4800600" y="5102353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47488" y="5248657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96128" y="5221225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Sepakati rencana dan evaluasi kembali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Pertanyaan untuk Menggali Preferensi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68712" y="987552"/>
            <a:ext cx="530352" cy="530352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50424" y="932688"/>
            <a:ext cx="56692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rPr sz="2400"/>
              <a:t>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6304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D8B8B"/>
                </a:solidFill>
                <a:latin typeface="Aptos"/>
              </a:defRPr>
            </a:pPr>
            <a:r>
              <a:rPr sz="2400"/>
              <a:t>Langkah praktis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971800"/>
            <a:ext cx="9966960" cy="64008"/>
          </a:xfrm>
          <a:prstGeom prst="rect">
            <a:avLst/>
          </a:prstGeom>
          <a:solidFill>
            <a:srgbClr val="C5D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2670048"/>
            <a:ext cx="640080" cy="64008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3520440"/>
            <a:ext cx="2011680" cy="9602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/>
              <a:t>“Apa yang paling </a:t>
            </a:r>
            <a:r>
              <a:rPr sz="2000" dirty="0" err="1"/>
              <a:t>penting</a:t>
            </a:r>
            <a:r>
              <a:rPr sz="2000" dirty="0"/>
              <a:t> </a:t>
            </a:r>
            <a:r>
              <a:rPr sz="2000" dirty="0" err="1"/>
              <a:t>bagi</a:t>
            </a:r>
            <a:r>
              <a:rPr sz="2000" dirty="0"/>
              <a:t> Anda </a:t>
            </a:r>
            <a:r>
              <a:rPr sz="2000" dirty="0" err="1"/>
              <a:t>saat</a:t>
            </a:r>
            <a:r>
              <a:rPr sz="2000" dirty="0"/>
              <a:t> </a:t>
            </a:r>
            <a:r>
              <a:rPr sz="2000" dirty="0" err="1"/>
              <a:t>ini</a:t>
            </a:r>
            <a:r>
              <a:rPr sz="2000" dirty="0"/>
              <a:t>?”</a:t>
            </a:r>
          </a:p>
        </p:txBody>
      </p:sp>
      <p:sp>
        <p:nvSpPr>
          <p:cNvPr id="13" name="Oval 12"/>
          <p:cNvSpPr/>
          <p:nvPr/>
        </p:nvSpPr>
        <p:spPr>
          <a:xfrm>
            <a:off x="4160520" y="2670048"/>
            <a:ext cx="640080" cy="64008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3520440"/>
            <a:ext cx="1783080" cy="126803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/>
              <a:t>“Hal </a:t>
            </a:r>
            <a:r>
              <a:rPr sz="2000" dirty="0" err="1"/>
              <a:t>apa</a:t>
            </a:r>
            <a:r>
              <a:rPr sz="2000" dirty="0"/>
              <a:t> yang </a:t>
            </a:r>
            <a:r>
              <a:rPr sz="2000" dirty="0" err="1"/>
              <a:t>ingin</a:t>
            </a:r>
            <a:r>
              <a:rPr sz="2000" dirty="0"/>
              <a:t> </a:t>
            </a:r>
            <a:r>
              <a:rPr sz="2000" dirty="0" err="1"/>
              <a:t>tetap</a:t>
            </a:r>
            <a:r>
              <a:rPr sz="2000" dirty="0"/>
              <a:t> </a:t>
            </a:r>
            <a:r>
              <a:rPr sz="2000" dirty="0" err="1"/>
              <a:t>bisa</a:t>
            </a:r>
            <a:r>
              <a:rPr sz="2000" dirty="0"/>
              <a:t> Anda </a:t>
            </a:r>
            <a:r>
              <a:rPr sz="2000" dirty="0" err="1"/>
              <a:t>lakukan</a:t>
            </a:r>
            <a:r>
              <a:rPr sz="2000" dirty="0"/>
              <a:t>?”</a:t>
            </a:r>
          </a:p>
        </p:txBody>
      </p:sp>
      <p:sp>
        <p:nvSpPr>
          <p:cNvPr id="16" name="Oval 15"/>
          <p:cNvSpPr/>
          <p:nvPr/>
        </p:nvSpPr>
        <p:spPr>
          <a:xfrm>
            <a:off x="7406640" y="2670048"/>
            <a:ext cx="640080" cy="64008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6540" y="3429000"/>
            <a:ext cx="2011680" cy="126803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/>
              <a:t>“Apa yang paling Anda </a:t>
            </a:r>
            <a:r>
              <a:rPr sz="2000" dirty="0" err="1"/>
              <a:t>khawatirkan</a:t>
            </a:r>
            <a:r>
              <a:rPr sz="2000" dirty="0"/>
              <a:t> </a:t>
            </a:r>
            <a:r>
              <a:rPr sz="2000" dirty="0" err="1"/>
              <a:t>dari</a:t>
            </a:r>
            <a:r>
              <a:rPr sz="2000" dirty="0"/>
              <a:t> </a:t>
            </a:r>
            <a:r>
              <a:rPr sz="2000" dirty="0" err="1"/>
              <a:t>perawatan</a:t>
            </a:r>
            <a:r>
              <a:rPr sz="2000" dirty="0"/>
              <a:t> </a:t>
            </a:r>
            <a:r>
              <a:rPr sz="2000" dirty="0" err="1"/>
              <a:t>ini</a:t>
            </a:r>
            <a:r>
              <a:rPr sz="2000" dirty="0"/>
              <a:t>?”</a:t>
            </a:r>
          </a:p>
        </p:txBody>
      </p:sp>
      <p:sp>
        <p:nvSpPr>
          <p:cNvPr id="19" name="Oval 18"/>
          <p:cNvSpPr/>
          <p:nvPr/>
        </p:nvSpPr>
        <p:spPr>
          <a:xfrm>
            <a:off x="10652760" y="2670048"/>
            <a:ext cx="640080" cy="64008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5276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3520440"/>
            <a:ext cx="1856232" cy="126803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/>
              <a:t>“</a:t>
            </a:r>
            <a:r>
              <a:rPr sz="2000" dirty="0" err="1"/>
              <a:t>Siapa</a:t>
            </a:r>
            <a:r>
              <a:rPr sz="2000" dirty="0"/>
              <a:t> yang </a:t>
            </a:r>
            <a:r>
              <a:rPr sz="2000" dirty="0" err="1"/>
              <a:t>ingin</a:t>
            </a:r>
            <a:r>
              <a:rPr sz="2000" dirty="0"/>
              <a:t> Anda </a:t>
            </a:r>
            <a:r>
              <a:rPr sz="2000" dirty="0" err="1"/>
              <a:t>libatkan</a:t>
            </a:r>
            <a:r>
              <a:rPr sz="2000" dirty="0"/>
              <a:t> </a:t>
            </a:r>
            <a:r>
              <a:rPr sz="2000" dirty="0" err="1"/>
              <a:t>dalam</a:t>
            </a:r>
            <a:r>
              <a:rPr sz="2000" dirty="0"/>
              <a:t> </a:t>
            </a:r>
            <a:r>
              <a:rPr sz="2000" dirty="0" err="1"/>
              <a:t>keputusan</a:t>
            </a:r>
            <a:r>
              <a:rPr sz="2000" dirty="0"/>
              <a:t>?”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Peran Keluarga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640080"/>
            <a:ext cx="1371600" cy="1051560"/>
          </a:xfrm>
          <a:prstGeom prst="round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804671"/>
            <a:ext cx="10058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2800" b="1">
                <a:solidFill>
                  <a:srgbClr val="1D8B8B"/>
                </a:solidFill>
                <a:latin typeface="Aptos"/>
              </a:defRPr>
            </a:pPr>
            <a:r>
              <a:rPr sz="2400"/>
              <a:t>“ ”</a:t>
            </a:r>
          </a:p>
        </p:txBody>
      </p:sp>
      <p:sp>
        <p:nvSpPr>
          <p:cNvPr id="7" name="Oval 6"/>
          <p:cNvSpPr/>
          <p:nvPr/>
        </p:nvSpPr>
        <p:spPr>
          <a:xfrm>
            <a:off x="10506456" y="1517904"/>
            <a:ext cx="228600" cy="22860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31089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Praktik yang dianjurkan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3347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Menjadi sumber dukungan pasien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47472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071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Membantu memahami nilai dan kebiasaan pasien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25196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18795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Dilibatkan sesuai persetujuan pasien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2011680"/>
            <a:ext cx="25603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E7B249"/>
                </a:solidFill>
                <a:latin typeface="Aptos"/>
              </a:defRPr>
            </a:pPr>
            <a:r>
              <a:rPr sz="2000"/>
              <a:t>Fokus komunikasi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2724912"/>
            <a:ext cx="237744" cy="237744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2615184"/>
            <a:ext cx="36576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2000"/>
              <a:t>Tidak menggantikan suara pasien yang masih mampu mengambil keputusan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20</a:t>
            </a:r>
          </a:p>
        </p:txBody>
      </p:sp>
      <p:sp>
        <p:nvSpPr>
          <p:cNvPr id="4" name="Oval 3"/>
          <p:cNvSpPr/>
          <p:nvPr/>
        </p:nvSpPr>
        <p:spPr>
          <a:xfrm>
            <a:off x="8823960" y="822960"/>
            <a:ext cx="2560320" cy="256032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38360" y="1737360"/>
            <a:ext cx="822960" cy="82296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7223760" cy="1143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rPr sz="2000"/>
              <a:t>04 — Dukungan Emosional &amp; Spiritual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63240"/>
            <a:ext cx="6400800" cy="132959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D6E4EA"/>
                </a:solidFill>
                <a:latin typeface="Aptos"/>
              </a:defRPr>
            </a:pPr>
            <a:r>
              <a:rPr sz="2800" dirty="0" err="1"/>
              <a:t>Perawatan</a:t>
            </a:r>
            <a:r>
              <a:rPr sz="2800" dirty="0"/>
              <a:t> </a:t>
            </a:r>
            <a:r>
              <a:rPr sz="2800" dirty="0" err="1"/>
              <a:t>paliatif</a:t>
            </a:r>
            <a:r>
              <a:rPr sz="2800" dirty="0"/>
              <a:t> </a:t>
            </a:r>
            <a:r>
              <a:rPr sz="2800" dirty="0" err="1"/>
              <a:t>melihat</a:t>
            </a:r>
            <a:r>
              <a:rPr sz="2800" dirty="0"/>
              <a:t> </a:t>
            </a:r>
            <a:r>
              <a:rPr sz="2800" dirty="0" err="1"/>
              <a:t>pasien</a:t>
            </a:r>
            <a:r>
              <a:rPr sz="2800" dirty="0"/>
              <a:t> </a:t>
            </a:r>
            <a:r>
              <a:rPr sz="2800" dirty="0" err="1"/>
              <a:t>sebagai</a:t>
            </a:r>
            <a:r>
              <a:rPr sz="2800" dirty="0"/>
              <a:t> </a:t>
            </a:r>
            <a:r>
              <a:rPr sz="2800" dirty="0" err="1"/>
              <a:t>manusia</a:t>
            </a:r>
            <a:r>
              <a:rPr sz="2800" dirty="0"/>
              <a:t> </a:t>
            </a:r>
            <a:r>
              <a:rPr sz="2800" dirty="0" err="1"/>
              <a:t>utuh</a:t>
            </a:r>
            <a:r>
              <a:rPr sz="2800" dirty="0"/>
              <a:t>—</a:t>
            </a:r>
            <a:r>
              <a:rPr sz="2800" dirty="0" err="1"/>
              <a:t>bukan</a:t>
            </a:r>
            <a:r>
              <a:rPr sz="2800" dirty="0"/>
              <a:t> </a:t>
            </a:r>
            <a:r>
              <a:rPr sz="2800" dirty="0" err="1"/>
              <a:t>hanya</a:t>
            </a:r>
            <a:r>
              <a:rPr sz="2800" dirty="0"/>
              <a:t> </a:t>
            </a:r>
            <a:r>
              <a:rPr sz="2800" dirty="0" err="1"/>
              <a:t>penyakit</a:t>
            </a:r>
            <a:r>
              <a:rPr sz="2800" dirty="0"/>
              <a:t> yang </a:t>
            </a:r>
            <a:r>
              <a:rPr sz="2800" dirty="0" err="1"/>
              <a:t>sedang</a:t>
            </a:r>
            <a:r>
              <a:rPr sz="2800" dirty="0"/>
              <a:t> </a:t>
            </a:r>
            <a:r>
              <a:rPr sz="2800" dirty="0" err="1"/>
              <a:t>dialami</a:t>
            </a:r>
            <a:r>
              <a:rPr sz="2800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4709160"/>
            <a:ext cx="4480560" cy="73152"/>
          </a:xfrm>
          <a:prstGeom prst="rect">
            <a:avLst/>
          </a:prstGeom>
          <a:solidFill>
            <a:srgbClr val="70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010912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000" b="1">
                <a:solidFill>
                  <a:srgbClr val="E0F5F0"/>
                </a:solidFill>
                <a:latin typeface="Aptos"/>
              </a:defRPr>
            </a:pPr>
            <a:r>
              <a:rPr sz="2000"/>
              <a:t>PRINSIP KOMUNIKASI PALIATIF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Mengenali Kebutuhan Emosional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68712" y="987552"/>
            <a:ext cx="530352" cy="530352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50424" y="932688"/>
            <a:ext cx="56692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rPr sz="2400"/>
              <a:t>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91640"/>
            <a:ext cx="3749039" cy="434340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2971800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rPr sz="2000"/>
              <a:t>KOMUNIKASI</a:t>
            </a:r>
            <a:br/>
            <a:r>
              <a:rPr sz="2000"/>
              <a:t>YANG</a:t>
            </a:r>
            <a:br/>
            <a:r>
              <a:rPr sz="2000"/>
              <a:t>MANUSIAWI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256032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0">
                <a:solidFill>
                  <a:srgbClr val="E0F5F0"/>
                </a:solidFill>
                <a:latin typeface="Aptos"/>
              </a:defRPr>
            </a:pPr>
            <a:r>
              <a:rPr sz="2000"/>
              <a:t>Hadir • Dengarkan</a:t>
            </a:r>
            <a:br/>
            <a:r>
              <a:rPr sz="2000"/>
              <a:t>Validasi • Respons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719072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47488" y="1892807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1837943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Takut terhadap nyeri atau kematian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2542031"/>
            <a:ext cx="6080760" cy="67665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47488" y="2715768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2596896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Sedih</a:t>
            </a:r>
            <a:r>
              <a:rPr sz="2000" dirty="0"/>
              <a:t> </a:t>
            </a:r>
            <a:r>
              <a:rPr sz="2000" dirty="0" err="1"/>
              <a:t>karena</a:t>
            </a:r>
            <a:r>
              <a:rPr sz="2000" dirty="0"/>
              <a:t> </a:t>
            </a:r>
            <a:r>
              <a:rPr sz="2000" dirty="0" err="1"/>
              <a:t>kehilangan</a:t>
            </a:r>
            <a:r>
              <a:rPr sz="2000" dirty="0"/>
              <a:t> </a:t>
            </a:r>
            <a:r>
              <a:rPr sz="2000" dirty="0" err="1"/>
              <a:t>fungsi</a:t>
            </a:r>
            <a:r>
              <a:rPr sz="2000" dirty="0"/>
              <a:t> dan </a:t>
            </a:r>
            <a:r>
              <a:rPr sz="2000" dirty="0" err="1"/>
              <a:t>kemandirian</a:t>
            </a:r>
            <a:endParaRPr sz="2000" dirty="0"/>
          </a:p>
        </p:txBody>
      </p:sp>
      <p:sp>
        <p:nvSpPr>
          <p:cNvPr id="17" name="Rounded Rectangle 16"/>
          <p:cNvSpPr/>
          <p:nvPr/>
        </p:nvSpPr>
        <p:spPr>
          <a:xfrm>
            <a:off x="4800600" y="3364991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47488" y="3538727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96128" y="3483863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Cemas terhadap keluarga yang ditinggalkan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4187952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47488" y="4361688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6128" y="4306824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Marah, kecewa, atau merasa tidak berdaya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00600" y="5010912"/>
            <a:ext cx="6080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47488" y="5184648"/>
            <a:ext cx="4389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000"/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6128" y="5129784"/>
            <a:ext cx="49377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Membutuhkan rasa aman dan didampingi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Memberikan Dukungan Emosional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640080"/>
            <a:ext cx="1371600" cy="1051560"/>
          </a:xfrm>
          <a:prstGeom prst="round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804671"/>
            <a:ext cx="10058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2800" b="1">
                <a:solidFill>
                  <a:srgbClr val="1D8B8B"/>
                </a:solidFill>
                <a:latin typeface="Aptos"/>
              </a:defRPr>
            </a:pPr>
            <a:r>
              <a:rPr sz="2400"/>
              <a:t>“ ”</a:t>
            </a:r>
          </a:p>
        </p:txBody>
      </p:sp>
      <p:sp>
        <p:nvSpPr>
          <p:cNvPr id="7" name="Oval 6"/>
          <p:cNvSpPr/>
          <p:nvPr/>
        </p:nvSpPr>
        <p:spPr>
          <a:xfrm>
            <a:off x="10506456" y="1517904"/>
            <a:ext cx="228600" cy="22860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46304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D8B8B"/>
                </a:solidFill>
                <a:latin typeface="Aptos"/>
              </a:defRPr>
            </a:pPr>
            <a:r>
              <a:rPr sz="2400"/>
              <a:t>Langkah praktis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971800"/>
            <a:ext cx="9966960" cy="64008"/>
          </a:xfrm>
          <a:prstGeom prst="rect">
            <a:avLst/>
          </a:prstGeom>
          <a:solidFill>
            <a:srgbClr val="C5D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2670048"/>
            <a:ext cx="640080" cy="64008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3520440"/>
            <a:ext cx="160020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/>
              <a:t>Validasi perasaan pasien</a:t>
            </a:r>
          </a:p>
        </p:txBody>
      </p:sp>
      <p:sp>
        <p:nvSpPr>
          <p:cNvPr id="13" name="Oval 12"/>
          <p:cNvSpPr/>
          <p:nvPr/>
        </p:nvSpPr>
        <p:spPr>
          <a:xfrm>
            <a:off x="3348990" y="2670048"/>
            <a:ext cx="640080" cy="64008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4899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1770" y="3520440"/>
            <a:ext cx="1741932" cy="9602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Berikan</a:t>
            </a:r>
            <a:r>
              <a:rPr sz="2000" dirty="0"/>
              <a:t> </a:t>
            </a:r>
            <a:r>
              <a:rPr sz="2000" dirty="0" err="1"/>
              <a:t>ruang</a:t>
            </a:r>
            <a:r>
              <a:rPr sz="2000" dirty="0"/>
              <a:t> </a:t>
            </a:r>
            <a:r>
              <a:rPr sz="2000" dirty="0" err="1"/>
              <a:t>untuk</a:t>
            </a:r>
            <a:r>
              <a:rPr sz="2000" dirty="0"/>
              <a:t> diam dan </a:t>
            </a:r>
            <a:r>
              <a:rPr sz="2000" dirty="0" err="1"/>
              <a:t>menangis</a:t>
            </a:r>
            <a:endParaRPr sz="2000" dirty="0"/>
          </a:p>
        </p:txBody>
      </p:sp>
      <p:sp>
        <p:nvSpPr>
          <p:cNvPr id="16" name="Oval 15"/>
          <p:cNvSpPr/>
          <p:nvPr/>
        </p:nvSpPr>
        <p:spPr>
          <a:xfrm>
            <a:off x="5783580" y="2670048"/>
            <a:ext cx="640080" cy="64008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8358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8092" y="3520440"/>
            <a:ext cx="1741932" cy="126803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Hindari</a:t>
            </a:r>
            <a:r>
              <a:rPr sz="2000" dirty="0"/>
              <a:t> </a:t>
            </a:r>
            <a:r>
              <a:rPr sz="2000" dirty="0" err="1"/>
              <a:t>kalimat</a:t>
            </a:r>
            <a:r>
              <a:rPr sz="2000" dirty="0"/>
              <a:t> yang </a:t>
            </a:r>
            <a:r>
              <a:rPr sz="2000" dirty="0" err="1"/>
              <a:t>meremehkan</a:t>
            </a:r>
            <a:r>
              <a:rPr sz="2000" dirty="0"/>
              <a:t> </a:t>
            </a:r>
            <a:r>
              <a:rPr sz="2000" dirty="0" err="1"/>
              <a:t>emosi</a:t>
            </a:r>
            <a:endParaRPr sz="2000" dirty="0"/>
          </a:p>
        </p:txBody>
      </p:sp>
      <p:sp>
        <p:nvSpPr>
          <p:cNvPr id="19" name="Oval 18"/>
          <p:cNvSpPr/>
          <p:nvPr/>
        </p:nvSpPr>
        <p:spPr>
          <a:xfrm>
            <a:off x="8218170" y="2670048"/>
            <a:ext cx="640080" cy="64008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1817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2682" y="3520440"/>
            <a:ext cx="1812798" cy="126803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Tawarkan</a:t>
            </a:r>
            <a:r>
              <a:rPr sz="2000" dirty="0"/>
              <a:t> </a:t>
            </a:r>
            <a:r>
              <a:rPr sz="2000" dirty="0" err="1"/>
              <a:t>bantuan</a:t>
            </a:r>
            <a:r>
              <a:rPr sz="2000" dirty="0"/>
              <a:t> </a:t>
            </a:r>
            <a:r>
              <a:rPr sz="2000" dirty="0" err="1"/>
              <a:t>profesional</a:t>
            </a:r>
            <a:r>
              <a:rPr sz="2000" dirty="0"/>
              <a:t> </a:t>
            </a:r>
            <a:r>
              <a:rPr sz="2000" dirty="0" err="1"/>
              <a:t>bila</a:t>
            </a:r>
            <a:r>
              <a:rPr sz="2000" dirty="0"/>
              <a:t> </a:t>
            </a:r>
            <a:r>
              <a:rPr sz="2000" dirty="0" err="1"/>
              <a:t>diperlukan</a:t>
            </a:r>
            <a:endParaRPr sz="2000" dirty="0"/>
          </a:p>
        </p:txBody>
      </p:sp>
      <p:sp>
        <p:nvSpPr>
          <p:cNvPr id="22" name="Oval 21"/>
          <p:cNvSpPr/>
          <p:nvPr/>
        </p:nvSpPr>
        <p:spPr>
          <a:xfrm>
            <a:off x="10652760" y="2670048"/>
            <a:ext cx="640080" cy="64008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5276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4308" y="3529584"/>
            <a:ext cx="2014728" cy="9602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/>
              <a:t>Jaga </a:t>
            </a:r>
            <a:r>
              <a:rPr sz="2000" dirty="0" err="1"/>
              <a:t>kesinambungan</a:t>
            </a:r>
            <a:r>
              <a:rPr sz="2000" dirty="0"/>
              <a:t> </a:t>
            </a:r>
            <a:r>
              <a:rPr sz="2000" dirty="0" err="1"/>
              <a:t>komunikasi</a:t>
            </a:r>
            <a:endParaRPr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Kebutuhan Spiritual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19" y="768096"/>
            <a:ext cx="86868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3400" b="1">
                <a:solidFill>
                  <a:srgbClr val="E7B249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31089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Praktik yang dianjurkan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3347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Makna hidup dan harapan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7472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1071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Keyakinan atau praktik keagamaan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25196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18795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Hubungan dengan keluarga dan orang penting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5603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E7B249"/>
                </a:solidFill>
                <a:latin typeface="Aptos"/>
              </a:defRPr>
            </a:pPr>
            <a:r>
              <a:rPr sz="2000"/>
              <a:t>Fokus komunikasi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24912"/>
            <a:ext cx="237744" cy="237744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2615184"/>
            <a:ext cx="36576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2000"/>
              <a:t>Kebutuhan berdamai, memaafkan, atau dimaafkan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3502152"/>
            <a:ext cx="237744" cy="237744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3392424"/>
            <a:ext cx="36576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2000"/>
              <a:t>Harapan mengenai akhir kehidupan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Cara Memberikan Dukungan Spiritual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68712" y="987552"/>
            <a:ext cx="530352" cy="530352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50424" y="932688"/>
            <a:ext cx="56692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rPr sz="2400"/>
              <a:t>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6968" y="1993391"/>
            <a:ext cx="457200" cy="45720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075688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9659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/>
              <a:t>Tanyakan apa yang memberi kekuatan bagi pasien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7607" y="17373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36207" y="1993391"/>
            <a:ext cx="457200" cy="45720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7" y="2075688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9659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/>
              <a:t>Hormati keyakinan tanpa memaksakan pandangan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3375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6968" y="3593591"/>
            <a:ext cx="457200" cy="45720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675887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35661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/>
              <a:t>Fasilitasi ibadah atau ritual bila memungkinkan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07607" y="3337560"/>
            <a:ext cx="48920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236207" y="3593591"/>
            <a:ext cx="457200" cy="45720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36207" y="3675887"/>
            <a:ext cx="45720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3566160"/>
            <a:ext cx="36576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/>
              <a:t>Libatkan rohaniawan sesuai keinginan pasien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257800"/>
            <a:ext cx="10469880" cy="886968"/>
          </a:xfrm>
          <a:prstGeom prst="round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431536"/>
            <a:ext cx="98755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200" b="1">
                <a:solidFill>
                  <a:srgbClr val="12273A"/>
                </a:solidFill>
                <a:latin typeface="Aptos"/>
              </a:defRPr>
            </a:pPr>
            <a:r>
              <a:rPr sz="2000"/>
              <a:t>Kunci: komunikasikan dengan tenang, terstruktur, dan berpusat pada kebutuhan pasien.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25</a:t>
            </a:r>
          </a:p>
        </p:txBody>
      </p:sp>
      <p:sp>
        <p:nvSpPr>
          <p:cNvPr id="4" name="Oval 3"/>
          <p:cNvSpPr/>
          <p:nvPr/>
        </p:nvSpPr>
        <p:spPr>
          <a:xfrm>
            <a:off x="8823960" y="822960"/>
            <a:ext cx="2560320" cy="256032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38360" y="1737360"/>
            <a:ext cx="822960" cy="82296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7223760" cy="1143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rPr sz="2000"/>
              <a:t>05 — Menghargai Martabat Pasien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63240"/>
            <a:ext cx="6400800" cy="132959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600" b="0">
                <a:solidFill>
                  <a:srgbClr val="D6E4EA"/>
                </a:solidFill>
                <a:latin typeface="Aptos"/>
              </a:defRPr>
            </a:pPr>
            <a:r>
              <a:rPr sz="2800" dirty="0" err="1"/>
              <a:t>Setiap</a:t>
            </a:r>
            <a:r>
              <a:rPr sz="2800" dirty="0"/>
              <a:t> </a:t>
            </a:r>
            <a:r>
              <a:rPr sz="2800" dirty="0" err="1"/>
              <a:t>pasien</a:t>
            </a:r>
            <a:r>
              <a:rPr sz="2800" dirty="0"/>
              <a:t> </a:t>
            </a:r>
            <a:r>
              <a:rPr sz="2800" dirty="0" err="1"/>
              <a:t>tetap</a:t>
            </a:r>
            <a:r>
              <a:rPr sz="2800" dirty="0"/>
              <a:t> </a:t>
            </a:r>
            <a:r>
              <a:rPr sz="2800" dirty="0" err="1"/>
              <a:t>memiliki</a:t>
            </a:r>
            <a:r>
              <a:rPr sz="2800" dirty="0"/>
              <a:t> </a:t>
            </a:r>
            <a:r>
              <a:rPr sz="2800" dirty="0" err="1"/>
              <a:t>nilai</a:t>
            </a:r>
            <a:r>
              <a:rPr sz="2800" dirty="0"/>
              <a:t>, </a:t>
            </a:r>
            <a:r>
              <a:rPr sz="2800" dirty="0" err="1"/>
              <a:t>hak</a:t>
            </a:r>
            <a:r>
              <a:rPr sz="2800" dirty="0"/>
              <a:t>, </a:t>
            </a:r>
            <a:r>
              <a:rPr sz="2800" dirty="0" err="1"/>
              <a:t>identitas</a:t>
            </a:r>
            <a:r>
              <a:rPr sz="2800" dirty="0"/>
              <a:t>, dan </a:t>
            </a:r>
            <a:r>
              <a:rPr sz="2800" dirty="0" err="1"/>
              <a:t>pilihan</a:t>
            </a:r>
            <a:r>
              <a:rPr sz="2800" dirty="0"/>
              <a:t> yang </a:t>
            </a:r>
            <a:r>
              <a:rPr sz="2800" dirty="0" err="1"/>
              <a:t>harus</a:t>
            </a:r>
            <a:r>
              <a:rPr sz="2800" dirty="0"/>
              <a:t> </a:t>
            </a:r>
            <a:r>
              <a:rPr sz="2800" dirty="0" err="1"/>
              <a:t>dihormati</a:t>
            </a:r>
            <a:r>
              <a:rPr sz="2800" dirty="0"/>
              <a:t> </a:t>
            </a:r>
            <a:r>
              <a:rPr sz="2800" dirty="0" err="1"/>
              <a:t>hingga</a:t>
            </a:r>
            <a:r>
              <a:rPr sz="2800" dirty="0"/>
              <a:t> </a:t>
            </a:r>
            <a:r>
              <a:rPr sz="2800" dirty="0" err="1"/>
              <a:t>akhir</a:t>
            </a:r>
            <a:r>
              <a:rPr sz="2800" dirty="0"/>
              <a:t> </a:t>
            </a:r>
            <a:r>
              <a:rPr sz="2800" dirty="0" err="1"/>
              <a:t>kehidupan</a:t>
            </a:r>
            <a:r>
              <a:rPr sz="2800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4709160"/>
            <a:ext cx="4480560" cy="73152"/>
          </a:xfrm>
          <a:prstGeom prst="rect">
            <a:avLst/>
          </a:prstGeom>
          <a:solidFill>
            <a:srgbClr val="70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010912"/>
            <a:ext cx="31089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000" b="1">
                <a:solidFill>
                  <a:srgbClr val="E0F5F0"/>
                </a:solidFill>
                <a:latin typeface="Aptos"/>
              </a:defRPr>
            </a:pPr>
            <a:r>
              <a:rPr sz="2000"/>
              <a:t>PRINSIP KOMUNIKASI PALIATIF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Martabat dalam Praktik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19" y="768096"/>
            <a:ext cx="86868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3400" b="1">
                <a:solidFill>
                  <a:srgbClr val="E7B249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63040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1D8B8B"/>
                </a:solidFill>
                <a:latin typeface="Aptos"/>
              </a:defRPr>
            </a:pPr>
            <a:r>
              <a:rPr sz="2400"/>
              <a:t>Langkah praktis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71800"/>
            <a:ext cx="9966960" cy="64008"/>
          </a:xfrm>
          <a:prstGeom prst="rect">
            <a:avLst/>
          </a:prstGeom>
          <a:solidFill>
            <a:srgbClr val="C5D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670048"/>
            <a:ext cx="640080" cy="64008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520440"/>
            <a:ext cx="1746504" cy="9602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Panggil</a:t>
            </a:r>
            <a:r>
              <a:rPr sz="2000" dirty="0"/>
              <a:t> </a:t>
            </a:r>
            <a:r>
              <a:rPr sz="2000" dirty="0" err="1"/>
              <a:t>pasien</a:t>
            </a:r>
            <a:r>
              <a:rPr sz="2000" dirty="0"/>
              <a:t> </a:t>
            </a:r>
            <a:r>
              <a:rPr sz="2000" dirty="0" err="1"/>
              <a:t>dengan</a:t>
            </a:r>
            <a:r>
              <a:rPr sz="2000" dirty="0"/>
              <a:t> nama yang </a:t>
            </a:r>
            <a:r>
              <a:rPr sz="2000" dirty="0" err="1"/>
              <a:t>disukai</a:t>
            </a:r>
            <a:endParaRPr sz="2000" dirty="0"/>
          </a:p>
        </p:txBody>
      </p:sp>
      <p:sp>
        <p:nvSpPr>
          <p:cNvPr id="12" name="Oval 11"/>
          <p:cNvSpPr/>
          <p:nvPr/>
        </p:nvSpPr>
        <p:spPr>
          <a:xfrm>
            <a:off x="3348990" y="2670048"/>
            <a:ext cx="640080" cy="64008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4899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3502" y="3520440"/>
            <a:ext cx="2000250" cy="9602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/>
              <a:t>Jaga </a:t>
            </a:r>
            <a:r>
              <a:rPr sz="2000" dirty="0" err="1"/>
              <a:t>privasi</a:t>
            </a:r>
            <a:r>
              <a:rPr sz="2000" dirty="0"/>
              <a:t> </a:t>
            </a:r>
            <a:r>
              <a:rPr sz="2000" dirty="0" err="1"/>
              <a:t>saat</a:t>
            </a:r>
            <a:r>
              <a:rPr sz="2000" dirty="0"/>
              <a:t> </a:t>
            </a:r>
            <a:r>
              <a:rPr sz="2000" dirty="0" err="1"/>
              <a:t>pemeriksaan</a:t>
            </a:r>
            <a:r>
              <a:rPr sz="2000" dirty="0"/>
              <a:t> dan </a:t>
            </a:r>
            <a:r>
              <a:rPr sz="2000" dirty="0" err="1"/>
              <a:t>percakapan</a:t>
            </a:r>
            <a:endParaRPr sz="2000" dirty="0"/>
          </a:p>
        </p:txBody>
      </p:sp>
      <p:sp>
        <p:nvSpPr>
          <p:cNvPr id="15" name="Oval 14"/>
          <p:cNvSpPr/>
          <p:nvPr/>
        </p:nvSpPr>
        <p:spPr>
          <a:xfrm>
            <a:off x="5783580" y="2670048"/>
            <a:ext cx="640080" cy="64008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8358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8092" y="3520440"/>
            <a:ext cx="1746504" cy="9602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Libatkan</a:t>
            </a:r>
            <a:r>
              <a:rPr sz="2000" dirty="0"/>
              <a:t> </a:t>
            </a:r>
            <a:r>
              <a:rPr sz="2000" dirty="0" err="1"/>
              <a:t>pasien</a:t>
            </a:r>
            <a:r>
              <a:rPr sz="2000" dirty="0"/>
              <a:t> </a:t>
            </a:r>
            <a:r>
              <a:rPr sz="2000" dirty="0" err="1"/>
              <a:t>dalam</a:t>
            </a:r>
            <a:r>
              <a:rPr sz="2000" dirty="0"/>
              <a:t> </a:t>
            </a:r>
            <a:r>
              <a:rPr sz="2000" dirty="0" err="1"/>
              <a:t>keputusan</a:t>
            </a:r>
            <a:endParaRPr sz="2000" dirty="0"/>
          </a:p>
        </p:txBody>
      </p:sp>
      <p:sp>
        <p:nvSpPr>
          <p:cNvPr id="18" name="Oval 17"/>
          <p:cNvSpPr/>
          <p:nvPr/>
        </p:nvSpPr>
        <p:spPr>
          <a:xfrm>
            <a:off x="8218170" y="2670048"/>
            <a:ext cx="640080" cy="64008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817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2682" y="3520440"/>
            <a:ext cx="1746504" cy="9602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Hormati</a:t>
            </a:r>
            <a:r>
              <a:rPr sz="2000" dirty="0"/>
              <a:t> </a:t>
            </a:r>
            <a:r>
              <a:rPr sz="2000" dirty="0" err="1"/>
              <a:t>budaya</a:t>
            </a:r>
            <a:r>
              <a:rPr sz="2000" dirty="0"/>
              <a:t>, </a:t>
            </a:r>
            <a:r>
              <a:rPr sz="2000" dirty="0" err="1"/>
              <a:t>nilai</a:t>
            </a:r>
            <a:r>
              <a:rPr sz="2000" dirty="0"/>
              <a:t>, dan </a:t>
            </a:r>
            <a:r>
              <a:rPr sz="2000" dirty="0" err="1"/>
              <a:t>keyakinan</a:t>
            </a:r>
            <a:endParaRPr sz="2000" dirty="0"/>
          </a:p>
        </p:txBody>
      </p:sp>
      <p:sp>
        <p:nvSpPr>
          <p:cNvPr id="21" name="Oval 20"/>
          <p:cNvSpPr/>
          <p:nvPr/>
        </p:nvSpPr>
        <p:spPr>
          <a:xfrm>
            <a:off x="10652760" y="2670048"/>
            <a:ext cx="640080" cy="64008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52760" y="2770632"/>
            <a:ext cx="6400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77272" y="3520440"/>
            <a:ext cx="1819656" cy="15758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Hindari</a:t>
            </a:r>
            <a:r>
              <a:rPr sz="2000" dirty="0"/>
              <a:t> </a:t>
            </a:r>
            <a:r>
              <a:rPr sz="2000" dirty="0" err="1"/>
              <a:t>pembicaraan</a:t>
            </a:r>
            <a:r>
              <a:rPr sz="2000" dirty="0"/>
              <a:t> </a:t>
            </a:r>
            <a:r>
              <a:rPr sz="2000" dirty="0" err="1"/>
              <a:t>tentang</a:t>
            </a:r>
            <a:r>
              <a:rPr sz="2000" dirty="0"/>
              <a:t> </a:t>
            </a:r>
            <a:r>
              <a:rPr sz="2000" dirty="0" err="1"/>
              <a:t>pasien</a:t>
            </a:r>
            <a:r>
              <a:rPr sz="2000" dirty="0"/>
              <a:t> </a:t>
            </a:r>
            <a:r>
              <a:rPr sz="2000" dirty="0" err="1"/>
              <a:t>seolah</a:t>
            </a:r>
            <a:r>
              <a:rPr sz="2000" dirty="0"/>
              <a:t> </a:t>
            </a:r>
            <a:r>
              <a:rPr sz="2000" dirty="0" err="1"/>
              <a:t>ia</a:t>
            </a:r>
            <a:r>
              <a:rPr sz="2000" dirty="0"/>
              <a:t> </a:t>
            </a:r>
            <a:r>
              <a:rPr sz="2000" dirty="0" err="1"/>
              <a:t>tidak</a:t>
            </a:r>
            <a:r>
              <a:rPr sz="2000" dirty="0"/>
              <a:t> </a:t>
            </a:r>
            <a:r>
              <a:rPr sz="2000" dirty="0" err="1"/>
              <a:t>hadir</a:t>
            </a:r>
            <a:endParaRPr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Komunikasi yang Harus Dihindari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68712" y="987552"/>
            <a:ext cx="530352" cy="530352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50424" y="932688"/>
            <a:ext cx="56692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rPr sz="2400"/>
              <a:t>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19072"/>
            <a:ext cx="498348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31089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Praktik yang dianjurkan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9748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3347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Memberi harapan palsu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47472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071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Menggunakan istilah yang menakutkan tanpa penjelasan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251960"/>
            <a:ext cx="2743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187952"/>
            <a:ext cx="3794760" cy="5669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0">
                <a:solidFill>
                  <a:srgbClr val="1F2E39"/>
                </a:solidFill>
                <a:latin typeface="Aptos"/>
              </a:defRPr>
            </a:pPr>
            <a:r>
              <a:rPr sz="2000"/>
              <a:t>Mengabaikan pertanyaan pasien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719072"/>
            <a:ext cx="5074920" cy="416052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2011680"/>
            <a:ext cx="25603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400" b="1">
                <a:solidFill>
                  <a:srgbClr val="E7B249"/>
                </a:solidFill>
                <a:latin typeface="Aptos"/>
              </a:defRPr>
            </a:pPr>
            <a:r>
              <a:rPr sz="2000"/>
              <a:t>Fokus komunikasi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2724912"/>
            <a:ext cx="237744" cy="237744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2615184"/>
            <a:ext cx="36576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2000"/>
              <a:t>Memaksakan keputusan</a:t>
            </a:r>
          </a:p>
        </p:txBody>
      </p:sp>
      <p:sp>
        <p:nvSpPr>
          <p:cNvPr id="20" name="Oval 19"/>
          <p:cNvSpPr/>
          <p:nvPr/>
        </p:nvSpPr>
        <p:spPr>
          <a:xfrm>
            <a:off x="6355080" y="3502152"/>
            <a:ext cx="237744" cy="237744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2280" y="3392424"/>
            <a:ext cx="36576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2000"/>
              <a:t>Membicarakan prognosis tanpa mempertimbangkan kesiapan pasien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Studi Kasus Singkat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640080"/>
            <a:ext cx="1371600" cy="1051560"/>
          </a:xfrm>
          <a:prstGeom prst="round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85832" y="804671"/>
            <a:ext cx="100584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2800" b="1">
                <a:solidFill>
                  <a:srgbClr val="1D8B8B"/>
                </a:solidFill>
                <a:latin typeface="Aptos"/>
              </a:defRPr>
            </a:pPr>
            <a:r>
              <a:rPr sz="2400"/>
              <a:t>“ ”</a:t>
            </a:r>
          </a:p>
        </p:txBody>
      </p:sp>
      <p:sp>
        <p:nvSpPr>
          <p:cNvPr id="7" name="Oval 6"/>
          <p:cNvSpPr/>
          <p:nvPr/>
        </p:nvSpPr>
        <p:spPr>
          <a:xfrm>
            <a:off x="10506456" y="1517904"/>
            <a:ext cx="228600" cy="22860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691640"/>
            <a:ext cx="3657600" cy="4297680"/>
          </a:xfrm>
          <a:prstGeom prst="roundRect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292608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rPr sz="2000"/>
              <a:t>“Saya takut</a:t>
            </a:r>
            <a:br/>
            <a:r>
              <a:rPr sz="2000"/>
              <a:t>menjadi beban</a:t>
            </a:r>
            <a:br/>
            <a:r>
              <a:rPr sz="2000"/>
              <a:t>keluarga.”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886200"/>
            <a:ext cx="2468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100" b="1">
                <a:solidFill>
                  <a:srgbClr val="70C9BE"/>
                </a:solidFill>
                <a:latin typeface="Aptos"/>
              </a:defRPr>
            </a:pPr>
            <a:r>
              <a:rPr sz="2000"/>
              <a:t>Pasien kanker lanjut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755648"/>
            <a:ext cx="61264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010912" y="1938528"/>
            <a:ext cx="365760" cy="36576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10912" y="1956816"/>
            <a:ext cx="3657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 dirty="0"/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9552" y="1810512"/>
            <a:ext cx="4983480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Respons</a:t>
            </a:r>
            <a:r>
              <a:rPr sz="2000" dirty="0"/>
              <a:t> </a:t>
            </a:r>
            <a:r>
              <a:rPr sz="2000" dirty="0" err="1"/>
              <a:t>awal</a:t>
            </a:r>
            <a:r>
              <a:rPr sz="2000" dirty="0"/>
              <a:t>: </a:t>
            </a:r>
            <a:r>
              <a:rPr sz="2000" dirty="0" err="1"/>
              <a:t>validasi</a:t>
            </a:r>
            <a:r>
              <a:rPr sz="2000" dirty="0"/>
              <a:t> </a:t>
            </a:r>
            <a:r>
              <a:rPr sz="2000" dirty="0" err="1"/>
              <a:t>perasaan</a:t>
            </a:r>
            <a:r>
              <a:rPr sz="2000" dirty="0"/>
              <a:t> dan </a:t>
            </a:r>
            <a:r>
              <a:rPr sz="2000" dirty="0" err="1"/>
              <a:t>gali</a:t>
            </a:r>
            <a:r>
              <a:rPr sz="2000" dirty="0"/>
              <a:t> </a:t>
            </a:r>
            <a:r>
              <a:rPr sz="2000" dirty="0" err="1"/>
              <a:t>kekhawatiran</a:t>
            </a:r>
            <a:endParaRPr sz="2000" dirty="0"/>
          </a:p>
        </p:txBody>
      </p:sp>
      <p:sp>
        <p:nvSpPr>
          <p:cNvPr id="15" name="Rounded Rectangle 14"/>
          <p:cNvSpPr/>
          <p:nvPr/>
        </p:nvSpPr>
        <p:spPr>
          <a:xfrm>
            <a:off x="4754880" y="2715768"/>
            <a:ext cx="61264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010912" y="2898648"/>
            <a:ext cx="365760" cy="365760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2907792"/>
            <a:ext cx="3657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 dirty="0"/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9552" y="2862072"/>
            <a:ext cx="4983480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/>
              <a:t>Berikan informasi sesuai kebutuhan pasien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3675886"/>
            <a:ext cx="6126480" cy="80467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010912" y="3858768"/>
            <a:ext cx="365760" cy="36576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10912" y="3877056"/>
            <a:ext cx="3657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 dirty="0"/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9552" y="3739896"/>
            <a:ext cx="4983480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Libatkan</a:t>
            </a:r>
            <a:r>
              <a:rPr sz="2000" dirty="0"/>
              <a:t> </a:t>
            </a:r>
            <a:r>
              <a:rPr sz="2000" dirty="0" err="1"/>
              <a:t>keluarga</a:t>
            </a:r>
            <a:r>
              <a:rPr sz="2000" dirty="0"/>
              <a:t> </a:t>
            </a:r>
            <a:r>
              <a:rPr sz="2000" dirty="0" err="1"/>
              <a:t>dengan</a:t>
            </a:r>
            <a:r>
              <a:rPr sz="2000" dirty="0"/>
              <a:t> </a:t>
            </a:r>
            <a:r>
              <a:rPr sz="2000" dirty="0" err="1"/>
              <a:t>persetujuan</a:t>
            </a:r>
            <a:r>
              <a:rPr sz="2000" dirty="0"/>
              <a:t> </a:t>
            </a:r>
            <a:r>
              <a:rPr sz="2000" dirty="0" err="1"/>
              <a:t>pasien</a:t>
            </a:r>
            <a:endParaRPr sz="2000" dirty="0"/>
          </a:p>
        </p:txBody>
      </p:sp>
      <p:sp>
        <p:nvSpPr>
          <p:cNvPr id="23" name="Rounded Rectangle 22"/>
          <p:cNvSpPr/>
          <p:nvPr/>
        </p:nvSpPr>
        <p:spPr>
          <a:xfrm>
            <a:off x="4754880" y="4636008"/>
            <a:ext cx="61264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010912" y="4818888"/>
            <a:ext cx="365760" cy="365760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10912" y="4809744"/>
            <a:ext cx="365760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 dirty="0"/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9552" y="4782312"/>
            <a:ext cx="4983480" cy="4206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1F2E39"/>
                </a:solidFill>
                <a:latin typeface="Aptos"/>
              </a:defRPr>
            </a:pPr>
            <a:r>
              <a:rPr sz="2000"/>
              <a:t>Susun rencana yang mempertahankan kenyamanan dan martabat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Alur Komunikasi Paliatif yang Ideal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04119" y="768096"/>
            <a:ext cx="868680" cy="8686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3400" b="1">
                <a:solidFill>
                  <a:srgbClr val="E7B249"/>
                </a:solidFill>
                <a:latin typeface="Aptos"/>
              </a:defRPr>
            </a:pPr>
            <a:r>
              <a:rPr sz="2400"/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6858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0">
                <a:solidFill>
                  <a:srgbClr val="65747E"/>
                </a:solidFill>
                <a:latin typeface="Aptos"/>
              </a:defRPr>
            </a:pPr>
            <a:r>
              <a:rPr sz="2400"/>
              <a:t>Satu alur sederhana untuk menjaga komunikasi tetap manusiawi.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71800"/>
            <a:ext cx="10149840" cy="73152"/>
          </a:xfrm>
          <a:prstGeom prst="rect">
            <a:avLst/>
          </a:prstGeom>
          <a:solidFill>
            <a:srgbClr val="C4D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2651760"/>
            <a:ext cx="658368" cy="658368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61488"/>
            <a:ext cx="658368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20440"/>
            <a:ext cx="13258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00" b="1">
                <a:solidFill>
                  <a:srgbClr val="12273A"/>
                </a:solidFill>
                <a:latin typeface="Aptos"/>
              </a:defRPr>
            </a:pPr>
            <a:r>
              <a:rPr sz="2000"/>
              <a:t>HADIR</a:t>
            </a:r>
          </a:p>
        </p:txBody>
      </p:sp>
      <p:sp>
        <p:nvSpPr>
          <p:cNvPr id="12" name="Oval 11"/>
          <p:cNvSpPr/>
          <p:nvPr/>
        </p:nvSpPr>
        <p:spPr>
          <a:xfrm>
            <a:off x="2542032" y="2651760"/>
            <a:ext cx="658368" cy="658368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42032" y="2761488"/>
            <a:ext cx="658368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93976" y="3530965"/>
            <a:ext cx="1627632" cy="344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00" b="1">
                <a:solidFill>
                  <a:srgbClr val="12273A"/>
                </a:solidFill>
                <a:latin typeface="Aptos"/>
              </a:defRPr>
            </a:pPr>
            <a:r>
              <a:rPr sz="2000" dirty="0"/>
              <a:t>DENGARKAN</a:t>
            </a:r>
          </a:p>
        </p:txBody>
      </p:sp>
      <p:sp>
        <p:nvSpPr>
          <p:cNvPr id="15" name="Oval 14"/>
          <p:cNvSpPr/>
          <p:nvPr/>
        </p:nvSpPr>
        <p:spPr>
          <a:xfrm>
            <a:off x="4169664" y="2651760"/>
            <a:ext cx="658368" cy="658368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69664" y="2761488"/>
            <a:ext cx="658368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9624" y="3520440"/>
            <a:ext cx="13258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00" b="1">
                <a:solidFill>
                  <a:srgbClr val="12273A"/>
                </a:solidFill>
                <a:latin typeface="Aptos"/>
              </a:defRPr>
            </a:pPr>
            <a:r>
              <a:rPr sz="2000"/>
              <a:t>PAHAMI</a:t>
            </a:r>
          </a:p>
        </p:txBody>
      </p:sp>
      <p:sp>
        <p:nvSpPr>
          <p:cNvPr id="18" name="Oval 17"/>
          <p:cNvSpPr/>
          <p:nvPr/>
        </p:nvSpPr>
        <p:spPr>
          <a:xfrm>
            <a:off x="5797296" y="2651760"/>
            <a:ext cx="658368" cy="658368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97296" y="2761488"/>
            <a:ext cx="658368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77256" y="3520440"/>
            <a:ext cx="13258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00" b="1">
                <a:solidFill>
                  <a:srgbClr val="12273A"/>
                </a:solidFill>
                <a:latin typeface="Aptos"/>
              </a:defRPr>
            </a:pPr>
            <a:r>
              <a:rPr sz="2000"/>
              <a:t>JELASKAN</a:t>
            </a:r>
          </a:p>
        </p:txBody>
      </p:sp>
      <p:sp>
        <p:nvSpPr>
          <p:cNvPr id="21" name="Oval 20"/>
          <p:cNvSpPr/>
          <p:nvPr/>
        </p:nvSpPr>
        <p:spPr>
          <a:xfrm>
            <a:off x="7424928" y="2651760"/>
            <a:ext cx="658368" cy="658368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24928" y="2761488"/>
            <a:ext cx="658368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3520440"/>
            <a:ext cx="1453896" cy="344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00" b="1">
                <a:solidFill>
                  <a:srgbClr val="12273A"/>
                </a:solidFill>
                <a:latin typeface="Aptos"/>
              </a:defRPr>
            </a:pPr>
            <a:r>
              <a:rPr sz="2000" dirty="0"/>
              <a:t>PUTUSKAN</a:t>
            </a:r>
          </a:p>
        </p:txBody>
      </p:sp>
      <p:sp>
        <p:nvSpPr>
          <p:cNvPr id="24" name="Oval 23"/>
          <p:cNvSpPr/>
          <p:nvPr/>
        </p:nvSpPr>
        <p:spPr>
          <a:xfrm>
            <a:off x="9052560" y="2651760"/>
            <a:ext cx="658368" cy="658368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52560" y="2761488"/>
            <a:ext cx="658368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3520440"/>
            <a:ext cx="13258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00" b="1">
                <a:solidFill>
                  <a:srgbClr val="12273A"/>
                </a:solidFill>
                <a:latin typeface="Aptos"/>
              </a:defRPr>
            </a:pPr>
            <a:r>
              <a:rPr sz="2000"/>
              <a:t>DUKUNG</a:t>
            </a:r>
          </a:p>
        </p:txBody>
      </p:sp>
      <p:sp>
        <p:nvSpPr>
          <p:cNvPr id="27" name="Oval 26"/>
          <p:cNvSpPr/>
          <p:nvPr/>
        </p:nvSpPr>
        <p:spPr>
          <a:xfrm>
            <a:off x="10680192" y="2651760"/>
            <a:ext cx="658368" cy="658368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80192" y="2761488"/>
            <a:ext cx="658368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/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0152" y="3520440"/>
            <a:ext cx="13258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00" b="1">
                <a:solidFill>
                  <a:srgbClr val="12273A"/>
                </a:solidFill>
                <a:latin typeface="Aptos"/>
              </a:defRPr>
            </a:pPr>
            <a:r>
              <a:rPr sz="2000"/>
              <a:t>HORMATI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892040"/>
            <a:ext cx="10424160" cy="950976"/>
          </a:xfrm>
          <a:prstGeom prst="round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7280" y="5084064"/>
            <a:ext cx="987552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300" b="1">
                <a:solidFill>
                  <a:srgbClr val="12273A"/>
                </a:solidFill>
                <a:latin typeface="Aptos"/>
              </a:defRPr>
            </a:pPr>
            <a:r>
              <a:rPr sz="2000" dirty="0" err="1"/>
              <a:t>Evaluasi</a:t>
            </a:r>
            <a:r>
              <a:rPr sz="2000" dirty="0"/>
              <a:t> </a:t>
            </a:r>
            <a:r>
              <a:rPr sz="2000" dirty="0" err="1"/>
              <a:t>kembali</a:t>
            </a:r>
            <a:r>
              <a:rPr sz="2000" dirty="0"/>
              <a:t> </a:t>
            </a:r>
            <a:r>
              <a:rPr sz="2000" dirty="0" err="1"/>
              <a:t>kebutuhan</a:t>
            </a:r>
            <a:r>
              <a:rPr sz="2000" dirty="0"/>
              <a:t>, </a:t>
            </a:r>
            <a:r>
              <a:rPr sz="2000" dirty="0" err="1"/>
              <a:t>pemahaman</a:t>
            </a:r>
            <a:r>
              <a:rPr sz="2000" dirty="0"/>
              <a:t>, dan </a:t>
            </a:r>
            <a:r>
              <a:rPr sz="2000" dirty="0" err="1"/>
              <a:t>pilihan</a:t>
            </a:r>
            <a:r>
              <a:rPr sz="2000" dirty="0"/>
              <a:t> </a:t>
            </a:r>
            <a:r>
              <a:rPr sz="2000" dirty="0" err="1"/>
              <a:t>pasien</a:t>
            </a:r>
            <a:r>
              <a:rPr sz="2000" dirty="0"/>
              <a:t> </a:t>
            </a:r>
            <a:r>
              <a:rPr sz="2000" dirty="0" err="1"/>
              <a:t>sepanjang</a:t>
            </a:r>
            <a:r>
              <a:rPr sz="2000" dirty="0"/>
              <a:t> </a:t>
            </a:r>
            <a:r>
              <a:rPr sz="2000" dirty="0" err="1"/>
              <a:t>perjalanan</a:t>
            </a:r>
            <a:r>
              <a:rPr sz="2000" dirty="0"/>
              <a:t> </a:t>
            </a:r>
            <a:r>
              <a:rPr sz="2000" dirty="0" err="1"/>
              <a:t>perawatan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393192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>
                <a:solidFill>
                  <a:srgbClr val="1D8B8B"/>
                </a:solidFill>
                <a:latin typeface="Aptos"/>
              </a:defRPr>
            </a:pPr>
            <a:r>
              <a:rPr sz="2400"/>
              <a:t>PALLIATIVE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900" b="1">
                <a:solidFill>
                  <a:srgbClr val="65747E"/>
                </a:solidFill>
                <a:latin typeface="Aptos"/>
              </a:defRPr>
            </a:pPr>
            <a:r>
              <a:rPr sz="2000"/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8503920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400" b="1">
                <a:solidFill>
                  <a:srgbClr val="12273A"/>
                </a:solidFill>
                <a:latin typeface="Aptos"/>
              </a:defRPr>
            </a:pPr>
            <a:r>
              <a:rPr sz="2400"/>
              <a:t>Kesimpulan</a:t>
            </a:r>
          </a:p>
        </p:txBody>
      </p:sp>
      <p:sp>
        <p:nvSpPr>
          <p:cNvPr id="5" name="Oval 4"/>
          <p:cNvSpPr/>
          <p:nvPr/>
        </p:nvSpPr>
        <p:spPr>
          <a:xfrm>
            <a:off x="9921240" y="640080"/>
            <a:ext cx="1234440" cy="1234440"/>
          </a:xfrm>
          <a:prstGeom prst="ellipse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68712" y="987552"/>
            <a:ext cx="530352" cy="530352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50424" y="932688"/>
            <a:ext cx="566928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rPr sz="2400"/>
              <a:t>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3337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6968" y="1993391"/>
            <a:ext cx="420624" cy="420624"/>
          </a:xfrm>
          <a:prstGeom prst="ellipse">
            <a:avLst/>
          </a:prstGeom>
          <a:solidFill>
            <a:srgbClr val="1D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066543"/>
            <a:ext cx="420624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51658"/>
            <a:ext cx="22860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1F2E39"/>
                </a:solidFill>
                <a:latin typeface="Aptos"/>
              </a:defRPr>
            </a:pPr>
            <a:r>
              <a:rPr sz="2000" dirty="0" err="1"/>
              <a:t>Komunikasi</a:t>
            </a:r>
            <a:r>
              <a:rPr sz="2000" dirty="0"/>
              <a:t> </a:t>
            </a:r>
            <a:r>
              <a:rPr sz="2000" dirty="0" err="1"/>
              <a:t>terapeutik</a:t>
            </a:r>
            <a:r>
              <a:rPr sz="2000" dirty="0"/>
              <a:t> </a:t>
            </a:r>
            <a:r>
              <a:rPr sz="2000" dirty="0" err="1"/>
              <a:t>membangun</a:t>
            </a:r>
            <a:r>
              <a:rPr sz="2000" dirty="0"/>
              <a:t> rasa </a:t>
            </a:r>
            <a:r>
              <a:rPr sz="2000" dirty="0" err="1"/>
              <a:t>aman</a:t>
            </a:r>
            <a:endParaRPr sz="2000" dirty="0"/>
          </a:p>
        </p:txBody>
      </p:sp>
      <p:sp>
        <p:nvSpPr>
          <p:cNvPr id="12" name="Rounded Rectangle 11"/>
          <p:cNvSpPr/>
          <p:nvPr/>
        </p:nvSpPr>
        <p:spPr>
          <a:xfrm>
            <a:off x="4361688" y="1737360"/>
            <a:ext cx="3337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90288" y="1993391"/>
            <a:ext cx="420624" cy="420624"/>
          </a:xfrm>
          <a:prstGeom prst="ellipse">
            <a:avLst/>
          </a:prstGeom>
          <a:solidFill>
            <a:srgbClr val="E7B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066543"/>
            <a:ext cx="420624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1993391"/>
            <a:ext cx="22860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1F2E39"/>
                </a:solidFill>
                <a:latin typeface="Aptos"/>
              </a:defRPr>
            </a:pPr>
            <a:r>
              <a:rPr sz="2000"/>
              <a:t>Informasi yang jelas mendukung pemahaman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737360"/>
            <a:ext cx="33375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93608" y="1993391"/>
            <a:ext cx="420624" cy="420624"/>
          </a:xfrm>
          <a:prstGeom prst="ellipse">
            <a:avLst/>
          </a:prstGeom>
          <a:solidFill>
            <a:srgbClr val="E77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066543"/>
            <a:ext cx="420624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8" y="1851659"/>
            <a:ext cx="22860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1F2E39"/>
                </a:solidFill>
                <a:latin typeface="Aptos"/>
              </a:defRPr>
            </a:pPr>
            <a:r>
              <a:rPr sz="2000" dirty="0"/>
              <a:t>Keputusan </a:t>
            </a:r>
            <a:r>
              <a:rPr sz="2000" dirty="0" err="1"/>
              <a:t>bersama</a:t>
            </a:r>
            <a:r>
              <a:rPr sz="2000" dirty="0"/>
              <a:t> </a:t>
            </a:r>
            <a:r>
              <a:rPr sz="2000" dirty="0" err="1"/>
              <a:t>menghormati</a:t>
            </a:r>
            <a:r>
              <a:rPr sz="2000" dirty="0"/>
              <a:t> </a:t>
            </a:r>
            <a:r>
              <a:rPr sz="2000" dirty="0" err="1"/>
              <a:t>otonomi</a:t>
            </a:r>
            <a:endParaRPr sz="2000" dirty="0"/>
          </a:p>
        </p:txBody>
      </p:sp>
      <p:sp>
        <p:nvSpPr>
          <p:cNvPr id="20" name="Rounded Rectangle 19"/>
          <p:cNvSpPr/>
          <p:nvPr/>
        </p:nvSpPr>
        <p:spPr>
          <a:xfrm>
            <a:off x="658368" y="3566160"/>
            <a:ext cx="5257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86968" y="3822191"/>
            <a:ext cx="420624" cy="420624"/>
          </a:xfrm>
          <a:prstGeom prst="ellipse">
            <a:avLst/>
          </a:prstGeom>
          <a:solidFill>
            <a:srgbClr val="70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3895344"/>
            <a:ext cx="420624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822191"/>
            <a:ext cx="420624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1F2E39"/>
                </a:solidFill>
                <a:latin typeface="Aptos"/>
              </a:defRPr>
            </a:pPr>
            <a:r>
              <a:rPr sz="2000"/>
              <a:t>Dukungan emosional-spiritual merawat manusia secara utuh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3566160"/>
            <a:ext cx="525780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73368" y="3822191"/>
            <a:ext cx="420624" cy="420624"/>
          </a:xfrm>
          <a:prstGeom prst="ellipse">
            <a:avLst/>
          </a:prstGeom>
          <a:solidFill>
            <a:srgbClr val="1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73368" y="3895344"/>
            <a:ext cx="420624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2000"/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822191"/>
            <a:ext cx="420624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300" b="1">
                <a:solidFill>
                  <a:srgbClr val="1F2E39"/>
                </a:solidFill>
                <a:latin typeface="Aptos"/>
              </a:defRPr>
            </a:pPr>
            <a:r>
              <a:rPr sz="2000"/>
              <a:t>Martabat pasien harus menjadi pusat setiap interaksi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715000"/>
            <a:ext cx="105156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400" b="1">
                <a:solidFill>
                  <a:srgbClr val="1D8B8B"/>
                </a:solidFill>
                <a:latin typeface="Aptos"/>
              </a:defRPr>
            </a:pPr>
            <a:r>
              <a:rPr sz="2000"/>
              <a:t>Komunikasi yang baik membuat pasien merasa didengar, dipahami, dan dihargai.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1231</Words>
  <Application>Microsoft Office PowerPoint</Application>
  <PresentationFormat>Widescreen</PresentationFormat>
  <Paragraphs>361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.</cp:lastModifiedBy>
  <cp:revision>8</cp:revision>
  <dcterms:created xsi:type="dcterms:W3CDTF">2013-01-27T09:14:16Z</dcterms:created>
  <dcterms:modified xsi:type="dcterms:W3CDTF">2026-10-05T04:47:05Z</dcterms:modified>
  <cp:category/>
</cp:coreProperties>
</file>