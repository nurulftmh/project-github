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Saya mengolah tiga sumber data, yaitu SDM, alat kesehatan, dan status kerja sama BPJS. Hasilnya saya integrasikan menjadi basis data rumah sakit dan dashboard interaktif untuk melihat kondisi KJSU dari tingkat nasional sampai rumah sakit.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yang saya gunakan adalah statistik deskriptif karena tujuan tugas ini menggambarkan kondisi eksisting, bukan menguji hipotesis. Kode RS digunakan sebagai kunci utama. Saya juga menjaga agar nilai kosong tidak disamakan dengan nol supaya interpretasinya tidak keliru.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halaman utama saya tampilkan lima indikator utama. Dashboard bisa difilter dari provinsi sampai rumah sakit. Yang perlu ditekankan, total alat kesehatan berasal dari rumah sakit yang memiliki data alat kesehatan, sehingga rumah sakit tanpa record tidak boleh langsung dianggap tidak memiliki alat.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Distribusi jumlah rumah sakit menunjukkan Jawa Timur, Jawa Barat, dan Jawa Tengah sebagai tiga provinsi dengan jumlah RS terbesar dalam dataset. Dari sisi kelas, sebagian besar adalah kelas C, kemudian kelas D. Temuan ini membantu memahami struktur fasilitas sebelum melihat kesiapan SDM dan alatnya.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SDM dan alat kesehatan dibuat fleksibel. Pengguna dapat mengganti jenis tenaga atau alat, lalu melihat distribusinya antarprovinsi. Contohnya pada Brachytherapy, DKI Jakarta memiliki 4 unit, Jawa Tengah dan Jawa Timur masing-masing 3 unit. Namun interpretasi harus mempertimbangkan kelengkapan data alat kesehatan.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keseluruhan 93,2 persen record layanan yang tercatat sudah berstatus kerja sama BPJS. Tetapi angka nasional dapat menyembunyikan perbedaan antarjenis layanan. Contohnya Radioterapi hanya 6 dari 28 RS tercatat, atau 21,4 persen, sedangkan Patologi Klinik mencapai sekitar 98,5 persen.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Hasil akhirnya adalah basis data terintegrasi dan dashboard yang bisa ditelusuri sampai rumah sakit serta diekspor. Dashboard ini bisa membantu tim mengidentifikasi gap SDM, alat kesehatan, dan kerja sama BPJS. Namun keputusan pemenuhan tetap harus mempertimbangkan kualitas dan kelengkapan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DA3FF"/>
          </a:solidFill>
          <a:ln w="12700">
            <a:solidFill>
              <a:srgbClr val="4DA3FF"/>
            </a:solidFill>
            <a:prstDash val="solid"/>
          </a:ln>
        </p:spPr>
      </p:sp>
      <p:sp>
        <p:nvSpPr>
          <p:cNvPr id="3" name="Text 1"/>
          <p:cNvSpPr/>
          <p:nvPr/>
        </p:nvSpPr>
        <p:spPr>
          <a:xfrm>
            <a:off x="548640" y="6510528"/>
            <a:ext cx="3657600" cy="164592"/>
          </a:xfrm>
          <a:prstGeom prst="rect">
            <a:avLst/>
          </a:prstGeom>
          <a:noFill/>
          <a:ln/>
        </p:spPr>
        <p:txBody>
          <a:bodyPr wrap="square" lIns="0" tIns="0" rIns="0" bIns="0" rtlCol="0" anchor="ctr"/>
          <a:lstStyle/>
          <a:p>
            <a:pPr indent="0" marL="0">
              <a:buNone/>
            </a:pPr>
            <a:r>
              <a:rPr lang="en-US" sz="800" dirty="0">
                <a:solidFill>
                  <a:srgbClr val="7D8796"/>
                </a:solidFill>
                <a:latin typeface="Aptos" pitchFamily="34" charset="0"/>
                <a:ea typeface="Aptos" pitchFamily="34" charset="-122"/>
                <a:cs typeface="Aptos" pitchFamily="34" charset="-120"/>
              </a:rPr>
              <a:t>SIMULASI DATA ANALYST KJSU</a:t>
            </a:r>
            <a:endParaRPr lang="en-US" sz="800" dirty="0"/>
          </a:p>
        </p:txBody>
      </p:sp>
      <p:sp>
        <p:nvSpPr>
          <p:cNvPr id="4" name="Text 2"/>
          <p:cNvSpPr/>
          <p:nvPr/>
        </p:nvSpPr>
        <p:spPr>
          <a:xfrm>
            <a:off x="7315200" y="6510528"/>
            <a:ext cx="4297680" cy="164592"/>
          </a:xfrm>
          <a:prstGeom prst="rect">
            <a:avLst/>
          </a:prstGeom>
          <a:noFill/>
          <a:ln/>
        </p:spPr>
        <p:txBody>
          <a:bodyPr wrap="square" lIns="0" tIns="0" rIns="0" bIns="0" rtlCol="0" anchor="ctr"/>
          <a:lstStyle/>
          <a:p>
            <a:pPr algn="r" indent="0" marL="0">
              <a:buNone/>
            </a:pPr>
            <a:r>
              <a:rPr lang="en-US" sz="800" dirty="0">
                <a:solidFill>
                  <a:srgbClr val="7D8796"/>
                </a:solidFill>
                <a:latin typeface="Aptos" pitchFamily="34" charset="0"/>
                <a:ea typeface="Aptos" pitchFamily="34" charset="-122"/>
                <a:cs typeface="Aptos" pitchFamily="34" charset="-120"/>
              </a:rPr>
              <a:t>Sumber: hasil pengolahan data dengan Python pandas</a:t>
            </a:r>
            <a:endParaRPr lang="en-US" sz="80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640080" y="713232"/>
            <a:ext cx="2011680" cy="384048"/>
          </a:xfrm>
          <a:prstGeom prst="roundRect">
            <a:avLst/>
          </a:prstGeom>
          <a:solidFill>
            <a:srgbClr val="16304C"/>
          </a:solidFill>
          <a:ln w="12700">
            <a:solidFill>
              <a:srgbClr val="2D5F8C"/>
            </a:solidFill>
            <a:prstDash val="solid"/>
          </a:ln>
        </p:spPr>
      </p:sp>
      <p:sp>
        <p:nvSpPr>
          <p:cNvPr id="3" name="Text 1"/>
          <p:cNvSpPr/>
          <p:nvPr/>
        </p:nvSpPr>
        <p:spPr>
          <a:xfrm>
            <a:off x="804672" y="822960"/>
            <a:ext cx="1691640" cy="146304"/>
          </a:xfrm>
          <a:prstGeom prst="rect">
            <a:avLst/>
          </a:prstGeom>
          <a:noFill/>
          <a:ln/>
        </p:spPr>
        <p:txBody>
          <a:bodyPr wrap="square" lIns="0" tIns="0" rIns="0" bIns="0" rtlCol="0" anchor="ctr"/>
          <a:lstStyle/>
          <a:p>
            <a:pPr algn="ctr" indent="0" marL="0">
              <a:buNone/>
            </a:pPr>
            <a:r>
              <a:rPr lang="en-US" sz="1000" b="1" dirty="0">
                <a:solidFill>
                  <a:srgbClr val="79C1FF"/>
                </a:solidFill>
              </a:rPr>
              <a:t>PRESENTASI 5 MENIT</a:t>
            </a:r>
            <a:endParaRPr lang="en-US" sz="1000" dirty="0"/>
          </a:p>
        </p:txBody>
      </p:sp>
      <p:sp>
        <p:nvSpPr>
          <p:cNvPr id="4" name="Text 2"/>
          <p:cNvSpPr/>
          <p:nvPr/>
        </p:nvSpPr>
        <p:spPr>
          <a:xfrm>
            <a:off x="640080" y="1417320"/>
            <a:ext cx="10424160" cy="658368"/>
          </a:xfrm>
          <a:prstGeom prst="rect">
            <a:avLst/>
          </a:prstGeom>
          <a:noFill/>
          <a:ln/>
        </p:spPr>
        <p:txBody>
          <a:bodyPr wrap="square" lIns="0" tIns="0" rIns="0" bIns="0" rtlCol="0" anchor="ctr"/>
          <a:lstStyle/>
          <a:p>
            <a:pPr indent="0" marL="0">
              <a:buNone/>
            </a:pPr>
            <a:r>
              <a:rPr lang="en-US" sz="3400" b="1" dirty="0">
                <a:solidFill>
                  <a:srgbClr val="F5F7FA"/>
                </a:solidFill>
              </a:rPr>
              <a:t>Analisis Kondisi Eksisting KJSU</a:t>
            </a:r>
            <a:endParaRPr lang="en-US" sz="3400" dirty="0"/>
          </a:p>
        </p:txBody>
      </p:sp>
      <p:sp>
        <p:nvSpPr>
          <p:cNvPr id="5" name="Text 3"/>
          <p:cNvSpPr/>
          <p:nvPr/>
        </p:nvSpPr>
        <p:spPr>
          <a:xfrm>
            <a:off x="658368" y="2176272"/>
            <a:ext cx="9692640" cy="384048"/>
          </a:xfrm>
          <a:prstGeom prst="rect">
            <a:avLst/>
          </a:prstGeom>
          <a:noFill/>
          <a:ln/>
        </p:spPr>
        <p:txBody>
          <a:bodyPr wrap="square" lIns="0" tIns="0" rIns="0" bIns="0" rtlCol="0" anchor="ctr"/>
          <a:lstStyle/>
          <a:p>
            <a:pPr indent="0" marL="0">
              <a:buNone/>
            </a:pPr>
            <a:r>
              <a:rPr lang="en-US" sz="1800" dirty="0">
                <a:solidFill>
                  <a:srgbClr val="A8B2C1"/>
                </a:solidFill>
              </a:rPr>
              <a:t>Ketersediaan SDM, Alat Kesehatan, dan Status Kerja Sama BPJS</a:t>
            </a:r>
            <a:endParaRPr lang="en-US" sz="1800" dirty="0"/>
          </a:p>
        </p:txBody>
      </p:sp>
      <p:sp>
        <p:nvSpPr>
          <p:cNvPr id="6" name="Text 4"/>
          <p:cNvSpPr/>
          <p:nvPr/>
        </p:nvSpPr>
        <p:spPr>
          <a:xfrm>
            <a:off x="658368" y="2670048"/>
            <a:ext cx="7772400" cy="274320"/>
          </a:xfrm>
          <a:prstGeom prst="rect">
            <a:avLst/>
          </a:prstGeom>
          <a:noFill/>
          <a:ln/>
        </p:spPr>
        <p:txBody>
          <a:bodyPr wrap="square" lIns="0" tIns="0" rIns="0" bIns="0" rtlCol="0" anchor="ctr"/>
          <a:lstStyle/>
          <a:p>
            <a:pPr indent="0" marL="0">
              <a:buNone/>
            </a:pPr>
            <a:r>
              <a:rPr lang="en-US" sz="1300" dirty="0">
                <a:solidFill>
                  <a:srgbClr val="79C1FF"/>
                </a:solidFill>
              </a:rPr>
              <a:t>Dashboard interaktif berbasis Python pandas + Streamlit</a:t>
            </a:r>
            <a:endParaRPr lang="en-US" sz="1300" dirty="0"/>
          </a:p>
        </p:txBody>
      </p:sp>
      <p:sp>
        <p:nvSpPr>
          <p:cNvPr id="7" name="Shape 5"/>
          <p:cNvSpPr/>
          <p:nvPr/>
        </p:nvSpPr>
        <p:spPr>
          <a:xfrm>
            <a:off x="658368" y="3749040"/>
            <a:ext cx="2240280" cy="1261872"/>
          </a:xfrm>
          <a:prstGeom prst="roundRect">
            <a:avLst>
              <a:gd name="adj" fmla="val 5797"/>
            </a:avLst>
          </a:prstGeom>
          <a:solidFill>
            <a:srgbClr val="121925"/>
          </a:solidFill>
          <a:ln w="12700">
            <a:solidFill>
              <a:srgbClr val="2A3444"/>
            </a:solidFill>
            <a:prstDash val="solid"/>
          </a:ln>
        </p:spPr>
      </p:sp>
      <p:sp>
        <p:nvSpPr>
          <p:cNvPr id="8" name="Shape 6"/>
          <p:cNvSpPr/>
          <p:nvPr/>
        </p:nvSpPr>
        <p:spPr>
          <a:xfrm>
            <a:off x="658368" y="3749040"/>
            <a:ext cx="73152" cy="1261872"/>
          </a:xfrm>
          <a:prstGeom prst="rect">
            <a:avLst/>
          </a:prstGeom>
          <a:solidFill>
            <a:srgbClr val="4DA3FF"/>
          </a:solidFill>
          <a:ln w="12700">
            <a:solidFill>
              <a:srgbClr val="4DA3FF"/>
            </a:solidFill>
            <a:prstDash val="solid"/>
          </a:ln>
        </p:spPr>
      </p:sp>
      <p:sp>
        <p:nvSpPr>
          <p:cNvPr id="9" name="Text 7"/>
          <p:cNvSpPr/>
          <p:nvPr/>
        </p:nvSpPr>
        <p:spPr>
          <a:xfrm>
            <a:off x="859536" y="3904488"/>
            <a:ext cx="1920240" cy="237744"/>
          </a:xfrm>
          <a:prstGeom prst="rect">
            <a:avLst/>
          </a:prstGeom>
          <a:noFill/>
          <a:ln/>
        </p:spPr>
        <p:txBody>
          <a:bodyPr wrap="square" lIns="0" tIns="0" rIns="0" bIns="0" rtlCol="0" anchor="ctr"/>
          <a:lstStyle/>
          <a:p>
            <a:pPr indent="0" marL="0">
              <a:buNone/>
            </a:pPr>
            <a:r>
              <a:rPr lang="en-US" sz="1050" dirty="0">
                <a:solidFill>
                  <a:srgbClr val="A8B2C1"/>
                </a:solidFill>
              </a:rPr>
              <a:t>Rumah Sakit</a:t>
            </a:r>
            <a:endParaRPr lang="en-US" sz="1050" dirty="0"/>
          </a:p>
        </p:txBody>
      </p:sp>
      <p:sp>
        <p:nvSpPr>
          <p:cNvPr id="10" name="Text 8"/>
          <p:cNvSpPr/>
          <p:nvPr/>
        </p:nvSpPr>
        <p:spPr>
          <a:xfrm>
            <a:off x="859536" y="4206240"/>
            <a:ext cx="1920240"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3.171</a:t>
            </a:r>
            <a:endParaRPr lang="en-US" sz="2400" dirty="0"/>
          </a:p>
        </p:txBody>
      </p:sp>
      <p:sp>
        <p:nvSpPr>
          <p:cNvPr id="11" name="Text 9"/>
          <p:cNvSpPr/>
          <p:nvPr/>
        </p:nvSpPr>
        <p:spPr>
          <a:xfrm>
            <a:off x="859536" y="4736592"/>
            <a:ext cx="1920240" cy="201168"/>
          </a:xfrm>
          <a:prstGeom prst="rect">
            <a:avLst/>
          </a:prstGeom>
          <a:noFill/>
          <a:ln/>
        </p:spPr>
        <p:txBody>
          <a:bodyPr wrap="square" lIns="0" tIns="0" rIns="0" bIns="0" rtlCol="0" anchor="ctr"/>
          <a:lstStyle/>
          <a:p>
            <a:pPr indent="0" marL="0">
              <a:buNone/>
            </a:pPr>
            <a:r>
              <a:rPr lang="en-US" sz="850" dirty="0">
                <a:solidFill>
                  <a:srgbClr val="A8B2C1"/>
                </a:solidFill>
              </a:rPr>
              <a:t>38 provinsi</a:t>
            </a:r>
            <a:endParaRPr lang="en-US" sz="850" dirty="0"/>
          </a:p>
        </p:txBody>
      </p:sp>
      <p:sp>
        <p:nvSpPr>
          <p:cNvPr id="12" name="Shape 10"/>
          <p:cNvSpPr/>
          <p:nvPr/>
        </p:nvSpPr>
        <p:spPr>
          <a:xfrm>
            <a:off x="3072384" y="3749040"/>
            <a:ext cx="2240280" cy="1261872"/>
          </a:xfrm>
          <a:prstGeom prst="roundRect">
            <a:avLst>
              <a:gd name="adj" fmla="val 5797"/>
            </a:avLst>
          </a:prstGeom>
          <a:solidFill>
            <a:srgbClr val="121925"/>
          </a:solidFill>
          <a:ln w="12700">
            <a:solidFill>
              <a:srgbClr val="2A3444"/>
            </a:solidFill>
            <a:prstDash val="solid"/>
          </a:ln>
        </p:spPr>
      </p:sp>
      <p:sp>
        <p:nvSpPr>
          <p:cNvPr id="13" name="Shape 11"/>
          <p:cNvSpPr/>
          <p:nvPr/>
        </p:nvSpPr>
        <p:spPr>
          <a:xfrm>
            <a:off x="3072384" y="3749040"/>
            <a:ext cx="73152" cy="1261872"/>
          </a:xfrm>
          <a:prstGeom prst="rect">
            <a:avLst/>
          </a:prstGeom>
          <a:solidFill>
            <a:srgbClr val="53D0C6"/>
          </a:solidFill>
          <a:ln w="12700">
            <a:solidFill>
              <a:srgbClr val="53D0C6"/>
            </a:solidFill>
            <a:prstDash val="solid"/>
          </a:ln>
        </p:spPr>
      </p:sp>
      <p:sp>
        <p:nvSpPr>
          <p:cNvPr id="14" name="Text 12"/>
          <p:cNvSpPr/>
          <p:nvPr/>
        </p:nvSpPr>
        <p:spPr>
          <a:xfrm>
            <a:off x="3273552" y="3904488"/>
            <a:ext cx="1920240" cy="237744"/>
          </a:xfrm>
          <a:prstGeom prst="rect">
            <a:avLst/>
          </a:prstGeom>
          <a:noFill/>
          <a:ln/>
        </p:spPr>
        <p:txBody>
          <a:bodyPr wrap="square" lIns="0" tIns="0" rIns="0" bIns="0" rtlCol="0" anchor="ctr"/>
          <a:lstStyle/>
          <a:p>
            <a:pPr indent="0" marL="0">
              <a:buNone/>
            </a:pPr>
            <a:r>
              <a:rPr lang="en-US" sz="1050" dirty="0">
                <a:solidFill>
                  <a:srgbClr val="A8B2C1"/>
                </a:solidFill>
              </a:rPr>
              <a:t>Kab/Kota</a:t>
            </a:r>
            <a:endParaRPr lang="en-US" sz="1050" dirty="0"/>
          </a:p>
        </p:txBody>
      </p:sp>
      <p:sp>
        <p:nvSpPr>
          <p:cNvPr id="15" name="Text 13"/>
          <p:cNvSpPr/>
          <p:nvPr/>
        </p:nvSpPr>
        <p:spPr>
          <a:xfrm>
            <a:off x="3273552" y="4206240"/>
            <a:ext cx="1920240"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512</a:t>
            </a:r>
            <a:endParaRPr lang="en-US" sz="2400" dirty="0"/>
          </a:p>
        </p:txBody>
      </p:sp>
      <p:sp>
        <p:nvSpPr>
          <p:cNvPr id="16" name="Text 14"/>
          <p:cNvSpPr/>
          <p:nvPr/>
        </p:nvSpPr>
        <p:spPr>
          <a:xfrm>
            <a:off x="3273552" y="4736592"/>
            <a:ext cx="1920240" cy="201168"/>
          </a:xfrm>
          <a:prstGeom prst="rect">
            <a:avLst/>
          </a:prstGeom>
          <a:noFill/>
          <a:ln/>
        </p:spPr>
        <p:txBody>
          <a:bodyPr wrap="square" lIns="0" tIns="0" rIns="0" bIns="0" rtlCol="0" anchor="ctr"/>
          <a:lstStyle/>
          <a:p>
            <a:pPr indent="0" marL="0">
              <a:buNone/>
            </a:pPr>
            <a:r>
              <a:rPr lang="en-US" sz="850" dirty="0">
                <a:solidFill>
                  <a:srgbClr val="A8B2C1"/>
                </a:solidFill>
              </a:rPr>
              <a:t>disagregasi wilayah</a:t>
            </a:r>
            <a:endParaRPr lang="en-US" sz="850" dirty="0"/>
          </a:p>
        </p:txBody>
      </p:sp>
      <p:sp>
        <p:nvSpPr>
          <p:cNvPr id="17" name="Shape 15"/>
          <p:cNvSpPr/>
          <p:nvPr/>
        </p:nvSpPr>
        <p:spPr>
          <a:xfrm>
            <a:off x="5486400" y="3749040"/>
            <a:ext cx="2240280" cy="1261872"/>
          </a:xfrm>
          <a:prstGeom prst="roundRect">
            <a:avLst>
              <a:gd name="adj" fmla="val 5797"/>
            </a:avLst>
          </a:prstGeom>
          <a:solidFill>
            <a:srgbClr val="121925"/>
          </a:solidFill>
          <a:ln w="12700">
            <a:solidFill>
              <a:srgbClr val="2A3444"/>
            </a:solidFill>
            <a:prstDash val="solid"/>
          </a:ln>
        </p:spPr>
      </p:sp>
      <p:sp>
        <p:nvSpPr>
          <p:cNvPr id="18" name="Shape 16"/>
          <p:cNvSpPr/>
          <p:nvPr/>
        </p:nvSpPr>
        <p:spPr>
          <a:xfrm>
            <a:off x="5486400" y="3749040"/>
            <a:ext cx="73152" cy="1261872"/>
          </a:xfrm>
          <a:prstGeom prst="rect">
            <a:avLst/>
          </a:prstGeom>
          <a:solidFill>
            <a:srgbClr val="66D19E"/>
          </a:solidFill>
          <a:ln w="12700">
            <a:solidFill>
              <a:srgbClr val="66D19E"/>
            </a:solidFill>
            <a:prstDash val="solid"/>
          </a:ln>
        </p:spPr>
      </p:sp>
      <p:sp>
        <p:nvSpPr>
          <p:cNvPr id="19" name="Text 17"/>
          <p:cNvSpPr/>
          <p:nvPr/>
        </p:nvSpPr>
        <p:spPr>
          <a:xfrm>
            <a:off x="5687568" y="3904488"/>
            <a:ext cx="1920240" cy="237744"/>
          </a:xfrm>
          <a:prstGeom prst="rect">
            <a:avLst/>
          </a:prstGeom>
          <a:noFill/>
          <a:ln/>
        </p:spPr>
        <p:txBody>
          <a:bodyPr wrap="square" lIns="0" tIns="0" rIns="0" bIns="0" rtlCol="0" anchor="ctr"/>
          <a:lstStyle/>
          <a:p>
            <a:pPr indent="0" marL="0">
              <a:buNone/>
            </a:pPr>
            <a:r>
              <a:rPr lang="en-US" sz="1050" dirty="0">
                <a:solidFill>
                  <a:srgbClr val="A8B2C1"/>
                </a:solidFill>
              </a:rPr>
              <a:t>Total SDM tercatat</a:t>
            </a:r>
            <a:endParaRPr lang="en-US" sz="1050" dirty="0"/>
          </a:p>
        </p:txBody>
      </p:sp>
      <p:sp>
        <p:nvSpPr>
          <p:cNvPr id="20" name="Text 18"/>
          <p:cNvSpPr/>
          <p:nvPr/>
        </p:nvSpPr>
        <p:spPr>
          <a:xfrm>
            <a:off x="5687568" y="4206240"/>
            <a:ext cx="1920240"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152.120</a:t>
            </a:r>
            <a:endParaRPr lang="en-US" sz="2400" dirty="0"/>
          </a:p>
        </p:txBody>
      </p:sp>
      <p:sp>
        <p:nvSpPr>
          <p:cNvPr id="21" name="Text 19"/>
          <p:cNvSpPr/>
          <p:nvPr/>
        </p:nvSpPr>
        <p:spPr>
          <a:xfrm>
            <a:off x="5687568" y="4736592"/>
            <a:ext cx="1920240" cy="201168"/>
          </a:xfrm>
          <a:prstGeom prst="rect">
            <a:avLst/>
          </a:prstGeom>
          <a:noFill/>
          <a:ln/>
        </p:spPr>
        <p:txBody>
          <a:bodyPr wrap="square" lIns="0" tIns="0" rIns="0" bIns="0" rtlCol="0" anchor="ctr"/>
          <a:lstStyle/>
          <a:p>
            <a:pPr indent="0" marL="0">
              <a:buNone/>
            </a:pPr>
            <a:r>
              <a:rPr lang="en-US" sz="850" dirty="0">
                <a:solidFill>
                  <a:srgbClr val="A8B2C1"/>
                </a:solidFill>
              </a:rPr>
              <a:t>hasil agregasi</a:t>
            </a:r>
            <a:endParaRPr lang="en-US" sz="850" dirty="0"/>
          </a:p>
        </p:txBody>
      </p:sp>
      <p:sp>
        <p:nvSpPr>
          <p:cNvPr id="22" name="Shape 20"/>
          <p:cNvSpPr/>
          <p:nvPr/>
        </p:nvSpPr>
        <p:spPr>
          <a:xfrm>
            <a:off x="7900416" y="3749040"/>
            <a:ext cx="2240280" cy="1261872"/>
          </a:xfrm>
          <a:prstGeom prst="roundRect">
            <a:avLst>
              <a:gd name="adj" fmla="val 5797"/>
            </a:avLst>
          </a:prstGeom>
          <a:solidFill>
            <a:srgbClr val="121925"/>
          </a:solidFill>
          <a:ln w="12700">
            <a:solidFill>
              <a:srgbClr val="2A3444"/>
            </a:solidFill>
            <a:prstDash val="solid"/>
          </a:ln>
        </p:spPr>
      </p:sp>
      <p:sp>
        <p:nvSpPr>
          <p:cNvPr id="23" name="Shape 21"/>
          <p:cNvSpPr/>
          <p:nvPr/>
        </p:nvSpPr>
        <p:spPr>
          <a:xfrm>
            <a:off x="7900416" y="3749040"/>
            <a:ext cx="73152" cy="1261872"/>
          </a:xfrm>
          <a:prstGeom prst="rect">
            <a:avLst/>
          </a:prstGeom>
          <a:solidFill>
            <a:srgbClr val="F5C451"/>
          </a:solidFill>
          <a:ln w="12700">
            <a:solidFill>
              <a:srgbClr val="F5C451"/>
            </a:solidFill>
            <a:prstDash val="solid"/>
          </a:ln>
        </p:spPr>
      </p:sp>
      <p:sp>
        <p:nvSpPr>
          <p:cNvPr id="24" name="Text 22"/>
          <p:cNvSpPr/>
          <p:nvPr/>
        </p:nvSpPr>
        <p:spPr>
          <a:xfrm>
            <a:off x="8101584" y="3904488"/>
            <a:ext cx="1920240" cy="237744"/>
          </a:xfrm>
          <a:prstGeom prst="rect">
            <a:avLst/>
          </a:prstGeom>
          <a:noFill/>
          <a:ln/>
        </p:spPr>
        <p:txBody>
          <a:bodyPr wrap="square" lIns="0" tIns="0" rIns="0" bIns="0" rtlCol="0" anchor="ctr"/>
          <a:lstStyle/>
          <a:p>
            <a:pPr indent="0" marL="0">
              <a:buNone/>
            </a:pPr>
            <a:r>
              <a:rPr lang="en-US" sz="1050" dirty="0">
                <a:solidFill>
                  <a:srgbClr val="A8B2C1"/>
                </a:solidFill>
              </a:rPr>
              <a:t>RS dengan data Alkes</a:t>
            </a:r>
            <a:endParaRPr lang="en-US" sz="1050" dirty="0"/>
          </a:p>
        </p:txBody>
      </p:sp>
      <p:sp>
        <p:nvSpPr>
          <p:cNvPr id="25" name="Text 23"/>
          <p:cNvSpPr/>
          <p:nvPr/>
        </p:nvSpPr>
        <p:spPr>
          <a:xfrm>
            <a:off x="8101584" y="4206240"/>
            <a:ext cx="1920240"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589</a:t>
            </a:r>
            <a:endParaRPr lang="en-US" sz="2400" dirty="0"/>
          </a:p>
        </p:txBody>
      </p:sp>
      <p:sp>
        <p:nvSpPr>
          <p:cNvPr id="26" name="Text 24"/>
          <p:cNvSpPr/>
          <p:nvPr/>
        </p:nvSpPr>
        <p:spPr>
          <a:xfrm>
            <a:off x="8101584" y="4736592"/>
            <a:ext cx="1920240" cy="201168"/>
          </a:xfrm>
          <a:prstGeom prst="rect">
            <a:avLst/>
          </a:prstGeom>
          <a:noFill/>
          <a:ln/>
        </p:spPr>
        <p:txBody>
          <a:bodyPr wrap="square" lIns="0" tIns="0" rIns="0" bIns="0" rtlCol="0" anchor="ctr"/>
          <a:lstStyle/>
          <a:p>
            <a:pPr indent="0" marL="0">
              <a:buNone/>
            </a:pPr>
            <a:r>
              <a:rPr lang="en-US" sz="850" dirty="0">
                <a:solidFill>
                  <a:srgbClr val="A8B2C1"/>
                </a:solidFill>
              </a:rPr>
              <a:t>data tersedia</a:t>
            </a:r>
            <a:endParaRPr lang="en-US" sz="850" dirty="0"/>
          </a:p>
        </p:txBody>
      </p:sp>
      <p:sp>
        <p:nvSpPr>
          <p:cNvPr id="27" name="Text 25"/>
          <p:cNvSpPr/>
          <p:nvPr/>
        </p:nvSpPr>
        <p:spPr>
          <a:xfrm>
            <a:off x="658368" y="5440680"/>
            <a:ext cx="10058400" cy="457200"/>
          </a:xfrm>
          <a:prstGeom prst="rect">
            <a:avLst/>
          </a:prstGeom>
          <a:noFill/>
          <a:ln/>
        </p:spPr>
        <p:txBody>
          <a:bodyPr wrap="square" lIns="0" tIns="0" rIns="0" bIns="0" rtlCol="0" anchor="ctr"/>
          <a:lstStyle/>
          <a:p>
            <a:pPr indent="0" marL="0">
              <a:buNone/>
            </a:pPr>
            <a:r>
              <a:rPr lang="en-US" sz="1500" dirty="0">
                <a:solidFill>
                  <a:srgbClr val="DCE3EC"/>
                </a:solidFill>
              </a:rPr>
              <a:t>Tujuan: menghasilkan basis data yang mudah dibaca dan membantu melihat kesenjangan KJSU.</a:t>
            </a:r>
            <a:endParaRPr lang="en-US" sz="150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1. Data dan Metode Pengolahan</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Fokus pada statistik deskriptif dan integrasi basis data</a:t>
            </a:r>
            <a:endParaRPr lang="en-US" sz="1250" dirty="0"/>
          </a:p>
        </p:txBody>
      </p:sp>
      <p:sp>
        <p:nvSpPr>
          <p:cNvPr id="4" name="Shape 2"/>
          <p:cNvSpPr/>
          <p:nvPr/>
        </p:nvSpPr>
        <p:spPr>
          <a:xfrm>
            <a:off x="621792" y="1417320"/>
            <a:ext cx="3456432" cy="1207008"/>
          </a:xfrm>
          <a:prstGeom prst="roundRect">
            <a:avLst/>
          </a:prstGeom>
          <a:solidFill>
            <a:srgbClr val="121925"/>
          </a:solidFill>
          <a:ln w="12700">
            <a:solidFill>
              <a:srgbClr val="2A3444"/>
            </a:solidFill>
            <a:prstDash val="solid"/>
          </a:ln>
        </p:spPr>
      </p:sp>
      <p:sp>
        <p:nvSpPr>
          <p:cNvPr id="5" name="Text 3"/>
          <p:cNvSpPr/>
          <p:nvPr/>
        </p:nvSpPr>
        <p:spPr>
          <a:xfrm>
            <a:off x="850392" y="1627632"/>
            <a:ext cx="2011680" cy="219456"/>
          </a:xfrm>
          <a:prstGeom prst="rect">
            <a:avLst/>
          </a:prstGeom>
          <a:noFill/>
          <a:ln/>
        </p:spPr>
        <p:txBody>
          <a:bodyPr wrap="square" lIns="0" tIns="0" rIns="0" bIns="0" rtlCol="0" anchor="ctr"/>
          <a:lstStyle/>
          <a:p>
            <a:pPr indent="0" marL="0">
              <a:buNone/>
            </a:pPr>
            <a:r>
              <a:rPr lang="en-US" sz="1200" b="1" dirty="0">
                <a:solidFill>
                  <a:srgbClr val="4DA3FF"/>
                </a:solidFill>
              </a:rPr>
              <a:t>DATA SDM</a:t>
            </a:r>
            <a:endParaRPr lang="en-US" sz="1200" dirty="0"/>
          </a:p>
        </p:txBody>
      </p:sp>
      <p:sp>
        <p:nvSpPr>
          <p:cNvPr id="6" name="Text 4"/>
          <p:cNvSpPr/>
          <p:nvPr/>
        </p:nvSpPr>
        <p:spPr>
          <a:xfrm>
            <a:off x="850392" y="1901952"/>
            <a:ext cx="2834640" cy="292608"/>
          </a:xfrm>
          <a:prstGeom prst="rect">
            <a:avLst/>
          </a:prstGeom>
          <a:noFill/>
          <a:ln/>
        </p:spPr>
        <p:txBody>
          <a:bodyPr wrap="square" lIns="0" tIns="0" rIns="0" bIns="0" rtlCol="0" anchor="ctr"/>
          <a:lstStyle/>
          <a:p>
            <a:pPr indent="0" marL="0">
              <a:buNone/>
            </a:pPr>
            <a:r>
              <a:rPr lang="en-US" sz="2000" b="1" dirty="0">
                <a:solidFill>
                  <a:srgbClr val="F5F7FA"/>
                </a:solidFill>
              </a:rPr>
              <a:t>3.171 RS</a:t>
            </a:r>
            <a:endParaRPr lang="en-US" sz="2000" dirty="0"/>
          </a:p>
        </p:txBody>
      </p:sp>
      <p:sp>
        <p:nvSpPr>
          <p:cNvPr id="7" name="Text 5"/>
          <p:cNvSpPr/>
          <p:nvPr/>
        </p:nvSpPr>
        <p:spPr>
          <a:xfrm>
            <a:off x="850392" y="2267712"/>
            <a:ext cx="2834640" cy="219456"/>
          </a:xfrm>
          <a:prstGeom prst="rect">
            <a:avLst/>
          </a:prstGeom>
          <a:noFill/>
          <a:ln/>
        </p:spPr>
        <p:txBody>
          <a:bodyPr wrap="square" lIns="0" tIns="0" rIns="0" bIns="0" rtlCol="0" anchor="ctr"/>
          <a:lstStyle/>
          <a:p>
            <a:pPr indent="0" marL="0">
              <a:buNone/>
            </a:pPr>
            <a:r>
              <a:rPr lang="en-US" sz="1050" dirty="0">
                <a:solidFill>
                  <a:srgbClr val="A8B2C1"/>
                </a:solidFill>
              </a:rPr>
              <a:t>Jenis &amp; jumlah SDM per RS</a:t>
            </a:r>
            <a:endParaRPr lang="en-US" sz="1050" dirty="0"/>
          </a:p>
        </p:txBody>
      </p:sp>
      <p:sp>
        <p:nvSpPr>
          <p:cNvPr id="8" name="Shape 6"/>
          <p:cNvSpPr/>
          <p:nvPr/>
        </p:nvSpPr>
        <p:spPr>
          <a:xfrm>
            <a:off x="4416552" y="1417320"/>
            <a:ext cx="3456432" cy="1207008"/>
          </a:xfrm>
          <a:prstGeom prst="roundRect">
            <a:avLst/>
          </a:prstGeom>
          <a:solidFill>
            <a:srgbClr val="121925"/>
          </a:solidFill>
          <a:ln w="12700">
            <a:solidFill>
              <a:srgbClr val="2A3444"/>
            </a:solidFill>
            <a:prstDash val="solid"/>
          </a:ln>
        </p:spPr>
      </p:sp>
      <p:sp>
        <p:nvSpPr>
          <p:cNvPr id="9" name="Text 7"/>
          <p:cNvSpPr/>
          <p:nvPr/>
        </p:nvSpPr>
        <p:spPr>
          <a:xfrm>
            <a:off x="4645152" y="1627632"/>
            <a:ext cx="2011680" cy="219456"/>
          </a:xfrm>
          <a:prstGeom prst="rect">
            <a:avLst/>
          </a:prstGeom>
          <a:noFill/>
          <a:ln/>
        </p:spPr>
        <p:txBody>
          <a:bodyPr wrap="square" lIns="0" tIns="0" rIns="0" bIns="0" rtlCol="0" anchor="ctr"/>
          <a:lstStyle/>
          <a:p>
            <a:pPr indent="0" marL="0">
              <a:buNone/>
            </a:pPr>
            <a:r>
              <a:rPr lang="en-US" sz="1200" b="1" dirty="0">
                <a:solidFill>
                  <a:srgbClr val="F5C451"/>
                </a:solidFill>
              </a:rPr>
              <a:t>DATA ALKES</a:t>
            </a:r>
            <a:endParaRPr lang="en-US" sz="1200" dirty="0"/>
          </a:p>
        </p:txBody>
      </p:sp>
      <p:sp>
        <p:nvSpPr>
          <p:cNvPr id="10" name="Text 8"/>
          <p:cNvSpPr/>
          <p:nvPr/>
        </p:nvSpPr>
        <p:spPr>
          <a:xfrm>
            <a:off x="4645152" y="1901952"/>
            <a:ext cx="2834640" cy="292608"/>
          </a:xfrm>
          <a:prstGeom prst="rect">
            <a:avLst/>
          </a:prstGeom>
          <a:noFill/>
          <a:ln/>
        </p:spPr>
        <p:txBody>
          <a:bodyPr wrap="square" lIns="0" tIns="0" rIns="0" bIns="0" rtlCol="0" anchor="ctr"/>
          <a:lstStyle/>
          <a:p>
            <a:pPr indent="0" marL="0">
              <a:buNone/>
            </a:pPr>
            <a:r>
              <a:rPr lang="en-US" sz="2000" b="1" dirty="0">
                <a:solidFill>
                  <a:srgbClr val="F5F7FA"/>
                </a:solidFill>
              </a:rPr>
              <a:t>589 RS unik</a:t>
            </a:r>
            <a:endParaRPr lang="en-US" sz="2000" dirty="0"/>
          </a:p>
        </p:txBody>
      </p:sp>
      <p:sp>
        <p:nvSpPr>
          <p:cNvPr id="11" name="Text 9"/>
          <p:cNvSpPr/>
          <p:nvPr/>
        </p:nvSpPr>
        <p:spPr>
          <a:xfrm>
            <a:off x="4645152" y="2267712"/>
            <a:ext cx="2834640" cy="219456"/>
          </a:xfrm>
          <a:prstGeom prst="rect">
            <a:avLst/>
          </a:prstGeom>
          <a:noFill/>
          <a:ln/>
        </p:spPr>
        <p:txBody>
          <a:bodyPr wrap="square" lIns="0" tIns="0" rIns="0" bIns="0" rtlCol="0" anchor="ctr"/>
          <a:lstStyle/>
          <a:p>
            <a:pPr indent="0" marL="0">
              <a:buNone/>
            </a:pPr>
            <a:r>
              <a:rPr lang="en-US" sz="1050" dirty="0">
                <a:solidFill>
                  <a:srgbClr val="A8B2C1"/>
                </a:solidFill>
              </a:rPr>
              <a:t>20 jenis alat kesehatan</a:t>
            </a:r>
            <a:endParaRPr lang="en-US" sz="1050" dirty="0"/>
          </a:p>
        </p:txBody>
      </p:sp>
      <p:sp>
        <p:nvSpPr>
          <p:cNvPr id="12" name="Shape 10"/>
          <p:cNvSpPr/>
          <p:nvPr/>
        </p:nvSpPr>
        <p:spPr>
          <a:xfrm>
            <a:off x="8211312" y="1417320"/>
            <a:ext cx="3456432" cy="1207008"/>
          </a:xfrm>
          <a:prstGeom prst="roundRect">
            <a:avLst/>
          </a:prstGeom>
          <a:solidFill>
            <a:srgbClr val="121925"/>
          </a:solidFill>
          <a:ln w="12700">
            <a:solidFill>
              <a:srgbClr val="2A3444"/>
            </a:solidFill>
            <a:prstDash val="solid"/>
          </a:ln>
        </p:spPr>
      </p:sp>
      <p:sp>
        <p:nvSpPr>
          <p:cNvPr id="13" name="Text 11"/>
          <p:cNvSpPr/>
          <p:nvPr/>
        </p:nvSpPr>
        <p:spPr>
          <a:xfrm>
            <a:off x="8439912" y="1627632"/>
            <a:ext cx="2011680" cy="219456"/>
          </a:xfrm>
          <a:prstGeom prst="rect">
            <a:avLst/>
          </a:prstGeom>
          <a:noFill/>
          <a:ln/>
        </p:spPr>
        <p:txBody>
          <a:bodyPr wrap="square" lIns="0" tIns="0" rIns="0" bIns="0" rtlCol="0" anchor="ctr"/>
          <a:lstStyle/>
          <a:p>
            <a:pPr indent="0" marL="0">
              <a:buNone/>
            </a:pPr>
            <a:r>
              <a:rPr lang="en-US" sz="1200" b="1" dirty="0">
                <a:solidFill>
                  <a:srgbClr val="53D0C6"/>
                </a:solidFill>
              </a:rPr>
              <a:t>DATA BPJS</a:t>
            </a:r>
            <a:endParaRPr lang="en-US" sz="1200" dirty="0"/>
          </a:p>
        </p:txBody>
      </p:sp>
      <p:sp>
        <p:nvSpPr>
          <p:cNvPr id="14" name="Text 12"/>
          <p:cNvSpPr/>
          <p:nvPr/>
        </p:nvSpPr>
        <p:spPr>
          <a:xfrm>
            <a:off x="8439912" y="1901952"/>
            <a:ext cx="2834640" cy="292608"/>
          </a:xfrm>
          <a:prstGeom prst="rect">
            <a:avLst/>
          </a:prstGeom>
          <a:noFill/>
          <a:ln/>
        </p:spPr>
        <p:txBody>
          <a:bodyPr wrap="square" lIns="0" tIns="0" rIns="0" bIns="0" rtlCol="0" anchor="ctr"/>
          <a:lstStyle/>
          <a:p>
            <a:pPr indent="0" marL="0">
              <a:buNone/>
            </a:pPr>
            <a:r>
              <a:rPr lang="en-US" sz="2000" b="1" dirty="0">
                <a:solidFill>
                  <a:srgbClr val="F5F7FA"/>
                </a:solidFill>
              </a:rPr>
              <a:t>3.631 record</a:t>
            </a:r>
            <a:endParaRPr lang="en-US" sz="2000" dirty="0"/>
          </a:p>
        </p:txBody>
      </p:sp>
      <p:sp>
        <p:nvSpPr>
          <p:cNvPr id="15" name="Text 13"/>
          <p:cNvSpPr/>
          <p:nvPr/>
        </p:nvSpPr>
        <p:spPr>
          <a:xfrm>
            <a:off x="8439912" y="2267712"/>
            <a:ext cx="2834640" cy="219456"/>
          </a:xfrm>
          <a:prstGeom prst="rect">
            <a:avLst/>
          </a:prstGeom>
          <a:noFill/>
          <a:ln/>
        </p:spPr>
        <p:txBody>
          <a:bodyPr wrap="square" lIns="0" tIns="0" rIns="0" bIns="0" rtlCol="0" anchor="ctr"/>
          <a:lstStyle/>
          <a:p>
            <a:pPr indent="0" marL="0">
              <a:buNone/>
            </a:pPr>
            <a:r>
              <a:rPr lang="en-US" sz="1050" dirty="0">
                <a:solidFill>
                  <a:srgbClr val="A8B2C1"/>
                </a:solidFill>
              </a:rPr>
              <a:t>8 jenis layanan BPJS</a:t>
            </a:r>
            <a:endParaRPr lang="en-US" sz="1050" dirty="0"/>
          </a:p>
        </p:txBody>
      </p:sp>
      <p:sp>
        <p:nvSpPr>
          <p:cNvPr id="16" name="Text 14"/>
          <p:cNvSpPr/>
          <p:nvPr/>
        </p:nvSpPr>
        <p:spPr>
          <a:xfrm>
            <a:off x="640080" y="3063240"/>
            <a:ext cx="2103120" cy="310896"/>
          </a:xfrm>
          <a:prstGeom prst="rect">
            <a:avLst/>
          </a:prstGeom>
          <a:noFill/>
          <a:ln/>
        </p:spPr>
        <p:txBody>
          <a:bodyPr wrap="square" lIns="0" tIns="0" rIns="0" bIns="0" rtlCol="0" anchor="ctr"/>
          <a:lstStyle/>
          <a:p>
            <a:pPr indent="0" marL="0">
              <a:buNone/>
            </a:pPr>
            <a:r>
              <a:rPr lang="en-US" sz="1800" b="1" dirty="0">
                <a:solidFill>
                  <a:srgbClr val="F5F7FA"/>
                </a:solidFill>
              </a:rPr>
              <a:t>Alur Pengolahan</a:t>
            </a:r>
            <a:endParaRPr lang="en-US" sz="1800" dirty="0"/>
          </a:p>
        </p:txBody>
      </p:sp>
      <p:sp>
        <p:nvSpPr>
          <p:cNvPr id="17" name="Shape 15"/>
          <p:cNvSpPr/>
          <p:nvPr/>
        </p:nvSpPr>
        <p:spPr>
          <a:xfrm>
            <a:off x="658368" y="3675888"/>
            <a:ext cx="512064" cy="512064"/>
          </a:xfrm>
          <a:prstGeom prst="ellipse">
            <a:avLst/>
          </a:prstGeom>
          <a:solidFill>
            <a:srgbClr val="4DA3FF"/>
          </a:solidFill>
          <a:ln w="12700">
            <a:solidFill>
              <a:srgbClr val="4DA3FF"/>
            </a:solidFill>
            <a:prstDash val="solid"/>
          </a:ln>
        </p:spPr>
      </p:sp>
      <p:sp>
        <p:nvSpPr>
          <p:cNvPr id="18" name="Text 16"/>
          <p:cNvSpPr/>
          <p:nvPr/>
        </p:nvSpPr>
        <p:spPr>
          <a:xfrm>
            <a:off x="658368" y="3794760"/>
            <a:ext cx="512064" cy="146304"/>
          </a:xfrm>
          <a:prstGeom prst="rect">
            <a:avLst/>
          </a:prstGeom>
          <a:noFill/>
          <a:ln/>
        </p:spPr>
        <p:txBody>
          <a:bodyPr wrap="square" lIns="0" tIns="0" rIns="0" bIns="0" rtlCol="0" anchor="ctr"/>
          <a:lstStyle/>
          <a:p>
            <a:pPr algn="ctr" indent="0" marL="0">
              <a:buNone/>
            </a:pPr>
            <a:r>
              <a:rPr lang="en-US" sz="1200" b="1" dirty="0">
                <a:solidFill>
                  <a:srgbClr val="0B0F17"/>
                </a:solidFill>
              </a:rPr>
              <a:t>1</a:t>
            </a:r>
            <a:endParaRPr lang="en-US" sz="1200" dirty="0"/>
          </a:p>
        </p:txBody>
      </p:sp>
      <p:sp>
        <p:nvSpPr>
          <p:cNvPr id="19" name="Text 17"/>
          <p:cNvSpPr/>
          <p:nvPr/>
        </p:nvSpPr>
        <p:spPr>
          <a:xfrm>
            <a:off x="1298448" y="3639312"/>
            <a:ext cx="1463040" cy="228600"/>
          </a:xfrm>
          <a:prstGeom prst="rect">
            <a:avLst/>
          </a:prstGeom>
          <a:noFill/>
          <a:ln/>
        </p:spPr>
        <p:txBody>
          <a:bodyPr wrap="square" lIns="0" tIns="0" rIns="0" bIns="0" rtlCol="0" anchor="ctr"/>
          <a:lstStyle/>
          <a:p>
            <a:pPr indent="0" marL="0">
              <a:buNone/>
            </a:pPr>
            <a:r>
              <a:rPr lang="en-US" sz="1250" b="1" dirty="0">
                <a:solidFill>
                  <a:srgbClr val="F5F7FA"/>
                </a:solidFill>
              </a:rPr>
              <a:t>Cleaning</a:t>
            </a:r>
            <a:endParaRPr lang="en-US" sz="1250" dirty="0"/>
          </a:p>
        </p:txBody>
      </p:sp>
      <p:sp>
        <p:nvSpPr>
          <p:cNvPr id="20" name="Text 18"/>
          <p:cNvSpPr/>
          <p:nvPr/>
        </p:nvSpPr>
        <p:spPr>
          <a:xfrm>
            <a:off x="1298448" y="3895344"/>
            <a:ext cx="1508760" cy="502920"/>
          </a:xfrm>
          <a:prstGeom prst="rect">
            <a:avLst/>
          </a:prstGeom>
          <a:noFill/>
          <a:ln/>
        </p:spPr>
        <p:txBody>
          <a:bodyPr wrap="square" lIns="0" tIns="0" rIns="0" bIns="0" rtlCol="0" anchor="ctr">
            <a:normAutofit/>
          </a:bodyPr>
          <a:lstStyle/>
          <a:p>
            <a:pPr indent="0" marL="0">
              <a:buNone/>
            </a:pPr>
            <a:r>
              <a:rPr lang="en-US" sz="950" dirty="0">
                <a:solidFill>
                  <a:srgbClr val="A8B2C1"/>
                </a:solidFill>
              </a:rPr>
              <a:t>rapikan header, tipe data, duplikasi</a:t>
            </a:r>
            <a:endParaRPr lang="en-US" sz="950" dirty="0"/>
          </a:p>
        </p:txBody>
      </p:sp>
      <p:sp>
        <p:nvSpPr>
          <p:cNvPr id="21" name="Shape 19"/>
          <p:cNvSpPr/>
          <p:nvPr/>
        </p:nvSpPr>
        <p:spPr>
          <a:xfrm>
            <a:off x="2688336" y="3794760"/>
            <a:ext cx="182880" cy="182880"/>
          </a:xfrm>
          <a:prstGeom prst="chevron">
            <a:avLst/>
          </a:prstGeom>
          <a:solidFill>
            <a:srgbClr val="2A3444"/>
          </a:solidFill>
          <a:ln w="12700">
            <a:solidFill>
              <a:srgbClr val="2A3444"/>
            </a:solidFill>
            <a:prstDash val="solid"/>
          </a:ln>
        </p:spPr>
      </p:sp>
      <p:sp>
        <p:nvSpPr>
          <p:cNvPr id="22" name="Shape 20"/>
          <p:cNvSpPr/>
          <p:nvPr/>
        </p:nvSpPr>
        <p:spPr>
          <a:xfrm>
            <a:off x="2944368" y="3675888"/>
            <a:ext cx="512064" cy="512064"/>
          </a:xfrm>
          <a:prstGeom prst="ellipse">
            <a:avLst/>
          </a:prstGeom>
          <a:solidFill>
            <a:srgbClr val="4DA3FF"/>
          </a:solidFill>
          <a:ln w="12700">
            <a:solidFill>
              <a:srgbClr val="4DA3FF"/>
            </a:solidFill>
            <a:prstDash val="solid"/>
          </a:ln>
        </p:spPr>
      </p:sp>
      <p:sp>
        <p:nvSpPr>
          <p:cNvPr id="23" name="Text 21"/>
          <p:cNvSpPr/>
          <p:nvPr/>
        </p:nvSpPr>
        <p:spPr>
          <a:xfrm>
            <a:off x="2944368" y="3794760"/>
            <a:ext cx="512064" cy="146304"/>
          </a:xfrm>
          <a:prstGeom prst="rect">
            <a:avLst/>
          </a:prstGeom>
          <a:noFill/>
          <a:ln/>
        </p:spPr>
        <p:txBody>
          <a:bodyPr wrap="square" lIns="0" tIns="0" rIns="0" bIns="0" rtlCol="0" anchor="ctr"/>
          <a:lstStyle/>
          <a:p>
            <a:pPr algn="ctr" indent="0" marL="0">
              <a:buNone/>
            </a:pPr>
            <a:r>
              <a:rPr lang="en-US" sz="1200" b="1" dirty="0">
                <a:solidFill>
                  <a:srgbClr val="0B0F17"/>
                </a:solidFill>
              </a:rPr>
              <a:t>2</a:t>
            </a:r>
            <a:endParaRPr lang="en-US" sz="1200" dirty="0"/>
          </a:p>
        </p:txBody>
      </p:sp>
      <p:sp>
        <p:nvSpPr>
          <p:cNvPr id="24" name="Text 22"/>
          <p:cNvSpPr/>
          <p:nvPr/>
        </p:nvSpPr>
        <p:spPr>
          <a:xfrm>
            <a:off x="3584448" y="3639312"/>
            <a:ext cx="1463040" cy="228600"/>
          </a:xfrm>
          <a:prstGeom prst="rect">
            <a:avLst/>
          </a:prstGeom>
          <a:noFill/>
          <a:ln/>
        </p:spPr>
        <p:txBody>
          <a:bodyPr wrap="square" lIns="0" tIns="0" rIns="0" bIns="0" rtlCol="0" anchor="ctr"/>
          <a:lstStyle/>
          <a:p>
            <a:pPr indent="0" marL="0">
              <a:buNone/>
            </a:pPr>
            <a:r>
              <a:rPr lang="en-US" sz="1250" b="1" dirty="0">
                <a:solidFill>
                  <a:srgbClr val="F5F7FA"/>
                </a:solidFill>
              </a:rPr>
              <a:t>Normalisasi</a:t>
            </a:r>
            <a:endParaRPr lang="en-US" sz="1250" dirty="0"/>
          </a:p>
        </p:txBody>
      </p:sp>
      <p:sp>
        <p:nvSpPr>
          <p:cNvPr id="25" name="Text 23"/>
          <p:cNvSpPr/>
          <p:nvPr/>
        </p:nvSpPr>
        <p:spPr>
          <a:xfrm>
            <a:off x="3584448" y="3895344"/>
            <a:ext cx="1508760" cy="502920"/>
          </a:xfrm>
          <a:prstGeom prst="rect">
            <a:avLst/>
          </a:prstGeom>
          <a:noFill/>
          <a:ln/>
        </p:spPr>
        <p:txBody>
          <a:bodyPr wrap="square" lIns="0" tIns="0" rIns="0" bIns="0" rtlCol="0" anchor="ctr">
            <a:normAutofit/>
          </a:bodyPr>
          <a:lstStyle/>
          <a:p>
            <a:pPr indent="0" marL="0">
              <a:buNone/>
            </a:pPr>
            <a:r>
              <a:rPr lang="en-US" sz="950" dirty="0">
                <a:solidFill>
                  <a:srgbClr val="A8B2C1"/>
                </a:solidFill>
              </a:rPr>
              <a:t>BPJS wide/blok → format long</a:t>
            </a:r>
            <a:endParaRPr lang="en-US" sz="950" dirty="0"/>
          </a:p>
        </p:txBody>
      </p:sp>
      <p:sp>
        <p:nvSpPr>
          <p:cNvPr id="26" name="Shape 24"/>
          <p:cNvSpPr/>
          <p:nvPr/>
        </p:nvSpPr>
        <p:spPr>
          <a:xfrm>
            <a:off x="4974336" y="3794760"/>
            <a:ext cx="182880" cy="182880"/>
          </a:xfrm>
          <a:prstGeom prst="chevron">
            <a:avLst/>
          </a:prstGeom>
          <a:solidFill>
            <a:srgbClr val="2A3444"/>
          </a:solidFill>
          <a:ln w="12700">
            <a:solidFill>
              <a:srgbClr val="2A3444"/>
            </a:solidFill>
            <a:prstDash val="solid"/>
          </a:ln>
        </p:spPr>
      </p:sp>
      <p:sp>
        <p:nvSpPr>
          <p:cNvPr id="27" name="Shape 25"/>
          <p:cNvSpPr/>
          <p:nvPr/>
        </p:nvSpPr>
        <p:spPr>
          <a:xfrm>
            <a:off x="5230368" y="3675888"/>
            <a:ext cx="512064" cy="512064"/>
          </a:xfrm>
          <a:prstGeom prst="ellipse">
            <a:avLst/>
          </a:prstGeom>
          <a:solidFill>
            <a:srgbClr val="4DA3FF"/>
          </a:solidFill>
          <a:ln w="12700">
            <a:solidFill>
              <a:srgbClr val="4DA3FF"/>
            </a:solidFill>
            <a:prstDash val="solid"/>
          </a:ln>
        </p:spPr>
      </p:sp>
      <p:sp>
        <p:nvSpPr>
          <p:cNvPr id="28" name="Text 26"/>
          <p:cNvSpPr/>
          <p:nvPr/>
        </p:nvSpPr>
        <p:spPr>
          <a:xfrm>
            <a:off x="5230368" y="3794760"/>
            <a:ext cx="512064" cy="146304"/>
          </a:xfrm>
          <a:prstGeom prst="rect">
            <a:avLst/>
          </a:prstGeom>
          <a:noFill/>
          <a:ln/>
        </p:spPr>
        <p:txBody>
          <a:bodyPr wrap="square" lIns="0" tIns="0" rIns="0" bIns="0" rtlCol="0" anchor="ctr"/>
          <a:lstStyle/>
          <a:p>
            <a:pPr algn="ctr" indent="0" marL="0">
              <a:buNone/>
            </a:pPr>
            <a:r>
              <a:rPr lang="en-US" sz="1200" b="1" dirty="0">
                <a:solidFill>
                  <a:srgbClr val="0B0F17"/>
                </a:solidFill>
              </a:rPr>
              <a:t>3</a:t>
            </a:r>
            <a:endParaRPr lang="en-US" sz="1200" dirty="0"/>
          </a:p>
        </p:txBody>
      </p:sp>
      <p:sp>
        <p:nvSpPr>
          <p:cNvPr id="29" name="Text 27"/>
          <p:cNvSpPr/>
          <p:nvPr/>
        </p:nvSpPr>
        <p:spPr>
          <a:xfrm>
            <a:off x="5870448" y="3639312"/>
            <a:ext cx="1463040" cy="228600"/>
          </a:xfrm>
          <a:prstGeom prst="rect">
            <a:avLst/>
          </a:prstGeom>
          <a:noFill/>
          <a:ln/>
        </p:spPr>
        <p:txBody>
          <a:bodyPr wrap="square" lIns="0" tIns="0" rIns="0" bIns="0" rtlCol="0" anchor="ctr"/>
          <a:lstStyle/>
          <a:p>
            <a:pPr indent="0" marL="0">
              <a:buNone/>
            </a:pPr>
            <a:r>
              <a:rPr lang="en-US" sz="1250" b="1" dirty="0">
                <a:solidFill>
                  <a:srgbClr val="F5F7FA"/>
                </a:solidFill>
              </a:rPr>
              <a:t>Integrasi</a:t>
            </a:r>
            <a:endParaRPr lang="en-US" sz="1250" dirty="0"/>
          </a:p>
        </p:txBody>
      </p:sp>
      <p:sp>
        <p:nvSpPr>
          <p:cNvPr id="30" name="Text 28"/>
          <p:cNvSpPr/>
          <p:nvPr/>
        </p:nvSpPr>
        <p:spPr>
          <a:xfrm>
            <a:off x="5870448" y="3895344"/>
            <a:ext cx="1508760" cy="502920"/>
          </a:xfrm>
          <a:prstGeom prst="rect">
            <a:avLst/>
          </a:prstGeom>
          <a:noFill/>
          <a:ln/>
        </p:spPr>
        <p:txBody>
          <a:bodyPr wrap="square" lIns="0" tIns="0" rIns="0" bIns="0" rtlCol="0" anchor="ctr">
            <a:normAutofit/>
          </a:bodyPr>
          <a:lstStyle/>
          <a:p>
            <a:pPr indent="0" marL="0">
              <a:buNone/>
            </a:pPr>
            <a:r>
              <a:rPr lang="en-US" sz="950" dirty="0">
                <a:solidFill>
                  <a:srgbClr val="A8B2C1"/>
                </a:solidFill>
              </a:rPr>
              <a:t>gabung menggunakan Kode RS</a:t>
            </a:r>
            <a:endParaRPr lang="en-US" sz="950" dirty="0"/>
          </a:p>
        </p:txBody>
      </p:sp>
      <p:sp>
        <p:nvSpPr>
          <p:cNvPr id="31" name="Shape 29"/>
          <p:cNvSpPr/>
          <p:nvPr/>
        </p:nvSpPr>
        <p:spPr>
          <a:xfrm>
            <a:off x="7260336" y="3794760"/>
            <a:ext cx="182880" cy="182880"/>
          </a:xfrm>
          <a:prstGeom prst="chevron">
            <a:avLst/>
          </a:prstGeom>
          <a:solidFill>
            <a:srgbClr val="2A3444"/>
          </a:solidFill>
          <a:ln w="12700">
            <a:solidFill>
              <a:srgbClr val="2A3444"/>
            </a:solidFill>
            <a:prstDash val="solid"/>
          </a:ln>
        </p:spPr>
      </p:sp>
      <p:sp>
        <p:nvSpPr>
          <p:cNvPr id="32" name="Shape 30"/>
          <p:cNvSpPr/>
          <p:nvPr/>
        </p:nvSpPr>
        <p:spPr>
          <a:xfrm>
            <a:off x="7516368" y="3675888"/>
            <a:ext cx="512064" cy="512064"/>
          </a:xfrm>
          <a:prstGeom prst="ellipse">
            <a:avLst/>
          </a:prstGeom>
          <a:solidFill>
            <a:srgbClr val="4DA3FF"/>
          </a:solidFill>
          <a:ln w="12700">
            <a:solidFill>
              <a:srgbClr val="4DA3FF"/>
            </a:solidFill>
            <a:prstDash val="solid"/>
          </a:ln>
        </p:spPr>
      </p:sp>
      <p:sp>
        <p:nvSpPr>
          <p:cNvPr id="33" name="Text 31"/>
          <p:cNvSpPr/>
          <p:nvPr/>
        </p:nvSpPr>
        <p:spPr>
          <a:xfrm>
            <a:off x="7516368" y="3794760"/>
            <a:ext cx="512064" cy="146304"/>
          </a:xfrm>
          <a:prstGeom prst="rect">
            <a:avLst/>
          </a:prstGeom>
          <a:noFill/>
          <a:ln/>
        </p:spPr>
        <p:txBody>
          <a:bodyPr wrap="square" lIns="0" tIns="0" rIns="0" bIns="0" rtlCol="0" anchor="ctr"/>
          <a:lstStyle/>
          <a:p>
            <a:pPr algn="ctr" indent="0" marL="0">
              <a:buNone/>
            </a:pPr>
            <a:r>
              <a:rPr lang="en-US" sz="1200" b="1" dirty="0">
                <a:solidFill>
                  <a:srgbClr val="0B0F17"/>
                </a:solidFill>
              </a:rPr>
              <a:t>4</a:t>
            </a:r>
            <a:endParaRPr lang="en-US" sz="1200" dirty="0"/>
          </a:p>
        </p:txBody>
      </p:sp>
      <p:sp>
        <p:nvSpPr>
          <p:cNvPr id="34" name="Text 32"/>
          <p:cNvSpPr/>
          <p:nvPr/>
        </p:nvSpPr>
        <p:spPr>
          <a:xfrm>
            <a:off x="8156448" y="3639312"/>
            <a:ext cx="1463040" cy="228600"/>
          </a:xfrm>
          <a:prstGeom prst="rect">
            <a:avLst/>
          </a:prstGeom>
          <a:noFill/>
          <a:ln/>
        </p:spPr>
        <p:txBody>
          <a:bodyPr wrap="square" lIns="0" tIns="0" rIns="0" bIns="0" rtlCol="0" anchor="ctr"/>
          <a:lstStyle/>
          <a:p>
            <a:pPr indent="0" marL="0">
              <a:buNone/>
            </a:pPr>
            <a:r>
              <a:rPr lang="en-US" sz="1250" b="1" dirty="0">
                <a:solidFill>
                  <a:srgbClr val="F5F7FA"/>
                </a:solidFill>
              </a:rPr>
              <a:t>Analisis</a:t>
            </a:r>
            <a:endParaRPr lang="en-US" sz="1250" dirty="0"/>
          </a:p>
        </p:txBody>
      </p:sp>
      <p:sp>
        <p:nvSpPr>
          <p:cNvPr id="35" name="Text 33"/>
          <p:cNvSpPr/>
          <p:nvPr/>
        </p:nvSpPr>
        <p:spPr>
          <a:xfrm>
            <a:off x="8156448" y="3895344"/>
            <a:ext cx="1508760" cy="502920"/>
          </a:xfrm>
          <a:prstGeom prst="rect">
            <a:avLst/>
          </a:prstGeom>
          <a:noFill/>
          <a:ln/>
        </p:spPr>
        <p:txBody>
          <a:bodyPr wrap="square" lIns="0" tIns="0" rIns="0" bIns="0" rtlCol="0" anchor="ctr">
            <a:normAutofit/>
          </a:bodyPr>
          <a:lstStyle/>
          <a:p>
            <a:pPr indent="0" marL="0">
              <a:buNone/>
            </a:pPr>
            <a:r>
              <a:rPr lang="en-US" sz="950" dirty="0">
                <a:solidFill>
                  <a:srgbClr val="A8B2C1"/>
                </a:solidFill>
              </a:rPr>
              <a:t>jumlah, median, persentase, agregasi</a:t>
            </a:r>
            <a:endParaRPr lang="en-US" sz="950" dirty="0"/>
          </a:p>
        </p:txBody>
      </p:sp>
      <p:sp>
        <p:nvSpPr>
          <p:cNvPr id="36" name="Shape 34"/>
          <p:cNvSpPr/>
          <p:nvPr/>
        </p:nvSpPr>
        <p:spPr>
          <a:xfrm>
            <a:off x="9546336" y="3794760"/>
            <a:ext cx="182880" cy="182880"/>
          </a:xfrm>
          <a:prstGeom prst="chevron">
            <a:avLst/>
          </a:prstGeom>
          <a:solidFill>
            <a:srgbClr val="2A3444"/>
          </a:solidFill>
          <a:ln w="12700">
            <a:solidFill>
              <a:srgbClr val="2A3444"/>
            </a:solidFill>
            <a:prstDash val="solid"/>
          </a:ln>
        </p:spPr>
      </p:sp>
      <p:sp>
        <p:nvSpPr>
          <p:cNvPr id="37" name="Shape 35"/>
          <p:cNvSpPr/>
          <p:nvPr/>
        </p:nvSpPr>
        <p:spPr>
          <a:xfrm>
            <a:off x="9802368" y="3675888"/>
            <a:ext cx="512064" cy="512064"/>
          </a:xfrm>
          <a:prstGeom prst="ellipse">
            <a:avLst/>
          </a:prstGeom>
          <a:solidFill>
            <a:srgbClr val="53D0C6"/>
          </a:solidFill>
          <a:ln w="12700">
            <a:solidFill>
              <a:srgbClr val="53D0C6"/>
            </a:solidFill>
            <a:prstDash val="solid"/>
          </a:ln>
        </p:spPr>
      </p:sp>
      <p:sp>
        <p:nvSpPr>
          <p:cNvPr id="38" name="Text 36"/>
          <p:cNvSpPr/>
          <p:nvPr/>
        </p:nvSpPr>
        <p:spPr>
          <a:xfrm>
            <a:off x="9802368" y="3794760"/>
            <a:ext cx="512064" cy="146304"/>
          </a:xfrm>
          <a:prstGeom prst="rect">
            <a:avLst/>
          </a:prstGeom>
          <a:noFill/>
          <a:ln/>
        </p:spPr>
        <p:txBody>
          <a:bodyPr wrap="square" lIns="0" tIns="0" rIns="0" bIns="0" rtlCol="0" anchor="ctr"/>
          <a:lstStyle/>
          <a:p>
            <a:pPr algn="ctr" indent="0" marL="0">
              <a:buNone/>
            </a:pPr>
            <a:r>
              <a:rPr lang="en-US" sz="1200" b="1" dirty="0">
                <a:solidFill>
                  <a:srgbClr val="0B0F17"/>
                </a:solidFill>
              </a:rPr>
              <a:t>5</a:t>
            </a:r>
            <a:endParaRPr lang="en-US" sz="1200" dirty="0"/>
          </a:p>
        </p:txBody>
      </p:sp>
      <p:sp>
        <p:nvSpPr>
          <p:cNvPr id="39" name="Text 37"/>
          <p:cNvSpPr/>
          <p:nvPr/>
        </p:nvSpPr>
        <p:spPr>
          <a:xfrm>
            <a:off x="10442448" y="3639312"/>
            <a:ext cx="1463040" cy="228600"/>
          </a:xfrm>
          <a:prstGeom prst="rect">
            <a:avLst/>
          </a:prstGeom>
          <a:noFill/>
          <a:ln/>
        </p:spPr>
        <p:txBody>
          <a:bodyPr wrap="square" lIns="0" tIns="0" rIns="0" bIns="0" rtlCol="0" anchor="ctr"/>
          <a:lstStyle/>
          <a:p>
            <a:pPr indent="0" marL="0">
              <a:buNone/>
            </a:pPr>
            <a:r>
              <a:rPr lang="en-US" sz="1250" b="1" dirty="0">
                <a:solidFill>
                  <a:srgbClr val="F5F7FA"/>
                </a:solidFill>
              </a:rPr>
              <a:t>Dashboard</a:t>
            </a:r>
            <a:endParaRPr lang="en-US" sz="1250" dirty="0"/>
          </a:p>
        </p:txBody>
      </p:sp>
      <p:sp>
        <p:nvSpPr>
          <p:cNvPr id="40" name="Text 38"/>
          <p:cNvSpPr/>
          <p:nvPr/>
        </p:nvSpPr>
        <p:spPr>
          <a:xfrm>
            <a:off x="10442448" y="3895344"/>
            <a:ext cx="1508760" cy="502920"/>
          </a:xfrm>
          <a:prstGeom prst="rect">
            <a:avLst/>
          </a:prstGeom>
          <a:noFill/>
          <a:ln/>
        </p:spPr>
        <p:txBody>
          <a:bodyPr wrap="square" lIns="0" tIns="0" rIns="0" bIns="0" rtlCol="0" anchor="ctr">
            <a:normAutofit/>
          </a:bodyPr>
          <a:lstStyle/>
          <a:p>
            <a:pPr indent="0" marL="0">
              <a:buNone/>
            </a:pPr>
            <a:r>
              <a:rPr lang="en-US" sz="950" dirty="0">
                <a:solidFill>
                  <a:srgbClr val="A8B2C1"/>
                </a:solidFill>
              </a:rPr>
              <a:t>filter RS, Kab/Kota, Provinsi</a:t>
            </a:r>
            <a:endParaRPr lang="en-US" sz="950" dirty="0"/>
          </a:p>
        </p:txBody>
      </p:sp>
      <p:sp>
        <p:nvSpPr>
          <p:cNvPr id="41" name="Shape 39"/>
          <p:cNvSpPr/>
          <p:nvPr/>
        </p:nvSpPr>
        <p:spPr>
          <a:xfrm>
            <a:off x="658368" y="4983480"/>
            <a:ext cx="10881360" cy="804672"/>
          </a:xfrm>
          <a:prstGeom prst="roundRect">
            <a:avLst/>
          </a:prstGeom>
          <a:solidFill>
            <a:srgbClr val="151B25"/>
          </a:solidFill>
          <a:ln w="12700">
            <a:solidFill>
              <a:srgbClr val="384254"/>
            </a:solidFill>
            <a:prstDash val="solid"/>
          </a:ln>
        </p:spPr>
      </p:sp>
      <p:sp>
        <p:nvSpPr>
          <p:cNvPr id="42" name="Text 40"/>
          <p:cNvSpPr/>
          <p:nvPr/>
        </p:nvSpPr>
        <p:spPr>
          <a:xfrm>
            <a:off x="896112" y="5193792"/>
            <a:ext cx="1325880" cy="201168"/>
          </a:xfrm>
          <a:prstGeom prst="rect">
            <a:avLst/>
          </a:prstGeom>
          <a:noFill/>
          <a:ln/>
        </p:spPr>
        <p:txBody>
          <a:bodyPr wrap="square" lIns="0" tIns="0" rIns="0" bIns="0" rtlCol="0" anchor="ctr"/>
          <a:lstStyle/>
          <a:p>
            <a:pPr indent="0" marL="0">
              <a:buNone/>
            </a:pPr>
            <a:r>
              <a:rPr lang="en-US" sz="1200" b="1" dirty="0">
                <a:solidFill>
                  <a:srgbClr val="F5C451"/>
                </a:solidFill>
              </a:rPr>
              <a:t>Prinsip penting:</a:t>
            </a:r>
            <a:endParaRPr lang="en-US" sz="1200" dirty="0"/>
          </a:p>
        </p:txBody>
      </p:sp>
      <p:sp>
        <p:nvSpPr>
          <p:cNvPr id="43" name="Text 41"/>
          <p:cNvSpPr/>
          <p:nvPr/>
        </p:nvSpPr>
        <p:spPr>
          <a:xfrm>
            <a:off x="2212848" y="5157216"/>
            <a:ext cx="8961120" cy="292608"/>
          </a:xfrm>
          <a:prstGeom prst="rect">
            <a:avLst/>
          </a:prstGeom>
          <a:noFill/>
          <a:ln/>
        </p:spPr>
        <p:txBody>
          <a:bodyPr wrap="square" lIns="0" tIns="0" rIns="0" bIns="0" rtlCol="0" anchor="ctr"/>
          <a:lstStyle/>
          <a:p>
            <a:pPr indent="0" marL="0">
              <a:buNone/>
            </a:pPr>
            <a:r>
              <a:rPr lang="en-US" sz="1250" dirty="0">
                <a:solidFill>
                  <a:srgbClr val="DCE3EC"/>
                </a:solidFill>
              </a:rPr>
              <a:t>Nilai kosong (NaN) tidak otomatis dianggap 0.  0 = memang tercatat nol; NaN = data tidak tersedia/tidak tercatat.</a:t>
            </a:r>
            <a:endParaRPr lang="en-US" sz="125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2. Gambaran Umum Dashboard</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Ringkasan nasional sebelum masuk ke detail wilayah dan rumah sakit</a:t>
            </a:r>
            <a:endParaRPr lang="en-US" sz="1250" dirty="0"/>
          </a:p>
        </p:txBody>
      </p:sp>
      <p:sp>
        <p:nvSpPr>
          <p:cNvPr id="4" name="Shape 2"/>
          <p:cNvSpPr/>
          <p:nvPr/>
        </p:nvSpPr>
        <p:spPr>
          <a:xfrm>
            <a:off x="594360" y="1280160"/>
            <a:ext cx="2084832" cy="1097280"/>
          </a:xfrm>
          <a:prstGeom prst="roundRect">
            <a:avLst>
              <a:gd name="adj" fmla="val 6667"/>
            </a:avLst>
          </a:prstGeom>
          <a:solidFill>
            <a:srgbClr val="121925"/>
          </a:solidFill>
          <a:ln w="12700">
            <a:solidFill>
              <a:srgbClr val="2A3444"/>
            </a:solidFill>
            <a:prstDash val="solid"/>
          </a:ln>
        </p:spPr>
      </p:sp>
      <p:sp>
        <p:nvSpPr>
          <p:cNvPr id="5" name="Shape 3"/>
          <p:cNvSpPr/>
          <p:nvPr/>
        </p:nvSpPr>
        <p:spPr>
          <a:xfrm>
            <a:off x="594360" y="1280160"/>
            <a:ext cx="73152" cy="1097280"/>
          </a:xfrm>
          <a:prstGeom prst="rect">
            <a:avLst/>
          </a:prstGeom>
          <a:solidFill>
            <a:srgbClr val="4DA3FF"/>
          </a:solidFill>
          <a:ln w="12700">
            <a:solidFill>
              <a:srgbClr val="4DA3FF"/>
            </a:solidFill>
            <a:prstDash val="solid"/>
          </a:ln>
        </p:spPr>
      </p:sp>
      <p:sp>
        <p:nvSpPr>
          <p:cNvPr id="6" name="Text 4"/>
          <p:cNvSpPr/>
          <p:nvPr/>
        </p:nvSpPr>
        <p:spPr>
          <a:xfrm>
            <a:off x="795528" y="1435608"/>
            <a:ext cx="1764792" cy="237744"/>
          </a:xfrm>
          <a:prstGeom prst="rect">
            <a:avLst/>
          </a:prstGeom>
          <a:noFill/>
          <a:ln/>
        </p:spPr>
        <p:txBody>
          <a:bodyPr wrap="square" lIns="0" tIns="0" rIns="0" bIns="0" rtlCol="0" anchor="ctr"/>
          <a:lstStyle/>
          <a:p>
            <a:pPr indent="0" marL="0">
              <a:buNone/>
            </a:pPr>
            <a:r>
              <a:rPr lang="en-US" sz="1050" dirty="0">
                <a:solidFill>
                  <a:srgbClr val="A8B2C1"/>
                </a:solidFill>
              </a:rPr>
              <a:t>Jumlah RS</a:t>
            </a:r>
            <a:endParaRPr lang="en-US" sz="1050" dirty="0"/>
          </a:p>
        </p:txBody>
      </p:sp>
      <p:sp>
        <p:nvSpPr>
          <p:cNvPr id="7" name="Text 5"/>
          <p:cNvSpPr/>
          <p:nvPr/>
        </p:nvSpPr>
        <p:spPr>
          <a:xfrm>
            <a:off x="795528" y="1737360"/>
            <a:ext cx="1764792"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3.171</a:t>
            </a:r>
            <a:endParaRPr lang="en-US" sz="2400" dirty="0"/>
          </a:p>
        </p:txBody>
      </p:sp>
      <p:sp>
        <p:nvSpPr>
          <p:cNvPr id="8" name="Shape 6"/>
          <p:cNvSpPr/>
          <p:nvPr/>
        </p:nvSpPr>
        <p:spPr>
          <a:xfrm>
            <a:off x="2807208" y="1280160"/>
            <a:ext cx="2084832" cy="1097280"/>
          </a:xfrm>
          <a:prstGeom prst="roundRect">
            <a:avLst>
              <a:gd name="adj" fmla="val 6667"/>
            </a:avLst>
          </a:prstGeom>
          <a:solidFill>
            <a:srgbClr val="121925"/>
          </a:solidFill>
          <a:ln w="12700">
            <a:solidFill>
              <a:srgbClr val="2A3444"/>
            </a:solidFill>
            <a:prstDash val="solid"/>
          </a:ln>
        </p:spPr>
      </p:sp>
      <p:sp>
        <p:nvSpPr>
          <p:cNvPr id="9" name="Shape 7"/>
          <p:cNvSpPr/>
          <p:nvPr/>
        </p:nvSpPr>
        <p:spPr>
          <a:xfrm>
            <a:off x="2807208" y="1280160"/>
            <a:ext cx="73152" cy="1097280"/>
          </a:xfrm>
          <a:prstGeom prst="rect">
            <a:avLst/>
          </a:prstGeom>
          <a:solidFill>
            <a:srgbClr val="66D19E"/>
          </a:solidFill>
          <a:ln w="12700">
            <a:solidFill>
              <a:srgbClr val="66D19E"/>
            </a:solidFill>
            <a:prstDash val="solid"/>
          </a:ln>
        </p:spPr>
      </p:sp>
      <p:sp>
        <p:nvSpPr>
          <p:cNvPr id="10" name="Text 8"/>
          <p:cNvSpPr/>
          <p:nvPr/>
        </p:nvSpPr>
        <p:spPr>
          <a:xfrm>
            <a:off x="3008376" y="1435608"/>
            <a:ext cx="1764792" cy="237744"/>
          </a:xfrm>
          <a:prstGeom prst="rect">
            <a:avLst/>
          </a:prstGeom>
          <a:noFill/>
          <a:ln/>
        </p:spPr>
        <p:txBody>
          <a:bodyPr wrap="square" lIns="0" tIns="0" rIns="0" bIns="0" rtlCol="0" anchor="ctr"/>
          <a:lstStyle/>
          <a:p>
            <a:pPr indent="0" marL="0">
              <a:buNone/>
            </a:pPr>
            <a:r>
              <a:rPr lang="en-US" sz="1050" dirty="0">
                <a:solidFill>
                  <a:srgbClr val="A8B2C1"/>
                </a:solidFill>
              </a:rPr>
              <a:t>Total SDM tercatat</a:t>
            </a:r>
            <a:endParaRPr lang="en-US" sz="1050" dirty="0"/>
          </a:p>
        </p:txBody>
      </p:sp>
      <p:sp>
        <p:nvSpPr>
          <p:cNvPr id="11" name="Text 9"/>
          <p:cNvSpPr/>
          <p:nvPr/>
        </p:nvSpPr>
        <p:spPr>
          <a:xfrm>
            <a:off x="3008376" y="1737360"/>
            <a:ext cx="1764792"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152.120</a:t>
            </a:r>
            <a:endParaRPr lang="en-US" sz="2400" dirty="0"/>
          </a:p>
        </p:txBody>
      </p:sp>
      <p:sp>
        <p:nvSpPr>
          <p:cNvPr id="12" name="Shape 10"/>
          <p:cNvSpPr/>
          <p:nvPr/>
        </p:nvSpPr>
        <p:spPr>
          <a:xfrm>
            <a:off x="5020056" y="1280160"/>
            <a:ext cx="2084832" cy="1097280"/>
          </a:xfrm>
          <a:prstGeom prst="roundRect">
            <a:avLst>
              <a:gd name="adj" fmla="val 6667"/>
            </a:avLst>
          </a:prstGeom>
          <a:solidFill>
            <a:srgbClr val="121925"/>
          </a:solidFill>
          <a:ln w="12700">
            <a:solidFill>
              <a:srgbClr val="2A3444"/>
            </a:solidFill>
            <a:prstDash val="solid"/>
          </a:ln>
        </p:spPr>
      </p:sp>
      <p:sp>
        <p:nvSpPr>
          <p:cNvPr id="13" name="Shape 11"/>
          <p:cNvSpPr/>
          <p:nvPr/>
        </p:nvSpPr>
        <p:spPr>
          <a:xfrm>
            <a:off x="5020056" y="1280160"/>
            <a:ext cx="73152" cy="1097280"/>
          </a:xfrm>
          <a:prstGeom prst="rect">
            <a:avLst/>
          </a:prstGeom>
          <a:solidFill>
            <a:srgbClr val="F5C451"/>
          </a:solidFill>
          <a:ln w="12700">
            <a:solidFill>
              <a:srgbClr val="F5C451"/>
            </a:solidFill>
            <a:prstDash val="solid"/>
          </a:ln>
        </p:spPr>
      </p:sp>
      <p:sp>
        <p:nvSpPr>
          <p:cNvPr id="14" name="Text 12"/>
          <p:cNvSpPr/>
          <p:nvPr/>
        </p:nvSpPr>
        <p:spPr>
          <a:xfrm>
            <a:off x="5221224" y="1435608"/>
            <a:ext cx="1764792" cy="237744"/>
          </a:xfrm>
          <a:prstGeom prst="rect">
            <a:avLst/>
          </a:prstGeom>
          <a:noFill/>
          <a:ln/>
        </p:spPr>
        <p:txBody>
          <a:bodyPr wrap="square" lIns="0" tIns="0" rIns="0" bIns="0" rtlCol="0" anchor="ctr"/>
          <a:lstStyle/>
          <a:p>
            <a:pPr indent="0" marL="0">
              <a:buNone/>
            </a:pPr>
            <a:r>
              <a:rPr lang="en-US" sz="1050" dirty="0">
                <a:solidFill>
                  <a:srgbClr val="A8B2C1"/>
                </a:solidFill>
              </a:rPr>
              <a:t>RS dengan data Alkes</a:t>
            </a:r>
            <a:endParaRPr lang="en-US" sz="1050" dirty="0"/>
          </a:p>
        </p:txBody>
      </p:sp>
      <p:sp>
        <p:nvSpPr>
          <p:cNvPr id="15" name="Text 13"/>
          <p:cNvSpPr/>
          <p:nvPr/>
        </p:nvSpPr>
        <p:spPr>
          <a:xfrm>
            <a:off x="5221224" y="1737360"/>
            <a:ext cx="1764792"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589</a:t>
            </a:r>
            <a:endParaRPr lang="en-US" sz="2400" dirty="0"/>
          </a:p>
        </p:txBody>
      </p:sp>
      <p:sp>
        <p:nvSpPr>
          <p:cNvPr id="16" name="Shape 14"/>
          <p:cNvSpPr/>
          <p:nvPr/>
        </p:nvSpPr>
        <p:spPr>
          <a:xfrm>
            <a:off x="7232904" y="1280160"/>
            <a:ext cx="2084832" cy="1097280"/>
          </a:xfrm>
          <a:prstGeom prst="roundRect">
            <a:avLst>
              <a:gd name="adj" fmla="val 6667"/>
            </a:avLst>
          </a:prstGeom>
          <a:solidFill>
            <a:srgbClr val="121925"/>
          </a:solidFill>
          <a:ln w="12700">
            <a:solidFill>
              <a:srgbClr val="2A3444"/>
            </a:solidFill>
            <a:prstDash val="solid"/>
          </a:ln>
        </p:spPr>
      </p:sp>
      <p:sp>
        <p:nvSpPr>
          <p:cNvPr id="17" name="Shape 15"/>
          <p:cNvSpPr/>
          <p:nvPr/>
        </p:nvSpPr>
        <p:spPr>
          <a:xfrm>
            <a:off x="7232904" y="1280160"/>
            <a:ext cx="73152" cy="1097280"/>
          </a:xfrm>
          <a:prstGeom prst="rect">
            <a:avLst/>
          </a:prstGeom>
          <a:solidFill>
            <a:srgbClr val="53D0C6"/>
          </a:solidFill>
          <a:ln w="12700">
            <a:solidFill>
              <a:srgbClr val="53D0C6"/>
            </a:solidFill>
            <a:prstDash val="solid"/>
          </a:ln>
        </p:spPr>
      </p:sp>
      <p:sp>
        <p:nvSpPr>
          <p:cNvPr id="18" name="Text 16"/>
          <p:cNvSpPr/>
          <p:nvPr/>
        </p:nvSpPr>
        <p:spPr>
          <a:xfrm>
            <a:off x="7434072" y="1435608"/>
            <a:ext cx="1764792" cy="237744"/>
          </a:xfrm>
          <a:prstGeom prst="rect">
            <a:avLst/>
          </a:prstGeom>
          <a:noFill/>
          <a:ln/>
        </p:spPr>
        <p:txBody>
          <a:bodyPr wrap="square" lIns="0" tIns="0" rIns="0" bIns="0" rtlCol="0" anchor="ctr"/>
          <a:lstStyle/>
          <a:p>
            <a:pPr indent="0" marL="0">
              <a:buNone/>
            </a:pPr>
            <a:r>
              <a:rPr lang="en-US" sz="1050" dirty="0">
                <a:solidFill>
                  <a:srgbClr val="A8B2C1"/>
                </a:solidFill>
              </a:rPr>
              <a:t>Unit Alkes tercatat</a:t>
            </a:r>
            <a:endParaRPr lang="en-US" sz="1050" dirty="0"/>
          </a:p>
        </p:txBody>
      </p:sp>
      <p:sp>
        <p:nvSpPr>
          <p:cNvPr id="19" name="Text 17"/>
          <p:cNvSpPr/>
          <p:nvPr/>
        </p:nvSpPr>
        <p:spPr>
          <a:xfrm>
            <a:off x="7434072" y="1737360"/>
            <a:ext cx="1764792"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2.567</a:t>
            </a:r>
            <a:endParaRPr lang="en-US" sz="2400" dirty="0"/>
          </a:p>
        </p:txBody>
      </p:sp>
      <p:sp>
        <p:nvSpPr>
          <p:cNvPr id="20" name="Shape 18"/>
          <p:cNvSpPr/>
          <p:nvPr/>
        </p:nvSpPr>
        <p:spPr>
          <a:xfrm>
            <a:off x="9445752" y="1280160"/>
            <a:ext cx="2084832" cy="1097280"/>
          </a:xfrm>
          <a:prstGeom prst="roundRect">
            <a:avLst>
              <a:gd name="adj" fmla="val 6667"/>
            </a:avLst>
          </a:prstGeom>
          <a:solidFill>
            <a:srgbClr val="121925"/>
          </a:solidFill>
          <a:ln w="12700">
            <a:solidFill>
              <a:srgbClr val="2A3444"/>
            </a:solidFill>
            <a:prstDash val="solid"/>
          </a:ln>
        </p:spPr>
      </p:sp>
      <p:sp>
        <p:nvSpPr>
          <p:cNvPr id="21" name="Shape 19"/>
          <p:cNvSpPr/>
          <p:nvPr/>
        </p:nvSpPr>
        <p:spPr>
          <a:xfrm>
            <a:off x="9445752" y="1280160"/>
            <a:ext cx="73152" cy="1097280"/>
          </a:xfrm>
          <a:prstGeom prst="rect">
            <a:avLst/>
          </a:prstGeom>
          <a:solidFill>
            <a:srgbClr val="79C1FF"/>
          </a:solidFill>
          <a:ln w="12700">
            <a:solidFill>
              <a:srgbClr val="79C1FF"/>
            </a:solidFill>
            <a:prstDash val="solid"/>
          </a:ln>
        </p:spPr>
      </p:sp>
      <p:sp>
        <p:nvSpPr>
          <p:cNvPr id="22" name="Text 20"/>
          <p:cNvSpPr/>
          <p:nvPr/>
        </p:nvSpPr>
        <p:spPr>
          <a:xfrm>
            <a:off x="9646920" y="1435608"/>
            <a:ext cx="1764792" cy="237744"/>
          </a:xfrm>
          <a:prstGeom prst="rect">
            <a:avLst/>
          </a:prstGeom>
          <a:noFill/>
          <a:ln/>
        </p:spPr>
        <p:txBody>
          <a:bodyPr wrap="square" lIns="0" tIns="0" rIns="0" bIns="0" rtlCol="0" anchor="ctr"/>
          <a:lstStyle/>
          <a:p>
            <a:pPr indent="0" marL="0">
              <a:buNone/>
            </a:pPr>
            <a:r>
              <a:rPr lang="en-US" sz="1050" dirty="0">
                <a:solidFill>
                  <a:srgbClr val="A8B2C1"/>
                </a:solidFill>
              </a:rPr>
              <a:t>Kerja sama BPJS*</a:t>
            </a:r>
            <a:endParaRPr lang="en-US" sz="1050" dirty="0"/>
          </a:p>
        </p:txBody>
      </p:sp>
      <p:sp>
        <p:nvSpPr>
          <p:cNvPr id="23" name="Text 21"/>
          <p:cNvSpPr/>
          <p:nvPr/>
        </p:nvSpPr>
        <p:spPr>
          <a:xfrm>
            <a:off x="9646920" y="1737360"/>
            <a:ext cx="1764792" cy="438912"/>
          </a:xfrm>
          <a:prstGeom prst="rect">
            <a:avLst/>
          </a:prstGeom>
          <a:noFill/>
          <a:ln/>
        </p:spPr>
        <p:txBody>
          <a:bodyPr wrap="square" lIns="0" tIns="0" rIns="0" bIns="0" rtlCol="0" anchor="ctr">
            <a:normAutofit/>
          </a:bodyPr>
          <a:lstStyle/>
          <a:p>
            <a:pPr indent="0" marL="0">
              <a:buNone/>
            </a:pPr>
            <a:r>
              <a:rPr lang="en-US" sz="2400" b="1" dirty="0">
                <a:solidFill>
                  <a:srgbClr val="F5F7FA"/>
                </a:solidFill>
              </a:rPr>
              <a:t>93,2%</a:t>
            </a:r>
            <a:endParaRPr lang="en-US" sz="2400" dirty="0"/>
          </a:p>
        </p:txBody>
      </p:sp>
      <p:sp>
        <p:nvSpPr>
          <p:cNvPr id="24" name="Text 22"/>
          <p:cNvSpPr/>
          <p:nvPr/>
        </p:nvSpPr>
        <p:spPr>
          <a:xfrm>
            <a:off x="9646920" y="2103120"/>
            <a:ext cx="1764792" cy="201168"/>
          </a:xfrm>
          <a:prstGeom prst="rect">
            <a:avLst/>
          </a:prstGeom>
          <a:noFill/>
          <a:ln/>
        </p:spPr>
        <p:txBody>
          <a:bodyPr wrap="square" lIns="0" tIns="0" rIns="0" bIns="0" rtlCol="0" anchor="ctr"/>
          <a:lstStyle/>
          <a:p>
            <a:pPr indent="0" marL="0">
              <a:buNone/>
            </a:pPr>
            <a:r>
              <a:rPr lang="en-US" sz="850" dirty="0">
                <a:solidFill>
                  <a:srgbClr val="A8B2C1"/>
                </a:solidFill>
              </a:rPr>
              <a:t>dari layanan tercatat</a:t>
            </a:r>
            <a:endParaRPr lang="en-US" sz="850" dirty="0"/>
          </a:p>
        </p:txBody>
      </p:sp>
      <p:pic>
        <p:nvPicPr>
          <p:cNvPr id="25" name="Image 0" descr="/mnt/data/overview_clean.png">    </p:cNvPr>
          <p:cNvPicPr>
            <a:picLocks noChangeAspect="1"/>
          </p:cNvPicPr>
          <p:nvPr/>
        </p:nvPicPr>
        <p:blipFill>
          <a:blip r:embed="rId1"/>
          <a:stretch>
            <a:fillRect/>
          </a:stretch>
        </p:blipFill>
        <p:spPr>
          <a:xfrm>
            <a:off x="685800" y="2651760"/>
            <a:ext cx="7955280" cy="3383280"/>
          </a:xfrm>
          <a:prstGeom prst="rect">
            <a:avLst/>
          </a:prstGeom>
        </p:spPr>
      </p:pic>
      <p:sp>
        <p:nvSpPr>
          <p:cNvPr id="26" name="Shape 23"/>
          <p:cNvSpPr/>
          <p:nvPr/>
        </p:nvSpPr>
        <p:spPr>
          <a:xfrm>
            <a:off x="8887968" y="2697480"/>
            <a:ext cx="2651760" cy="3154680"/>
          </a:xfrm>
          <a:prstGeom prst="roundRect">
            <a:avLst/>
          </a:prstGeom>
          <a:solidFill>
            <a:srgbClr val="121925"/>
          </a:solidFill>
          <a:ln w="12700">
            <a:solidFill>
              <a:srgbClr val="2A3444"/>
            </a:solidFill>
            <a:prstDash val="solid"/>
          </a:ln>
        </p:spPr>
      </p:sp>
      <p:sp>
        <p:nvSpPr>
          <p:cNvPr id="27" name="Text 24"/>
          <p:cNvSpPr/>
          <p:nvPr/>
        </p:nvSpPr>
        <p:spPr>
          <a:xfrm>
            <a:off x="9125712" y="2926080"/>
            <a:ext cx="2103120" cy="256032"/>
          </a:xfrm>
          <a:prstGeom prst="rect">
            <a:avLst/>
          </a:prstGeom>
          <a:noFill/>
          <a:ln/>
        </p:spPr>
        <p:txBody>
          <a:bodyPr wrap="square" lIns="0" tIns="0" rIns="0" bIns="0" rtlCol="0" anchor="ctr"/>
          <a:lstStyle/>
          <a:p>
            <a:pPr indent="0" marL="0">
              <a:buNone/>
            </a:pPr>
            <a:r>
              <a:rPr lang="en-US" sz="1600" b="1" dirty="0">
                <a:solidFill>
                  <a:srgbClr val="F5F7FA"/>
                </a:solidFill>
              </a:rPr>
              <a:t>Cara membaca</a:t>
            </a:r>
            <a:endParaRPr lang="en-US" sz="1600" dirty="0"/>
          </a:p>
        </p:txBody>
      </p:sp>
      <p:sp>
        <p:nvSpPr>
          <p:cNvPr id="28" name="Shape 25"/>
          <p:cNvSpPr/>
          <p:nvPr/>
        </p:nvSpPr>
        <p:spPr>
          <a:xfrm>
            <a:off x="9125712" y="3465576"/>
            <a:ext cx="91440" cy="91440"/>
          </a:xfrm>
          <a:prstGeom prst="ellipse">
            <a:avLst/>
          </a:prstGeom>
          <a:solidFill>
            <a:srgbClr val="4DA3FF"/>
          </a:solidFill>
          <a:ln w="12700">
            <a:solidFill>
              <a:srgbClr val="4DA3FF"/>
            </a:solidFill>
            <a:prstDash val="solid"/>
          </a:ln>
        </p:spPr>
      </p:sp>
      <p:sp>
        <p:nvSpPr>
          <p:cNvPr id="29" name="Text 26"/>
          <p:cNvSpPr/>
          <p:nvPr/>
        </p:nvSpPr>
        <p:spPr>
          <a:xfrm>
            <a:off x="9290304" y="3401568"/>
            <a:ext cx="1920240" cy="658368"/>
          </a:xfrm>
          <a:prstGeom prst="rect">
            <a:avLst/>
          </a:prstGeom>
          <a:noFill/>
          <a:ln/>
        </p:spPr>
        <p:txBody>
          <a:bodyPr wrap="square" lIns="0" tIns="0" rIns="0" bIns="0" rtlCol="0" anchor="ctr"/>
          <a:lstStyle/>
          <a:p>
            <a:pPr indent="0" marL="0">
              <a:buNone/>
            </a:pPr>
            <a:r>
              <a:rPr lang="en-US" sz="1150" dirty="0">
                <a:solidFill>
                  <a:srgbClr val="DCE3EC"/>
                </a:solidFill>
              </a:rPr>
              <a:t>Filter dapat diturunkan dari Provinsi → Kab/Kota → Rumah Sakit.</a:t>
            </a:r>
            <a:endParaRPr lang="en-US" sz="1150" dirty="0"/>
          </a:p>
        </p:txBody>
      </p:sp>
      <p:sp>
        <p:nvSpPr>
          <p:cNvPr id="30" name="Shape 27"/>
          <p:cNvSpPr/>
          <p:nvPr/>
        </p:nvSpPr>
        <p:spPr>
          <a:xfrm>
            <a:off x="9125712" y="4233672"/>
            <a:ext cx="91440" cy="91440"/>
          </a:xfrm>
          <a:prstGeom prst="ellipse">
            <a:avLst/>
          </a:prstGeom>
          <a:solidFill>
            <a:srgbClr val="53D0C6"/>
          </a:solidFill>
          <a:ln w="12700">
            <a:solidFill>
              <a:srgbClr val="53D0C6"/>
            </a:solidFill>
            <a:prstDash val="solid"/>
          </a:ln>
        </p:spPr>
      </p:sp>
      <p:sp>
        <p:nvSpPr>
          <p:cNvPr id="31" name="Text 28"/>
          <p:cNvSpPr/>
          <p:nvPr/>
        </p:nvSpPr>
        <p:spPr>
          <a:xfrm>
            <a:off x="9290304" y="4169664"/>
            <a:ext cx="1920240" cy="676656"/>
          </a:xfrm>
          <a:prstGeom prst="rect">
            <a:avLst/>
          </a:prstGeom>
          <a:noFill/>
          <a:ln/>
        </p:spPr>
        <p:txBody>
          <a:bodyPr wrap="square" lIns="0" tIns="0" rIns="0" bIns="0" rtlCol="0" anchor="ctr"/>
          <a:lstStyle/>
          <a:p>
            <a:pPr indent="0" marL="0">
              <a:buNone/>
            </a:pPr>
            <a:r>
              <a:rPr lang="en-US" sz="1150" dirty="0">
                <a:solidFill>
                  <a:srgbClr val="DCE3EC"/>
                </a:solidFill>
              </a:rPr>
              <a:t>Peta menunjukkan ringkasan wilayah, bukan lokasi presisi setiap RS.</a:t>
            </a:r>
            <a:endParaRPr lang="en-US" sz="1150" dirty="0"/>
          </a:p>
        </p:txBody>
      </p:sp>
      <p:sp>
        <p:nvSpPr>
          <p:cNvPr id="32" name="Shape 29"/>
          <p:cNvSpPr/>
          <p:nvPr/>
        </p:nvSpPr>
        <p:spPr>
          <a:xfrm>
            <a:off x="9125712" y="5020056"/>
            <a:ext cx="91440" cy="91440"/>
          </a:xfrm>
          <a:prstGeom prst="ellipse">
            <a:avLst/>
          </a:prstGeom>
          <a:solidFill>
            <a:srgbClr val="F5C451"/>
          </a:solidFill>
          <a:ln w="12700">
            <a:solidFill>
              <a:srgbClr val="F5C451"/>
            </a:solidFill>
            <a:prstDash val="solid"/>
          </a:ln>
        </p:spPr>
      </p:sp>
      <p:sp>
        <p:nvSpPr>
          <p:cNvPr id="33" name="Text 30"/>
          <p:cNvSpPr/>
          <p:nvPr/>
        </p:nvSpPr>
        <p:spPr>
          <a:xfrm>
            <a:off x="9290304" y="4956048"/>
            <a:ext cx="1920240" cy="658368"/>
          </a:xfrm>
          <a:prstGeom prst="rect">
            <a:avLst/>
          </a:prstGeom>
          <a:noFill/>
          <a:ln/>
        </p:spPr>
        <p:txBody>
          <a:bodyPr wrap="square" lIns="0" tIns="0" rIns="0" bIns="0" rtlCol="0" anchor="ctr"/>
          <a:lstStyle/>
          <a:p>
            <a:pPr indent="0" marL="0">
              <a:buNone/>
            </a:pPr>
            <a:r>
              <a:rPr lang="en-US" sz="1150" dirty="0">
                <a:solidFill>
                  <a:srgbClr val="DCE3EC"/>
                </a:solidFill>
              </a:rPr>
              <a:t>Angka Alkes hanya berasal dari RS yang memiliki data Alkes.</a:t>
            </a:r>
            <a:endParaRPr lang="en-US" sz="115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3. Distribusi Rumah Sakit</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Melihat konsentrasi RS dan komposisi kelas rumah sakit</a:t>
            </a:r>
            <a:endParaRPr lang="en-US" sz="1250" dirty="0"/>
          </a:p>
        </p:txBody>
      </p:sp>
      <p:pic>
        <p:nvPicPr>
          <p:cNvPr id="4" name="Image 0" descr="/mnt/data/distribution_clean.png">    </p:cNvPr>
          <p:cNvPicPr>
            <a:picLocks noChangeAspect="1"/>
          </p:cNvPicPr>
          <p:nvPr/>
        </p:nvPicPr>
        <p:blipFill>
          <a:blip r:embed="rId1"/>
          <a:stretch>
            <a:fillRect/>
          </a:stretch>
        </p:blipFill>
        <p:spPr>
          <a:xfrm>
            <a:off x="566928" y="1234440"/>
            <a:ext cx="7909560" cy="4233672"/>
          </a:xfrm>
          <a:prstGeom prst="rect">
            <a:avLst/>
          </a:prstGeom>
        </p:spPr>
      </p:pic>
      <p:sp>
        <p:nvSpPr>
          <p:cNvPr id="5" name="Shape 2"/>
          <p:cNvSpPr/>
          <p:nvPr/>
        </p:nvSpPr>
        <p:spPr>
          <a:xfrm>
            <a:off x="8705088" y="1353312"/>
            <a:ext cx="2852928" cy="4069080"/>
          </a:xfrm>
          <a:prstGeom prst="roundRect">
            <a:avLst/>
          </a:prstGeom>
          <a:solidFill>
            <a:srgbClr val="121925"/>
          </a:solidFill>
          <a:ln w="12700">
            <a:solidFill>
              <a:srgbClr val="2A3444"/>
            </a:solidFill>
            <a:prstDash val="solid"/>
          </a:ln>
        </p:spPr>
      </p:sp>
      <p:sp>
        <p:nvSpPr>
          <p:cNvPr id="6" name="Text 3"/>
          <p:cNvSpPr/>
          <p:nvPr/>
        </p:nvSpPr>
        <p:spPr>
          <a:xfrm>
            <a:off x="8961120" y="1627632"/>
            <a:ext cx="2240280" cy="256032"/>
          </a:xfrm>
          <a:prstGeom prst="rect">
            <a:avLst/>
          </a:prstGeom>
          <a:noFill/>
          <a:ln/>
        </p:spPr>
        <p:txBody>
          <a:bodyPr wrap="square" lIns="0" tIns="0" rIns="0" bIns="0" rtlCol="0" anchor="ctr"/>
          <a:lstStyle/>
          <a:p>
            <a:pPr indent="0" marL="0">
              <a:buNone/>
            </a:pPr>
            <a:r>
              <a:rPr lang="en-US" sz="1700" b="1" dirty="0">
                <a:solidFill>
                  <a:srgbClr val="F5F7FA"/>
                </a:solidFill>
              </a:rPr>
              <a:t>Temuan Utama</a:t>
            </a:r>
            <a:endParaRPr lang="en-US" sz="1700" dirty="0"/>
          </a:p>
        </p:txBody>
      </p:sp>
      <p:sp>
        <p:nvSpPr>
          <p:cNvPr id="7" name="Text 4"/>
          <p:cNvSpPr/>
          <p:nvPr/>
        </p:nvSpPr>
        <p:spPr>
          <a:xfrm>
            <a:off x="8961120" y="2148840"/>
            <a:ext cx="777240" cy="320040"/>
          </a:xfrm>
          <a:prstGeom prst="rect">
            <a:avLst/>
          </a:prstGeom>
          <a:noFill/>
          <a:ln/>
        </p:spPr>
        <p:txBody>
          <a:bodyPr wrap="square" lIns="0" tIns="0" rIns="0" bIns="0" rtlCol="0" anchor="ctr"/>
          <a:lstStyle/>
          <a:p>
            <a:pPr indent="0" marL="0">
              <a:buNone/>
            </a:pPr>
            <a:r>
              <a:rPr lang="en-US" sz="2200" b="1" dirty="0">
                <a:solidFill>
                  <a:srgbClr val="79C1FF"/>
                </a:solidFill>
              </a:rPr>
              <a:t>425</a:t>
            </a:r>
            <a:endParaRPr lang="en-US" sz="2200" dirty="0"/>
          </a:p>
        </p:txBody>
      </p:sp>
      <p:sp>
        <p:nvSpPr>
          <p:cNvPr id="8" name="Text 5"/>
          <p:cNvSpPr/>
          <p:nvPr/>
        </p:nvSpPr>
        <p:spPr>
          <a:xfrm>
            <a:off x="9784080" y="2194560"/>
            <a:ext cx="1417320" cy="219456"/>
          </a:xfrm>
          <a:prstGeom prst="rect">
            <a:avLst/>
          </a:prstGeom>
          <a:noFill/>
          <a:ln/>
        </p:spPr>
        <p:txBody>
          <a:bodyPr wrap="square" lIns="0" tIns="0" rIns="0" bIns="0" rtlCol="0" anchor="ctr"/>
          <a:lstStyle/>
          <a:p>
            <a:pPr indent="0" marL="0">
              <a:buNone/>
            </a:pPr>
            <a:r>
              <a:rPr lang="en-US" sz="1150" dirty="0">
                <a:solidFill>
                  <a:srgbClr val="DCE3EC"/>
                </a:solidFill>
              </a:rPr>
              <a:t>RS di Jawa Timur</a:t>
            </a:r>
            <a:endParaRPr lang="en-US" sz="1150" dirty="0"/>
          </a:p>
        </p:txBody>
      </p:sp>
      <p:sp>
        <p:nvSpPr>
          <p:cNvPr id="9" name="Text 6"/>
          <p:cNvSpPr/>
          <p:nvPr/>
        </p:nvSpPr>
        <p:spPr>
          <a:xfrm>
            <a:off x="8961120" y="2670048"/>
            <a:ext cx="777240" cy="320040"/>
          </a:xfrm>
          <a:prstGeom prst="rect">
            <a:avLst/>
          </a:prstGeom>
          <a:noFill/>
          <a:ln/>
        </p:spPr>
        <p:txBody>
          <a:bodyPr wrap="square" lIns="0" tIns="0" rIns="0" bIns="0" rtlCol="0" anchor="ctr"/>
          <a:lstStyle/>
          <a:p>
            <a:pPr indent="0" marL="0">
              <a:buNone/>
            </a:pPr>
            <a:r>
              <a:rPr lang="en-US" sz="2200" b="1" dirty="0">
                <a:solidFill>
                  <a:srgbClr val="79C1FF"/>
                </a:solidFill>
              </a:rPr>
              <a:t>414</a:t>
            </a:r>
            <a:endParaRPr lang="en-US" sz="2200" dirty="0"/>
          </a:p>
        </p:txBody>
      </p:sp>
      <p:sp>
        <p:nvSpPr>
          <p:cNvPr id="10" name="Text 7"/>
          <p:cNvSpPr/>
          <p:nvPr/>
        </p:nvSpPr>
        <p:spPr>
          <a:xfrm>
            <a:off x="9784080" y="2715768"/>
            <a:ext cx="1417320" cy="219456"/>
          </a:xfrm>
          <a:prstGeom prst="rect">
            <a:avLst/>
          </a:prstGeom>
          <a:noFill/>
          <a:ln/>
        </p:spPr>
        <p:txBody>
          <a:bodyPr wrap="square" lIns="0" tIns="0" rIns="0" bIns="0" rtlCol="0" anchor="ctr"/>
          <a:lstStyle/>
          <a:p>
            <a:pPr indent="0" marL="0">
              <a:buNone/>
            </a:pPr>
            <a:r>
              <a:rPr lang="en-US" sz="1150" dirty="0">
                <a:solidFill>
                  <a:srgbClr val="DCE3EC"/>
                </a:solidFill>
              </a:rPr>
              <a:t>RS di Jawa Barat</a:t>
            </a:r>
            <a:endParaRPr lang="en-US" sz="1150" dirty="0"/>
          </a:p>
        </p:txBody>
      </p:sp>
      <p:sp>
        <p:nvSpPr>
          <p:cNvPr id="11" name="Text 8"/>
          <p:cNvSpPr/>
          <p:nvPr/>
        </p:nvSpPr>
        <p:spPr>
          <a:xfrm>
            <a:off x="8961120" y="3191256"/>
            <a:ext cx="777240" cy="320040"/>
          </a:xfrm>
          <a:prstGeom prst="rect">
            <a:avLst/>
          </a:prstGeom>
          <a:noFill/>
          <a:ln/>
        </p:spPr>
        <p:txBody>
          <a:bodyPr wrap="square" lIns="0" tIns="0" rIns="0" bIns="0" rtlCol="0" anchor="ctr"/>
          <a:lstStyle/>
          <a:p>
            <a:pPr indent="0" marL="0">
              <a:buNone/>
            </a:pPr>
            <a:r>
              <a:rPr lang="en-US" sz="2200" b="1" dirty="0">
                <a:solidFill>
                  <a:srgbClr val="79C1FF"/>
                </a:solidFill>
              </a:rPr>
              <a:t>348</a:t>
            </a:r>
            <a:endParaRPr lang="en-US" sz="2200" dirty="0"/>
          </a:p>
        </p:txBody>
      </p:sp>
      <p:sp>
        <p:nvSpPr>
          <p:cNvPr id="12" name="Text 9"/>
          <p:cNvSpPr/>
          <p:nvPr/>
        </p:nvSpPr>
        <p:spPr>
          <a:xfrm>
            <a:off x="9784080" y="3236976"/>
            <a:ext cx="1417320" cy="219456"/>
          </a:xfrm>
          <a:prstGeom prst="rect">
            <a:avLst/>
          </a:prstGeom>
          <a:noFill/>
          <a:ln/>
        </p:spPr>
        <p:txBody>
          <a:bodyPr wrap="square" lIns="0" tIns="0" rIns="0" bIns="0" rtlCol="0" anchor="ctr"/>
          <a:lstStyle/>
          <a:p>
            <a:pPr indent="0" marL="0">
              <a:buNone/>
            </a:pPr>
            <a:r>
              <a:rPr lang="en-US" sz="1150" dirty="0">
                <a:solidFill>
                  <a:srgbClr val="DCE3EC"/>
                </a:solidFill>
              </a:rPr>
              <a:t>RS di Jawa Tengah</a:t>
            </a:r>
            <a:endParaRPr lang="en-US" sz="1150" dirty="0"/>
          </a:p>
        </p:txBody>
      </p:sp>
      <p:sp>
        <p:nvSpPr>
          <p:cNvPr id="13" name="Shape 10"/>
          <p:cNvSpPr/>
          <p:nvPr/>
        </p:nvSpPr>
        <p:spPr>
          <a:xfrm>
            <a:off x="8961120" y="3767328"/>
            <a:ext cx="2212848" cy="0"/>
          </a:xfrm>
          <a:prstGeom prst="line">
            <a:avLst/>
          </a:prstGeom>
          <a:noFill/>
          <a:ln w="12700">
            <a:solidFill>
              <a:srgbClr val="2A3444"/>
            </a:solidFill>
            <a:prstDash val="solid"/>
          </a:ln>
        </p:spPr>
      </p:sp>
      <p:sp>
        <p:nvSpPr>
          <p:cNvPr id="14" name="Text 11"/>
          <p:cNvSpPr/>
          <p:nvPr/>
        </p:nvSpPr>
        <p:spPr>
          <a:xfrm>
            <a:off x="8961120" y="3986784"/>
            <a:ext cx="914400" cy="310896"/>
          </a:xfrm>
          <a:prstGeom prst="rect">
            <a:avLst/>
          </a:prstGeom>
          <a:noFill/>
          <a:ln/>
        </p:spPr>
        <p:txBody>
          <a:bodyPr wrap="square" lIns="0" tIns="0" rIns="0" bIns="0" rtlCol="0" anchor="ctr"/>
          <a:lstStyle/>
          <a:p>
            <a:pPr indent="0" marL="0">
              <a:buNone/>
            </a:pPr>
            <a:r>
              <a:rPr lang="en-US" sz="2100" b="1" dirty="0">
                <a:solidFill>
                  <a:srgbClr val="53D0C6"/>
                </a:solidFill>
              </a:rPr>
              <a:t>53,1%</a:t>
            </a:r>
            <a:endParaRPr lang="en-US" sz="2100" dirty="0"/>
          </a:p>
        </p:txBody>
      </p:sp>
      <p:sp>
        <p:nvSpPr>
          <p:cNvPr id="15" name="Text 12"/>
          <p:cNvSpPr/>
          <p:nvPr/>
        </p:nvSpPr>
        <p:spPr>
          <a:xfrm>
            <a:off x="9912096" y="4041648"/>
            <a:ext cx="1234440" cy="219456"/>
          </a:xfrm>
          <a:prstGeom prst="rect">
            <a:avLst/>
          </a:prstGeom>
          <a:noFill/>
          <a:ln/>
        </p:spPr>
        <p:txBody>
          <a:bodyPr wrap="square" lIns="0" tIns="0" rIns="0" bIns="0" rtlCol="0" anchor="ctr"/>
          <a:lstStyle/>
          <a:p>
            <a:pPr indent="0" marL="0">
              <a:buNone/>
            </a:pPr>
            <a:r>
              <a:rPr lang="en-US" sz="1150" dirty="0">
                <a:solidFill>
                  <a:srgbClr val="DCE3EC"/>
                </a:solidFill>
              </a:rPr>
              <a:t>Kelas C</a:t>
            </a:r>
            <a:endParaRPr lang="en-US" sz="1150" dirty="0"/>
          </a:p>
        </p:txBody>
      </p:sp>
      <p:sp>
        <p:nvSpPr>
          <p:cNvPr id="16" name="Text 13"/>
          <p:cNvSpPr/>
          <p:nvPr/>
        </p:nvSpPr>
        <p:spPr>
          <a:xfrm>
            <a:off x="8961120" y="4489704"/>
            <a:ext cx="914400" cy="310896"/>
          </a:xfrm>
          <a:prstGeom prst="rect">
            <a:avLst/>
          </a:prstGeom>
          <a:noFill/>
          <a:ln/>
        </p:spPr>
        <p:txBody>
          <a:bodyPr wrap="square" lIns="0" tIns="0" rIns="0" bIns="0" rtlCol="0" anchor="ctr"/>
          <a:lstStyle/>
          <a:p>
            <a:pPr indent="0" marL="0">
              <a:buNone/>
            </a:pPr>
            <a:r>
              <a:rPr lang="en-US" sz="2100" b="1" dirty="0">
                <a:solidFill>
                  <a:srgbClr val="53D0C6"/>
                </a:solidFill>
              </a:rPr>
              <a:t>27,9%</a:t>
            </a:r>
            <a:endParaRPr lang="en-US" sz="2100" dirty="0"/>
          </a:p>
        </p:txBody>
      </p:sp>
      <p:sp>
        <p:nvSpPr>
          <p:cNvPr id="17" name="Text 14"/>
          <p:cNvSpPr/>
          <p:nvPr/>
        </p:nvSpPr>
        <p:spPr>
          <a:xfrm>
            <a:off x="9912096" y="4544568"/>
            <a:ext cx="1234440" cy="219456"/>
          </a:xfrm>
          <a:prstGeom prst="rect">
            <a:avLst/>
          </a:prstGeom>
          <a:noFill/>
          <a:ln/>
        </p:spPr>
        <p:txBody>
          <a:bodyPr wrap="square" lIns="0" tIns="0" rIns="0" bIns="0" rtlCol="0" anchor="ctr"/>
          <a:lstStyle/>
          <a:p>
            <a:pPr indent="0" marL="0">
              <a:buNone/>
            </a:pPr>
            <a:r>
              <a:rPr lang="en-US" sz="1150" dirty="0">
                <a:solidFill>
                  <a:srgbClr val="DCE3EC"/>
                </a:solidFill>
              </a:rPr>
              <a:t>Kelas D</a:t>
            </a:r>
            <a:endParaRPr lang="en-US" sz="1150" dirty="0"/>
          </a:p>
        </p:txBody>
      </p:sp>
      <p:sp>
        <p:nvSpPr>
          <p:cNvPr id="18" name="Text 15"/>
          <p:cNvSpPr/>
          <p:nvPr/>
        </p:nvSpPr>
        <p:spPr>
          <a:xfrm>
            <a:off x="621792" y="5715000"/>
            <a:ext cx="10881360" cy="310896"/>
          </a:xfrm>
          <a:prstGeom prst="rect">
            <a:avLst/>
          </a:prstGeom>
          <a:noFill/>
          <a:ln/>
        </p:spPr>
        <p:txBody>
          <a:bodyPr wrap="square" lIns="0" tIns="0" rIns="0" bIns="0" rtlCol="0" anchor="ctr"/>
          <a:lstStyle/>
          <a:p>
            <a:pPr indent="0" marL="0">
              <a:buNone/>
            </a:pPr>
            <a:r>
              <a:rPr lang="en-US" sz="1400" dirty="0">
                <a:solidFill>
                  <a:srgbClr val="DCE3EC"/>
                </a:solidFill>
              </a:rPr>
              <a:t>Jumlah RS terbesar dalam data berada di tiga provinsi di Pulau Jawa.</a:t>
            </a:r>
            <a:endParaRPr lang="en-US" sz="140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4. Analisis SDM dan Alat Kesehatan</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Pengguna dapat memilih jenis SDM atau Alkes dan membandingkannya antarwilayah</a:t>
            </a:r>
            <a:endParaRPr lang="en-US" sz="1250" dirty="0"/>
          </a:p>
        </p:txBody>
      </p:sp>
      <p:sp>
        <p:nvSpPr>
          <p:cNvPr id="4" name="Shape 2"/>
          <p:cNvSpPr/>
          <p:nvPr/>
        </p:nvSpPr>
        <p:spPr>
          <a:xfrm>
            <a:off x="612648" y="1371600"/>
            <a:ext cx="3017520" cy="4407408"/>
          </a:xfrm>
          <a:prstGeom prst="roundRect">
            <a:avLst/>
          </a:prstGeom>
          <a:solidFill>
            <a:srgbClr val="121925"/>
          </a:solidFill>
          <a:ln w="12700">
            <a:solidFill>
              <a:srgbClr val="2A3444"/>
            </a:solidFill>
            <a:prstDash val="solid"/>
          </a:ln>
        </p:spPr>
      </p:sp>
      <p:sp>
        <p:nvSpPr>
          <p:cNvPr id="5" name="Text 3"/>
          <p:cNvSpPr/>
          <p:nvPr/>
        </p:nvSpPr>
        <p:spPr>
          <a:xfrm>
            <a:off x="877824" y="1664208"/>
            <a:ext cx="2331720" cy="274320"/>
          </a:xfrm>
          <a:prstGeom prst="rect">
            <a:avLst/>
          </a:prstGeom>
          <a:noFill/>
          <a:ln/>
        </p:spPr>
        <p:txBody>
          <a:bodyPr wrap="square" lIns="0" tIns="0" rIns="0" bIns="0" rtlCol="0" anchor="ctr"/>
          <a:lstStyle/>
          <a:p>
            <a:pPr indent="0" marL="0">
              <a:buNone/>
            </a:pPr>
            <a:r>
              <a:rPr lang="en-US" sz="1800" b="1" dirty="0">
                <a:solidFill>
                  <a:srgbClr val="F5F7FA"/>
                </a:solidFill>
              </a:rPr>
              <a:t>Fitur Analisis</a:t>
            </a:r>
            <a:endParaRPr lang="en-US" sz="1800" dirty="0"/>
          </a:p>
        </p:txBody>
      </p:sp>
      <p:sp>
        <p:nvSpPr>
          <p:cNvPr id="6" name="Shape 4"/>
          <p:cNvSpPr/>
          <p:nvPr/>
        </p:nvSpPr>
        <p:spPr>
          <a:xfrm>
            <a:off x="877824" y="2212848"/>
            <a:ext cx="91440" cy="91440"/>
          </a:xfrm>
          <a:prstGeom prst="ellipse">
            <a:avLst/>
          </a:prstGeom>
          <a:solidFill>
            <a:srgbClr val="4DA3FF"/>
          </a:solidFill>
          <a:ln w="12700">
            <a:solidFill>
              <a:srgbClr val="4DA3FF"/>
            </a:solidFill>
            <a:prstDash val="solid"/>
          </a:ln>
        </p:spPr>
      </p:sp>
      <p:sp>
        <p:nvSpPr>
          <p:cNvPr id="7" name="Text 5"/>
          <p:cNvSpPr/>
          <p:nvPr/>
        </p:nvSpPr>
        <p:spPr>
          <a:xfrm>
            <a:off x="1042416" y="2148840"/>
            <a:ext cx="2167128" cy="457200"/>
          </a:xfrm>
          <a:prstGeom prst="rect">
            <a:avLst/>
          </a:prstGeom>
          <a:noFill/>
          <a:ln/>
        </p:spPr>
        <p:txBody>
          <a:bodyPr wrap="square" lIns="0" tIns="0" rIns="0" bIns="0" rtlCol="0" anchor="ctr"/>
          <a:lstStyle/>
          <a:p>
            <a:pPr indent="0" marL="0">
              <a:buNone/>
            </a:pPr>
            <a:r>
              <a:rPr lang="en-US" sz="1220" dirty="0">
                <a:solidFill>
                  <a:srgbClr val="DCE3EC"/>
                </a:solidFill>
              </a:rPr>
              <a:t>Pilih jenis SDM yang ingin dianalisis.</a:t>
            </a:r>
            <a:endParaRPr lang="en-US" sz="1220" dirty="0"/>
          </a:p>
        </p:txBody>
      </p:sp>
      <p:sp>
        <p:nvSpPr>
          <p:cNvPr id="8" name="Shape 6"/>
          <p:cNvSpPr/>
          <p:nvPr/>
        </p:nvSpPr>
        <p:spPr>
          <a:xfrm>
            <a:off x="877824" y="2880360"/>
            <a:ext cx="91440" cy="91440"/>
          </a:xfrm>
          <a:prstGeom prst="ellipse">
            <a:avLst/>
          </a:prstGeom>
          <a:solidFill>
            <a:srgbClr val="53D0C6"/>
          </a:solidFill>
          <a:ln w="12700">
            <a:solidFill>
              <a:srgbClr val="53D0C6"/>
            </a:solidFill>
            <a:prstDash val="solid"/>
          </a:ln>
        </p:spPr>
      </p:sp>
      <p:sp>
        <p:nvSpPr>
          <p:cNvPr id="9" name="Text 7"/>
          <p:cNvSpPr/>
          <p:nvPr/>
        </p:nvSpPr>
        <p:spPr>
          <a:xfrm>
            <a:off x="1042416" y="2816352"/>
            <a:ext cx="2167128" cy="530352"/>
          </a:xfrm>
          <a:prstGeom prst="rect">
            <a:avLst/>
          </a:prstGeom>
          <a:noFill/>
          <a:ln/>
        </p:spPr>
        <p:txBody>
          <a:bodyPr wrap="square" lIns="0" tIns="0" rIns="0" bIns="0" rtlCol="0" anchor="ctr"/>
          <a:lstStyle/>
          <a:p>
            <a:pPr indent="0" marL="0">
              <a:buNone/>
            </a:pPr>
            <a:r>
              <a:rPr lang="en-US" sz="1220" dirty="0">
                <a:solidFill>
                  <a:srgbClr val="DCE3EC"/>
                </a:solidFill>
              </a:rPr>
              <a:t>Pilih jenis alat kesehatan secara interaktif.</a:t>
            </a:r>
            <a:endParaRPr lang="en-US" sz="1220" dirty="0"/>
          </a:p>
        </p:txBody>
      </p:sp>
      <p:sp>
        <p:nvSpPr>
          <p:cNvPr id="10" name="Shape 8"/>
          <p:cNvSpPr/>
          <p:nvPr/>
        </p:nvSpPr>
        <p:spPr>
          <a:xfrm>
            <a:off x="877824" y="3602736"/>
            <a:ext cx="91440" cy="91440"/>
          </a:xfrm>
          <a:prstGeom prst="ellipse">
            <a:avLst/>
          </a:prstGeom>
          <a:solidFill>
            <a:srgbClr val="66D19E"/>
          </a:solidFill>
          <a:ln w="12700">
            <a:solidFill>
              <a:srgbClr val="66D19E"/>
            </a:solidFill>
            <a:prstDash val="solid"/>
          </a:ln>
        </p:spPr>
      </p:sp>
      <p:sp>
        <p:nvSpPr>
          <p:cNvPr id="11" name="Text 9"/>
          <p:cNvSpPr/>
          <p:nvPr/>
        </p:nvSpPr>
        <p:spPr>
          <a:xfrm>
            <a:off x="1042416" y="3538728"/>
            <a:ext cx="2167128" cy="786384"/>
          </a:xfrm>
          <a:prstGeom prst="rect">
            <a:avLst/>
          </a:prstGeom>
          <a:noFill/>
          <a:ln/>
        </p:spPr>
        <p:txBody>
          <a:bodyPr wrap="square" lIns="0" tIns="0" rIns="0" bIns="0" rtlCol="0" anchor="ctr"/>
          <a:lstStyle/>
          <a:p>
            <a:pPr indent="0" marL="0">
              <a:buNone/>
            </a:pPr>
            <a:r>
              <a:rPr lang="en-US" sz="1220" dirty="0">
                <a:solidFill>
                  <a:srgbClr val="DCE3EC"/>
                </a:solidFill>
              </a:rPr>
              <a:t>Bandingkan jumlah antarprovinsi dan lanjutkan dengan filter Kab/Kota atau RS.</a:t>
            </a:r>
            <a:endParaRPr lang="en-US" sz="1220" dirty="0"/>
          </a:p>
        </p:txBody>
      </p:sp>
      <p:sp>
        <p:nvSpPr>
          <p:cNvPr id="12" name="Shape 10"/>
          <p:cNvSpPr/>
          <p:nvPr/>
        </p:nvSpPr>
        <p:spPr>
          <a:xfrm>
            <a:off x="877824" y="4526280"/>
            <a:ext cx="2240280" cy="0"/>
          </a:xfrm>
          <a:prstGeom prst="line">
            <a:avLst/>
          </a:prstGeom>
          <a:noFill/>
          <a:ln w="12700">
            <a:solidFill>
              <a:srgbClr val="2A3444"/>
            </a:solidFill>
            <a:prstDash val="solid"/>
          </a:ln>
        </p:spPr>
      </p:sp>
      <p:sp>
        <p:nvSpPr>
          <p:cNvPr id="13" name="Text 11"/>
          <p:cNvSpPr/>
          <p:nvPr/>
        </p:nvSpPr>
        <p:spPr>
          <a:xfrm>
            <a:off x="877824" y="4727448"/>
            <a:ext cx="2194560" cy="237744"/>
          </a:xfrm>
          <a:prstGeom prst="rect">
            <a:avLst/>
          </a:prstGeom>
          <a:noFill/>
          <a:ln/>
        </p:spPr>
        <p:txBody>
          <a:bodyPr wrap="square" lIns="0" tIns="0" rIns="0" bIns="0" rtlCol="0" anchor="ctr"/>
          <a:lstStyle/>
          <a:p>
            <a:pPr indent="0" marL="0">
              <a:buNone/>
            </a:pPr>
            <a:r>
              <a:rPr lang="en-US" sz="1250" b="1" dirty="0">
                <a:solidFill>
                  <a:srgbClr val="F5C451"/>
                </a:solidFill>
              </a:rPr>
              <a:t>Contoh: Brachytherapy</a:t>
            </a:r>
            <a:endParaRPr lang="en-US" sz="1250" dirty="0"/>
          </a:p>
        </p:txBody>
      </p:sp>
      <p:sp>
        <p:nvSpPr>
          <p:cNvPr id="14" name="Text 12"/>
          <p:cNvSpPr/>
          <p:nvPr/>
        </p:nvSpPr>
        <p:spPr>
          <a:xfrm>
            <a:off x="877824" y="5047488"/>
            <a:ext cx="2103120" cy="621792"/>
          </a:xfrm>
          <a:prstGeom prst="rect">
            <a:avLst/>
          </a:prstGeom>
          <a:noFill/>
          <a:ln/>
        </p:spPr>
        <p:txBody>
          <a:bodyPr wrap="square" lIns="0" tIns="0" rIns="0" bIns="0" rtlCol="0" anchor="ctr"/>
          <a:lstStyle/>
          <a:p>
            <a:pPr indent="0" marL="0">
              <a:buNone/>
            </a:pPr>
            <a:r>
              <a:rPr lang="en-US" sz="1150" dirty="0">
                <a:solidFill>
                  <a:srgbClr val="DCE3EC"/>
                </a:solidFill>
              </a:rPr>
              <a:t>DKI Jakarta: 4 unit</a:t>
            </a:r>
            <a:endParaRPr lang="en-US" sz="1150" dirty="0"/>
          </a:p>
          <a:p>
            <a:pPr indent="0" marL="0">
              <a:buNone/>
            </a:pPr>
            <a:r>
              <a:rPr lang="en-US" sz="1150" dirty="0">
                <a:solidFill>
                  <a:srgbClr val="DCE3EC"/>
                </a:solidFill>
              </a:rPr>
              <a:t>Jawa Tengah: 3 unit</a:t>
            </a:r>
            <a:endParaRPr lang="en-US" sz="1150" dirty="0"/>
          </a:p>
          <a:p>
            <a:pPr indent="0" marL="0">
              <a:buNone/>
            </a:pPr>
            <a:r>
              <a:rPr lang="en-US" sz="1150" dirty="0">
                <a:solidFill>
                  <a:srgbClr val="DCE3EC"/>
                </a:solidFill>
              </a:rPr>
              <a:t>Jawa Timur: 3 unit</a:t>
            </a:r>
            <a:endParaRPr lang="en-US" sz="1150" dirty="0"/>
          </a:p>
        </p:txBody>
      </p:sp>
      <p:pic>
        <p:nvPicPr>
          <p:cNvPr id="15" name="Image 0" descr="/mnt/data/alkes_clean.png">    </p:cNvPr>
          <p:cNvPicPr>
            <a:picLocks noChangeAspect="1"/>
          </p:cNvPicPr>
          <p:nvPr/>
        </p:nvPicPr>
        <p:blipFill>
          <a:blip r:embed="rId1"/>
          <a:stretch>
            <a:fillRect/>
          </a:stretch>
        </p:blipFill>
        <p:spPr>
          <a:xfrm>
            <a:off x="3886200" y="1353312"/>
            <a:ext cx="7644384" cy="3995928"/>
          </a:xfrm>
          <a:prstGeom prst="rect">
            <a:avLst/>
          </a:prstGeom>
        </p:spPr>
      </p:pic>
      <p:sp>
        <p:nvSpPr>
          <p:cNvPr id="16" name="Shape 13"/>
          <p:cNvSpPr/>
          <p:nvPr/>
        </p:nvSpPr>
        <p:spPr>
          <a:xfrm>
            <a:off x="3886200" y="5522976"/>
            <a:ext cx="7635240" cy="457200"/>
          </a:xfrm>
          <a:prstGeom prst="roundRect">
            <a:avLst/>
          </a:prstGeom>
          <a:solidFill>
            <a:srgbClr val="151B25"/>
          </a:solidFill>
          <a:ln w="12700">
            <a:solidFill>
              <a:srgbClr val="384254"/>
            </a:solidFill>
            <a:prstDash val="solid"/>
          </a:ln>
        </p:spPr>
      </p:sp>
      <p:sp>
        <p:nvSpPr>
          <p:cNvPr id="17" name="Text 14"/>
          <p:cNvSpPr/>
          <p:nvPr/>
        </p:nvSpPr>
        <p:spPr>
          <a:xfrm>
            <a:off x="4096512" y="5641848"/>
            <a:ext cx="7223760" cy="182880"/>
          </a:xfrm>
          <a:prstGeom prst="rect">
            <a:avLst/>
          </a:prstGeom>
          <a:noFill/>
          <a:ln/>
        </p:spPr>
        <p:txBody>
          <a:bodyPr wrap="square" lIns="0" tIns="0" rIns="0" bIns="0" rtlCol="0" anchor="ctr"/>
          <a:lstStyle/>
          <a:p>
            <a:pPr indent="0" marL="0">
              <a:buNone/>
            </a:pPr>
            <a:r>
              <a:rPr lang="en-US" sz="1050" dirty="0">
                <a:solidFill>
                  <a:srgbClr val="A8B2C1"/>
                </a:solidFill>
              </a:rPr>
              <a:t>Catatan: 2.567 unit Alkes tercatat berasal dari 589 RS yang memiliki data Alkes; missing data tidak diartikan sebagai nol.</a:t>
            </a:r>
            <a:endParaRPr lang="en-US" sz="105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5. Status Kerja Sama BPJS</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Membandingkan layanan yang sudah dan belum bekerja sama dengan BPJS</a:t>
            </a:r>
            <a:endParaRPr lang="en-US" sz="1250" dirty="0"/>
          </a:p>
        </p:txBody>
      </p:sp>
      <p:pic>
        <p:nvPicPr>
          <p:cNvPr id="4" name="Image 0" descr="/mnt/data/bpjs_clean.png">    </p:cNvPr>
          <p:cNvPicPr>
            <a:picLocks noChangeAspect="1"/>
          </p:cNvPicPr>
          <p:nvPr/>
        </p:nvPicPr>
        <p:blipFill>
          <a:blip r:embed="rId1"/>
          <a:stretch>
            <a:fillRect/>
          </a:stretch>
        </p:blipFill>
        <p:spPr>
          <a:xfrm>
            <a:off x="594360" y="1234440"/>
            <a:ext cx="7726680" cy="3968496"/>
          </a:xfrm>
          <a:prstGeom prst="rect">
            <a:avLst/>
          </a:prstGeom>
        </p:spPr>
      </p:pic>
      <p:sp>
        <p:nvSpPr>
          <p:cNvPr id="5" name="Shape 2"/>
          <p:cNvSpPr/>
          <p:nvPr/>
        </p:nvSpPr>
        <p:spPr>
          <a:xfrm>
            <a:off x="8577072" y="1389888"/>
            <a:ext cx="2926080" cy="4023360"/>
          </a:xfrm>
          <a:prstGeom prst="roundRect">
            <a:avLst/>
          </a:prstGeom>
          <a:solidFill>
            <a:srgbClr val="121925"/>
          </a:solidFill>
          <a:ln w="12700">
            <a:solidFill>
              <a:srgbClr val="2A3444"/>
            </a:solidFill>
            <a:prstDash val="solid"/>
          </a:ln>
        </p:spPr>
      </p:sp>
      <p:sp>
        <p:nvSpPr>
          <p:cNvPr id="6" name="Text 3"/>
          <p:cNvSpPr/>
          <p:nvPr/>
        </p:nvSpPr>
        <p:spPr>
          <a:xfrm>
            <a:off x="8842248" y="1664208"/>
            <a:ext cx="2286000" cy="274320"/>
          </a:xfrm>
          <a:prstGeom prst="rect">
            <a:avLst/>
          </a:prstGeom>
          <a:noFill/>
          <a:ln/>
        </p:spPr>
        <p:txBody>
          <a:bodyPr wrap="square" lIns="0" tIns="0" rIns="0" bIns="0" rtlCol="0" anchor="ctr"/>
          <a:lstStyle/>
          <a:p>
            <a:pPr indent="0" marL="0">
              <a:buNone/>
            </a:pPr>
            <a:r>
              <a:rPr lang="en-US" sz="1800" b="1" dirty="0">
                <a:solidFill>
                  <a:srgbClr val="F5F7FA"/>
                </a:solidFill>
              </a:rPr>
              <a:t>Ringkasan</a:t>
            </a:r>
            <a:endParaRPr lang="en-US" sz="1800" dirty="0"/>
          </a:p>
        </p:txBody>
      </p:sp>
      <p:sp>
        <p:nvSpPr>
          <p:cNvPr id="7" name="Text 4"/>
          <p:cNvSpPr/>
          <p:nvPr/>
        </p:nvSpPr>
        <p:spPr>
          <a:xfrm>
            <a:off x="8842248" y="2139696"/>
            <a:ext cx="1234440" cy="411480"/>
          </a:xfrm>
          <a:prstGeom prst="rect">
            <a:avLst/>
          </a:prstGeom>
          <a:noFill/>
          <a:ln/>
        </p:spPr>
        <p:txBody>
          <a:bodyPr wrap="square" lIns="0" tIns="0" rIns="0" bIns="0" rtlCol="0" anchor="ctr"/>
          <a:lstStyle/>
          <a:p>
            <a:pPr indent="0" marL="0">
              <a:buNone/>
            </a:pPr>
            <a:r>
              <a:rPr lang="en-US" sz="2700" b="1" dirty="0">
                <a:solidFill>
                  <a:srgbClr val="79C1FF"/>
                </a:solidFill>
              </a:rPr>
              <a:t>93,2%</a:t>
            </a:r>
            <a:endParaRPr lang="en-US" sz="2700" dirty="0"/>
          </a:p>
        </p:txBody>
      </p:sp>
      <p:sp>
        <p:nvSpPr>
          <p:cNvPr id="8" name="Text 5"/>
          <p:cNvSpPr/>
          <p:nvPr/>
        </p:nvSpPr>
        <p:spPr>
          <a:xfrm>
            <a:off x="8842248" y="2578608"/>
            <a:ext cx="2240280" cy="603504"/>
          </a:xfrm>
          <a:prstGeom prst="rect">
            <a:avLst/>
          </a:prstGeom>
          <a:noFill/>
          <a:ln/>
        </p:spPr>
        <p:txBody>
          <a:bodyPr wrap="square" lIns="0" tIns="0" rIns="0" bIns="0" rtlCol="0" anchor="ctr"/>
          <a:lstStyle/>
          <a:p>
            <a:pPr indent="0" marL="0">
              <a:buNone/>
            </a:pPr>
            <a:r>
              <a:rPr lang="en-US" sz="1100" dirty="0">
                <a:solidFill>
                  <a:srgbClr val="A8B2C1"/>
                </a:solidFill>
              </a:rPr>
              <a:t>record layanan tercatat berstatus “sudah kerja sama BPJS”</a:t>
            </a:r>
            <a:endParaRPr lang="en-US" sz="1100" dirty="0"/>
          </a:p>
        </p:txBody>
      </p:sp>
      <p:sp>
        <p:nvSpPr>
          <p:cNvPr id="9" name="Shape 6"/>
          <p:cNvSpPr/>
          <p:nvPr/>
        </p:nvSpPr>
        <p:spPr>
          <a:xfrm>
            <a:off x="8842248" y="3255264"/>
            <a:ext cx="2240280" cy="0"/>
          </a:xfrm>
          <a:prstGeom prst="line">
            <a:avLst/>
          </a:prstGeom>
          <a:noFill/>
          <a:ln w="12700">
            <a:solidFill>
              <a:srgbClr val="2A3444"/>
            </a:solidFill>
            <a:prstDash val="solid"/>
          </a:ln>
        </p:spPr>
      </p:sp>
      <p:sp>
        <p:nvSpPr>
          <p:cNvPr id="10" name="Text 7"/>
          <p:cNvSpPr/>
          <p:nvPr/>
        </p:nvSpPr>
        <p:spPr>
          <a:xfrm>
            <a:off x="8842248" y="3483864"/>
            <a:ext cx="1234440" cy="237744"/>
          </a:xfrm>
          <a:prstGeom prst="rect">
            <a:avLst/>
          </a:prstGeom>
          <a:noFill/>
          <a:ln/>
        </p:spPr>
        <p:txBody>
          <a:bodyPr wrap="square" lIns="0" tIns="0" rIns="0" bIns="0" rtlCol="0" anchor="ctr"/>
          <a:lstStyle/>
          <a:p>
            <a:pPr indent="0" marL="0">
              <a:buNone/>
            </a:pPr>
            <a:r>
              <a:rPr lang="en-US" sz="1300" b="1" dirty="0">
                <a:solidFill>
                  <a:srgbClr val="F5C451"/>
                </a:solidFill>
              </a:rPr>
              <a:t>Radioterapi</a:t>
            </a:r>
            <a:endParaRPr lang="en-US" sz="1300" dirty="0"/>
          </a:p>
        </p:txBody>
      </p:sp>
      <p:sp>
        <p:nvSpPr>
          <p:cNvPr id="11" name="Text 8"/>
          <p:cNvSpPr/>
          <p:nvPr/>
        </p:nvSpPr>
        <p:spPr>
          <a:xfrm>
            <a:off x="8842248" y="3803904"/>
            <a:ext cx="2194560" cy="603504"/>
          </a:xfrm>
          <a:prstGeom prst="rect">
            <a:avLst/>
          </a:prstGeom>
          <a:noFill/>
          <a:ln/>
        </p:spPr>
        <p:txBody>
          <a:bodyPr wrap="square" lIns="0" tIns="0" rIns="0" bIns="0" rtlCol="0" anchor="ctr"/>
          <a:lstStyle/>
          <a:p>
            <a:pPr indent="0" marL="0">
              <a:buNone/>
            </a:pPr>
            <a:r>
              <a:rPr lang="en-US" sz="1250" dirty="0">
                <a:solidFill>
                  <a:srgbClr val="DCE3EC"/>
                </a:solidFill>
              </a:rPr>
              <a:t>6 dari 28 RS tercatat</a:t>
            </a:r>
            <a:endParaRPr lang="en-US" sz="1250" dirty="0"/>
          </a:p>
          <a:p>
            <a:pPr indent="0" marL="0">
              <a:buNone/>
            </a:pPr>
            <a:r>
              <a:rPr lang="en-US" sz="1250" dirty="0">
                <a:solidFill>
                  <a:srgbClr val="DCE3EC"/>
                </a:solidFill>
              </a:rPr>
              <a:t>= 21,4% sudah kerja sama</a:t>
            </a:r>
            <a:endParaRPr lang="en-US" sz="1250" dirty="0"/>
          </a:p>
        </p:txBody>
      </p:sp>
      <p:sp>
        <p:nvSpPr>
          <p:cNvPr id="12" name="Text 9"/>
          <p:cNvSpPr/>
          <p:nvPr/>
        </p:nvSpPr>
        <p:spPr>
          <a:xfrm>
            <a:off x="8842248" y="4507992"/>
            <a:ext cx="1554480" cy="237744"/>
          </a:xfrm>
          <a:prstGeom prst="rect">
            <a:avLst/>
          </a:prstGeom>
          <a:noFill/>
          <a:ln/>
        </p:spPr>
        <p:txBody>
          <a:bodyPr wrap="square" lIns="0" tIns="0" rIns="0" bIns="0" rtlCol="0" anchor="ctr"/>
          <a:lstStyle/>
          <a:p>
            <a:pPr indent="0" marL="0">
              <a:buNone/>
            </a:pPr>
            <a:r>
              <a:rPr lang="en-US" sz="1300" b="1" dirty="0">
                <a:solidFill>
                  <a:srgbClr val="53D0C6"/>
                </a:solidFill>
              </a:rPr>
              <a:t>Patologi Klinik</a:t>
            </a:r>
            <a:endParaRPr lang="en-US" sz="1300" dirty="0"/>
          </a:p>
        </p:txBody>
      </p:sp>
      <p:sp>
        <p:nvSpPr>
          <p:cNvPr id="13" name="Text 10"/>
          <p:cNvSpPr/>
          <p:nvPr/>
        </p:nvSpPr>
        <p:spPr>
          <a:xfrm>
            <a:off x="8842248" y="4809744"/>
            <a:ext cx="2240280" cy="566928"/>
          </a:xfrm>
          <a:prstGeom prst="rect">
            <a:avLst/>
          </a:prstGeom>
          <a:noFill/>
          <a:ln/>
        </p:spPr>
        <p:txBody>
          <a:bodyPr wrap="square" lIns="0" tIns="0" rIns="0" bIns="0" rtlCol="0" anchor="ctr"/>
          <a:lstStyle/>
          <a:p>
            <a:pPr indent="0" marL="0">
              <a:buNone/>
            </a:pPr>
            <a:r>
              <a:rPr lang="en-US" sz="1250" dirty="0">
                <a:solidFill>
                  <a:srgbClr val="DCE3EC"/>
                </a:solidFill>
              </a:rPr>
              <a:t>1.794 dari 1.822 RS</a:t>
            </a:r>
            <a:endParaRPr lang="en-US" sz="1250" dirty="0"/>
          </a:p>
          <a:p>
            <a:pPr indent="0" marL="0">
              <a:buNone/>
            </a:pPr>
            <a:r>
              <a:rPr lang="en-US" sz="1250" dirty="0">
                <a:solidFill>
                  <a:srgbClr val="DCE3EC"/>
                </a:solidFill>
              </a:rPr>
              <a:t>= 98,5% sudah kerja sama</a:t>
            </a:r>
            <a:endParaRPr lang="en-US" sz="1250" dirty="0"/>
          </a:p>
        </p:txBody>
      </p:sp>
      <p:sp>
        <p:nvSpPr>
          <p:cNvPr id="14" name="Text 11"/>
          <p:cNvSpPr/>
          <p:nvPr/>
        </p:nvSpPr>
        <p:spPr>
          <a:xfrm>
            <a:off x="621792" y="5641848"/>
            <a:ext cx="10789920" cy="320040"/>
          </a:xfrm>
          <a:prstGeom prst="rect">
            <a:avLst/>
          </a:prstGeom>
          <a:noFill/>
          <a:ln/>
        </p:spPr>
        <p:txBody>
          <a:bodyPr wrap="square" lIns="0" tIns="0" rIns="0" bIns="0" rtlCol="0" anchor="ctr"/>
          <a:lstStyle/>
          <a:p>
            <a:pPr indent="0" marL="0">
              <a:buNone/>
            </a:pPr>
            <a:r>
              <a:rPr lang="en-US" sz="1400" dirty="0">
                <a:solidFill>
                  <a:srgbClr val="DCE3EC"/>
                </a:solidFill>
              </a:rPr>
              <a:t>Dashboard membantu melihat gap per jenis layanan, bukan hanya satu angka nasional.</a:t>
            </a:r>
            <a:endParaRPr lang="en-US" sz="140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0972800" cy="438912"/>
          </a:xfrm>
          <a:prstGeom prst="rect">
            <a:avLst/>
          </a:prstGeom>
          <a:noFill/>
          <a:ln/>
        </p:spPr>
        <p:txBody>
          <a:bodyPr wrap="square" lIns="0" tIns="0" rIns="0" bIns="0" rtlCol="0" anchor="ctr"/>
          <a:lstStyle/>
          <a:p>
            <a:pPr indent="0" marL="0">
              <a:buNone/>
            </a:pPr>
            <a:r>
              <a:rPr lang="en-US" sz="2600" b="1" dirty="0">
                <a:solidFill>
                  <a:srgbClr val="F5F7FA"/>
                </a:solidFill>
                <a:latin typeface="Aptos Display" pitchFamily="34" charset="0"/>
                <a:ea typeface="Aptos Display" pitchFamily="34" charset="-122"/>
                <a:cs typeface="Aptos Display" pitchFamily="34" charset="-120"/>
              </a:rPr>
              <a:t>6. Output Akhir dan Kesimpulan</a:t>
            </a:r>
            <a:endParaRPr lang="en-US" sz="2600" dirty="0"/>
          </a:p>
        </p:txBody>
      </p:sp>
      <p:sp>
        <p:nvSpPr>
          <p:cNvPr id="3" name="Text 1"/>
          <p:cNvSpPr/>
          <p:nvPr/>
        </p:nvSpPr>
        <p:spPr>
          <a:xfrm>
            <a:off x="566928" y="868680"/>
            <a:ext cx="10972800" cy="292608"/>
          </a:xfrm>
          <a:prstGeom prst="rect">
            <a:avLst/>
          </a:prstGeom>
          <a:noFill/>
          <a:ln/>
        </p:spPr>
        <p:txBody>
          <a:bodyPr wrap="square" lIns="0" tIns="0" rIns="0" bIns="0" rtlCol="0" anchor="ctr"/>
          <a:lstStyle/>
          <a:p>
            <a:pPr indent="0" marL="0">
              <a:buNone/>
            </a:pPr>
            <a:r>
              <a:rPr lang="en-US" sz="1250" dirty="0">
                <a:solidFill>
                  <a:srgbClr val="A8B2C1"/>
                </a:solidFill>
              </a:rPr>
              <a:t>Basis data siap difilter, diekspor, dan digunakan untuk identifikasi gap</a:t>
            </a:r>
            <a:endParaRPr lang="en-US" sz="1250" dirty="0"/>
          </a:p>
        </p:txBody>
      </p:sp>
      <p:sp>
        <p:nvSpPr>
          <p:cNvPr id="4" name="Shape 2"/>
          <p:cNvSpPr/>
          <p:nvPr/>
        </p:nvSpPr>
        <p:spPr>
          <a:xfrm>
            <a:off x="603504" y="1298448"/>
            <a:ext cx="3493008" cy="1188720"/>
          </a:xfrm>
          <a:prstGeom prst="roundRect">
            <a:avLst/>
          </a:prstGeom>
          <a:solidFill>
            <a:srgbClr val="121925"/>
          </a:solidFill>
          <a:ln w="12700">
            <a:solidFill>
              <a:srgbClr val="2A3444"/>
            </a:solidFill>
            <a:prstDash val="solid"/>
          </a:ln>
        </p:spPr>
      </p:sp>
      <p:sp>
        <p:nvSpPr>
          <p:cNvPr id="5" name="Shape 3"/>
          <p:cNvSpPr/>
          <p:nvPr/>
        </p:nvSpPr>
        <p:spPr>
          <a:xfrm>
            <a:off x="822960" y="1572768"/>
            <a:ext cx="384048" cy="384048"/>
          </a:xfrm>
          <a:prstGeom prst="ellipse">
            <a:avLst/>
          </a:prstGeom>
          <a:solidFill>
            <a:srgbClr val="4DA3FF"/>
          </a:solidFill>
          <a:ln w="12700">
            <a:solidFill>
              <a:srgbClr val="4DA3FF"/>
            </a:solidFill>
            <a:prstDash val="solid"/>
          </a:ln>
        </p:spPr>
      </p:sp>
      <p:sp>
        <p:nvSpPr>
          <p:cNvPr id="6" name="Text 4"/>
          <p:cNvSpPr/>
          <p:nvPr/>
        </p:nvSpPr>
        <p:spPr>
          <a:xfrm>
            <a:off x="822960" y="1673352"/>
            <a:ext cx="384048" cy="128016"/>
          </a:xfrm>
          <a:prstGeom prst="rect">
            <a:avLst/>
          </a:prstGeom>
          <a:noFill/>
          <a:ln/>
        </p:spPr>
        <p:txBody>
          <a:bodyPr wrap="square" lIns="0" tIns="0" rIns="0" bIns="0" rtlCol="0" anchor="ctr"/>
          <a:lstStyle/>
          <a:p>
            <a:pPr algn="ctr" indent="0" marL="0">
              <a:buNone/>
            </a:pPr>
            <a:r>
              <a:rPr lang="en-US" sz="1000" b="1" dirty="0">
                <a:solidFill>
                  <a:srgbClr val="0B0F17"/>
                </a:solidFill>
              </a:rPr>
              <a:t>1</a:t>
            </a:r>
            <a:endParaRPr lang="en-US" sz="1000" dirty="0"/>
          </a:p>
        </p:txBody>
      </p:sp>
      <p:sp>
        <p:nvSpPr>
          <p:cNvPr id="7" name="Text 5"/>
          <p:cNvSpPr/>
          <p:nvPr/>
        </p:nvSpPr>
        <p:spPr>
          <a:xfrm>
            <a:off x="1353312" y="1490472"/>
            <a:ext cx="2487168" cy="228600"/>
          </a:xfrm>
          <a:prstGeom prst="rect">
            <a:avLst/>
          </a:prstGeom>
          <a:noFill/>
          <a:ln/>
        </p:spPr>
        <p:txBody>
          <a:bodyPr wrap="square" lIns="0" tIns="0" rIns="0" bIns="0" rtlCol="0" anchor="ctr"/>
          <a:lstStyle/>
          <a:p>
            <a:pPr indent="0" marL="0">
              <a:buNone/>
            </a:pPr>
            <a:r>
              <a:rPr lang="en-US" sz="1350" b="1" dirty="0">
                <a:solidFill>
                  <a:srgbClr val="F5F7FA"/>
                </a:solidFill>
              </a:rPr>
              <a:t>Basis data terintegrasi</a:t>
            </a:r>
            <a:endParaRPr lang="en-US" sz="1350" dirty="0"/>
          </a:p>
        </p:txBody>
      </p:sp>
      <p:sp>
        <p:nvSpPr>
          <p:cNvPr id="8" name="Text 6"/>
          <p:cNvSpPr/>
          <p:nvPr/>
        </p:nvSpPr>
        <p:spPr>
          <a:xfrm>
            <a:off x="1353312" y="1810512"/>
            <a:ext cx="2487168" cy="438912"/>
          </a:xfrm>
          <a:prstGeom prst="rect">
            <a:avLst/>
          </a:prstGeom>
          <a:noFill/>
          <a:ln/>
        </p:spPr>
        <p:txBody>
          <a:bodyPr wrap="square" lIns="0" tIns="0" rIns="0" bIns="0" rtlCol="0" anchor="ctr"/>
          <a:lstStyle/>
          <a:p>
            <a:pPr indent="0" marL="0">
              <a:buNone/>
            </a:pPr>
            <a:r>
              <a:rPr lang="en-US" sz="1050" dirty="0">
                <a:solidFill>
                  <a:srgbClr val="A8B2C1"/>
                </a:solidFill>
              </a:rPr>
              <a:t>Informasi dapat dibaca per RS, Kab/Kota, dan Provinsi.</a:t>
            </a:r>
            <a:endParaRPr lang="en-US" sz="1050" dirty="0"/>
          </a:p>
        </p:txBody>
      </p:sp>
      <p:sp>
        <p:nvSpPr>
          <p:cNvPr id="9" name="Shape 7"/>
          <p:cNvSpPr/>
          <p:nvPr/>
        </p:nvSpPr>
        <p:spPr>
          <a:xfrm>
            <a:off x="4425696" y="1298448"/>
            <a:ext cx="3493008" cy="1188720"/>
          </a:xfrm>
          <a:prstGeom prst="roundRect">
            <a:avLst/>
          </a:prstGeom>
          <a:solidFill>
            <a:srgbClr val="121925"/>
          </a:solidFill>
          <a:ln w="12700">
            <a:solidFill>
              <a:srgbClr val="2A3444"/>
            </a:solidFill>
            <a:prstDash val="solid"/>
          </a:ln>
        </p:spPr>
      </p:sp>
      <p:sp>
        <p:nvSpPr>
          <p:cNvPr id="10" name="Shape 8"/>
          <p:cNvSpPr/>
          <p:nvPr/>
        </p:nvSpPr>
        <p:spPr>
          <a:xfrm>
            <a:off x="4645152" y="1572768"/>
            <a:ext cx="384048" cy="384048"/>
          </a:xfrm>
          <a:prstGeom prst="ellipse">
            <a:avLst/>
          </a:prstGeom>
          <a:solidFill>
            <a:srgbClr val="F5C451"/>
          </a:solidFill>
          <a:ln w="12700">
            <a:solidFill>
              <a:srgbClr val="F5C451"/>
            </a:solidFill>
            <a:prstDash val="solid"/>
          </a:ln>
        </p:spPr>
      </p:sp>
      <p:sp>
        <p:nvSpPr>
          <p:cNvPr id="11" name="Text 9"/>
          <p:cNvSpPr/>
          <p:nvPr/>
        </p:nvSpPr>
        <p:spPr>
          <a:xfrm>
            <a:off x="4645152" y="1673352"/>
            <a:ext cx="384048" cy="128016"/>
          </a:xfrm>
          <a:prstGeom prst="rect">
            <a:avLst/>
          </a:prstGeom>
          <a:noFill/>
          <a:ln/>
        </p:spPr>
        <p:txBody>
          <a:bodyPr wrap="square" lIns="0" tIns="0" rIns="0" bIns="0" rtlCol="0" anchor="ctr"/>
          <a:lstStyle/>
          <a:p>
            <a:pPr algn="ctr" indent="0" marL="0">
              <a:buNone/>
            </a:pPr>
            <a:r>
              <a:rPr lang="en-US" sz="1000" b="1" dirty="0">
                <a:solidFill>
                  <a:srgbClr val="0B0F17"/>
                </a:solidFill>
              </a:rPr>
              <a:t>2</a:t>
            </a:r>
            <a:endParaRPr lang="en-US" sz="1000" dirty="0"/>
          </a:p>
        </p:txBody>
      </p:sp>
      <p:sp>
        <p:nvSpPr>
          <p:cNvPr id="12" name="Text 10"/>
          <p:cNvSpPr/>
          <p:nvPr/>
        </p:nvSpPr>
        <p:spPr>
          <a:xfrm>
            <a:off x="5175504" y="1490472"/>
            <a:ext cx="2487168" cy="228600"/>
          </a:xfrm>
          <a:prstGeom prst="rect">
            <a:avLst/>
          </a:prstGeom>
          <a:noFill/>
          <a:ln/>
        </p:spPr>
        <p:txBody>
          <a:bodyPr wrap="square" lIns="0" tIns="0" rIns="0" bIns="0" rtlCol="0" anchor="ctr"/>
          <a:lstStyle/>
          <a:p>
            <a:pPr indent="0" marL="0">
              <a:buNone/>
            </a:pPr>
            <a:r>
              <a:rPr lang="en-US" sz="1350" b="1" dirty="0">
                <a:solidFill>
                  <a:srgbClr val="F5F7FA"/>
                </a:solidFill>
              </a:rPr>
              <a:t>Data lebih aman diinterpretasi</a:t>
            </a:r>
            <a:endParaRPr lang="en-US" sz="1350" dirty="0"/>
          </a:p>
        </p:txBody>
      </p:sp>
      <p:sp>
        <p:nvSpPr>
          <p:cNvPr id="13" name="Text 11"/>
          <p:cNvSpPr/>
          <p:nvPr/>
        </p:nvSpPr>
        <p:spPr>
          <a:xfrm>
            <a:off x="5175504" y="1810512"/>
            <a:ext cx="2487168" cy="438912"/>
          </a:xfrm>
          <a:prstGeom prst="rect">
            <a:avLst/>
          </a:prstGeom>
          <a:noFill/>
          <a:ln/>
        </p:spPr>
        <p:txBody>
          <a:bodyPr wrap="square" lIns="0" tIns="0" rIns="0" bIns="0" rtlCol="0" anchor="ctr"/>
          <a:lstStyle/>
          <a:p>
            <a:pPr indent="0" marL="0">
              <a:buNone/>
            </a:pPr>
            <a:r>
              <a:rPr lang="en-US" sz="1050" dirty="0">
                <a:solidFill>
                  <a:srgbClr val="A8B2C1"/>
                </a:solidFill>
              </a:rPr>
              <a:t>Missing value dipisahkan dari nilai nol.</a:t>
            </a:r>
            <a:endParaRPr lang="en-US" sz="1050" dirty="0"/>
          </a:p>
        </p:txBody>
      </p:sp>
      <p:sp>
        <p:nvSpPr>
          <p:cNvPr id="14" name="Shape 12"/>
          <p:cNvSpPr/>
          <p:nvPr/>
        </p:nvSpPr>
        <p:spPr>
          <a:xfrm>
            <a:off x="8247888" y="1298448"/>
            <a:ext cx="3493008" cy="1188720"/>
          </a:xfrm>
          <a:prstGeom prst="roundRect">
            <a:avLst/>
          </a:prstGeom>
          <a:solidFill>
            <a:srgbClr val="121925"/>
          </a:solidFill>
          <a:ln w="12700">
            <a:solidFill>
              <a:srgbClr val="2A3444"/>
            </a:solidFill>
            <a:prstDash val="solid"/>
          </a:ln>
        </p:spPr>
      </p:sp>
      <p:sp>
        <p:nvSpPr>
          <p:cNvPr id="15" name="Shape 13"/>
          <p:cNvSpPr/>
          <p:nvPr/>
        </p:nvSpPr>
        <p:spPr>
          <a:xfrm>
            <a:off x="8467344" y="1572768"/>
            <a:ext cx="384048" cy="384048"/>
          </a:xfrm>
          <a:prstGeom prst="ellipse">
            <a:avLst/>
          </a:prstGeom>
          <a:solidFill>
            <a:srgbClr val="53D0C6"/>
          </a:solidFill>
          <a:ln w="12700">
            <a:solidFill>
              <a:srgbClr val="53D0C6"/>
            </a:solidFill>
            <a:prstDash val="solid"/>
          </a:ln>
        </p:spPr>
      </p:sp>
      <p:sp>
        <p:nvSpPr>
          <p:cNvPr id="16" name="Text 14"/>
          <p:cNvSpPr/>
          <p:nvPr/>
        </p:nvSpPr>
        <p:spPr>
          <a:xfrm>
            <a:off x="8467344" y="1673352"/>
            <a:ext cx="384048" cy="128016"/>
          </a:xfrm>
          <a:prstGeom prst="rect">
            <a:avLst/>
          </a:prstGeom>
          <a:noFill/>
          <a:ln/>
        </p:spPr>
        <p:txBody>
          <a:bodyPr wrap="square" lIns="0" tIns="0" rIns="0" bIns="0" rtlCol="0" anchor="ctr"/>
          <a:lstStyle/>
          <a:p>
            <a:pPr algn="ctr" indent="0" marL="0">
              <a:buNone/>
            </a:pPr>
            <a:r>
              <a:rPr lang="en-US" sz="1000" b="1" dirty="0">
                <a:solidFill>
                  <a:srgbClr val="0B0F17"/>
                </a:solidFill>
              </a:rPr>
              <a:t>3</a:t>
            </a:r>
            <a:endParaRPr lang="en-US" sz="1000" dirty="0"/>
          </a:p>
        </p:txBody>
      </p:sp>
      <p:sp>
        <p:nvSpPr>
          <p:cNvPr id="17" name="Text 15"/>
          <p:cNvSpPr/>
          <p:nvPr/>
        </p:nvSpPr>
        <p:spPr>
          <a:xfrm>
            <a:off x="8997696" y="1490472"/>
            <a:ext cx="2487168" cy="228600"/>
          </a:xfrm>
          <a:prstGeom prst="rect">
            <a:avLst/>
          </a:prstGeom>
          <a:noFill/>
          <a:ln/>
        </p:spPr>
        <p:txBody>
          <a:bodyPr wrap="square" lIns="0" tIns="0" rIns="0" bIns="0" rtlCol="0" anchor="ctr"/>
          <a:lstStyle/>
          <a:p>
            <a:pPr indent="0" marL="0">
              <a:buNone/>
            </a:pPr>
            <a:r>
              <a:rPr lang="en-US" sz="1350" b="1" dirty="0">
                <a:solidFill>
                  <a:srgbClr val="F5F7FA"/>
                </a:solidFill>
              </a:rPr>
              <a:t>Dashboard siap digunakan</a:t>
            </a:r>
            <a:endParaRPr lang="en-US" sz="1350" dirty="0"/>
          </a:p>
        </p:txBody>
      </p:sp>
      <p:sp>
        <p:nvSpPr>
          <p:cNvPr id="18" name="Text 16"/>
          <p:cNvSpPr/>
          <p:nvPr/>
        </p:nvSpPr>
        <p:spPr>
          <a:xfrm>
            <a:off x="8997696" y="1810512"/>
            <a:ext cx="2487168" cy="438912"/>
          </a:xfrm>
          <a:prstGeom prst="rect">
            <a:avLst/>
          </a:prstGeom>
          <a:noFill/>
          <a:ln/>
        </p:spPr>
        <p:txBody>
          <a:bodyPr wrap="square" lIns="0" tIns="0" rIns="0" bIns="0" rtlCol="0" anchor="ctr"/>
          <a:lstStyle/>
          <a:p>
            <a:pPr indent="0" marL="0">
              <a:buNone/>
            </a:pPr>
            <a:r>
              <a:rPr lang="en-US" sz="1050" dirty="0">
                <a:solidFill>
                  <a:srgbClr val="A8B2C1"/>
                </a:solidFill>
              </a:rPr>
              <a:t>Filter interaktif dan hasil filter dapat diunduh sebagai CSV.</a:t>
            </a:r>
            <a:endParaRPr lang="en-US" sz="1050" dirty="0"/>
          </a:p>
        </p:txBody>
      </p:sp>
      <p:pic>
        <p:nvPicPr>
          <p:cNvPr id="19" name="Image 0" descr="/mnt/data/table_clean.png">    </p:cNvPr>
          <p:cNvPicPr>
            <a:picLocks noChangeAspect="1"/>
          </p:cNvPicPr>
          <p:nvPr/>
        </p:nvPicPr>
        <p:blipFill>
          <a:blip r:embed="rId1"/>
          <a:stretch>
            <a:fillRect/>
          </a:stretch>
        </p:blipFill>
        <p:spPr>
          <a:xfrm>
            <a:off x="621792" y="2761488"/>
            <a:ext cx="7726680" cy="2788920"/>
          </a:xfrm>
          <a:prstGeom prst="rect">
            <a:avLst/>
          </a:prstGeom>
        </p:spPr>
      </p:pic>
      <p:sp>
        <p:nvSpPr>
          <p:cNvPr id="20" name="Shape 17"/>
          <p:cNvSpPr/>
          <p:nvPr/>
        </p:nvSpPr>
        <p:spPr>
          <a:xfrm>
            <a:off x="8613648" y="2788920"/>
            <a:ext cx="2907792" cy="2743200"/>
          </a:xfrm>
          <a:prstGeom prst="roundRect">
            <a:avLst/>
          </a:prstGeom>
          <a:solidFill>
            <a:srgbClr val="132134"/>
          </a:solidFill>
          <a:ln w="15240">
            <a:solidFill>
              <a:srgbClr val="2D5F8C"/>
            </a:solidFill>
            <a:prstDash val="solid"/>
          </a:ln>
        </p:spPr>
      </p:sp>
      <p:sp>
        <p:nvSpPr>
          <p:cNvPr id="21" name="Text 18"/>
          <p:cNvSpPr/>
          <p:nvPr/>
        </p:nvSpPr>
        <p:spPr>
          <a:xfrm>
            <a:off x="8887968" y="3054096"/>
            <a:ext cx="2103120" cy="274320"/>
          </a:xfrm>
          <a:prstGeom prst="rect">
            <a:avLst/>
          </a:prstGeom>
          <a:noFill/>
          <a:ln/>
        </p:spPr>
        <p:txBody>
          <a:bodyPr wrap="square" lIns="0" tIns="0" rIns="0" bIns="0" rtlCol="0" anchor="ctr"/>
          <a:lstStyle/>
          <a:p>
            <a:pPr indent="0" marL="0">
              <a:buNone/>
            </a:pPr>
            <a:r>
              <a:rPr lang="en-US" sz="1800" b="1" dirty="0">
                <a:solidFill>
                  <a:srgbClr val="79C1FF"/>
                </a:solidFill>
              </a:rPr>
              <a:t>Kesimpulan</a:t>
            </a:r>
            <a:endParaRPr lang="en-US" sz="1800" dirty="0"/>
          </a:p>
        </p:txBody>
      </p:sp>
      <p:sp>
        <p:nvSpPr>
          <p:cNvPr id="22" name="Text 19"/>
          <p:cNvSpPr/>
          <p:nvPr/>
        </p:nvSpPr>
        <p:spPr>
          <a:xfrm>
            <a:off x="8887968" y="3502152"/>
            <a:ext cx="2267712" cy="731520"/>
          </a:xfrm>
          <a:prstGeom prst="rect">
            <a:avLst/>
          </a:prstGeom>
          <a:noFill/>
          <a:ln/>
        </p:spPr>
        <p:txBody>
          <a:bodyPr wrap="square" lIns="0" tIns="0" rIns="0" bIns="0" rtlCol="0" anchor="ctr"/>
          <a:lstStyle/>
          <a:p>
            <a:pPr indent="0" marL="0">
              <a:buNone/>
            </a:pPr>
            <a:r>
              <a:rPr lang="en-US" sz="1200" dirty="0">
                <a:solidFill>
                  <a:srgbClr val="DCE3EC"/>
                </a:solidFill>
              </a:rPr>
              <a:t>Dashboard ini membantu tim melihat kondisi eksisting dan menemukan area yang perlu diprioritaskan berdasarkan:</a:t>
            </a:r>
            <a:endParaRPr lang="en-US" sz="1200" dirty="0"/>
          </a:p>
        </p:txBody>
      </p:sp>
      <p:sp>
        <p:nvSpPr>
          <p:cNvPr id="23" name="Shape 20"/>
          <p:cNvSpPr/>
          <p:nvPr/>
        </p:nvSpPr>
        <p:spPr>
          <a:xfrm>
            <a:off x="8887968" y="4389120"/>
            <a:ext cx="91440" cy="91440"/>
          </a:xfrm>
          <a:prstGeom prst="ellipse">
            <a:avLst/>
          </a:prstGeom>
          <a:solidFill>
            <a:srgbClr val="4DA3FF"/>
          </a:solidFill>
          <a:ln w="12700">
            <a:solidFill>
              <a:srgbClr val="4DA3FF"/>
            </a:solidFill>
            <a:prstDash val="solid"/>
          </a:ln>
        </p:spPr>
      </p:sp>
      <p:sp>
        <p:nvSpPr>
          <p:cNvPr id="24" name="Text 21"/>
          <p:cNvSpPr/>
          <p:nvPr/>
        </p:nvSpPr>
        <p:spPr>
          <a:xfrm>
            <a:off x="9052560" y="4325112"/>
            <a:ext cx="1984248" cy="365760"/>
          </a:xfrm>
          <a:prstGeom prst="rect">
            <a:avLst/>
          </a:prstGeom>
          <a:noFill/>
          <a:ln/>
        </p:spPr>
        <p:txBody>
          <a:bodyPr wrap="square" lIns="0" tIns="0" rIns="0" bIns="0" rtlCol="0" anchor="ctr"/>
          <a:lstStyle/>
          <a:p>
            <a:pPr indent="0" marL="0">
              <a:buNone/>
            </a:pPr>
            <a:r>
              <a:rPr lang="en-US" sz="1200" dirty="0">
                <a:solidFill>
                  <a:srgbClr val="DCE3EC"/>
                </a:solidFill>
              </a:rPr>
              <a:t>Ketersediaan SDM</a:t>
            </a:r>
            <a:endParaRPr lang="en-US" sz="1200" dirty="0"/>
          </a:p>
        </p:txBody>
      </p:sp>
      <p:sp>
        <p:nvSpPr>
          <p:cNvPr id="25" name="Shape 22"/>
          <p:cNvSpPr/>
          <p:nvPr/>
        </p:nvSpPr>
        <p:spPr>
          <a:xfrm>
            <a:off x="8887968" y="4745736"/>
            <a:ext cx="91440" cy="91440"/>
          </a:xfrm>
          <a:prstGeom prst="ellipse">
            <a:avLst/>
          </a:prstGeom>
          <a:solidFill>
            <a:srgbClr val="F5C451"/>
          </a:solidFill>
          <a:ln w="12700">
            <a:solidFill>
              <a:srgbClr val="F5C451"/>
            </a:solidFill>
            <a:prstDash val="solid"/>
          </a:ln>
        </p:spPr>
      </p:sp>
      <p:sp>
        <p:nvSpPr>
          <p:cNvPr id="26" name="Text 23"/>
          <p:cNvSpPr/>
          <p:nvPr/>
        </p:nvSpPr>
        <p:spPr>
          <a:xfrm>
            <a:off x="9052560" y="4681728"/>
            <a:ext cx="1984248" cy="365760"/>
          </a:xfrm>
          <a:prstGeom prst="rect">
            <a:avLst/>
          </a:prstGeom>
          <a:noFill/>
          <a:ln/>
        </p:spPr>
        <p:txBody>
          <a:bodyPr wrap="square" lIns="0" tIns="0" rIns="0" bIns="0" rtlCol="0" anchor="ctr"/>
          <a:lstStyle/>
          <a:p>
            <a:pPr indent="0" marL="0">
              <a:buNone/>
            </a:pPr>
            <a:r>
              <a:rPr lang="en-US" sz="1200" dirty="0">
                <a:solidFill>
                  <a:srgbClr val="DCE3EC"/>
                </a:solidFill>
              </a:rPr>
              <a:t>Ketersediaan Alkes</a:t>
            </a:r>
            <a:endParaRPr lang="en-US" sz="1200" dirty="0"/>
          </a:p>
        </p:txBody>
      </p:sp>
      <p:sp>
        <p:nvSpPr>
          <p:cNvPr id="27" name="Shape 24"/>
          <p:cNvSpPr/>
          <p:nvPr/>
        </p:nvSpPr>
        <p:spPr>
          <a:xfrm>
            <a:off x="8887968" y="5102352"/>
            <a:ext cx="91440" cy="91440"/>
          </a:xfrm>
          <a:prstGeom prst="ellipse">
            <a:avLst/>
          </a:prstGeom>
          <a:solidFill>
            <a:srgbClr val="53D0C6"/>
          </a:solidFill>
          <a:ln w="12700">
            <a:solidFill>
              <a:srgbClr val="53D0C6"/>
            </a:solidFill>
            <a:prstDash val="solid"/>
          </a:ln>
        </p:spPr>
      </p:sp>
      <p:sp>
        <p:nvSpPr>
          <p:cNvPr id="28" name="Text 25"/>
          <p:cNvSpPr/>
          <p:nvPr/>
        </p:nvSpPr>
        <p:spPr>
          <a:xfrm>
            <a:off x="9052560" y="5038344"/>
            <a:ext cx="1984248" cy="365760"/>
          </a:xfrm>
          <a:prstGeom prst="rect">
            <a:avLst/>
          </a:prstGeom>
          <a:noFill/>
          <a:ln/>
        </p:spPr>
        <p:txBody>
          <a:bodyPr wrap="square" lIns="0" tIns="0" rIns="0" bIns="0" rtlCol="0" anchor="ctr"/>
          <a:lstStyle/>
          <a:p>
            <a:pPr indent="0" marL="0">
              <a:buNone/>
            </a:pPr>
            <a:r>
              <a:rPr lang="en-US" sz="1200" dirty="0">
                <a:solidFill>
                  <a:srgbClr val="DCE3EC"/>
                </a:solidFill>
              </a:rPr>
              <a:t>Status kerja sama BPJS</a:t>
            </a:r>
            <a:endParaRPr lang="en-US" sz="1200" dirty="0"/>
          </a:p>
        </p:txBody>
      </p:sp>
      <p:sp>
        <p:nvSpPr>
          <p:cNvPr id="29" name="Text 26"/>
          <p:cNvSpPr/>
          <p:nvPr/>
        </p:nvSpPr>
        <p:spPr>
          <a:xfrm>
            <a:off x="621792" y="5870448"/>
            <a:ext cx="1828800" cy="274320"/>
          </a:xfrm>
          <a:prstGeom prst="rect">
            <a:avLst/>
          </a:prstGeom>
          <a:noFill/>
          <a:ln/>
        </p:spPr>
        <p:txBody>
          <a:bodyPr wrap="square" lIns="0" tIns="0" rIns="0" bIns="0" rtlCol="0" anchor="ctr"/>
          <a:lstStyle/>
          <a:p>
            <a:pPr indent="0" marL="0">
              <a:buNone/>
            </a:pPr>
            <a:r>
              <a:rPr lang="en-US" sz="1800" b="1" dirty="0">
                <a:solidFill>
                  <a:srgbClr val="F5F7FA"/>
                </a:solidFill>
              </a:rPr>
              <a:t>Terima kasih</a:t>
            </a:r>
            <a:endParaRPr lang="en-US" sz="1800" dirty="0"/>
          </a:p>
        </p:txBody>
      </p:sp>
      <p:sp>
        <p:nvSpPr>
          <p:cNvPr id="30" name="Text 27"/>
          <p:cNvSpPr/>
          <p:nvPr/>
        </p:nvSpPr>
        <p:spPr>
          <a:xfrm>
            <a:off x="2176272" y="5916168"/>
            <a:ext cx="1371600" cy="201168"/>
          </a:xfrm>
          <a:prstGeom prst="rect">
            <a:avLst/>
          </a:prstGeom>
          <a:noFill/>
          <a:ln/>
        </p:spPr>
        <p:txBody>
          <a:bodyPr wrap="square" lIns="0" tIns="0" rIns="0" bIns="0" rtlCol="0" anchor="ctr"/>
          <a:lstStyle/>
          <a:p>
            <a:pPr indent="0" marL="0">
              <a:buNone/>
            </a:pPr>
            <a:r>
              <a:rPr lang="en-US" sz="1200" dirty="0">
                <a:solidFill>
                  <a:srgbClr val="A8B2C1"/>
                </a:solidFill>
              </a:rPr>
              <a:t>Pertanyaan?</a:t>
            </a:r>
            <a:endParaRPr lang="en-US" sz="1200" dirty="0"/>
          </a:p>
        </p:txBody>
      </p:sp>
      <p:sp>
        <p:nvSpPr>
          <p:cNvPr id="25" name="Slide Number Placeholder 0"/>
          <p:cNvSpPr>
            <a:spLocks noGrp="1"/>
          </p:cNvSpPr>
          <p:nvPr>
            <p:ph type="sldNum" sz="quarter" idx="4294967295"/>
          </p:nvPr>
        </p:nvSpPr>
        <p:spPr>
          <a:xfrm>
            <a:off x="11722608" y="6501384"/>
            <a:ext cx="20116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D879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Data Analyst Simulation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Kondisi Eksisting KJSU</dc:title>
  <dc:subject>Analisis KJSU: SDM, Alat Kesehatan, dan BPJS</dc:subject>
  <dc:creator>Anoa / Data Analyst Simulation</dc:creator>
  <cp:lastModifiedBy>Anoa / Data Analyst Simulation</cp:lastModifiedBy>
  <cp:revision>1</cp:revision>
  <dcterms:created xsi:type="dcterms:W3CDTF">2026-09-14T04:09:06Z</dcterms:created>
  <dcterms:modified xsi:type="dcterms:W3CDTF">2026-09-14T04:09:06Z</dcterms:modified>
</cp:coreProperties>
</file>